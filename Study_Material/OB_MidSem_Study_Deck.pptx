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E2B"/>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320040" cy="6858000"/>
          </a:xfrm>
          <a:prstGeom prst="rect">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0"/>
            <a:ext cx="320040" cy="6858000"/>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20" y="0"/>
            <a:ext cx="320040" cy="6858000"/>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80160" y="0"/>
            <a:ext cx="320040" cy="6858000"/>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11680" y="640080"/>
            <a:ext cx="9601200" cy="548640"/>
          </a:xfrm>
          <a:prstGeom prst="rect">
            <a:avLst/>
          </a:prstGeom>
          <a:noFill/>
        </p:spPr>
        <p:txBody>
          <a:bodyPr wrap="square" anchor="t" lIns="45720" rIns="45720" tIns="18288" bIns="18288"/>
          <a:lstStyle/>
          <a:p>
            <a:pPr algn="l"/>
            <a:r>
              <a:rPr sz="1600" b="1" i="0">
                <a:solidFill>
                  <a:srgbClr val="B0BEC5"/>
                </a:solidFill>
                <a:latin typeface="Calibri"/>
              </a:rPr>
              <a:t>IIM KOZHIKODE · BMS 01 · ORGANISATIONAL BEHAVIOUR · DR. VIJAY KURIAKOSE</a:t>
            </a:r>
          </a:p>
        </p:txBody>
      </p:sp>
      <p:sp>
        <p:nvSpPr>
          <p:cNvPr id="8" name="TextBox 7"/>
          <p:cNvSpPr txBox="1"/>
          <p:nvPr/>
        </p:nvSpPr>
        <p:spPr>
          <a:xfrm>
            <a:off x="2011680" y="1280160"/>
            <a:ext cx="9875520" cy="1463040"/>
          </a:xfrm>
          <a:prstGeom prst="rect">
            <a:avLst/>
          </a:prstGeom>
          <a:noFill/>
        </p:spPr>
        <p:txBody>
          <a:bodyPr wrap="square" anchor="t" lIns="45720" rIns="45720" tIns="18288" bIns="18288"/>
          <a:lstStyle/>
          <a:p>
            <a:pPr algn="l"/>
            <a:r>
              <a:rPr sz="5000" b="1" i="0">
                <a:solidFill>
                  <a:srgbClr val="FFFFFF"/>
                </a:solidFill>
                <a:latin typeface="Calibri"/>
              </a:rPr>
              <a:t>OB MID-SEM: THE COMPLETE MODULES 1–5 STUDY DECK</a:t>
            </a:r>
          </a:p>
        </p:txBody>
      </p:sp>
      <p:sp>
        <p:nvSpPr>
          <p:cNvPr id="9" name="TextBox 8"/>
          <p:cNvSpPr txBox="1"/>
          <p:nvPr/>
        </p:nvSpPr>
        <p:spPr>
          <a:xfrm>
            <a:off x="2011680" y="2880360"/>
            <a:ext cx="9601200" cy="822960"/>
          </a:xfrm>
          <a:prstGeom prst="rect">
            <a:avLst/>
          </a:prstGeom>
          <a:noFill/>
        </p:spPr>
        <p:txBody>
          <a:bodyPr wrap="square" anchor="t" lIns="45720" rIns="45720" tIns="18288" bIns="18288"/>
          <a:lstStyle/>
          <a:p>
            <a:pPr algn="l"/>
            <a:r>
              <a:rPr sz="2200" b="0" i="0">
                <a:solidFill>
                  <a:srgbClr val="ECEFF1"/>
                </a:solidFill>
                <a:latin typeface="Calibri"/>
              </a:rPr>
              <a:t>Every concept from the class PPTs + textbook (Kinicki &amp; Saini) + readings R1–R3 + Cases 5–8, organised for an OPEN-BOOK, case-based exam.</a:t>
            </a:r>
          </a:p>
        </p:txBody>
      </p:sp>
      <p:sp>
        <p:nvSpPr>
          <p:cNvPr id="10" name="Rounded Rectangle 9"/>
          <p:cNvSpPr/>
          <p:nvPr/>
        </p:nvSpPr>
        <p:spPr>
          <a:xfrm>
            <a:off x="2011680" y="4069080"/>
            <a:ext cx="1874519" cy="914400"/>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600" b="1" i="0">
                <a:solidFill>
                  <a:srgbClr val="FFFFFF"/>
                </a:solidFill>
                <a:latin typeface="Calibri"/>
              </a:rPr>
              <a:t>M1 Intro · Ethics · Problem solving</a:t>
            </a:r>
          </a:p>
        </p:txBody>
      </p:sp>
      <p:sp>
        <p:nvSpPr>
          <p:cNvPr id="11" name="Rounded Rectangle 10"/>
          <p:cNvSpPr/>
          <p:nvPr/>
        </p:nvSpPr>
        <p:spPr>
          <a:xfrm>
            <a:off x="4005072" y="4069080"/>
            <a:ext cx="1874519" cy="914400"/>
          </a:xfrm>
          <a:prstGeom prst="roundRect">
            <a:avLst>
              <a:gd name="adj" fmla="val 6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600" b="1" i="0">
                <a:solidFill>
                  <a:srgbClr val="FFFFFF"/>
                </a:solidFill>
                <a:latin typeface="Calibri"/>
              </a:rPr>
              <a:t>M2 Values &amp; Attitudes</a:t>
            </a:r>
          </a:p>
        </p:txBody>
      </p:sp>
      <p:sp>
        <p:nvSpPr>
          <p:cNvPr id="12" name="Rounded Rectangle 11"/>
          <p:cNvSpPr/>
          <p:nvPr/>
        </p:nvSpPr>
        <p:spPr>
          <a:xfrm>
            <a:off x="5998464" y="4069080"/>
            <a:ext cx="1874519" cy="914400"/>
          </a:xfrm>
          <a:prstGeom prst="roundRect">
            <a:avLst>
              <a:gd name="adj" fmla="val 6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600" b="1" i="0">
                <a:solidFill>
                  <a:srgbClr val="FFFFFF"/>
                </a:solidFill>
                <a:latin typeface="Calibri"/>
              </a:rPr>
              <a:t>M3 Emotions &amp; Perception</a:t>
            </a:r>
          </a:p>
        </p:txBody>
      </p:sp>
      <p:sp>
        <p:nvSpPr>
          <p:cNvPr id="13" name="Rounded Rectangle 12"/>
          <p:cNvSpPr/>
          <p:nvPr/>
        </p:nvSpPr>
        <p:spPr>
          <a:xfrm>
            <a:off x="7991856" y="4069080"/>
            <a:ext cx="1874519" cy="91440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600" b="1" i="0">
                <a:solidFill>
                  <a:srgbClr val="FFFFFF"/>
                </a:solidFill>
                <a:latin typeface="Calibri"/>
              </a:rPr>
              <a:t>M4 Motivation</a:t>
            </a:r>
          </a:p>
        </p:txBody>
      </p:sp>
      <p:sp>
        <p:nvSpPr>
          <p:cNvPr id="14" name="Rounded Rectangle 13"/>
          <p:cNvSpPr/>
          <p:nvPr/>
        </p:nvSpPr>
        <p:spPr>
          <a:xfrm>
            <a:off x="9985248" y="4069080"/>
            <a:ext cx="1874519" cy="914400"/>
          </a:xfrm>
          <a:prstGeom prst="roundRect">
            <a:avLst>
              <a:gd name="adj" fmla="val 6000"/>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600" b="1" i="0">
                <a:solidFill>
                  <a:srgbClr val="FFFFFF"/>
                </a:solidFill>
                <a:latin typeface="Calibri"/>
              </a:rPr>
              <a:t>M5 Positive OB</a:t>
            </a:r>
          </a:p>
        </p:txBody>
      </p:sp>
      <p:sp>
        <p:nvSpPr>
          <p:cNvPr id="15" name="TextBox 14"/>
          <p:cNvSpPr txBox="1"/>
          <p:nvPr/>
        </p:nvSpPr>
        <p:spPr>
          <a:xfrm>
            <a:off x="2011680" y="5257800"/>
            <a:ext cx="9875520" cy="1097280"/>
          </a:xfrm>
          <a:prstGeom prst="rect">
            <a:avLst/>
          </a:prstGeom>
          <a:noFill/>
        </p:spPr>
        <p:txBody>
          <a:bodyPr wrap="square" anchor="t" lIns="45720" rIns="45720" tIns="18288" bIns="18288"/>
          <a:lstStyle/>
          <a:p>
            <a:pPr algn="l"/>
            <a:r>
              <a:rPr sz="1600" b="0" i="0">
                <a:solidFill>
                  <a:srgbClr val="CFD8DC"/>
                </a:solidFill>
                <a:latin typeface="Calibri"/>
              </a:rPr>
              <a:t>Companion file: </a:t>
            </a:r>
            <a:r>
              <a:rPr sz="1600" b="1" i="0">
                <a:solidFill>
                  <a:srgbClr val="CFD8DC"/>
                </a:solidFill>
                <a:latin typeface="Calibri"/>
              </a:rPr>
              <a:t>OB_Book_Margin_Guide.pdf</a:t>
            </a:r>
            <a:r>
              <a:rPr sz="1600" b="0" i="0">
                <a:solidFill>
                  <a:srgbClr val="CFD8DC"/>
                </a:solidFill>
                <a:latin typeface="Calibri"/>
              </a:rPr>
              <a:t>: page-by-page what to HIGHLIGHT and what to WRITE in your book.</a:t>
            </a:r>
          </a:p>
          <a:p>
            <a:pPr algn="l"/>
            <a:r>
              <a:rPr sz="1600" b="0" i="0">
                <a:solidFill>
                  <a:srgbClr val="CFD8DC"/>
                </a:solidFill>
                <a:latin typeface="Calibri"/>
              </a:rPr>
              <a:t>Colour code used throughout: Blue = M1 · Green = M2 · Purple = M3 · Orange = M4 · Teal = M5 · Red = Exam toolkit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263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600" b="1" i="0">
                <a:solidFill>
                  <a:srgbClr val="FFFFFF"/>
                </a:solidFill>
                <a:latin typeface="Calibri"/>
              </a:rPr>
              <a:t>How to use tonight: an 8-hour plan for an open-book exam</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C8CBCD"/>
                </a:solidFill>
                <a:latin typeface="Calibri"/>
              </a:rPr>
              <a:t>OB MID-SEM</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2</a:t>
            </a:r>
          </a:p>
        </p:txBody>
      </p:sp>
      <p:graphicFrame>
        <p:nvGraphicFramePr>
          <p:cNvPr id="7" name="Table 6"/>
          <p:cNvGraphicFramePr>
            <a:graphicFrameLocks noGrp="1"/>
          </p:cNvGraphicFramePr>
          <p:nvPr/>
        </p:nvGraphicFramePr>
        <p:xfrm>
          <a:off x="274320" y="1051560"/>
          <a:ext cx="7863838" cy="4572000"/>
        </p:xfrm>
        <a:graphic>
          <a:graphicData uri="http://schemas.openxmlformats.org/drawingml/2006/table">
            <a:tbl>
              <a:tblPr firstRow="1" bandRow="1">
                <a:tableStyleId>{5C22544A-7EE6-4342-B048-85BDC9FD1C3A}</a:tableStyleId>
              </a:tblPr>
              <a:tblGrid>
                <a:gridCol w="608028"/>
                <a:gridCol w="1053916"/>
                <a:gridCol w="4134596"/>
                <a:gridCol w="2067298"/>
              </a:tblGrid>
              <a:tr h="571500">
                <a:tc>
                  <a:txBody>
                    <a:bodyPr wrap="square"/>
                    <a:lstStyle/>
                    <a:p>
                      <a:r>
                        <a:rPr sz="1500" b="1" i="0">
                          <a:solidFill>
                            <a:srgbClr val="FFFFFF"/>
                          </a:solidFill>
                          <a:latin typeface="Calibri"/>
                        </a:rPr>
                        <a:t>Block</a:t>
                      </a:r>
                    </a:p>
                  </a:txBody>
                  <a:tcPr marL="54864" marR="54864" marT="27432" marB="27432" anchor="ctr">
                    <a:solidFill>
                      <a:srgbClr val="263238"/>
                    </a:solidFill>
                  </a:tcPr>
                </a:tc>
                <a:tc>
                  <a:txBody>
                    <a:bodyPr wrap="square"/>
                    <a:lstStyle/>
                    <a:p>
                      <a:r>
                        <a:rPr sz="1500" b="1" i="0">
                          <a:solidFill>
                            <a:srgbClr val="FFFFFF"/>
                          </a:solidFill>
                          <a:latin typeface="Calibri"/>
                        </a:rPr>
                        <a:t>Time</a:t>
                      </a:r>
                    </a:p>
                  </a:txBody>
                  <a:tcPr marL="54864" marR="54864" marT="27432" marB="27432" anchor="ctr">
                    <a:solidFill>
                      <a:srgbClr val="263238"/>
                    </a:solidFill>
                  </a:tcPr>
                </a:tc>
                <a:tc>
                  <a:txBody>
                    <a:bodyPr wrap="square"/>
                    <a:lstStyle/>
                    <a:p>
                      <a:r>
                        <a:rPr sz="1500" b="1" i="0">
                          <a:solidFill>
                            <a:srgbClr val="FFFFFF"/>
                          </a:solidFill>
                          <a:latin typeface="Calibri"/>
                        </a:rPr>
                        <a:t>Do this</a:t>
                      </a:r>
                    </a:p>
                  </a:txBody>
                  <a:tcPr marL="54864" marR="54864" marT="27432" marB="27432" anchor="ctr">
                    <a:solidFill>
                      <a:srgbClr val="263238"/>
                    </a:solidFill>
                  </a:tcPr>
                </a:tc>
                <a:tc>
                  <a:txBody>
                    <a:bodyPr wrap="square"/>
                    <a:lstStyle/>
                    <a:p>
                      <a:r>
                        <a:rPr sz="1500" b="1" i="0">
                          <a:solidFill>
                            <a:srgbClr val="FFFFFF"/>
                          </a:solidFill>
                          <a:latin typeface="Calibri"/>
                        </a:rPr>
                        <a:t>Output</a:t>
                      </a:r>
                    </a:p>
                  </a:txBody>
                  <a:tcPr marL="54864" marR="54864" marT="27432" marB="27432" anchor="ctr">
                    <a:solidFill>
                      <a:srgbClr val="263238"/>
                    </a:solidFill>
                  </a:tcPr>
                </a:tc>
              </a:tr>
              <a:tr h="571500">
                <a:tc>
                  <a:txBody>
                    <a:bodyPr wrap="square"/>
                    <a:lstStyle/>
                    <a:p>
                      <a:r>
                        <a:rPr sz="1500" b="1" i="0">
                          <a:solidFill>
                            <a:srgbClr val="1A1A1A"/>
                          </a:solidFill>
                          <a:latin typeface="Calibri"/>
                        </a:rPr>
                        <a:t>1</a:t>
                      </a:r>
                    </a:p>
                  </a:txBody>
                  <a:tcPr marL="54864" marR="54864" marT="27432" marB="27432" anchor="ctr">
                    <a:solidFill>
                      <a:srgbClr val="FFFFFF"/>
                    </a:solidFill>
                  </a:tcPr>
                </a:tc>
                <a:tc>
                  <a:txBody>
                    <a:bodyPr wrap="square"/>
                    <a:lstStyle/>
                    <a:p>
                      <a:r>
                        <a:rPr sz="1500" b="0" i="0">
                          <a:solidFill>
                            <a:srgbClr val="1A1A1A"/>
                          </a:solidFill>
                          <a:latin typeface="Calibri"/>
                        </a:rPr>
                        <a:t>0:00–0:30</a:t>
                      </a:r>
                    </a:p>
                  </a:txBody>
                  <a:tcPr marL="54864" marR="54864" marT="27432" marB="27432" anchor="ctr">
                    <a:solidFill>
                      <a:srgbClr val="FFFFFF"/>
                    </a:solidFill>
                  </a:tcPr>
                </a:tc>
                <a:tc>
                  <a:txBody>
                    <a:bodyPr wrap="square"/>
                    <a:lstStyle/>
                    <a:p>
                      <a:r>
                        <a:rPr sz="1500" b="0" i="0">
                          <a:solidFill>
                            <a:srgbClr val="1A1A1A"/>
                          </a:solidFill>
                          <a:latin typeface="Calibri"/>
                        </a:rPr>
                        <a:t>Slides 3–4: exam map + the CASE ANSWER MACHINE (memorise the structure)</a:t>
                      </a:r>
                    </a:p>
                  </a:txBody>
                  <a:tcPr marL="54864" marR="54864" marT="27432" marB="27432" anchor="ctr">
                    <a:solidFill>
                      <a:srgbClr val="FFFFFF"/>
                    </a:solidFill>
                  </a:tcPr>
                </a:tc>
                <a:tc>
                  <a:txBody>
                    <a:bodyPr wrap="square"/>
                    <a:lstStyle/>
                    <a:p>
                      <a:r>
                        <a:rPr sz="1500" b="0" i="0">
                          <a:solidFill>
                            <a:srgbClr val="1A1A1A"/>
                          </a:solidFill>
                          <a:latin typeface="Calibri"/>
                        </a:rPr>
                        <a:t>You know HOW to write every answer</a:t>
                      </a:r>
                    </a:p>
                  </a:txBody>
                  <a:tcPr marL="54864" marR="54864" marT="27432" marB="27432" anchor="ctr">
                    <a:solidFill>
                      <a:srgbClr val="FFFFFF"/>
                    </a:solidFill>
                  </a:tcPr>
                </a:tc>
              </a:tr>
              <a:tr h="571500">
                <a:tc>
                  <a:txBody>
                    <a:bodyPr wrap="square"/>
                    <a:lstStyle/>
                    <a:p>
                      <a:r>
                        <a:rPr sz="1500" b="1" i="0">
                          <a:solidFill>
                            <a:srgbClr val="1A1A1A"/>
                          </a:solidFill>
                          <a:latin typeface="Calibri"/>
                        </a:rPr>
                        <a:t>2</a:t>
                      </a:r>
                    </a:p>
                  </a:txBody>
                  <a:tcPr marL="54864" marR="54864" marT="27432" marB="27432" anchor="ctr">
                    <a:solidFill>
                      <a:srgbClr val="E9EAEB"/>
                    </a:solidFill>
                  </a:tcPr>
                </a:tc>
                <a:tc>
                  <a:txBody>
                    <a:bodyPr wrap="square"/>
                    <a:lstStyle/>
                    <a:p>
                      <a:r>
                        <a:rPr sz="1500" b="0" i="0">
                          <a:solidFill>
                            <a:srgbClr val="1A1A1A"/>
                          </a:solidFill>
                          <a:latin typeface="Calibri"/>
                        </a:rPr>
                        <a:t>0:30–2:30</a:t>
                      </a:r>
                    </a:p>
                  </a:txBody>
                  <a:tcPr marL="54864" marR="54864" marT="27432" marB="27432" anchor="ctr">
                    <a:solidFill>
                      <a:srgbClr val="E9EAEB"/>
                    </a:solidFill>
                  </a:tcPr>
                </a:tc>
                <a:tc>
                  <a:txBody>
                    <a:bodyPr wrap="square"/>
                    <a:lstStyle/>
                    <a:p>
                      <a:r>
                        <a:rPr sz="1500" b="0" i="0">
                          <a:solidFill>
                            <a:srgbClr val="1A1A1A"/>
                          </a:solidFill>
                          <a:latin typeface="Calibri"/>
                        </a:rPr>
                        <a:t>M1 + M2 slides → then annotate book pp. 3–31 and 41–69 using the Margin Guide</a:t>
                      </a:r>
                    </a:p>
                  </a:txBody>
                  <a:tcPr marL="54864" marR="54864" marT="27432" marB="27432" anchor="ctr">
                    <a:solidFill>
                      <a:srgbClr val="E9EAEB"/>
                    </a:solidFill>
                  </a:tcPr>
                </a:tc>
                <a:tc>
                  <a:txBody>
                    <a:bodyPr wrap="square"/>
                    <a:lstStyle/>
                    <a:p>
                      <a:r>
                        <a:rPr sz="1500" b="0" i="0">
                          <a:solidFill>
                            <a:srgbClr val="1A1A1A"/>
                          </a:solidFill>
                          <a:latin typeface="Calibri"/>
                        </a:rPr>
                        <a:t>Ch 1 &amp; 2 tabbed + margin notes</a:t>
                      </a:r>
                    </a:p>
                  </a:txBody>
                  <a:tcPr marL="54864" marR="54864" marT="27432" marB="27432" anchor="ctr">
                    <a:solidFill>
                      <a:srgbClr val="E9EAEB"/>
                    </a:solidFill>
                  </a:tcPr>
                </a:tc>
              </a:tr>
              <a:tr h="571500">
                <a:tc>
                  <a:txBody>
                    <a:bodyPr wrap="square"/>
                    <a:lstStyle/>
                    <a:p>
                      <a:r>
                        <a:rPr sz="1500" b="1" i="0">
                          <a:solidFill>
                            <a:srgbClr val="1A1A1A"/>
                          </a:solidFill>
                          <a:latin typeface="Calibri"/>
                        </a:rPr>
                        <a:t>3</a:t>
                      </a:r>
                    </a:p>
                  </a:txBody>
                  <a:tcPr marL="54864" marR="54864" marT="27432" marB="27432" anchor="ctr">
                    <a:solidFill>
                      <a:srgbClr val="FFFFFF"/>
                    </a:solidFill>
                  </a:tcPr>
                </a:tc>
                <a:tc>
                  <a:txBody>
                    <a:bodyPr wrap="square"/>
                    <a:lstStyle/>
                    <a:p>
                      <a:r>
                        <a:rPr sz="1500" b="0" i="0">
                          <a:solidFill>
                            <a:srgbClr val="1A1A1A"/>
                          </a:solidFill>
                          <a:latin typeface="Calibri"/>
                        </a:rPr>
                        <a:t>2:30–4:00</a:t>
                      </a:r>
                    </a:p>
                  </a:txBody>
                  <a:tcPr marL="54864" marR="54864" marT="27432" marB="27432" anchor="ctr">
                    <a:solidFill>
                      <a:srgbClr val="FFFFFF"/>
                    </a:solidFill>
                  </a:tcPr>
                </a:tc>
                <a:tc>
                  <a:txBody>
                    <a:bodyPr wrap="square"/>
                    <a:lstStyle/>
                    <a:p>
                      <a:r>
                        <a:rPr sz="1500" b="0" i="0">
                          <a:solidFill>
                            <a:srgbClr val="1A1A1A"/>
                          </a:solidFill>
                          <a:latin typeface="Calibri"/>
                        </a:rPr>
                        <a:t>M3 slides → annotate pp. 105–115 and 123–137; write Prudence + Yelp facts in margins</a:t>
                      </a:r>
                    </a:p>
                  </a:txBody>
                  <a:tcPr marL="54864" marR="54864" marT="27432" marB="27432" anchor="ctr">
                    <a:solidFill>
                      <a:srgbClr val="FFFFFF"/>
                    </a:solidFill>
                  </a:tcPr>
                </a:tc>
                <a:tc>
                  <a:txBody>
                    <a:bodyPr wrap="square"/>
                    <a:lstStyle/>
                    <a:p>
                      <a:r>
                        <a:rPr sz="1500" b="0" i="0">
                          <a:solidFill>
                            <a:srgbClr val="1A1A1A"/>
                          </a:solidFill>
                          <a:latin typeface="Calibri"/>
                        </a:rPr>
                        <a:t>Ch 3.5–3.6 &amp; Ch 4 ready</a:t>
                      </a:r>
                    </a:p>
                  </a:txBody>
                  <a:tcPr marL="54864" marR="54864" marT="27432" marB="27432" anchor="ctr">
                    <a:solidFill>
                      <a:srgbClr val="FFFFFF"/>
                    </a:solidFill>
                  </a:tcPr>
                </a:tc>
              </a:tr>
              <a:tr h="571500">
                <a:tc>
                  <a:txBody>
                    <a:bodyPr wrap="square"/>
                    <a:lstStyle/>
                    <a:p>
                      <a:r>
                        <a:rPr sz="1500" b="1" i="0">
                          <a:solidFill>
                            <a:srgbClr val="1A1A1A"/>
                          </a:solidFill>
                          <a:latin typeface="Calibri"/>
                        </a:rPr>
                        <a:t>4</a:t>
                      </a:r>
                    </a:p>
                  </a:txBody>
                  <a:tcPr marL="54864" marR="54864" marT="27432" marB="27432" anchor="ctr">
                    <a:solidFill>
                      <a:srgbClr val="E9EAEB"/>
                    </a:solidFill>
                  </a:tcPr>
                </a:tc>
                <a:tc>
                  <a:txBody>
                    <a:bodyPr wrap="square"/>
                    <a:lstStyle/>
                    <a:p>
                      <a:r>
                        <a:rPr sz="1500" b="0" i="0">
                          <a:solidFill>
                            <a:srgbClr val="1A1A1A"/>
                          </a:solidFill>
                          <a:latin typeface="Calibri"/>
                        </a:rPr>
                        <a:t>4:00–5:45</a:t>
                      </a:r>
                    </a:p>
                  </a:txBody>
                  <a:tcPr marL="54864" marR="54864" marT="27432" marB="27432" anchor="ctr">
                    <a:solidFill>
                      <a:srgbClr val="E9EAEB"/>
                    </a:solidFill>
                  </a:tcPr>
                </a:tc>
                <a:tc>
                  <a:txBody>
                    <a:bodyPr wrap="square"/>
                    <a:lstStyle/>
                    <a:p>
                      <a:r>
                        <a:rPr sz="1500" b="0" i="0">
                          <a:solidFill>
                            <a:srgbClr val="1A1A1A"/>
                          </a:solidFill>
                          <a:latin typeface="Calibri"/>
                        </a:rPr>
                        <a:t>M4 slides (heaviest module) → annotate pp. 165–196; write Orix facts</a:t>
                      </a:r>
                    </a:p>
                  </a:txBody>
                  <a:tcPr marL="54864" marR="54864" marT="27432" marB="27432" anchor="ctr">
                    <a:solidFill>
                      <a:srgbClr val="E9EAEB"/>
                    </a:solidFill>
                  </a:tcPr>
                </a:tc>
                <a:tc>
                  <a:txBody>
                    <a:bodyPr wrap="square"/>
                    <a:lstStyle/>
                    <a:p>
                      <a:r>
                        <a:rPr sz="1500" b="0" i="0">
                          <a:solidFill>
                            <a:srgbClr val="1A1A1A"/>
                          </a:solidFill>
                          <a:latin typeface="Calibri"/>
                        </a:rPr>
                        <a:t>Ch 5 ready</a:t>
                      </a:r>
                    </a:p>
                  </a:txBody>
                  <a:tcPr marL="54864" marR="54864" marT="27432" marB="27432" anchor="ctr">
                    <a:solidFill>
                      <a:srgbClr val="E9EAEB"/>
                    </a:solidFill>
                  </a:tcPr>
                </a:tc>
              </a:tr>
              <a:tr h="571500">
                <a:tc>
                  <a:txBody>
                    <a:bodyPr wrap="square"/>
                    <a:lstStyle/>
                    <a:p>
                      <a:r>
                        <a:rPr sz="1500" b="1" i="0">
                          <a:solidFill>
                            <a:srgbClr val="1A1A1A"/>
                          </a:solidFill>
                          <a:latin typeface="Calibri"/>
                        </a:rPr>
                        <a:t>5</a:t>
                      </a:r>
                    </a:p>
                  </a:txBody>
                  <a:tcPr marL="54864" marR="54864" marT="27432" marB="27432" anchor="ctr">
                    <a:solidFill>
                      <a:srgbClr val="FFFFFF"/>
                    </a:solidFill>
                  </a:tcPr>
                </a:tc>
                <a:tc>
                  <a:txBody>
                    <a:bodyPr wrap="square"/>
                    <a:lstStyle/>
                    <a:p>
                      <a:r>
                        <a:rPr sz="1500" b="0" i="0">
                          <a:solidFill>
                            <a:srgbClr val="1A1A1A"/>
                          </a:solidFill>
                          <a:latin typeface="Calibri"/>
                        </a:rPr>
                        <a:t>5:45–6:45</a:t>
                      </a:r>
                    </a:p>
                  </a:txBody>
                  <a:tcPr marL="54864" marR="54864" marT="27432" marB="27432" anchor="ctr">
                    <a:solidFill>
                      <a:srgbClr val="FFFFFF"/>
                    </a:solidFill>
                  </a:tcPr>
                </a:tc>
                <a:tc>
                  <a:txBody>
                    <a:bodyPr wrap="square"/>
                    <a:lstStyle/>
                    <a:p>
                      <a:r>
                        <a:rPr sz="1500" b="0" i="0">
                          <a:solidFill>
                            <a:srgbClr val="1A1A1A"/>
                          </a:solidFill>
                          <a:latin typeface="Calibri"/>
                        </a:rPr>
                        <a:t>M5 slides → annotate Ch 7 (pp. 257–295); write Southwest facts</a:t>
                      </a:r>
                    </a:p>
                  </a:txBody>
                  <a:tcPr marL="54864" marR="54864" marT="27432" marB="27432" anchor="ctr">
                    <a:solidFill>
                      <a:srgbClr val="FFFFFF"/>
                    </a:solidFill>
                  </a:tcPr>
                </a:tc>
                <a:tc>
                  <a:txBody>
                    <a:bodyPr wrap="square"/>
                    <a:lstStyle/>
                    <a:p>
                      <a:r>
                        <a:rPr sz="1500" b="0" i="0">
                          <a:solidFill>
                            <a:srgbClr val="1A1A1A"/>
                          </a:solidFill>
                          <a:latin typeface="Calibri"/>
                        </a:rPr>
                        <a:t>Ch 7 ready</a:t>
                      </a:r>
                    </a:p>
                  </a:txBody>
                  <a:tcPr marL="54864" marR="54864" marT="27432" marB="27432" anchor="ctr">
                    <a:solidFill>
                      <a:srgbClr val="FFFFFF"/>
                    </a:solidFill>
                  </a:tcPr>
                </a:tc>
              </a:tr>
              <a:tr h="571500">
                <a:tc>
                  <a:txBody>
                    <a:bodyPr wrap="square"/>
                    <a:lstStyle/>
                    <a:p>
                      <a:r>
                        <a:rPr sz="1500" b="1" i="0">
                          <a:solidFill>
                            <a:srgbClr val="1A1A1A"/>
                          </a:solidFill>
                          <a:latin typeface="Calibri"/>
                        </a:rPr>
                        <a:t>6</a:t>
                      </a:r>
                    </a:p>
                  </a:txBody>
                  <a:tcPr marL="54864" marR="54864" marT="27432" marB="27432" anchor="ctr">
                    <a:solidFill>
                      <a:srgbClr val="E9EAEB"/>
                    </a:solidFill>
                  </a:tcPr>
                </a:tc>
                <a:tc>
                  <a:txBody>
                    <a:bodyPr wrap="square"/>
                    <a:lstStyle/>
                    <a:p>
                      <a:r>
                        <a:rPr sz="1500" b="0" i="0">
                          <a:solidFill>
                            <a:srgbClr val="1A1A1A"/>
                          </a:solidFill>
                          <a:latin typeface="Calibri"/>
                        </a:rPr>
                        <a:t>6:45–7:30</a:t>
                      </a:r>
                    </a:p>
                  </a:txBody>
                  <a:tcPr marL="54864" marR="54864" marT="27432" marB="27432" anchor="ctr">
                    <a:solidFill>
                      <a:srgbClr val="E9EAEB"/>
                    </a:solidFill>
                  </a:tcPr>
                </a:tc>
                <a:tc>
                  <a:txBody>
                    <a:bodyPr wrap="square"/>
                    <a:lstStyle/>
                    <a:p>
                      <a:r>
                        <a:rPr sz="1500" b="0" i="0">
                          <a:solidFill>
                            <a:srgbClr val="1A1A1A"/>
                          </a:solidFill>
                          <a:latin typeface="Calibri"/>
                        </a:rPr>
                        <a:t>Exam toolkit slides: theory→case matrix + practice answers</a:t>
                      </a:r>
                    </a:p>
                  </a:txBody>
                  <a:tcPr marL="54864" marR="54864" marT="27432" marB="27432" anchor="ctr">
                    <a:solidFill>
                      <a:srgbClr val="E9EAEB"/>
                    </a:solidFill>
                  </a:tcPr>
                </a:tc>
                <a:tc>
                  <a:txBody>
                    <a:bodyPr wrap="square"/>
                    <a:lstStyle/>
                    <a:p>
                      <a:r>
                        <a:rPr sz="1500" b="0" i="0">
                          <a:solidFill>
                            <a:srgbClr val="1A1A1A"/>
                          </a:solidFill>
                          <a:latin typeface="Calibri"/>
                        </a:rPr>
                        <a:t>Ready-made answer skeletons</a:t>
                      </a:r>
                    </a:p>
                  </a:txBody>
                  <a:tcPr marL="54864" marR="54864" marT="27432" marB="27432" anchor="ctr">
                    <a:solidFill>
                      <a:srgbClr val="E9EAEB"/>
                    </a:solidFill>
                  </a:tcPr>
                </a:tc>
              </a:tr>
              <a:tr h="571500">
                <a:tc>
                  <a:txBody>
                    <a:bodyPr wrap="square"/>
                    <a:lstStyle/>
                    <a:p>
                      <a:r>
                        <a:rPr sz="1500" b="1" i="0">
                          <a:solidFill>
                            <a:srgbClr val="1A1A1A"/>
                          </a:solidFill>
                          <a:latin typeface="Calibri"/>
                        </a:rPr>
                        <a:t>7</a:t>
                      </a:r>
                    </a:p>
                  </a:txBody>
                  <a:tcPr marL="54864" marR="54864" marT="27432" marB="27432" anchor="ctr">
                    <a:solidFill>
                      <a:srgbClr val="FFFFFF"/>
                    </a:solidFill>
                  </a:tcPr>
                </a:tc>
                <a:tc>
                  <a:txBody>
                    <a:bodyPr wrap="square"/>
                    <a:lstStyle/>
                    <a:p>
                      <a:r>
                        <a:rPr sz="1500" b="0" i="0">
                          <a:solidFill>
                            <a:srgbClr val="1A1A1A"/>
                          </a:solidFill>
                          <a:latin typeface="Calibri"/>
                        </a:rPr>
                        <a:t>7:30–8:00</a:t>
                      </a:r>
                    </a:p>
                  </a:txBody>
                  <a:tcPr marL="54864" marR="54864" marT="27432" marB="27432" anchor="ctr">
                    <a:solidFill>
                      <a:srgbClr val="FFFFFF"/>
                    </a:solidFill>
                  </a:tcPr>
                </a:tc>
                <a:tc>
                  <a:txBody>
                    <a:bodyPr wrap="square"/>
                    <a:lstStyle/>
                    <a:p>
                      <a:r>
                        <a:rPr sz="1500" b="0" i="0">
                          <a:solidFill>
                            <a:srgbClr val="1A1A1A"/>
                          </a:solidFill>
                          <a:latin typeface="Calibri"/>
                        </a:rPr>
                        <a:t>Fill the INSIDE FRONT COVER index + sticky tabs; sleep</a:t>
                      </a:r>
                    </a:p>
                  </a:txBody>
                  <a:tcPr marL="54864" marR="54864" marT="27432" marB="27432" anchor="ctr">
                    <a:solidFill>
                      <a:srgbClr val="FFFFFF"/>
                    </a:solidFill>
                  </a:tcPr>
                </a:tc>
                <a:tc>
                  <a:txBody>
                    <a:bodyPr wrap="square"/>
                    <a:lstStyle/>
                    <a:p>
                      <a:r>
                        <a:rPr sz="1500" b="0" i="0">
                          <a:solidFill>
                            <a:srgbClr val="1A1A1A"/>
                          </a:solidFill>
                          <a:latin typeface="Calibri"/>
                        </a:rPr>
                        <a:t>Fast navigation in the exam</a:t>
                      </a:r>
                    </a:p>
                  </a:txBody>
                  <a:tcPr marL="54864" marR="54864" marT="27432" marB="27432" anchor="ctr">
                    <a:solidFill>
                      <a:srgbClr val="FFFFFF"/>
                    </a:solidFill>
                  </a:tcPr>
                </a:tc>
              </a:tr>
            </a:tbl>
          </a:graphicData>
        </a:graphic>
      </p:graphicFrame>
      <p:sp>
        <p:nvSpPr>
          <p:cNvPr id="8" name="Rounded Rectangle 7"/>
          <p:cNvSpPr/>
          <p:nvPr/>
        </p:nvSpPr>
        <p:spPr>
          <a:xfrm>
            <a:off x="8321040" y="1051560"/>
            <a:ext cx="3611880" cy="2880360"/>
          </a:xfrm>
          <a:prstGeom prst="roundRect">
            <a:avLst>
              <a:gd name="adj" fmla="val 6000"/>
            </a:avLst>
          </a:prstGeom>
          <a:solidFill>
            <a:srgbClr val="FFFFFF"/>
          </a:solidFill>
          <a:ln w="19050">
            <a:solidFill>
              <a:srgbClr val="9DA2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321040" y="1051560"/>
            <a:ext cx="3611880" cy="457200"/>
          </a:xfrm>
          <a:prstGeom prst="roundRect">
            <a:avLst>
              <a:gd name="adj" fmla="val 6000"/>
            </a:avLst>
          </a:prstGeom>
          <a:solidFill>
            <a:srgbClr val="263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321040" y="1371600"/>
            <a:ext cx="3611880" cy="137160"/>
          </a:xfrm>
          <a:prstGeom prst="rect">
            <a:avLst/>
          </a:prstGeom>
          <a:solidFill>
            <a:srgbClr val="263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0" y="1051560"/>
            <a:ext cx="3429000" cy="457200"/>
          </a:xfrm>
          <a:prstGeom prst="rect">
            <a:avLst/>
          </a:prstGeom>
          <a:noFill/>
        </p:spPr>
        <p:txBody>
          <a:bodyPr wrap="square" anchor="ctr" lIns="45720" rIns="45720" tIns="18288" bIns="18288"/>
          <a:lstStyle/>
          <a:p>
            <a:pPr algn="l"/>
            <a:r>
              <a:rPr sz="1900" b="1" i="0">
                <a:solidFill>
                  <a:srgbClr val="FFFFFF"/>
                </a:solidFill>
                <a:latin typeface="Calibri"/>
              </a:rPr>
              <a:t>Open-book golden rules</a:t>
            </a:r>
          </a:p>
        </p:txBody>
      </p:sp>
      <p:sp>
        <p:nvSpPr>
          <p:cNvPr id="12" name="TextBox 11"/>
          <p:cNvSpPr txBox="1"/>
          <p:nvPr/>
        </p:nvSpPr>
        <p:spPr>
          <a:xfrm>
            <a:off x="8394192" y="1563624"/>
            <a:ext cx="3465576" cy="2331720"/>
          </a:xfrm>
          <a:prstGeom prst="rect">
            <a:avLst/>
          </a:prstGeom>
          <a:noFill/>
        </p:spPr>
        <p:txBody>
          <a:bodyPr wrap="square" anchor="t" lIns="54864" rIns="54864" tIns="27432" bIns="27432"/>
          <a:lstStyle/>
          <a:p>
            <a:pPr>
              <a:spcAft>
                <a:spcPts val="300"/>
              </a:spcAft>
            </a:pPr>
            <a:r>
              <a:rPr sz="1600" b="1" i="0">
                <a:solidFill>
                  <a:srgbClr val="1A1A1A"/>
                </a:solidFill>
                <a:latin typeface="Calibri"/>
              </a:rPr>
              <a:t>• </a:t>
            </a:r>
            <a:r>
              <a:rPr sz="1600" b="0" i="0">
                <a:solidFill>
                  <a:srgbClr val="1A1A1A"/>
                </a:solidFill>
                <a:latin typeface="Calibri"/>
              </a:rPr>
              <a:t>The book is a </a:t>
            </a:r>
            <a:r>
              <a:rPr sz="1600" b="1" i="0">
                <a:solidFill>
                  <a:srgbClr val="1A1A1A"/>
                </a:solidFill>
                <a:latin typeface="Calibri"/>
              </a:rPr>
              <a:t>lookup tool</a:t>
            </a:r>
            <a:r>
              <a:rPr sz="1600" b="0" i="0">
                <a:solidFill>
                  <a:srgbClr val="1A1A1A"/>
                </a:solidFill>
                <a:latin typeface="Calibri"/>
              </a:rPr>
              <a:t>, not a reading tool. You must already know WHAT to look for.</a:t>
            </a:r>
          </a:p>
          <a:p>
            <a:pPr>
              <a:spcAft>
                <a:spcPts val="300"/>
              </a:spcAft>
            </a:pPr>
            <a:r>
              <a:rPr sz="1600" b="1" i="0">
                <a:solidFill>
                  <a:srgbClr val="1A1A1A"/>
                </a:solidFill>
                <a:latin typeface="Calibri"/>
              </a:rPr>
              <a:t>• </a:t>
            </a:r>
            <a:r>
              <a:rPr sz="1600" b="0" i="0">
                <a:solidFill>
                  <a:srgbClr val="1A1A1A"/>
                </a:solidFill>
                <a:latin typeface="Calibri"/>
              </a:rPr>
              <a:t>Marks come from </a:t>
            </a:r>
            <a:r>
              <a:rPr sz="1600" b="1" i="0">
                <a:solidFill>
                  <a:srgbClr val="1A1A1A"/>
                </a:solidFill>
                <a:latin typeface="Calibri"/>
              </a:rPr>
              <a:t>applying</a:t>
            </a:r>
            <a:r>
              <a:rPr sz="1600" b="0" i="0">
                <a:solidFill>
                  <a:srgbClr val="1A1A1A"/>
                </a:solidFill>
                <a:latin typeface="Calibri"/>
              </a:rPr>
              <a:t> theory to the case, not copying definitions.</a:t>
            </a:r>
          </a:p>
          <a:p>
            <a:pPr>
              <a:spcAft>
                <a:spcPts val="300"/>
              </a:spcAft>
            </a:pPr>
            <a:r>
              <a:rPr sz="1600" b="1" i="0">
                <a:solidFill>
                  <a:srgbClr val="1A1A1A"/>
                </a:solidFill>
                <a:latin typeface="Calibri"/>
              </a:rPr>
              <a:t>• </a:t>
            </a:r>
            <a:r>
              <a:rPr sz="1600" b="0" i="0">
                <a:solidFill>
                  <a:srgbClr val="1A1A1A"/>
                </a:solidFill>
                <a:latin typeface="Calibri"/>
              </a:rPr>
              <a:t>Never write a theory without a </a:t>
            </a:r>
            <a:r>
              <a:rPr sz="1600" b="1" i="0">
                <a:solidFill>
                  <a:srgbClr val="1A1A1A"/>
                </a:solidFill>
                <a:latin typeface="Calibri"/>
              </a:rPr>
              <a:t>case fact</a:t>
            </a:r>
            <a:r>
              <a:rPr sz="1600" b="0" i="0">
                <a:solidFill>
                  <a:srgbClr val="1A1A1A"/>
                </a:solidFill>
                <a:latin typeface="Calibri"/>
              </a:rPr>
              <a:t> next to it.</a:t>
            </a:r>
          </a:p>
        </p:txBody>
      </p:sp>
      <p:sp>
        <p:nvSpPr>
          <p:cNvPr id="13" name="Rounded Rectangle 12"/>
          <p:cNvSpPr/>
          <p:nvPr/>
        </p:nvSpPr>
        <p:spPr>
          <a:xfrm>
            <a:off x="8321040" y="4069080"/>
            <a:ext cx="3611880" cy="1554480"/>
          </a:xfrm>
          <a:prstGeom prst="roundRect">
            <a:avLst>
              <a:gd name="adj" fmla="val 6000"/>
            </a:avLst>
          </a:prstGeom>
          <a:solidFill>
            <a:srgbClr val="FFFFFF"/>
          </a:solidFill>
          <a:ln w="19050">
            <a:solidFill>
              <a:srgbClr val="9DA2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321040" y="4069080"/>
            <a:ext cx="3611880" cy="457200"/>
          </a:xfrm>
          <a:prstGeom prst="roundRect">
            <a:avLst>
              <a:gd name="adj" fmla="val 6000"/>
            </a:avLst>
          </a:prstGeom>
          <a:solidFill>
            <a:srgbClr val="263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21040" y="4389120"/>
            <a:ext cx="3611880" cy="137160"/>
          </a:xfrm>
          <a:prstGeom prst="rect">
            <a:avLst/>
          </a:prstGeom>
          <a:solidFill>
            <a:srgbClr val="263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0" y="4069080"/>
            <a:ext cx="3429000" cy="457200"/>
          </a:xfrm>
          <a:prstGeom prst="rect">
            <a:avLst/>
          </a:prstGeom>
          <a:noFill/>
        </p:spPr>
        <p:txBody>
          <a:bodyPr wrap="square" anchor="ctr" lIns="45720" rIns="45720" tIns="18288" bIns="18288"/>
          <a:lstStyle/>
          <a:p>
            <a:pPr algn="l"/>
            <a:r>
              <a:rPr sz="1900" b="1" i="0">
                <a:solidFill>
                  <a:srgbClr val="FFFFFF"/>
                </a:solidFill>
                <a:latin typeface="Calibri"/>
              </a:rPr>
              <a:t>Sticky-tab colours</a:t>
            </a:r>
          </a:p>
        </p:txBody>
      </p:sp>
      <p:sp>
        <p:nvSpPr>
          <p:cNvPr id="17" name="TextBox 16"/>
          <p:cNvSpPr txBox="1"/>
          <p:nvPr/>
        </p:nvSpPr>
        <p:spPr>
          <a:xfrm>
            <a:off x="8394192" y="4581144"/>
            <a:ext cx="3465576" cy="1005839"/>
          </a:xfrm>
          <a:prstGeom prst="rect">
            <a:avLst/>
          </a:prstGeom>
          <a:noFill/>
        </p:spPr>
        <p:txBody>
          <a:bodyPr wrap="square" anchor="t" lIns="54864" rIns="54864" tIns="27432" bIns="27432"/>
          <a:lstStyle/>
          <a:p>
            <a:pPr>
              <a:spcAft>
                <a:spcPts val="300"/>
              </a:spcAft>
            </a:pPr>
            <a:r>
              <a:rPr sz="1400" b="1" i="0">
                <a:solidFill>
                  <a:srgbClr val="1A1A1A"/>
                </a:solidFill>
                <a:latin typeface="Calibri"/>
              </a:rPr>
              <a:t>• </a:t>
            </a:r>
            <a:r>
              <a:rPr sz="1400" b="0" i="0">
                <a:solidFill>
                  <a:srgbClr val="1A1A1A"/>
                </a:solidFill>
                <a:latin typeface="Calibri"/>
              </a:rPr>
              <a:t>Blue M1 · Green M2 · Purple M3</a:t>
            </a:r>
          </a:p>
          <a:p>
            <a:pPr>
              <a:spcAft>
                <a:spcPts val="300"/>
              </a:spcAft>
            </a:pPr>
            <a:r>
              <a:rPr sz="1400" b="1" i="0">
                <a:solidFill>
                  <a:srgbClr val="1A1A1A"/>
                </a:solidFill>
                <a:latin typeface="Calibri"/>
              </a:rPr>
              <a:t>• </a:t>
            </a:r>
            <a:r>
              <a:rPr sz="1400" b="0" i="0">
                <a:solidFill>
                  <a:srgbClr val="1A1A1A"/>
                </a:solidFill>
                <a:latin typeface="Calibri"/>
              </a:rPr>
              <a:t>Orange M4 · Teal M5</a:t>
            </a:r>
          </a:p>
          <a:p>
            <a:pPr>
              <a:spcAft>
                <a:spcPts val="300"/>
              </a:spcAft>
            </a:pPr>
            <a:r>
              <a:rPr sz="1400" b="1" i="0">
                <a:solidFill>
                  <a:srgbClr val="1A1A1A"/>
                </a:solidFill>
                <a:latin typeface="Calibri"/>
              </a:rPr>
              <a:t>• </a:t>
            </a:r>
            <a:r>
              <a:rPr sz="1400" b="0" i="0">
                <a:solidFill>
                  <a:srgbClr val="1A1A1A"/>
                </a:solidFill>
                <a:latin typeface="Calibri"/>
              </a:rPr>
              <a:t>Yellow tab = case-fact pages</a:t>
            </a:r>
          </a:p>
        </p:txBody>
      </p:sp>
      <p:sp>
        <p:nvSpPr>
          <p:cNvPr id="18" name="Rounded Rectangle 17"/>
          <p:cNvSpPr/>
          <p:nvPr/>
        </p:nvSpPr>
        <p:spPr>
          <a:xfrm>
            <a:off x="274320" y="5760720"/>
            <a:ext cx="11658600" cy="777240"/>
          </a:xfrm>
          <a:prstGeom prst="roundRect">
            <a:avLst>
              <a:gd name="adj" fmla="val 6000"/>
            </a:avLst>
          </a:prstGeom>
          <a:solidFill>
            <a:srgbClr val="FFF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5779007"/>
            <a:ext cx="11475720" cy="740664"/>
          </a:xfrm>
          <a:prstGeom prst="rect">
            <a:avLst/>
          </a:prstGeom>
          <a:noFill/>
        </p:spPr>
        <p:txBody>
          <a:bodyPr wrap="square" anchor="ctr" lIns="45720" rIns="45720" tIns="18288" bIns="18288"/>
          <a:lstStyle/>
          <a:p>
            <a:pPr algn="l"/>
            <a:r>
              <a:rPr sz="1600" b="1" i="0">
                <a:solidFill>
                  <a:srgbClr val="1A1A1A"/>
                </a:solidFill>
                <a:latin typeface="Calibri"/>
              </a:rPr>
              <a:t>If you only have 3 hours: Slides 3–4 → Motivation (M4) → Perception/Attribution (M3) → Values/Job satisfaction (M2) → Toolkit. These carry the most exam-friendly frameworks.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263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200" b="1" i="0">
                <a:solidFill>
                  <a:srgbClr val="FFFFFF"/>
                </a:solidFill>
                <a:latin typeface="Calibri"/>
              </a:rPr>
              <a:t>Exam map: exactly what is examinable (course outline, sessions 1–14)</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C8CBCD"/>
                </a:solidFill>
                <a:latin typeface="Calibri"/>
              </a:rPr>
              <a:t>OB MID-SEM</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3</a:t>
            </a:r>
          </a:p>
        </p:txBody>
      </p:sp>
      <p:graphicFrame>
        <p:nvGraphicFramePr>
          <p:cNvPr id="7" name="Table 6"/>
          <p:cNvGraphicFramePr>
            <a:graphicFrameLocks noGrp="1"/>
          </p:cNvGraphicFramePr>
          <p:nvPr/>
        </p:nvGraphicFramePr>
        <p:xfrm>
          <a:off x="274320" y="1051560"/>
          <a:ext cx="11658600" cy="4526280"/>
        </p:xfrm>
        <a:graphic>
          <a:graphicData uri="http://schemas.openxmlformats.org/drawingml/2006/table">
            <a:tbl>
              <a:tblPr firstRow="1" bandRow="1">
                <a:tableStyleId>{5C22544A-7EE6-4342-B048-85BDC9FD1C3A}</a:tableStyleId>
              </a:tblPr>
              <a:tblGrid>
                <a:gridCol w="685800"/>
                <a:gridCol w="2377440"/>
                <a:gridCol w="2377440"/>
                <a:gridCol w="2743200"/>
                <a:gridCol w="3474720"/>
              </a:tblGrid>
              <a:tr h="754380">
                <a:tc>
                  <a:txBody>
                    <a:bodyPr wrap="square"/>
                    <a:lstStyle/>
                    <a:p>
                      <a:r>
                        <a:rPr sz="1400" b="1" i="0">
                          <a:solidFill>
                            <a:srgbClr val="FFFFFF"/>
                          </a:solidFill>
                          <a:latin typeface="Calibri"/>
                        </a:rPr>
                        <a:t>Module</a:t>
                      </a:r>
                    </a:p>
                  </a:txBody>
                  <a:tcPr marL="54864" marR="54864" marT="27432" marB="27432" anchor="ctr">
                    <a:solidFill>
                      <a:srgbClr val="263238"/>
                    </a:solidFill>
                  </a:tcPr>
                </a:tc>
                <a:tc>
                  <a:txBody>
                    <a:bodyPr wrap="square"/>
                    <a:lstStyle/>
                    <a:p>
                      <a:r>
                        <a:rPr sz="1400" b="1" i="0">
                          <a:solidFill>
                            <a:srgbClr val="FFFFFF"/>
                          </a:solidFill>
                          <a:latin typeface="Calibri"/>
                        </a:rPr>
                        <a:t>Topic (outline)</a:t>
                      </a:r>
                    </a:p>
                  </a:txBody>
                  <a:tcPr marL="54864" marR="54864" marT="27432" marB="27432" anchor="ctr">
                    <a:solidFill>
                      <a:srgbClr val="263238"/>
                    </a:solidFill>
                  </a:tcPr>
                </a:tc>
                <a:tc>
                  <a:txBody>
                    <a:bodyPr wrap="square"/>
                    <a:lstStyle/>
                    <a:p>
                      <a:r>
                        <a:rPr sz="1400" b="1" i="0">
                          <a:solidFill>
                            <a:srgbClr val="FFFFFF"/>
                          </a:solidFill>
                          <a:latin typeface="Calibri"/>
                        </a:rPr>
                        <a:t>Textbook (your book pages)</a:t>
                      </a:r>
                    </a:p>
                  </a:txBody>
                  <a:tcPr marL="54864" marR="54864" marT="27432" marB="27432" anchor="ctr">
                    <a:solidFill>
                      <a:srgbClr val="263238"/>
                    </a:solidFill>
                  </a:tcPr>
                </a:tc>
                <a:tc>
                  <a:txBody>
                    <a:bodyPr wrap="square"/>
                    <a:lstStyle/>
                    <a:p>
                      <a:r>
                        <a:rPr sz="1400" b="1" i="0">
                          <a:solidFill>
                            <a:srgbClr val="FFFFFF"/>
                          </a:solidFill>
                          <a:latin typeface="Calibri"/>
                        </a:rPr>
                        <a:t>Readings / Cases</a:t>
                      </a:r>
                    </a:p>
                  </a:txBody>
                  <a:tcPr marL="54864" marR="54864" marT="27432" marB="27432" anchor="ctr">
                    <a:solidFill>
                      <a:srgbClr val="263238"/>
                    </a:solidFill>
                  </a:tcPr>
                </a:tc>
                <a:tc>
                  <a:txBody>
                    <a:bodyPr wrap="square"/>
                    <a:lstStyle/>
                    <a:p>
                      <a:r>
                        <a:rPr sz="1400" b="1" i="0">
                          <a:solidFill>
                            <a:srgbClr val="FFFFFF"/>
                          </a:solidFill>
                          <a:latin typeface="Calibri"/>
                        </a:rPr>
                        <a:t>Class PPT handouts</a:t>
                      </a:r>
                    </a:p>
                  </a:txBody>
                  <a:tcPr marL="54864" marR="54864" marT="27432" marB="27432" anchor="ctr">
                    <a:solidFill>
                      <a:srgbClr val="263238"/>
                    </a:solidFill>
                  </a:tcPr>
                </a:tc>
              </a:tr>
              <a:tr h="754380">
                <a:tc>
                  <a:txBody>
                    <a:bodyPr wrap="square"/>
                    <a:lstStyle/>
                    <a:p>
                      <a:r>
                        <a:rPr sz="1400" b="1" i="0">
                          <a:solidFill>
                            <a:srgbClr val="1A1A1A"/>
                          </a:solidFill>
                          <a:latin typeface="Calibri"/>
                        </a:rPr>
                        <a:t>M1</a:t>
                      </a:r>
                    </a:p>
                  </a:txBody>
                  <a:tcPr marL="54864" marR="54864" marT="27432" marB="27432" anchor="ctr">
                    <a:solidFill>
                      <a:srgbClr val="FFFFFF"/>
                    </a:solidFill>
                  </a:tcPr>
                </a:tc>
                <a:tc>
                  <a:txBody>
                    <a:bodyPr wrap="square"/>
                    <a:lstStyle/>
                    <a:p>
                      <a:r>
                        <a:rPr sz="1400" b="0" i="0">
                          <a:solidFill>
                            <a:srgbClr val="1A1A1A"/>
                          </a:solidFill>
                          <a:latin typeface="Calibri"/>
                        </a:rPr>
                        <a:t>How OB works; workplace effectiveness;</a:t>
                      </a:r>
                    </a:p>
                    <a:p>
                      <a:r>
                        <a:rPr sz="1400" b="0" i="0">
                          <a:solidFill>
                            <a:srgbClr val="1A1A1A"/>
                          </a:solidFill>
                          <a:latin typeface="Calibri"/>
                        </a:rPr>
                        <a:t>Ethics &amp; problem solving</a:t>
                      </a:r>
                    </a:p>
                  </a:txBody>
                  <a:tcPr marL="54864" marR="54864" marT="27432" marB="27432" anchor="ctr">
                    <a:solidFill>
                      <a:srgbClr val="FFFFFF"/>
                    </a:solidFill>
                  </a:tcPr>
                </a:tc>
                <a:tc>
                  <a:txBody>
                    <a:bodyPr wrap="square"/>
                    <a:lstStyle/>
                    <a:p>
                      <a:r>
                        <a:rPr sz="1400" b="0" i="0">
                          <a:solidFill>
                            <a:srgbClr val="1A1A1A"/>
                          </a:solidFill>
                          <a:latin typeface="Calibri"/>
                        </a:rPr>
                        <a:t>Ch 1 (1.2, 1.3, 1.4 stressed)</a:t>
                      </a:r>
                    </a:p>
                    <a:p>
                      <a:r>
                        <a:rPr sz="1400" b="0" i="0">
                          <a:solidFill>
                            <a:srgbClr val="1A1A1A"/>
                          </a:solidFill>
                          <a:latin typeface="Calibri"/>
                        </a:rPr>
                        <a:t>pp. 2–40</a:t>
                      </a:r>
                    </a:p>
                  </a:txBody>
                  <a:tcPr marL="54864" marR="54864" marT="27432" marB="27432" anchor="ctr">
                    <a:solidFill>
                      <a:srgbClr val="FFFFFF"/>
                    </a:solidFill>
                  </a:tcPr>
                </a:tc>
                <a:tc>
                  <a:txBody>
                    <a:bodyPr wrap="square"/>
                    <a:lstStyle/>
                    <a:p>
                      <a:r>
                        <a:rPr sz="1400" b="0" i="0">
                          <a:solidFill>
                            <a:srgbClr val="1A1A1A"/>
                          </a:solidFill>
                          <a:latin typeface="Calibri"/>
                        </a:rPr>
                        <a:t>R1 Indiana Dept. of Revenue</a:t>
                      </a:r>
                    </a:p>
                    <a:p>
                      <a:r>
                        <a:rPr sz="1400" b="0" i="0">
                          <a:solidFill>
                            <a:srgbClr val="1A1A1A"/>
                          </a:solidFill>
                          <a:latin typeface="Calibri"/>
                        </a:rPr>
                        <a:t>R2 Destructive Behaviours (Carucci)</a:t>
                      </a:r>
                    </a:p>
                  </a:txBody>
                  <a:tcPr marL="54864" marR="54864" marT="27432" marB="27432" anchor="ctr">
                    <a:solidFill>
                      <a:srgbClr val="FFFFFF"/>
                    </a:solidFill>
                  </a:tcPr>
                </a:tc>
                <a:tc>
                  <a:txBody>
                    <a:bodyPr wrap="square"/>
                    <a:lstStyle/>
                    <a:p>
                      <a:r>
                        <a:rPr sz="1400" b="0" i="0">
                          <a:solidFill>
                            <a:srgbClr val="1A1A1A"/>
                          </a:solidFill>
                          <a:latin typeface="Calibri"/>
                        </a:rPr>
                        <a:t>OB Module 1-2 PPT · Behavioural Problems · People Mgmt (Starbucks) · HR-OB Infosys vs Jet</a:t>
                      </a:r>
                    </a:p>
                  </a:txBody>
                  <a:tcPr marL="54864" marR="54864" marT="27432" marB="27432" anchor="ctr">
                    <a:solidFill>
                      <a:srgbClr val="FFFFFF"/>
                    </a:solidFill>
                  </a:tcPr>
                </a:tc>
              </a:tr>
              <a:tr h="754380">
                <a:tc>
                  <a:txBody>
                    <a:bodyPr wrap="square"/>
                    <a:lstStyle/>
                    <a:p>
                      <a:r>
                        <a:rPr sz="1400" b="1" i="0">
                          <a:solidFill>
                            <a:srgbClr val="1A1A1A"/>
                          </a:solidFill>
                          <a:latin typeface="Calibri"/>
                        </a:rPr>
                        <a:t>M2</a:t>
                      </a:r>
                    </a:p>
                  </a:txBody>
                  <a:tcPr marL="54864" marR="54864" marT="27432" marB="27432" anchor="ctr">
                    <a:solidFill>
                      <a:srgbClr val="E9EAEB"/>
                    </a:solidFill>
                  </a:tcPr>
                </a:tc>
                <a:tc>
                  <a:txBody>
                    <a:bodyPr wrap="square"/>
                    <a:lstStyle/>
                    <a:p>
                      <a:r>
                        <a:rPr sz="1400" b="0" i="0">
                          <a:solidFill>
                            <a:srgbClr val="1A1A1A"/>
                          </a:solidFill>
                          <a:latin typeface="Calibri"/>
                        </a:rPr>
                        <a:t>Personal values; attitudes;</a:t>
                      </a:r>
                    </a:p>
                    <a:p>
                      <a:r>
                        <a:rPr sz="1400" b="0" i="0">
                          <a:solidFill>
                            <a:srgbClr val="1A1A1A"/>
                          </a:solidFill>
                          <a:latin typeface="Calibri"/>
                        </a:rPr>
                        <a:t>Job satisfaction: reality or myth?</a:t>
                      </a:r>
                    </a:p>
                  </a:txBody>
                  <a:tcPr marL="54864" marR="54864" marT="27432" marB="27432" anchor="ctr">
                    <a:solidFill>
                      <a:srgbClr val="E9EAEB"/>
                    </a:solidFill>
                  </a:tcPr>
                </a:tc>
                <a:tc>
                  <a:txBody>
                    <a:bodyPr wrap="square"/>
                    <a:lstStyle/>
                    <a:p>
                      <a:r>
                        <a:rPr sz="1400" b="0" i="0">
                          <a:solidFill>
                            <a:srgbClr val="1A1A1A"/>
                          </a:solidFill>
                          <a:latin typeface="Calibri"/>
                        </a:rPr>
                        <a:t>Ch 2 (2.1–2.6)</a:t>
                      </a:r>
                    </a:p>
                    <a:p>
                      <a:r>
                        <a:rPr sz="1400" b="0" i="0">
                          <a:solidFill>
                            <a:srgbClr val="1A1A1A"/>
                          </a:solidFill>
                          <a:latin typeface="Calibri"/>
                        </a:rPr>
                        <a:t>pp. 41–75</a:t>
                      </a:r>
                    </a:p>
                  </a:txBody>
                  <a:tcPr marL="54864" marR="54864" marT="27432" marB="27432" anchor="ctr">
                    <a:solidFill>
                      <a:srgbClr val="E9EAEB"/>
                    </a:solidFill>
                  </a:tcPr>
                </a:tc>
                <a:tc>
                  <a:txBody>
                    <a:bodyPr wrap="square"/>
                    <a:lstStyle/>
                    <a:p>
                      <a:r>
                        <a:rPr sz="1400" b="0" i="0">
                          <a:solidFill>
                            <a:srgbClr val="1A1A1A"/>
                          </a:solidFill>
                          <a:latin typeface="Calibri"/>
                        </a:rPr>
                        <a:t>—</a:t>
                      </a:r>
                    </a:p>
                  </a:txBody>
                  <a:tcPr marL="54864" marR="54864" marT="27432" marB="27432" anchor="ctr">
                    <a:solidFill>
                      <a:srgbClr val="E9EAEB"/>
                    </a:solidFill>
                  </a:tcPr>
                </a:tc>
                <a:tc>
                  <a:txBody>
                    <a:bodyPr wrap="square"/>
                    <a:lstStyle/>
                    <a:p>
                      <a:r>
                        <a:rPr sz="1400" b="0" i="0">
                          <a:solidFill>
                            <a:srgbClr val="1A1A1A"/>
                          </a:solidFill>
                          <a:latin typeface="Calibri"/>
                        </a:rPr>
                        <a:t>Schwartz · Hofstede · GLOBE · Rokeach · Generations · Corporate &amp; Leader values · McKinsey Great Attrition</a:t>
                      </a:r>
                    </a:p>
                  </a:txBody>
                  <a:tcPr marL="54864" marR="54864" marT="27432" marB="27432" anchor="ctr">
                    <a:solidFill>
                      <a:srgbClr val="E9EAEB"/>
                    </a:solidFill>
                  </a:tcPr>
                </a:tc>
              </a:tr>
              <a:tr h="754380">
                <a:tc>
                  <a:txBody>
                    <a:bodyPr wrap="square"/>
                    <a:lstStyle/>
                    <a:p>
                      <a:r>
                        <a:rPr sz="1400" b="1" i="0">
                          <a:solidFill>
                            <a:srgbClr val="1A1A1A"/>
                          </a:solidFill>
                          <a:latin typeface="Calibri"/>
                        </a:rPr>
                        <a:t>M3</a:t>
                      </a:r>
                    </a:p>
                  </a:txBody>
                  <a:tcPr marL="54864" marR="54864" marT="27432" marB="27432" anchor="ctr">
                    <a:solidFill>
                      <a:srgbClr val="FFFFFF"/>
                    </a:solidFill>
                  </a:tcPr>
                </a:tc>
                <a:tc>
                  <a:txBody>
                    <a:bodyPr wrap="square"/>
                    <a:lstStyle/>
                    <a:p>
                      <a:r>
                        <a:rPr sz="1400" b="0" i="0">
                          <a:solidFill>
                            <a:srgbClr val="1A1A1A"/>
                          </a:solidFill>
                          <a:latin typeface="Calibri"/>
                        </a:rPr>
                        <a:t>Emotional dynamics;</a:t>
                      </a:r>
                    </a:p>
                    <a:p>
                      <a:r>
                        <a:rPr sz="1400" b="0" i="0">
                          <a:solidFill>
                            <a:srgbClr val="1A1A1A"/>
                          </a:solidFill>
                          <a:latin typeface="Calibri"/>
                        </a:rPr>
                        <a:t>Social perception &amp; attribution</a:t>
                      </a:r>
                    </a:p>
                  </a:txBody>
                  <a:tcPr marL="54864" marR="54864" marT="27432" marB="27432" anchor="ctr">
                    <a:solidFill>
                      <a:srgbClr val="FFFFFF"/>
                    </a:solidFill>
                  </a:tcPr>
                </a:tc>
                <a:tc>
                  <a:txBody>
                    <a:bodyPr wrap="square"/>
                    <a:lstStyle/>
                    <a:p>
                      <a:r>
                        <a:rPr sz="1400" b="0" i="0">
                          <a:solidFill>
                            <a:srgbClr val="1A1A1A"/>
                          </a:solidFill>
                          <a:latin typeface="Calibri"/>
                        </a:rPr>
                        <a:t>Ch 3 (3.5, 3.6) pp. 105–116</a:t>
                      </a:r>
                    </a:p>
                    <a:p>
                      <a:r>
                        <a:rPr sz="1400" b="0" i="0">
                          <a:solidFill>
                            <a:srgbClr val="1A1A1A"/>
                          </a:solidFill>
                          <a:latin typeface="Calibri"/>
                        </a:rPr>
                        <a:t>Ch 4 (4.1–4.3) pp. 125–137</a:t>
                      </a:r>
                    </a:p>
                  </a:txBody>
                  <a:tcPr marL="54864" marR="54864" marT="27432" marB="27432" anchor="ctr">
                    <a:solidFill>
                      <a:srgbClr val="FFFFFF"/>
                    </a:solidFill>
                  </a:tcPr>
                </a:tc>
                <a:tc>
                  <a:txBody>
                    <a:bodyPr wrap="square"/>
                    <a:lstStyle/>
                    <a:p>
                      <a:r>
                        <a:rPr sz="1400" b="0" i="0">
                          <a:solidFill>
                            <a:srgbClr val="1A1A1A"/>
                          </a:solidFill>
                          <a:latin typeface="Calibri"/>
                        </a:rPr>
                        <a:t>R3 Resistance to Change (Carucci)</a:t>
                      </a:r>
                    </a:p>
                    <a:p>
                      <a:r>
                        <a:rPr sz="1400" b="0" i="0">
                          <a:solidFill>
                            <a:srgbClr val="1A1A1A"/>
                          </a:solidFill>
                          <a:latin typeface="Calibri"/>
                        </a:rPr>
                        <a:t>Case 7 Prudence · Case 8 Yelp</a:t>
                      </a:r>
                    </a:p>
                  </a:txBody>
                  <a:tcPr marL="54864" marR="54864" marT="27432" marB="27432" anchor="ctr">
                    <a:solidFill>
                      <a:srgbClr val="FFFFFF"/>
                    </a:solidFill>
                  </a:tcPr>
                </a:tc>
                <a:tc>
                  <a:txBody>
                    <a:bodyPr wrap="square"/>
                    <a:lstStyle/>
                    <a:p>
                      <a:r>
                        <a:rPr sz="1400" b="0" i="0">
                          <a:solidFill>
                            <a:srgbClr val="1A1A1A"/>
                          </a:solidFill>
                          <a:latin typeface="Calibri"/>
                        </a:rPr>
                        <a:t>—</a:t>
                      </a:r>
                    </a:p>
                  </a:txBody>
                  <a:tcPr marL="54864" marR="54864" marT="27432" marB="27432" anchor="ctr">
                    <a:solidFill>
                      <a:srgbClr val="FFFFFF"/>
                    </a:solidFill>
                  </a:tcPr>
                </a:tc>
              </a:tr>
              <a:tr h="754380">
                <a:tc>
                  <a:txBody>
                    <a:bodyPr wrap="square"/>
                    <a:lstStyle/>
                    <a:p>
                      <a:r>
                        <a:rPr sz="1400" b="1" i="0">
                          <a:solidFill>
                            <a:srgbClr val="1A1A1A"/>
                          </a:solidFill>
                          <a:latin typeface="Calibri"/>
                        </a:rPr>
                        <a:t>M4</a:t>
                      </a:r>
                    </a:p>
                  </a:txBody>
                  <a:tcPr marL="54864" marR="54864" marT="27432" marB="27432" anchor="ctr">
                    <a:solidFill>
                      <a:srgbClr val="E9EAEB"/>
                    </a:solidFill>
                  </a:tcPr>
                </a:tc>
                <a:tc>
                  <a:txBody>
                    <a:bodyPr wrap="square"/>
                    <a:lstStyle/>
                    <a:p>
                      <a:r>
                        <a:rPr sz="1400" b="0" i="0">
                          <a:solidFill>
                            <a:srgbClr val="1A1A1A"/>
                          </a:solidFill>
                          <a:latin typeface="Calibri"/>
                        </a:rPr>
                        <a:t>Theories &amp; applications of</a:t>
                      </a:r>
                    </a:p>
                    <a:p>
                      <a:r>
                        <a:rPr sz="1400" b="0" i="0">
                          <a:solidFill>
                            <a:srgbClr val="1A1A1A"/>
                          </a:solidFill>
                          <a:latin typeface="Calibri"/>
                        </a:rPr>
                        <a:t>workplace motivation</a:t>
                      </a:r>
                    </a:p>
                  </a:txBody>
                  <a:tcPr marL="54864" marR="54864" marT="27432" marB="27432" anchor="ctr">
                    <a:solidFill>
                      <a:srgbClr val="E9EAEB"/>
                    </a:solidFill>
                  </a:tcPr>
                </a:tc>
                <a:tc>
                  <a:txBody>
                    <a:bodyPr wrap="square"/>
                    <a:lstStyle/>
                    <a:p>
                      <a:r>
                        <a:rPr sz="1400" b="0" i="0">
                          <a:solidFill>
                            <a:srgbClr val="1A1A1A"/>
                          </a:solidFill>
                          <a:latin typeface="Calibri"/>
                        </a:rPr>
                        <a:t>Ch 5 (5.1–5.4)</a:t>
                      </a:r>
                    </a:p>
                    <a:p>
                      <a:r>
                        <a:rPr sz="1400" b="0" i="0">
                          <a:solidFill>
                            <a:srgbClr val="1A1A1A"/>
                          </a:solidFill>
                          <a:latin typeface="Calibri"/>
                        </a:rPr>
                        <a:t>pp. 165–198</a:t>
                      </a:r>
                    </a:p>
                  </a:txBody>
                  <a:tcPr marL="54864" marR="54864" marT="27432" marB="27432" anchor="ctr">
                    <a:solidFill>
                      <a:srgbClr val="E9EAEB"/>
                    </a:solidFill>
                  </a:tcPr>
                </a:tc>
                <a:tc>
                  <a:txBody>
                    <a:bodyPr wrap="square"/>
                    <a:lstStyle/>
                    <a:p>
                      <a:r>
                        <a:rPr sz="1400" b="0" i="0">
                          <a:solidFill>
                            <a:srgbClr val="1A1A1A"/>
                          </a:solidFill>
                          <a:latin typeface="Calibri"/>
                        </a:rPr>
                        <a:t>R3 · Case 5 Orix Geoscience</a:t>
                      </a:r>
                    </a:p>
                  </a:txBody>
                  <a:tcPr marL="54864" marR="54864" marT="27432" marB="27432" anchor="ctr">
                    <a:solidFill>
                      <a:srgbClr val="E9EAEB"/>
                    </a:solidFill>
                  </a:tcPr>
                </a:tc>
                <a:tc>
                  <a:txBody>
                    <a:bodyPr wrap="square"/>
                    <a:lstStyle/>
                    <a:p>
                      <a:r>
                        <a:rPr sz="1400" b="0" i="0">
                          <a:solidFill>
                            <a:srgbClr val="1A1A1A"/>
                          </a:solidFill>
                          <a:latin typeface="Calibri"/>
                        </a:rPr>
                        <a:t>Foundations of Employee Motivation PPT</a:t>
                      </a:r>
                    </a:p>
                  </a:txBody>
                  <a:tcPr marL="54864" marR="54864" marT="27432" marB="27432" anchor="ctr">
                    <a:solidFill>
                      <a:srgbClr val="E9EAEB"/>
                    </a:solidFill>
                  </a:tcPr>
                </a:tc>
              </a:tr>
              <a:tr h="754380">
                <a:tc>
                  <a:txBody>
                    <a:bodyPr wrap="square"/>
                    <a:lstStyle/>
                    <a:p>
                      <a:r>
                        <a:rPr sz="1400" b="1" i="0">
                          <a:solidFill>
                            <a:srgbClr val="1A1A1A"/>
                          </a:solidFill>
                          <a:latin typeface="Calibri"/>
                        </a:rPr>
                        <a:t>M5</a:t>
                      </a:r>
                    </a:p>
                  </a:txBody>
                  <a:tcPr marL="54864" marR="54864" marT="27432" marB="27432" anchor="ctr">
                    <a:solidFill>
                      <a:srgbClr val="FFFFFF"/>
                    </a:solidFill>
                  </a:tcPr>
                </a:tc>
                <a:tc>
                  <a:txBody>
                    <a:bodyPr wrap="square"/>
                    <a:lstStyle/>
                    <a:p>
                      <a:r>
                        <a:rPr sz="1400" b="0" i="0">
                          <a:solidFill>
                            <a:srgbClr val="1A1A1A"/>
                          </a:solidFill>
                          <a:latin typeface="Calibri"/>
                        </a:rPr>
                        <a:t>Positive emotions &amp;</a:t>
                      </a:r>
                    </a:p>
                    <a:p>
                      <a:r>
                        <a:rPr sz="1400" b="0" i="0">
                          <a:solidFill>
                            <a:srgbClr val="1A1A1A"/>
                          </a:solidFill>
                          <a:latin typeface="Calibri"/>
                        </a:rPr>
                        <a:t>Psychological Capital</a:t>
                      </a:r>
                    </a:p>
                  </a:txBody>
                  <a:tcPr marL="54864" marR="54864" marT="27432" marB="27432" anchor="ctr">
                    <a:solidFill>
                      <a:srgbClr val="FFFFFF"/>
                    </a:solidFill>
                  </a:tcPr>
                </a:tc>
                <a:tc>
                  <a:txBody>
                    <a:bodyPr wrap="square"/>
                    <a:lstStyle/>
                    <a:p>
                      <a:r>
                        <a:rPr sz="1400" b="0" i="0">
                          <a:solidFill>
                            <a:srgbClr val="1A1A1A"/>
                          </a:solidFill>
                          <a:latin typeface="Calibri"/>
                        </a:rPr>
                        <a:t>Ch 7 (whole)</a:t>
                      </a:r>
                    </a:p>
                    <a:p>
                      <a:r>
                        <a:rPr sz="1400" b="0" i="0">
                          <a:solidFill>
                            <a:srgbClr val="1A1A1A"/>
                          </a:solidFill>
                          <a:latin typeface="Calibri"/>
                        </a:rPr>
                        <a:t>pp. 257–295</a:t>
                      </a:r>
                    </a:p>
                  </a:txBody>
                  <a:tcPr marL="54864" marR="54864" marT="27432" marB="27432" anchor="ctr">
                    <a:solidFill>
                      <a:srgbClr val="FFFFFF"/>
                    </a:solidFill>
                  </a:tcPr>
                </a:tc>
                <a:tc>
                  <a:txBody>
                    <a:bodyPr wrap="square"/>
                    <a:lstStyle/>
                    <a:p>
                      <a:r>
                        <a:rPr sz="1400" b="0" i="0">
                          <a:solidFill>
                            <a:srgbClr val="1A1A1A"/>
                          </a:solidFill>
                          <a:latin typeface="Calibri"/>
                        </a:rPr>
                        <a:t>Case 6 Southwest Airlines</a:t>
                      </a:r>
                    </a:p>
                  </a:txBody>
                  <a:tcPr marL="54864" marR="54864" marT="27432" marB="27432" anchor="ctr">
                    <a:solidFill>
                      <a:srgbClr val="FFFFFF"/>
                    </a:solidFill>
                  </a:tcPr>
                </a:tc>
                <a:tc>
                  <a:txBody>
                    <a:bodyPr wrap="square"/>
                    <a:lstStyle/>
                    <a:p>
                      <a:r>
                        <a:rPr sz="1400" b="0" i="0">
                          <a:solidFill>
                            <a:srgbClr val="1A1A1A"/>
                          </a:solidFill>
                          <a:latin typeface="Calibri"/>
                        </a:rPr>
                        <a:t>Positive OB PPT (Tata COVID, Infosys–NIMHANS)</a:t>
                      </a:r>
                    </a:p>
                  </a:txBody>
                  <a:tcPr marL="54864" marR="54864" marT="27432" marB="27432" anchor="ctr">
                    <a:solidFill>
                      <a:srgbClr val="FFFFFF"/>
                    </a:solidFill>
                  </a:tcPr>
                </a:tc>
              </a:tr>
            </a:tbl>
          </a:graphicData>
        </a:graphic>
      </p:graphicFrame>
      <p:sp>
        <p:nvSpPr>
          <p:cNvPr id="8" name="Rounded Rectangle 7"/>
          <p:cNvSpPr/>
          <p:nvPr/>
        </p:nvSpPr>
        <p:spPr>
          <a:xfrm>
            <a:off x="274320" y="5715000"/>
            <a:ext cx="11658600" cy="822960"/>
          </a:xfrm>
          <a:prstGeom prst="roundRect">
            <a:avLst>
              <a:gd name="adj" fmla="val 6000"/>
            </a:avLst>
          </a:prstGeom>
          <a:solidFill>
            <a:srgbClr val="FFF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5733288"/>
            <a:ext cx="11475720" cy="786384"/>
          </a:xfrm>
          <a:prstGeom prst="rect">
            <a:avLst/>
          </a:prstGeom>
          <a:noFill/>
        </p:spPr>
        <p:txBody>
          <a:bodyPr wrap="square" anchor="ctr" lIns="45720" rIns="45720" tIns="18288" bIns="18288"/>
          <a:lstStyle/>
          <a:p>
            <a:pPr algn="l"/>
            <a:r>
              <a:rPr sz="1600" b="1" i="0">
                <a:solidFill>
                  <a:srgbClr val="1A1A1A"/>
                </a:solidFill>
                <a:latin typeface="Calibri"/>
              </a:rPr>
              <a:t>Mid-term = 30%. Outline: exams test 'knowledge of prescribed readings and ability to integrate, analyse and apply … open-ended questions'. CLO3 (Emphasized) = APPLY theory to real cases → ethical, evidence-based solutions.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B7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200" b="1" i="0">
                <a:solidFill>
                  <a:srgbClr val="FFFFFF"/>
                </a:solidFill>
                <a:latin typeface="Calibri"/>
              </a:rPr>
              <a:t>The CASE ANSWER MACHINE: use this skeleton for EVERY case question</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EDC6C6"/>
                </a:solidFill>
                <a:latin typeface="Calibri"/>
              </a:rPr>
              <a:t>EXAM TOOLKIT</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Ch 1 pp. 21–31</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4</a:t>
            </a:r>
          </a:p>
        </p:txBody>
      </p:sp>
      <p:sp>
        <p:nvSpPr>
          <p:cNvPr id="7" name="Rounded Rectangle 6"/>
          <p:cNvSpPr/>
          <p:nvPr/>
        </p:nvSpPr>
        <p:spPr>
          <a:xfrm>
            <a:off x="274320" y="1051560"/>
            <a:ext cx="2743200" cy="1280160"/>
          </a:xfrm>
          <a:prstGeom prst="roundRect">
            <a:avLst>
              <a:gd name="adj" fmla="val 6000"/>
            </a:avLst>
          </a:prstGeom>
          <a:solidFill>
            <a:srgbClr val="B7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2000" b="1" i="0">
                <a:solidFill>
                  <a:srgbClr val="FFFFFF"/>
                </a:solidFill>
                <a:latin typeface="Calibri"/>
              </a:rPr>
              <a:t>1  DEFINE THE PROBLEM</a:t>
            </a:r>
          </a:p>
        </p:txBody>
      </p:sp>
      <p:sp>
        <p:nvSpPr>
          <p:cNvPr id="8" name="Rounded Rectangle 7"/>
          <p:cNvSpPr/>
          <p:nvPr/>
        </p:nvSpPr>
        <p:spPr>
          <a:xfrm>
            <a:off x="3063240" y="1051560"/>
            <a:ext cx="4937760" cy="1280160"/>
          </a:xfrm>
          <a:prstGeom prst="roundRect">
            <a:avLst>
              <a:gd name="adj" fmla="val 6000"/>
            </a:avLst>
          </a:prstGeom>
          <a:solidFill>
            <a:srgbClr val="FFFFFF"/>
          </a:solidFill>
          <a:ln w="19050">
            <a:solidFill>
              <a:srgbClr val="DB8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54680" y="1078992"/>
            <a:ext cx="4800600" cy="1234440"/>
          </a:xfrm>
          <a:prstGeom prst="rect">
            <a:avLst/>
          </a:prstGeom>
          <a:noFill/>
        </p:spPr>
        <p:txBody>
          <a:bodyPr wrap="square" anchor="ctr" lIns="45720" rIns="45720" tIns="18288" bIns="18288"/>
          <a:lstStyle/>
          <a:p>
            <a:pPr algn="l"/>
            <a:r>
              <a:rPr sz="1500" b="0" i="0">
                <a:solidFill>
                  <a:srgbClr val="1A1A1A"/>
                </a:solidFill>
                <a:latin typeface="Calibri"/>
              </a:rPr>
              <a:t>Gap = desired outcome − actual outcome. Use an OUTCOME word from the Organizing Framework (turnover, low engagement, poor performance, CWB, low job satisfaction). Ask 'why is this a problem?'</a:t>
            </a:r>
          </a:p>
        </p:txBody>
      </p:sp>
      <p:sp>
        <p:nvSpPr>
          <p:cNvPr id="10" name="Rounded Rectangle 9"/>
          <p:cNvSpPr/>
          <p:nvPr/>
        </p:nvSpPr>
        <p:spPr>
          <a:xfrm>
            <a:off x="274320" y="2468880"/>
            <a:ext cx="2743200" cy="1280160"/>
          </a:xfrm>
          <a:prstGeom prst="roundRect">
            <a:avLst>
              <a:gd name="adj" fmla="val 6000"/>
            </a:avLst>
          </a:prstGeom>
          <a:solidFill>
            <a:srgbClr val="B7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2000" b="1" i="0">
                <a:solidFill>
                  <a:srgbClr val="FFFFFF"/>
                </a:solidFill>
                <a:latin typeface="Calibri"/>
              </a:rPr>
              <a:t>2  DIAGNOSE CAUSES</a:t>
            </a:r>
          </a:p>
        </p:txBody>
      </p:sp>
      <p:sp>
        <p:nvSpPr>
          <p:cNvPr id="11" name="Rounded Rectangle 10"/>
          <p:cNvSpPr/>
          <p:nvPr/>
        </p:nvSpPr>
        <p:spPr>
          <a:xfrm>
            <a:off x="3063240" y="2468880"/>
            <a:ext cx="4937760" cy="1280160"/>
          </a:xfrm>
          <a:prstGeom prst="roundRect">
            <a:avLst>
              <a:gd name="adj" fmla="val 6000"/>
            </a:avLst>
          </a:prstGeom>
          <a:solidFill>
            <a:srgbClr val="FFFFFF"/>
          </a:solidFill>
          <a:ln w="19050">
            <a:solidFill>
              <a:srgbClr val="DB8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154680" y="2496312"/>
            <a:ext cx="4800600" cy="1234440"/>
          </a:xfrm>
          <a:prstGeom prst="rect">
            <a:avLst/>
          </a:prstGeom>
          <a:noFill/>
        </p:spPr>
        <p:txBody>
          <a:bodyPr wrap="square" anchor="ctr" lIns="45720" rIns="45720" tIns="18288" bIns="18288"/>
          <a:lstStyle/>
          <a:p>
            <a:pPr algn="l"/>
            <a:r>
              <a:rPr sz="1500" b="0" i="0">
                <a:solidFill>
                  <a:srgbClr val="1A1A1A"/>
                </a:solidFill>
                <a:latin typeface="Calibri"/>
              </a:rPr>
              <a:t>Use 2–4 OB theories. Sort causes as PERSON factors vs SITUATION factors and at INDIVIDUAL / GROUP / ORGANISATION level. Ask 'why/how does this cause the problem?' (5 Whys)</a:t>
            </a:r>
          </a:p>
        </p:txBody>
      </p:sp>
      <p:sp>
        <p:nvSpPr>
          <p:cNvPr id="13" name="Rounded Rectangle 12"/>
          <p:cNvSpPr/>
          <p:nvPr/>
        </p:nvSpPr>
        <p:spPr>
          <a:xfrm>
            <a:off x="274320" y="3886200"/>
            <a:ext cx="2743200" cy="1280160"/>
          </a:xfrm>
          <a:prstGeom prst="roundRect">
            <a:avLst>
              <a:gd name="adj" fmla="val 6000"/>
            </a:avLst>
          </a:prstGeom>
          <a:solidFill>
            <a:srgbClr val="B7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2000" b="1" i="0">
                <a:solidFill>
                  <a:srgbClr val="FFFFFF"/>
                </a:solidFill>
                <a:latin typeface="Calibri"/>
              </a:rPr>
              <a:t>3  RECOMMEND &amp; ACT</a:t>
            </a:r>
          </a:p>
        </p:txBody>
      </p:sp>
      <p:sp>
        <p:nvSpPr>
          <p:cNvPr id="14" name="Rounded Rectangle 13"/>
          <p:cNvSpPr/>
          <p:nvPr/>
        </p:nvSpPr>
        <p:spPr>
          <a:xfrm>
            <a:off x="3063240" y="3886200"/>
            <a:ext cx="4937760" cy="1280160"/>
          </a:xfrm>
          <a:prstGeom prst="roundRect">
            <a:avLst>
              <a:gd name="adj" fmla="val 6000"/>
            </a:avLst>
          </a:prstGeom>
          <a:solidFill>
            <a:srgbClr val="FFFFFF"/>
          </a:solidFill>
          <a:ln w="19050">
            <a:solidFill>
              <a:srgbClr val="DB8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54680" y="3913632"/>
            <a:ext cx="4800600" cy="1234440"/>
          </a:xfrm>
          <a:prstGeom prst="rect">
            <a:avLst/>
          </a:prstGeom>
          <a:noFill/>
        </p:spPr>
        <p:txBody>
          <a:bodyPr wrap="square" anchor="ctr" lIns="45720" rIns="45720" tIns="18288" bIns="18288"/>
          <a:lstStyle/>
          <a:p>
            <a:pPr algn="l"/>
            <a:r>
              <a:rPr sz="1500" b="0" i="0">
                <a:solidFill>
                  <a:srgbClr val="1A1A1A"/>
                </a:solidFill>
                <a:latin typeface="Calibri"/>
              </a:rPr>
              <a:t>Map each recommendation to a cause. Say resolve / solve / dissolve. Check criteria: profits, people, reputation, values, ETHICS. Name short-term + long-term actions and how you will measure success.</a:t>
            </a:r>
          </a:p>
        </p:txBody>
      </p:sp>
      <p:sp>
        <p:nvSpPr>
          <p:cNvPr id="16" name="Rounded Rectangle 15"/>
          <p:cNvSpPr/>
          <p:nvPr/>
        </p:nvSpPr>
        <p:spPr>
          <a:xfrm>
            <a:off x="8183879" y="1051560"/>
            <a:ext cx="3749039" cy="4114800"/>
          </a:xfrm>
          <a:prstGeom prst="roundRect">
            <a:avLst>
              <a:gd name="adj" fmla="val 6000"/>
            </a:avLst>
          </a:prstGeom>
          <a:solidFill>
            <a:srgbClr val="FFFFFF"/>
          </a:solidFill>
          <a:ln w="19050">
            <a:solidFill>
              <a:srgbClr val="DE989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3879" y="1051560"/>
            <a:ext cx="3749039" cy="457200"/>
          </a:xfrm>
          <a:prstGeom prst="roundRect">
            <a:avLst>
              <a:gd name="adj" fmla="val 6000"/>
            </a:avLst>
          </a:prstGeom>
          <a:solidFill>
            <a:srgbClr val="B7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83879" y="1371600"/>
            <a:ext cx="3749039" cy="137160"/>
          </a:xfrm>
          <a:prstGeom prst="rect">
            <a:avLst/>
          </a:prstGeom>
          <a:solidFill>
            <a:srgbClr val="B7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75319" y="1051560"/>
            <a:ext cx="3566159" cy="457200"/>
          </a:xfrm>
          <a:prstGeom prst="rect">
            <a:avLst/>
          </a:prstGeom>
          <a:noFill/>
        </p:spPr>
        <p:txBody>
          <a:bodyPr wrap="square" anchor="ctr" lIns="45720" rIns="45720" tIns="18288" bIns="18288"/>
          <a:lstStyle/>
          <a:p>
            <a:pPr algn="l"/>
            <a:r>
              <a:rPr sz="1900" b="1" i="0">
                <a:solidFill>
                  <a:srgbClr val="FFFFFF"/>
                </a:solidFill>
                <a:latin typeface="Calibri"/>
              </a:rPr>
              <a:t>Organizing Framework (IPO)</a:t>
            </a:r>
          </a:p>
        </p:txBody>
      </p:sp>
      <p:sp>
        <p:nvSpPr>
          <p:cNvPr id="20" name="TextBox 19"/>
          <p:cNvSpPr txBox="1"/>
          <p:nvPr/>
        </p:nvSpPr>
        <p:spPr>
          <a:xfrm>
            <a:off x="8257031" y="1563624"/>
            <a:ext cx="3602735" cy="3566160"/>
          </a:xfrm>
          <a:prstGeom prst="rect">
            <a:avLst/>
          </a:prstGeom>
          <a:noFill/>
        </p:spPr>
        <p:txBody>
          <a:bodyPr wrap="square" anchor="t" lIns="54864" rIns="54864" tIns="27432" bIns="27432"/>
          <a:lstStyle/>
          <a:p>
            <a:pPr>
              <a:spcAft>
                <a:spcPts val="300"/>
              </a:spcAft>
            </a:pPr>
            <a:r>
              <a:rPr sz="1400" b="1" i="0">
                <a:solidFill>
                  <a:srgbClr val="1A1A1A"/>
                </a:solidFill>
                <a:latin typeface="Calibri"/>
              </a:rPr>
              <a:t>INPUTS</a:t>
            </a:r>
          </a:p>
          <a:p>
            <a:pPr>
              <a:spcAft>
                <a:spcPts val="300"/>
              </a:spcAft>
            </a:pPr>
            <a:r>
              <a:rPr sz="1400" b="1" i="0">
                <a:solidFill>
                  <a:srgbClr val="1A1A1A"/>
                </a:solidFill>
                <a:latin typeface="Calibri"/>
              </a:rPr>
              <a:t>• </a:t>
            </a:r>
            <a:r>
              <a:rPr sz="1400" b="0" i="0">
                <a:solidFill>
                  <a:srgbClr val="1A1A1A"/>
                </a:solidFill>
                <a:latin typeface="Calibri"/>
              </a:rPr>
              <a:t>Person: values, attitudes, personality, EI, needs, PsyCap</a:t>
            </a:r>
          </a:p>
          <a:p>
            <a:pPr>
              <a:spcAft>
                <a:spcPts val="300"/>
              </a:spcAft>
            </a:pPr>
            <a:r>
              <a:rPr sz="1400" b="1" i="0">
                <a:solidFill>
                  <a:srgbClr val="1A1A1A"/>
                </a:solidFill>
                <a:latin typeface="Calibri"/>
              </a:rPr>
              <a:t>• </a:t>
            </a:r>
            <a:r>
              <a:rPr sz="1400" b="0" i="0">
                <a:solidFill>
                  <a:srgbClr val="1A1A1A"/>
                </a:solidFill>
                <a:latin typeface="Calibri"/>
              </a:rPr>
              <a:t>Situation: leadership, job design, culture, rewards, climate</a:t>
            </a:r>
          </a:p>
          <a:p>
            <a:pPr>
              <a:spcAft>
                <a:spcPts val="300"/>
              </a:spcAft>
            </a:pPr>
            <a:r>
              <a:rPr sz="1400" b="1" i="0">
                <a:solidFill>
                  <a:srgbClr val="1A1A1A"/>
                </a:solidFill>
                <a:latin typeface="Calibri"/>
              </a:rPr>
              <a:t>PROCESSES (indiv / group / org)</a:t>
            </a:r>
          </a:p>
          <a:p>
            <a:pPr>
              <a:spcAft>
                <a:spcPts val="300"/>
              </a:spcAft>
            </a:pPr>
            <a:r>
              <a:rPr sz="1400" b="1" i="0">
                <a:solidFill>
                  <a:srgbClr val="1A1A1A"/>
                </a:solidFill>
                <a:latin typeface="Calibri"/>
              </a:rPr>
              <a:t>• </a:t>
            </a:r>
            <a:r>
              <a:rPr sz="1400" b="0" i="0">
                <a:solidFill>
                  <a:srgbClr val="1A1A1A"/>
                </a:solidFill>
                <a:latin typeface="Calibri"/>
              </a:rPr>
              <a:t>Emotions, perception, attribution, motivation, justice, communication</a:t>
            </a:r>
          </a:p>
          <a:p>
            <a:pPr>
              <a:spcAft>
                <a:spcPts val="300"/>
              </a:spcAft>
            </a:pPr>
            <a:r>
              <a:rPr sz="1400" b="1" i="0">
                <a:solidFill>
                  <a:srgbClr val="1A1A1A"/>
                </a:solidFill>
                <a:latin typeface="Calibri"/>
              </a:rPr>
              <a:t>OUTCOMES</a:t>
            </a:r>
          </a:p>
          <a:p>
            <a:pPr>
              <a:spcAft>
                <a:spcPts val="300"/>
              </a:spcAft>
            </a:pPr>
            <a:r>
              <a:rPr sz="1400" b="1" i="0">
                <a:solidFill>
                  <a:srgbClr val="1A1A1A"/>
                </a:solidFill>
                <a:latin typeface="Calibri"/>
              </a:rPr>
              <a:t>• </a:t>
            </a:r>
            <a:r>
              <a:rPr sz="1400" b="0" i="0">
                <a:solidFill>
                  <a:srgbClr val="1A1A1A"/>
                </a:solidFill>
                <a:latin typeface="Calibri"/>
              </a:rPr>
              <a:t>Indiv: performance, attitudes, turnover, OCB/CWB, flourishing</a:t>
            </a:r>
          </a:p>
          <a:p>
            <a:pPr>
              <a:spcAft>
                <a:spcPts val="300"/>
              </a:spcAft>
            </a:pPr>
            <a:r>
              <a:rPr sz="1400" b="1" i="0">
                <a:solidFill>
                  <a:srgbClr val="1A1A1A"/>
                </a:solidFill>
                <a:latin typeface="Calibri"/>
              </a:rPr>
              <a:t>• </a:t>
            </a:r>
            <a:r>
              <a:rPr sz="1400" b="0" i="0">
                <a:solidFill>
                  <a:srgbClr val="1A1A1A"/>
                </a:solidFill>
                <a:latin typeface="Calibri"/>
              </a:rPr>
              <a:t>Org: financial performance, customer satisfaction, reputation</a:t>
            </a:r>
          </a:p>
        </p:txBody>
      </p:sp>
      <p:sp>
        <p:nvSpPr>
          <p:cNvPr id="21" name="Rounded Rectangle 20"/>
          <p:cNvSpPr/>
          <p:nvPr/>
        </p:nvSpPr>
        <p:spPr>
          <a:xfrm>
            <a:off x="274320" y="5349240"/>
            <a:ext cx="11658600" cy="1188720"/>
          </a:xfrm>
          <a:prstGeom prst="roundRect">
            <a:avLst>
              <a:gd name="adj" fmla="val 6000"/>
            </a:avLst>
          </a:prstGeom>
          <a:solidFill>
            <a:srgbClr val="FFF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 y="5367527"/>
            <a:ext cx="11475720" cy="1152144"/>
          </a:xfrm>
          <a:prstGeom prst="rect">
            <a:avLst/>
          </a:prstGeom>
          <a:noFill/>
        </p:spPr>
        <p:txBody>
          <a:bodyPr wrap="square" anchor="ctr" lIns="45720" rIns="45720" tIns="18288" bIns="18288"/>
          <a:lstStyle/>
          <a:p>
            <a:pPr algn="l"/>
            <a:r>
              <a:rPr sz="1600" b="0" i="0">
                <a:solidFill>
                  <a:srgbClr val="1A1A1A"/>
                </a:solidFill>
                <a:latin typeface="Calibri"/>
              </a:rPr>
              <a:t>WRITE IT LIKE THIS: 'The core problem is ___ (outcome gap). Applying ___ theory (p. __), the cause is ___ because in the case ___ (fact). A second cause, from ___ theory, is ___. Therefore I recommend ___ (maps to cause 1) and ___ (maps to cause 2); success = ___ improves within ___.'  → One theory + one case fact + one action per paragraph.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600" b="1" i="0">
                <a:solidFill>
                  <a:srgbClr val="FFFFFF"/>
                </a:solidFill>
                <a:latin typeface="Calibri"/>
              </a:rPr>
              <a:t>MODULE 1: Introduction to OB · Ethics · Problem Solving</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C4D2E6"/>
                </a:solidFill>
                <a:latin typeface="Calibri"/>
              </a:rPr>
              <a:t>MODULE 1 · INTRO, ETHICS &amp; PROBLEM SOLVING</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Ch 1 · R1 · R2</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5</a:t>
            </a:r>
          </a:p>
        </p:txBody>
      </p:sp>
      <p:sp>
        <p:nvSpPr>
          <p:cNvPr id="7" name="Rounded Rectangle 6"/>
          <p:cNvSpPr/>
          <p:nvPr/>
        </p:nvSpPr>
        <p:spPr>
          <a:xfrm>
            <a:off x="274320" y="1097280"/>
            <a:ext cx="3749039" cy="2377440"/>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2400" b="1" i="0">
                <a:solidFill>
                  <a:srgbClr val="FFFFFF"/>
                </a:solidFill>
                <a:latin typeface="Calibri"/>
              </a:rPr>
              <a:t>WHAT</a:t>
            </a:r>
          </a:p>
          <a:p>
            <a:pPr algn="ctr"/>
            <a:r>
              <a:rPr sz="2100" b="0" i="0">
                <a:solidFill>
                  <a:srgbClr val="FFFFFF"/>
                </a:solidFill>
                <a:latin typeface="Calibri"/>
              </a:rPr>
              <a:t>OB = systematic study of how individuals, groups &amp; structure affect behaviour, applied to improve organisational effectiveness</a:t>
            </a:r>
          </a:p>
        </p:txBody>
      </p:sp>
      <p:sp>
        <p:nvSpPr>
          <p:cNvPr id="8" name="Rounded Rectangle 7"/>
          <p:cNvSpPr/>
          <p:nvPr/>
        </p:nvSpPr>
        <p:spPr>
          <a:xfrm>
            <a:off x="4206240" y="1097280"/>
            <a:ext cx="3749039" cy="2377440"/>
          </a:xfrm>
          <a:prstGeom prst="roundRect">
            <a:avLst>
              <a:gd name="adj" fmla="val 6000"/>
            </a:avLst>
          </a:prstGeom>
          <a:solidFill>
            <a:srgbClr val="4F78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2400" b="1" i="0">
                <a:solidFill>
                  <a:srgbClr val="FFFFFF"/>
                </a:solidFill>
                <a:latin typeface="Calibri"/>
              </a:rPr>
              <a:t>WHY</a:t>
            </a:r>
          </a:p>
          <a:p>
            <a:pPr algn="ctr"/>
            <a:r>
              <a:rPr sz="2100" b="0" i="0">
                <a:solidFill>
                  <a:srgbClr val="FFFFFF"/>
                </a:solidFill>
                <a:latin typeface="Calibri"/>
              </a:rPr>
              <a:t>60–80% of org difficulties come from strained relationships, not skill deficits (Dana 2005). #1 cause of Fortune-500 exec failure = poor interpersonal skills</a:t>
            </a:r>
          </a:p>
        </p:txBody>
      </p:sp>
      <p:sp>
        <p:nvSpPr>
          <p:cNvPr id="9" name="Rounded Rectangle 8"/>
          <p:cNvSpPr/>
          <p:nvPr/>
        </p:nvSpPr>
        <p:spPr>
          <a:xfrm>
            <a:off x="8138160" y="1097280"/>
            <a:ext cx="3794760" cy="2377440"/>
          </a:xfrm>
          <a:prstGeom prst="roundRect">
            <a:avLst>
              <a:gd name="adj" fmla="val 6000"/>
            </a:avLst>
          </a:prstGeom>
          <a:solidFill>
            <a:srgbClr val="7E9C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2400" b="1" i="0">
                <a:solidFill>
                  <a:srgbClr val="1A1A1A"/>
                </a:solidFill>
                <a:latin typeface="Calibri"/>
              </a:rPr>
              <a:t>HOW</a:t>
            </a:r>
          </a:p>
          <a:p>
            <a:pPr algn="ctr"/>
            <a:r>
              <a:rPr sz="2100" b="0" i="0">
                <a:solidFill>
                  <a:srgbClr val="1A1A1A"/>
                </a:solidFill>
                <a:latin typeface="Calibri"/>
              </a:rPr>
              <a:t>Contingency approach + 3-Step Problem Solving + Organizing Framework (Inputs → Processes → Outcomes)</a:t>
            </a:r>
          </a:p>
        </p:txBody>
      </p:sp>
      <p:graphicFrame>
        <p:nvGraphicFramePr>
          <p:cNvPr id="10" name="Table 9"/>
          <p:cNvGraphicFramePr>
            <a:graphicFrameLocks noGrp="1"/>
          </p:cNvGraphicFramePr>
          <p:nvPr/>
        </p:nvGraphicFramePr>
        <p:xfrm>
          <a:off x="274320" y="3703320"/>
          <a:ext cx="11658600" cy="2011680"/>
        </p:xfrm>
        <a:graphic>
          <a:graphicData uri="http://schemas.openxmlformats.org/drawingml/2006/table">
            <a:tbl>
              <a:tblPr firstRow="1" bandRow="1">
                <a:tableStyleId>{5C22544A-7EE6-4342-B048-85BDC9FD1C3A}</a:tableStyleId>
              </a:tblPr>
              <a:tblGrid>
                <a:gridCol w="914400"/>
                <a:gridCol w="4572000"/>
                <a:gridCol w="1828800"/>
                <a:gridCol w="4343400"/>
              </a:tblGrid>
              <a:tr h="502920">
                <a:tc>
                  <a:txBody>
                    <a:bodyPr wrap="square"/>
                    <a:lstStyle/>
                    <a:p>
                      <a:r>
                        <a:rPr sz="1600" b="1" i="0">
                          <a:solidFill>
                            <a:srgbClr val="FFFFFF"/>
                          </a:solidFill>
                          <a:latin typeface="Calibri"/>
                        </a:rPr>
                        <a:t>Session</a:t>
                      </a:r>
                    </a:p>
                  </a:txBody>
                  <a:tcPr marL="54864" marR="54864" marT="27432" marB="27432" anchor="ctr">
                    <a:solidFill>
                      <a:srgbClr val="154C9E"/>
                    </a:solidFill>
                  </a:tcPr>
                </a:tc>
                <a:tc>
                  <a:txBody>
                    <a:bodyPr wrap="square"/>
                    <a:lstStyle/>
                    <a:p>
                      <a:r>
                        <a:rPr sz="1600" b="1" i="0">
                          <a:solidFill>
                            <a:srgbClr val="FFFFFF"/>
                          </a:solidFill>
                          <a:latin typeface="Calibri"/>
                        </a:rPr>
                        <a:t>Topic</a:t>
                      </a:r>
                    </a:p>
                  </a:txBody>
                  <a:tcPr marL="54864" marR="54864" marT="27432" marB="27432" anchor="ctr">
                    <a:solidFill>
                      <a:srgbClr val="154C9E"/>
                    </a:solidFill>
                  </a:tcPr>
                </a:tc>
                <a:tc>
                  <a:txBody>
                    <a:bodyPr wrap="square"/>
                    <a:lstStyle/>
                    <a:p>
                      <a:r>
                        <a:rPr sz="1600" b="1" i="0">
                          <a:solidFill>
                            <a:srgbClr val="FFFFFF"/>
                          </a:solidFill>
                          <a:latin typeface="Calibri"/>
                        </a:rPr>
                        <a:t>Book</a:t>
                      </a:r>
                    </a:p>
                  </a:txBody>
                  <a:tcPr marL="54864" marR="54864" marT="27432" marB="27432" anchor="ctr">
                    <a:solidFill>
                      <a:srgbClr val="154C9E"/>
                    </a:solidFill>
                  </a:tcPr>
                </a:tc>
                <a:tc>
                  <a:txBody>
                    <a:bodyPr wrap="square"/>
                    <a:lstStyle/>
                    <a:p>
                      <a:r>
                        <a:rPr sz="1600" b="1" i="0">
                          <a:solidFill>
                            <a:srgbClr val="FFFFFF"/>
                          </a:solidFill>
                          <a:latin typeface="Calibri"/>
                        </a:rPr>
                        <a:t>Reading / handout</a:t>
                      </a:r>
                    </a:p>
                  </a:txBody>
                  <a:tcPr marL="54864" marR="54864" marT="27432" marB="27432" anchor="ctr">
                    <a:solidFill>
                      <a:srgbClr val="154C9E"/>
                    </a:solidFill>
                  </a:tcPr>
                </a:tc>
              </a:tr>
              <a:tr h="502920">
                <a:tc>
                  <a:txBody>
                    <a:bodyPr wrap="square"/>
                    <a:lstStyle/>
                    <a:p>
                      <a:r>
                        <a:rPr sz="1600" b="1" i="0">
                          <a:solidFill>
                            <a:srgbClr val="1A1A1A"/>
                          </a:solidFill>
                          <a:latin typeface="Calibri"/>
                        </a:rPr>
                        <a:t>1–2</a:t>
                      </a:r>
                    </a:p>
                  </a:txBody>
                  <a:tcPr marL="54864" marR="54864" marT="27432" marB="27432" anchor="ctr">
                    <a:solidFill>
                      <a:srgbClr val="FFFFFF"/>
                    </a:solidFill>
                  </a:tcPr>
                </a:tc>
                <a:tc>
                  <a:txBody>
                    <a:bodyPr wrap="square"/>
                    <a:lstStyle/>
                    <a:p>
                      <a:r>
                        <a:rPr sz="1600" b="0" i="0">
                          <a:solidFill>
                            <a:srgbClr val="1A1A1A"/>
                          </a:solidFill>
                          <a:latin typeface="Calibri"/>
                        </a:rPr>
                        <a:t>How OB works; workplace effectiveness &amp; org performance</a:t>
                      </a:r>
                    </a:p>
                  </a:txBody>
                  <a:tcPr marL="54864" marR="54864" marT="27432" marB="27432" anchor="ctr">
                    <a:solidFill>
                      <a:srgbClr val="FFFFFF"/>
                    </a:solidFill>
                  </a:tcPr>
                </a:tc>
                <a:tc>
                  <a:txBody>
                    <a:bodyPr wrap="square"/>
                    <a:lstStyle/>
                    <a:p>
                      <a:r>
                        <a:rPr sz="1600" b="0" i="0">
                          <a:solidFill>
                            <a:srgbClr val="1A1A1A"/>
                          </a:solidFill>
                          <a:latin typeface="Calibri"/>
                        </a:rPr>
                        <a:t>Ch 1</a:t>
                      </a:r>
                    </a:p>
                  </a:txBody>
                  <a:tcPr marL="54864" marR="54864" marT="27432" marB="27432" anchor="ctr">
                    <a:solidFill>
                      <a:srgbClr val="FFFFFF"/>
                    </a:solidFill>
                  </a:tcPr>
                </a:tc>
                <a:tc>
                  <a:txBody>
                    <a:bodyPr wrap="square"/>
                    <a:lstStyle/>
                    <a:p>
                      <a:r>
                        <a:rPr sz="1600" b="0" i="0">
                          <a:solidFill>
                            <a:srgbClr val="1A1A1A"/>
                          </a:solidFill>
                          <a:latin typeface="Calibri"/>
                        </a:rPr>
                        <a:t>R1 Indiana DOR</a:t>
                      </a:r>
                    </a:p>
                  </a:txBody>
                  <a:tcPr marL="54864" marR="54864" marT="27432" marB="27432" anchor="ctr">
                    <a:solidFill>
                      <a:srgbClr val="FFFFFF"/>
                    </a:solidFill>
                  </a:tcPr>
                </a:tc>
              </a:tr>
              <a:tr h="502920">
                <a:tc>
                  <a:txBody>
                    <a:bodyPr wrap="square"/>
                    <a:lstStyle/>
                    <a:p>
                      <a:r>
                        <a:rPr sz="1600" b="1" i="0">
                          <a:solidFill>
                            <a:srgbClr val="1A1A1A"/>
                          </a:solidFill>
                          <a:latin typeface="Calibri"/>
                        </a:rPr>
                        <a:t>3–4</a:t>
                      </a:r>
                    </a:p>
                  </a:txBody>
                  <a:tcPr marL="54864" marR="54864" marT="27432" marB="27432" anchor="ctr">
                    <a:solidFill>
                      <a:srgbClr val="E7EDF5"/>
                    </a:solidFill>
                  </a:tcPr>
                </a:tc>
                <a:tc>
                  <a:txBody>
                    <a:bodyPr wrap="square"/>
                    <a:lstStyle/>
                    <a:p>
                      <a:r>
                        <a:rPr sz="1600" b="0" i="0">
                          <a:solidFill>
                            <a:srgbClr val="1A1A1A"/>
                          </a:solidFill>
                          <a:latin typeface="Calibri"/>
                        </a:rPr>
                        <a:t>Ethics &amp; performance; structured problem solving</a:t>
                      </a:r>
                    </a:p>
                  </a:txBody>
                  <a:tcPr marL="54864" marR="54864" marT="27432" marB="27432" anchor="ctr">
                    <a:solidFill>
                      <a:srgbClr val="E7EDF5"/>
                    </a:solidFill>
                  </a:tcPr>
                </a:tc>
                <a:tc>
                  <a:txBody>
                    <a:bodyPr wrap="square"/>
                    <a:lstStyle/>
                    <a:p>
                      <a:r>
                        <a:rPr sz="1600" b="0" i="0">
                          <a:solidFill>
                            <a:srgbClr val="1A1A1A"/>
                          </a:solidFill>
                          <a:latin typeface="Calibri"/>
                        </a:rPr>
                        <a:t>Ch 1.2, 1.3, 1.4</a:t>
                      </a:r>
                    </a:p>
                  </a:txBody>
                  <a:tcPr marL="54864" marR="54864" marT="27432" marB="27432" anchor="ctr">
                    <a:solidFill>
                      <a:srgbClr val="E7EDF5"/>
                    </a:solidFill>
                  </a:tcPr>
                </a:tc>
                <a:tc>
                  <a:txBody>
                    <a:bodyPr wrap="square"/>
                    <a:lstStyle/>
                    <a:p>
                      <a:r>
                        <a:rPr sz="1600" b="0" i="0">
                          <a:solidFill>
                            <a:srgbClr val="1A1A1A"/>
                          </a:solidFill>
                          <a:latin typeface="Calibri"/>
                        </a:rPr>
                        <a:t>R2 Carucci; Behavioural Problems; People Mgmt</a:t>
                      </a:r>
                    </a:p>
                  </a:txBody>
                  <a:tcPr marL="54864" marR="54864" marT="27432" marB="27432" anchor="ctr">
                    <a:solidFill>
                      <a:srgbClr val="E7EDF5"/>
                    </a:solidFill>
                  </a:tcPr>
                </a:tc>
              </a:tr>
              <a:tr h="502920">
                <a:tc>
                  <a:txBody>
                    <a:bodyPr wrap="square"/>
                    <a:lstStyle/>
                    <a:p>
                      <a:r>
                        <a:rPr sz="1600" b="1" i="0">
                          <a:solidFill>
                            <a:srgbClr val="1A1A1A"/>
                          </a:solidFill>
                          <a:latin typeface="Calibri"/>
                        </a:rPr>
                        <a:t>5</a:t>
                      </a:r>
                    </a:p>
                  </a:txBody>
                  <a:tcPr marL="54864" marR="54864" marT="27432" marB="27432" anchor="ctr">
                    <a:solidFill>
                      <a:srgbClr val="FFFFFF"/>
                    </a:solidFill>
                  </a:tcPr>
                </a:tc>
                <a:tc>
                  <a:txBody>
                    <a:bodyPr wrap="square"/>
                    <a:lstStyle/>
                    <a:p>
                      <a:r>
                        <a:rPr sz="1600" b="0" i="0">
                          <a:solidFill>
                            <a:srgbClr val="1A1A1A"/>
                          </a:solidFill>
                          <a:latin typeface="Calibri"/>
                        </a:rPr>
                        <a:t>Industry expert</a:t>
                      </a:r>
                    </a:p>
                  </a:txBody>
                  <a:tcPr marL="54864" marR="54864" marT="27432" marB="27432" anchor="ctr">
                    <a:solidFill>
                      <a:srgbClr val="FFFFFF"/>
                    </a:solidFill>
                  </a:tcPr>
                </a:tc>
                <a:tc>
                  <a:txBody>
                    <a:bodyPr wrap="square"/>
                    <a:lstStyle/>
                    <a:p>
                      <a:r>
                        <a:rPr sz="1600" b="0" i="0">
                          <a:solidFill>
                            <a:srgbClr val="1A1A1A"/>
                          </a:solidFill>
                          <a:latin typeface="Calibri"/>
                        </a:rPr>
                        <a:t>—</a:t>
                      </a:r>
                    </a:p>
                  </a:txBody>
                  <a:tcPr marL="54864" marR="54864" marT="27432" marB="27432" anchor="ctr">
                    <a:solidFill>
                      <a:srgbClr val="FFFFFF"/>
                    </a:solidFill>
                  </a:tcPr>
                </a:tc>
                <a:tc>
                  <a:txBody>
                    <a:bodyPr wrap="square"/>
                    <a:lstStyle/>
                    <a:p>
                      <a:r>
                        <a:rPr sz="1600" b="0" i="0">
                          <a:solidFill>
                            <a:srgbClr val="1A1A1A"/>
                          </a:solidFill>
                          <a:latin typeface="Calibri"/>
                        </a:rPr>
                        <a:t>HR-OB success/failure: Infosys vs Jet Airways</a:t>
                      </a:r>
                    </a:p>
                  </a:txBody>
                  <a:tcPr marL="54864" marR="54864" marT="27432" marB="27432" anchor="ctr">
                    <a:solidFill>
                      <a:srgbClr val="FFFFFF"/>
                    </a:solidFill>
                  </a:tcPr>
                </a:tc>
              </a:tr>
            </a:tbl>
          </a:graphicData>
        </a:graphic>
      </p:graphicFrame>
      <p:sp>
        <p:nvSpPr>
          <p:cNvPr id="11" name="Rounded Rectangle 10"/>
          <p:cNvSpPr/>
          <p:nvPr/>
        </p:nvSpPr>
        <p:spPr>
          <a:xfrm>
            <a:off x="274320" y="5852160"/>
            <a:ext cx="11658600" cy="685800"/>
          </a:xfrm>
          <a:prstGeom prst="roundRect">
            <a:avLst>
              <a:gd name="adj" fmla="val 6000"/>
            </a:avLst>
          </a:prstGeom>
          <a:solidFill>
            <a:srgbClr val="FFF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5870448"/>
            <a:ext cx="11475720" cy="649224"/>
          </a:xfrm>
          <a:prstGeom prst="rect">
            <a:avLst/>
          </a:prstGeom>
          <a:noFill/>
        </p:spPr>
        <p:txBody>
          <a:bodyPr wrap="square" anchor="ctr" lIns="45720" rIns="45720" tIns="18288" bIns="18288"/>
          <a:lstStyle/>
          <a:p>
            <a:pPr algn="l"/>
            <a:r>
              <a:rPr sz="1700" b="1" i="0">
                <a:solidFill>
                  <a:srgbClr val="1A1A1A"/>
                </a:solidFill>
                <a:latin typeface="Calibri"/>
              </a:rPr>
              <a:t>Module 1 gives you the TOOLS (3-step approach, Organizing Framework, person-situation) that you will use to answer EVERY question in Modules 2–5.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600" b="1" i="0">
                <a:solidFill>
                  <a:srgbClr val="FFFFFF"/>
                </a:solidFill>
                <a:latin typeface="Calibri"/>
              </a:rPr>
              <a:t>Organisations, managers &amp; what managers actually do</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C4D2E6"/>
                </a:solidFill>
                <a:latin typeface="Calibri"/>
              </a:rPr>
              <a:t>MODULE 1 · INTRO, ETHICS &amp; PROBLEM SOLVING</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Class PPT slides 5–16</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6</a:t>
            </a:r>
          </a:p>
        </p:txBody>
      </p:sp>
      <p:sp>
        <p:nvSpPr>
          <p:cNvPr id="7" name="Rounded Rectangle 6"/>
          <p:cNvSpPr/>
          <p:nvPr/>
        </p:nvSpPr>
        <p:spPr>
          <a:xfrm>
            <a:off x="274320" y="1051560"/>
            <a:ext cx="3794760" cy="2240280"/>
          </a:xfrm>
          <a:prstGeom prst="roundRect">
            <a:avLst>
              <a:gd name="adj" fmla="val 6000"/>
            </a:avLst>
          </a:prstGeom>
          <a:solidFill>
            <a:srgbClr val="FFFFFF"/>
          </a:solidFill>
          <a:ln w="19050">
            <a:solidFill>
              <a:srgbClr val="95A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74320" y="1051560"/>
            <a:ext cx="3794760" cy="457200"/>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371600"/>
            <a:ext cx="3794760" cy="137160"/>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051560"/>
            <a:ext cx="3611880" cy="457200"/>
          </a:xfrm>
          <a:prstGeom prst="rect">
            <a:avLst/>
          </a:prstGeom>
          <a:noFill/>
        </p:spPr>
        <p:txBody>
          <a:bodyPr wrap="square" anchor="ctr" lIns="45720" rIns="45720" tIns="18288" bIns="18288"/>
          <a:lstStyle/>
          <a:p>
            <a:pPr algn="l"/>
            <a:r>
              <a:rPr sz="1900" b="1" i="0">
                <a:solidFill>
                  <a:srgbClr val="FFFFFF"/>
                </a:solidFill>
                <a:latin typeface="Calibri"/>
              </a:rPr>
              <a:t>Organisation</a:t>
            </a:r>
          </a:p>
        </p:txBody>
      </p:sp>
      <p:sp>
        <p:nvSpPr>
          <p:cNvPr id="11" name="TextBox 10"/>
          <p:cNvSpPr txBox="1"/>
          <p:nvPr/>
        </p:nvSpPr>
        <p:spPr>
          <a:xfrm>
            <a:off x="347472" y="1563624"/>
            <a:ext cx="3648456" cy="1691640"/>
          </a:xfrm>
          <a:prstGeom prst="rect">
            <a:avLst/>
          </a:prstGeom>
          <a:noFill/>
        </p:spPr>
        <p:txBody>
          <a:bodyPr wrap="square" anchor="t" lIns="54864" rIns="54864" tIns="27432" bIns="27432"/>
          <a:lstStyle/>
          <a:p>
            <a:pPr>
              <a:spcAft>
                <a:spcPts val="300"/>
              </a:spcAft>
            </a:pPr>
            <a:r>
              <a:rPr sz="1600" b="1" i="0">
                <a:solidFill>
                  <a:srgbClr val="1A1A1A"/>
                </a:solidFill>
                <a:latin typeface="Calibri"/>
              </a:rPr>
              <a:t>• </a:t>
            </a:r>
            <a:r>
              <a:rPr sz="1600" b="1" i="0">
                <a:solidFill>
                  <a:srgbClr val="1A1A1A"/>
                </a:solidFill>
                <a:latin typeface="Calibri"/>
              </a:rPr>
              <a:t>Consciously coordinated social unit</a:t>
            </a:r>
            <a:r>
              <a:rPr sz="1600" b="0" i="0">
                <a:solidFill>
                  <a:srgbClr val="1A1A1A"/>
                </a:solidFill>
                <a:latin typeface="Calibri"/>
              </a:rPr>
              <a:t> of 2+ people, functioning on a </a:t>
            </a:r>
            <a:r>
              <a:rPr sz="1600" b="1" i="0">
                <a:solidFill>
                  <a:srgbClr val="1A1A1A"/>
                </a:solidFill>
                <a:latin typeface="Calibri"/>
              </a:rPr>
              <a:t>relatively continuous</a:t>
            </a:r>
            <a:r>
              <a:rPr sz="1600" b="0" i="0">
                <a:solidFill>
                  <a:srgbClr val="1A1A1A"/>
                </a:solidFill>
                <a:latin typeface="Calibri"/>
              </a:rPr>
              <a:t> basis to achieve common goals</a:t>
            </a:r>
          </a:p>
          <a:p>
            <a:pPr>
              <a:spcAft>
                <a:spcPts val="300"/>
              </a:spcAft>
            </a:pPr>
            <a:r>
              <a:rPr sz="1600" b="1" i="0">
                <a:solidFill>
                  <a:srgbClr val="1A1A1A"/>
                </a:solidFill>
                <a:latin typeface="Calibri"/>
              </a:rPr>
              <a:t>• </a:t>
            </a:r>
            <a:r>
              <a:rPr sz="1600" b="0" i="0">
                <a:solidFill>
                  <a:srgbClr val="1A1A1A"/>
                </a:solidFill>
                <a:latin typeface="Calibri"/>
              </a:rPr>
              <a:t>Purposefully created · 2+ people · continuous · goals</a:t>
            </a:r>
          </a:p>
        </p:txBody>
      </p:sp>
      <p:sp>
        <p:nvSpPr>
          <p:cNvPr id="12" name="Rounded Rectangle 11"/>
          <p:cNvSpPr/>
          <p:nvPr/>
        </p:nvSpPr>
        <p:spPr>
          <a:xfrm>
            <a:off x="274320" y="3429000"/>
            <a:ext cx="3794760" cy="3108960"/>
          </a:xfrm>
          <a:prstGeom prst="roundRect">
            <a:avLst>
              <a:gd name="adj" fmla="val 6000"/>
            </a:avLst>
          </a:prstGeom>
          <a:solidFill>
            <a:srgbClr val="FFFFFF"/>
          </a:solidFill>
          <a:ln w="19050">
            <a:solidFill>
              <a:srgbClr val="95A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74320" y="3429000"/>
            <a:ext cx="3794760" cy="457200"/>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4320" y="3749039"/>
            <a:ext cx="3794760" cy="137160"/>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3429000"/>
            <a:ext cx="3611880" cy="457200"/>
          </a:xfrm>
          <a:prstGeom prst="rect">
            <a:avLst/>
          </a:prstGeom>
          <a:noFill/>
        </p:spPr>
        <p:txBody>
          <a:bodyPr wrap="square" anchor="ctr" lIns="45720" rIns="45720" tIns="18288" bIns="18288"/>
          <a:lstStyle/>
          <a:p>
            <a:pPr algn="l"/>
            <a:r>
              <a:rPr sz="1900" b="1" i="0">
                <a:solidFill>
                  <a:srgbClr val="FFFFFF"/>
                </a:solidFill>
                <a:latin typeface="Calibri"/>
              </a:rPr>
              <a:t>Managers (administrators)</a:t>
            </a:r>
          </a:p>
        </p:txBody>
      </p:sp>
      <p:sp>
        <p:nvSpPr>
          <p:cNvPr id="16" name="TextBox 15"/>
          <p:cNvSpPr txBox="1"/>
          <p:nvPr/>
        </p:nvSpPr>
        <p:spPr>
          <a:xfrm>
            <a:off x="347472" y="3941063"/>
            <a:ext cx="3648456" cy="2560320"/>
          </a:xfrm>
          <a:prstGeom prst="rect">
            <a:avLst/>
          </a:prstGeom>
          <a:noFill/>
        </p:spPr>
        <p:txBody>
          <a:bodyPr wrap="square" anchor="t" lIns="54864" rIns="54864" tIns="27432" bIns="27432"/>
          <a:lstStyle/>
          <a:p>
            <a:pPr>
              <a:spcAft>
                <a:spcPts val="300"/>
              </a:spcAft>
            </a:pPr>
            <a:r>
              <a:rPr sz="1300" b="1" i="0">
                <a:solidFill>
                  <a:srgbClr val="1A1A1A"/>
                </a:solidFill>
                <a:latin typeface="Calibri"/>
              </a:rPr>
              <a:t>• </a:t>
            </a:r>
            <a:r>
              <a:rPr sz="1300" b="0" i="0">
                <a:solidFill>
                  <a:srgbClr val="1A1A1A"/>
                </a:solidFill>
                <a:latin typeface="Calibri"/>
              </a:rPr>
              <a:t>Achieve goals </a:t>
            </a:r>
            <a:r>
              <a:rPr sz="1300" b="1" i="0">
                <a:solidFill>
                  <a:srgbClr val="1A1A1A"/>
                </a:solidFill>
                <a:latin typeface="Calibri"/>
              </a:rPr>
              <a:t>through other people</a:t>
            </a:r>
          </a:p>
          <a:p>
            <a:pPr>
              <a:spcAft>
                <a:spcPts val="300"/>
              </a:spcAft>
            </a:pPr>
            <a:r>
              <a:rPr sz="1300" b="1" i="0">
                <a:solidFill>
                  <a:srgbClr val="1A1A1A"/>
                </a:solidFill>
                <a:latin typeface="Calibri"/>
              </a:rPr>
              <a:t>• </a:t>
            </a:r>
            <a:r>
              <a:rPr sz="1300" b="0" i="0">
                <a:solidFill>
                  <a:srgbClr val="1A1A1A"/>
                </a:solidFill>
                <a:latin typeface="Calibri"/>
              </a:rPr>
              <a:t>Make decisions · allocate resources · direct others' activities</a:t>
            </a:r>
          </a:p>
          <a:p>
            <a:pPr>
              <a:spcAft>
                <a:spcPts val="300"/>
              </a:spcAft>
            </a:pPr>
            <a:r>
              <a:rPr sz="1300" b="1" i="0">
                <a:solidFill>
                  <a:srgbClr val="1A1A1A"/>
                </a:solidFill>
                <a:latin typeface="Calibri"/>
              </a:rPr>
              <a:t>4 Functions (POLC)</a:t>
            </a:r>
          </a:p>
          <a:p>
            <a:pPr>
              <a:spcAft>
                <a:spcPts val="300"/>
              </a:spcAft>
            </a:pPr>
            <a:r>
              <a:rPr sz="1300" b="1" i="0">
                <a:solidFill>
                  <a:srgbClr val="1A1A1A"/>
                </a:solidFill>
                <a:latin typeface="Calibri"/>
              </a:rPr>
              <a:t>• </a:t>
            </a:r>
            <a:r>
              <a:rPr sz="1300" b="1" i="0">
                <a:solidFill>
                  <a:srgbClr val="1A1A1A"/>
                </a:solidFill>
                <a:latin typeface="Calibri"/>
              </a:rPr>
              <a:t>Planning</a:t>
            </a:r>
            <a:r>
              <a:rPr sz="1300" b="0" i="0">
                <a:solidFill>
                  <a:srgbClr val="1A1A1A"/>
                </a:solidFill>
                <a:latin typeface="Calibri"/>
              </a:rPr>
              <a:t>: goals, strategy, plans</a:t>
            </a:r>
          </a:p>
          <a:p>
            <a:pPr>
              <a:spcAft>
                <a:spcPts val="300"/>
              </a:spcAft>
            </a:pPr>
            <a:r>
              <a:rPr sz="1300" b="1" i="0">
                <a:solidFill>
                  <a:srgbClr val="1A1A1A"/>
                </a:solidFill>
                <a:latin typeface="Calibri"/>
              </a:rPr>
              <a:t>• </a:t>
            </a:r>
            <a:r>
              <a:rPr sz="1300" b="1" i="0">
                <a:solidFill>
                  <a:srgbClr val="1A1A1A"/>
                </a:solidFill>
                <a:latin typeface="Calibri"/>
              </a:rPr>
              <a:t>Organising</a:t>
            </a:r>
            <a:r>
              <a:rPr sz="1300" b="0" i="0">
                <a:solidFill>
                  <a:srgbClr val="1A1A1A"/>
                </a:solidFill>
                <a:latin typeface="Calibri"/>
              </a:rPr>
              <a:t>: tasks, who does, grouping, reporting</a:t>
            </a:r>
          </a:p>
          <a:p>
            <a:pPr>
              <a:spcAft>
                <a:spcPts val="300"/>
              </a:spcAft>
            </a:pPr>
            <a:r>
              <a:rPr sz="1300" b="1" i="0">
                <a:solidFill>
                  <a:srgbClr val="1A1A1A"/>
                </a:solidFill>
                <a:latin typeface="Calibri"/>
              </a:rPr>
              <a:t>• </a:t>
            </a:r>
            <a:r>
              <a:rPr sz="1300" b="1" i="0">
                <a:solidFill>
                  <a:srgbClr val="1A1A1A"/>
                </a:solidFill>
                <a:latin typeface="Calibri"/>
              </a:rPr>
              <a:t>Leading</a:t>
            </a:r>
            <a:r>
              <a:rPr sz="1300" b="0" i="0">
                <a:solidFill>
                  <a:srgbClr val="1A1A1A"/>
                </a:solidFill>
                <a:latin typeface="Calibri"/>
              </a:rPr>
              <a:t>: motivate, direct, communicate, resolve conflict</a:t>
            </a:r>
          </a:p>
          <a:p>
            <a:pPr>
              <a:spcAft>
                <a:spcPts val="300"/>
              </a:spcAft>
            </a:pPr>
            <a:r>
              <a:rPr sz="1300" b="1" i="0">
                <a:solidFill>
                  <a:srgbClr val="1A1A1A"/>
                </a:solidFill>
                <a:latin typeface="Calibri"/>
              </a:rPr>
              <a:t>• </a:t>
            </a:r>
            <a:r>
              <a:rPr sz="1300" b="1" i="0">
                <a:solidFill>
                  <a:srgbClr val="1A1A1A"/>
                </a:solidFill>
                <a:latin typeface="Calibri"/>
              </a:rPr>
              <a:t>Controlling</a:t>
            </a:r>
            <a:r>
              <a:rPr sz="1300" b="0" i="0">
                <a:solidFill>
                  <a:srgbClr val="1A1A1A"/>
                </a:solidFill>
                <a:latin typeface="Calibri"/>
              </a:rPr>
              <a:t>: monitor &amp; correct deviations</a:t>
            </a:r>
          </a:p>
        </p:txBody>
      </p:sp>
      <p:sp>
        <p:nvSpPr>
          <p:cNvPr id="17" name="Rounded Rectangle 16"/>
          <p:cNvSpPr/>
          <p:nvPr/>
        </p:nvSpPr>
        <p:spPr>
          <a:xfrm>
            <a:off x="4206240" y="1051560"/>
            <a:ext cx="3749039" cy="2743200"/>
          </a:xfrm>
          <a:prstGeom prst="roundRect">
            <a:avLst>
              <a:gd name="adj" fmla="val 6000"/>
            </a:avLst>
          </a:prstGeom>
          <a:solidFill>
            <a:srgbClr val="FFFFFF"/>
          </a:solidFill>
          <a:ln w="19050">
            <a:solidFill>
              <a:srgbClr val="95A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206240" y="1051560"/>
            <a:ext cx="3749039" cy="457200"/>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06240" y="1371600"/>
            <a:ext cx="3749039" cy="137160"/>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7679" y="1051560"/>
            <a:ext cx="3566159" cy="457200"/>
          </a:xfrm>
          <a:prstGeom prst="rect">
            <a:avLst/>
          </a:prstGeom>
          <a:noFill/>
        </p:spPr>
        <p:txBody>
          <a:bodyPr wrap="square" anchor="ctr" lIns="45720" rIns="45720" tIns="18288" bIns="18288"/>
          <a:lstStyle/>
          <a:p>
            <a:pPr algn="l"/>
            <a:r>
              <a:rPr sz="1900" b="1" i="0">
                <a:solidFill>
                  <a:srgbClr val="FFFFFF"/>
                </a:solidFill>
                <a:latin typeface="Calibri"/>
              </a:rPr>
              <a:t>Katz's 3 management skills</a:t>
            </a:r>
          </a:p>
        </p:txBody>
      </p:sp>
      <p:sp>
        <p:nvSpPr>
          <p:cNvPr id="21" name="TextBox 20"/>
          <p:cNvSpPr txBox="1"/>
          <p:nvPr/>
        </p:nvSpPr>
        <p:spPr>
          <a:xfrm>
            <a:off x="4279392" y="1563624"/>
            <a:ext cx="3602735" cy="2194560"/>
          </a:xfrm>
          <a:prstGeom prst="rect">
            <a:avLst/>
          </a:prstGeom>
          <a:noFill/>
        </p:spPr>
        <p:txBody>
          <a:bodyPr wrap="square" anchor="t" lIns="54864" rIns="54864" tIns="27432" bIns="27432"/>
          <a:lstStyle/>
          <a:p>
            <a:pPr>
              <a:spcAft>
                <a:spcPts val="300"/>
              </a:spcAft>
            </a:pPr>
            <a:r>
              <a:rPr sz="1500" b="1" i="0">
                <a:solidFill>
                  <a:srgbClr val="1A1A1A"/>
                </a:solidFill>
                <a:latin typeface="Calibri"/>
              </a:rPr>
              <a:t>• </a:t>
            </a:r>
            <a:r>
              <a:rPr sz="1500" b="1" i="0">
                <a:solidFill>
                  <a:srgbClr val="1A1A1A"/>
                </a:solidFill>
                <a:latin typeface="Calibri"/>
              </a:rPr>
              <a:t>Technical</a:t>
            </a:r>
            <a:r>
              <a:rPr sz="1500" b="0" i="0">
                <a:solidFill>
                  <a:srgbClr val="1A1A1A"/>
                </a:solidFill>
                <a:latin typeface="Calibri"/>
              </a:rPr>
              <a:t>: apply specialised knowledge</a:t>
            </a:r>
          </a:p>
          <a:p>
            <a:pPr>
              <a:spcAft>
                <a:spcPts val="300"/>
              </a:spcAft>
            </a:pPr>
            <a:r>
              <a:rPr sz="1500" b="1" i="0">
                <a:solidFill>
                  <a:srgbClr val="1A1A1A"/>
                </a:solidFill>
                <a:latin typeface="Calibri"/>
              </a:rPr>
              <a:t>• </a:t>
            </a:r>
            <a:r>
              <a:rPr sz="1500" b="1" i="0">
                <a:solidFill>
                  <a:srgbClr val="1A1A1A"/>
                </a:solidFill>
                <a:latin typeface="Calibri"/>
              </a:rPr>
              <a:t>Human</a:t>
            </a:r>
            <a:r>
              <a:rPr sz="1500" b="0" i="0">
                <a:solidFill>
                  <a:srgbClr val="1A1A1A"/>
                </a:solidFill>
                <a:latin typeface="Calibri"/>
              </a:rPr>
              <a:t>: work with, understand &amp; motivate people</a:t>
            </a:r>
          </a:p>
          <a:p>
            <a:pPr>
              <a:spcAft>
                <a:spcPts val="300"/>
              </a:spcAft>
            </a:pPr>
            <a:r>
              <a:rPr sz="1500" b="1" i="0">
                <a:solidFill>
                  <a:srgbClr val="1A1A1A"/>
                </a:solidFill>
                <a:latin typeface="Calibri"/>
              </a:rPr>
              <a:t>• </a:t>
            </a:r>
            <a:r>
              <a:rPr sz="1500" b="1" i="0">
                <a:solidFill>
                  <a:srgbClr val="1A1A1A"/>
                </a:solidFill>
                <a:latin typeface="Calibri"/>
              </a:rPr>
              <a:t>Conceptual</a:t>
            </a:r>
            <a:r>
              <a:rPr sz="1500" b="0" i="0">
                <a:solidFill>
                  <a:srgbClr val="1A1A1A"/>
                </a:solidFill>
                <a:latin typeface="Calibri"/>
              </a:rPr>
              <a:t>: analyse &amp; diagnose complex situations</a:t>
            </a:r>
          </a:p>
          <a:p>
            <a:pPr>
              <a:spcAft>
                <a:spcPts val="300"/>
              </a:spcAft>
            </a:pPr>
            <a:r>
              <a:rPr sz="1500" b="1" i="0">
                <a:solidFill>
                  <a:srgbClr val="1A1A1A"/>
                </a:solidFill>
                <a:latin typeface="Calibri"/>
              </a:rPr>
              <a:t>• </a:t>
            </a:r>
            <a:r>
              <a:rPr sz="1500" b="0" i="0">
                <a:solidFill>
                  <a:srgbClr val="1A1A1A"/>
                </a:solidFill>
                <a:latin typeface="Calibri"/>
              </a:rPr>
              <a:t>Technical skills matter less &amp; personal skills more as you rise (Fig 1.1, p. 10)</a:t>
            </a:r>
          </a:p>
        </p:txBody>
      </p:sp>
      <p:sp>
        <p:nvSpPr>
          <p:cNvPr id="22" name="Rounded Rectangle 21"/>
          <p:cNvSpPr/>
          <p:nvPr/>
        </p:nvSpPr>
        <p:spPr>
          <a:xfrm>
            <a:off x="4206240" y="3931920"/>
            <a:ext cx="3749039" cy="2606040"/>
          </a:xfrm>
          <a:prstGeom prst="roundRect">
            <a:avLst>
              <a:gd name="adj" fmla="val 6000"/>
            </a:avLst>
          </a:prstGeom>
          <a:solidFill>
            <a:srgbClr val="FFFFFF"/>
          </a:solidFill>
          <a:ln w="19050">
            <a:solidFill>
              <a:srgbClr val="95A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206240" y="3931920"/>
            <a:ext cx="3749039" cy="457200"/>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206240" y="4251959"/>
            <a:ext cx="3749039" cy="137160"/>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97679" y="3931920"/>
            <a:ext cx="3566159" cy="457200"/>
          </a:xfrm>
          <a:prstGeom prst="rect">
            <a:avLst/>
          </a:prstGeom>
          <a:noFill/>
        </p:spPr>
        <p:txBody>
          <a:bodyPr wrap="square" anchor="ctr" lIns="45720" rIns="45720" tIns="18288" bIns="18288"/>
          <a:lstStyle/>
          <a:p>
            <a:pPr algn="l"/>
            <a:r>
              <a:rPr sz="1600" b="1" i="0">
                <a:solidFill>
                  <a:srgbClr val="FFFFFF"/>
                </a:solidFill>
                <a:latin typeface="Calibri"/>
              </a:rPr>
              <a:t>Luthans: 4 managerial activities</a:t>
            </a:r>
          </a:p>
        </p:txBody>
      </p:sp>
      <p:sp>
        <p:nvSpPr>
          <p:cNvPr id="26" name="TextBox 25"/>
          <p:cNvSpPr txBox="1"/>
          <p:nvPr/>
        </p:nvSpPr>
        <p:spPr>
          <a:xfrm>
            <a:off x="4279392" y="4443983"/>
            <a:ext cx="3602735" cy="2057400"/>
          </a:xfrm>
          <a:prstGeom prst="rect">
            <a:avLst/>
          </a:prstGeom>
          <a:noFill/>
        </p:spPr>
        <p:txBody>
          <a:bodyPr wrap="square" anchor="t" lIns="54864" rIns="54864" tIns="27432" bIns="27432"/>
          <a:lstStyle/>
          <a:p>
            <a:pPr>
              <a:spcAft>
                <a:spcPts val="300"/>
              </a:spcAft>
            </a:pPr>
            <a:r>
              <a:rPr sz="1300" b="1" i="0">
                <a:solidFill>
                  <a:srgbClr val="1A1A1A"/>
                </a:solidFill>
                <a:latin typeface="Calibri"/>
              </a:rPr>
              <a:t>• </a:t>
            </a:r>
            <a:r>
              <a:rPr sz="1300" b="0" i="0">
                <a:solidFill>
                  <a:srgbClr val="1A1A1A"/>
                </a:solidFill>
                <a:latin typeface="Calibri"/>
              </a:rPr>
              <a:t>Traditional mgmt: decide, plan, control</a:t>
            </a:r>
          </a:p>
          <a:p>
            <a:pPr>
              <a:spcAft>
                <a:spcPts val="300"/>
              </a:spcAft>
            </a:pPr>
            <a:r>
              <a:rPr sz="1300" b="1" i="0">
                <a:solidFill>
                  <a:srgbClr val="1A1A1A"/>
                </a:solidFill>
                <a:latin typeface="Calibri"/>
              </a:rPr>
              <a:t>• </a:t>
            </a:r>
            <a:r>
              <a:rPr sz="1300" b="0" i="0">
                <a:solidFill>
                  <a:srgbClr val="1A1A1A"/>
                </a:solidFill>
                <a:latin typeface="Calibri"/>
              </a:rPr>
              <a:t>Communication: routine info, paperwork</a:t>
            </a:r>
          </a:p>
          <a:p>
            <a:pPr>
              <a:spcAft>
                <a:spcPts val="300"/>
              </a:spcAft>
            </a:pPr>
            <a:r>
              <a:rPr sz="1300" b="1" i="0">
                <a:solidFill>
                  <a:srgbClr val="1A1A1A"/>
                </a:solidFill>
                <a:latin typeface="Calibri"/>
              </a:rPr>
              <a:t>• </a:t>
            </a:r>
            <a:r>
              <a:rPr sz="1300" b="0" i="0">
                <a:solidFill>
                  <a:srgbClr val="1A1A1A"/>
                </a:solidFill>
                <a:latin typeface="Calibri"/>
              </a:rPr>
              <a:t>HRM: motivate, discipline, conflict, staff, train</a:t>
            </a:r>
          </a:p>
          <a:p>
            <a:pPr>
              <a:spcAft>
                <a:spcPts val="300"/>
              </a:spcAft>
            </a:pPr>
            <a:r>
              <a:rPr sz="1300" b="1" i="0">
                <a:solidFill>
                  <a:srgbClr val="1A1A1A"/>
                </a:solidFill>
                <a:latin typeface="Calibri"/>
              </a:rPr>
              <a:t>• </a:t>
            </a:r>
            <a:r>
              <a:rPr sz="1300" b="1" i="0">
                <a:solidFill>
                  <a:srgbClr val="1A1A1A"/>
                </a:solidFill>
                <a:latin typeface="Calibri"/>
              </a:rPr>
              <a:t>Networking</a:t>
            </a:r>
            <a:r>
              <a:rPr sz="1300" b="0" i="0">
                <a:solidFill>
                  <a:srgbClr val="1A1A1A"/>
                </a:solidFill>
                <a:latin typeface="Calibri"/>
              </a:rPr>
              <a:t>: socialise, politick</a:t>
            </a:r>
          </a:p>
          <a:p>
            <a:pPr>
              <a:spcAft>
                <a:spcPts val="300"/>
              </a:spcAft>
            </a:pPr>
            <a:r>
              <a:rPr sz="1300" b="1" i="0">
                <a:solidFill>
                  <a:srgbClr val="1A1A1A"/>
                </a:solidFill>
                <a:latin typeface="Calibri"/>
              </a:rPr>
              <a:t>• </a:t>
            </a:r>
            <a:r>
              <a:rPr sz="1300" b="0" i="0">
                <a:solidFill>
                  <a:srgbClr val="1A1A1A"/>
                </a:solidFill>
                <a:latin typeface="Calibri"/>
              </a:rPr>
              <a:t>Successful (promoted) managers network most; effective managers communicate most</a:t>
            </a:r>
          </a:p>
        </p:txBody>
      </p:sp>
      <p:sp>
        <p:nvSpPr>
          <p:cNvPr id="27" name="Rounded Rectangle 26"/>
          <p:cNvSpPr/>
          <p:nvPr/>
        </p:nvSpPr>
        <p:spPr>
          <a:xfrm>
            <a:off x="8092440" y="1051560"/>
            <a:ext cx="3840480" cy="5486400"/>
          </a:xfrm>
          <a:prstGeom prst="roundRect">
            <a:avLst>
              <a:gd name="adj" fmla="val 6000"/>
            </a:avLst>
          </a:prstGeom>
          <a:solidFill>
            <a:srgbClr val="FFFFFF"/>
          </a:solidFill>
          <a:ln w="19050">
            <a:solidFill>
              <a:srgbClr val="95A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092440" y="1051560"/>
            <a:ext cx="3840480" cy="457200"/>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92440" y="1371600"/>
            <a:ext cx="3840480" cy="137160"/>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83879" y="1051560"/>
            <a:ext cx="3657600" cy="457200"/>
          </a:xfrm>
          <a:prstGeom prst="rect">
            <a:avLst/>
          </a:prstGeom>
          <a:noFill/>
        </p:spPr>
        <p:txBody>
          <a:bodyPr wrap="square" anchor="ctr" lIns="45720" rIns="45720" tIns="18288" bIns="18288"/>
          <a:lstStyle/>
          <a:p>
            <a:pPr algn="l"/>
            <a:r>
              <a:rPr sz="1900" b="1" i="0">
                <a:solidFill>
                  <a:srgbClr val="FFFFFF"/>
                </a:solidFill>
                <a:latin typeface="Calibri"/>
              </a:rPr>
              <a:t>Common thread</a:t>
            </a:r>
          </a:p>
        </p:txBody>
      </p:sp>
      <p:sp>
        <p:nvSpPr>
          <p:cNvPr id="31" name="TextBox 30"/>
          <p:cNvSpPr txBox="1"/>
          <p:nvPr/>
        </p:nvSpPr>
        <p:spPr>
          <a:xfrm>
            <a:off x="8165592" y="1563624"/>
            <a:ext cx="3694176" cy="4937760"/>
          </a:xfrm>
          <a:prstGeom prst="rect">
            <a:avLst/>
          </a:prstGeom>
          <a:noFill/>
        </p:spPr>
        <p:txBody>
          <a:bodyPr wrap="square" anchor="t" lIns="54864" rIns="54864" tIns="27432" bIns="27432"/>
          <a:lstStyle/>
          <a:p>
            <a:pPr>
              <a:spcAft>
                <a:spcPts val="300"/>
              </a:spcAft>
            </a:pPr>
            <a:r>
              <a:rPr sz="1600" b="1" i="0">
                <a:solidFill>
                  <a:srgbClr val="1A1A1A"/>
                </a:solidFill>
                <a:latin typeface="Calibri"/>
              </a:rPr>
              <a:t>• </a:t>
            </a:r>
            <a:r>
              <a:rPr sz="1600" b="0" i="0">
                <a:solidFill>
                  <a:srgbClr val="1A1A1A"/>
                </a:solidFill>
                <a:latin typeface="Calibri"/>
              </a:rPr>
              <a:t>Functions, roles, skills and activities approaches all stress </a:t>
            </a:r>
            <a:r>
              <a:rPr sz="1600" b="1" i="0">
                <a:solidFill>
                  <a:srgbClr val="1A1A1A"/>
                </a:solidFill>
                <a:latin typeface="Calibri"/>
              </a:rPr>
              <a:t>managing people</a:t>
            </a:r>
            <a:r>
              <a:rPr sz="1600" b="0" i="0">
                <a:solidFill>
                  <a:srgbClr val="1A1A1A"/>
                </a:solidFill>
                <a:latin typeface="Calibri"/>
              </a:rPr>
              <a:t>: the 'leading function', 'interpersonal roles', 'human skills', 'HRM'.</a:t>
            </a:r>
          </a:p>
          <a:p>
            <a:pPr>
              <a:spcAft>
                <a:spcPts val="300"/>
              </a:spcAft>
            </a:pPr>
            <a:r>
              <a:rPr sz="1600" b="1" i="0">
                <a:solidFill>
                  <a:srgbClr val="1A1A1A"/>
                </a:solidFill>
                <a:latin typeface="Calibri"/>
              </a:rPr>
              <a:t>• </a:t>
            </a:r>
            <a:r>
              <a:rPr sz="1600" b="0" i="0">
                <a:solidFill>
                  <a:srgbClr val="1A1A1A"/>
                </a:solidFill>
                <a:latin typeface="Calibri"/>
              </a:rPr>
              <a:t>→ Managers must develop </a:t>
            </a:r>
            <a:r>
              <a:rPr sz="1600" b="1" i="0">
                <a:solidFill>
                  <a:srgbClr val="1A1A1A"/>
                </a:solidFill>
                <a:latin typeface="Calibri"/>
              </a:rPr>
              <a:t>people skills</a:t>
            </a:r>
            <a:r>
              <a:rPr sz="1600" b="0" i="0">
                <a:solidFill>
                  <a:srgbClr val="1A1A1A"/>
                </a:solidFill>
                <a:latin typeface="Calibri"/>
              </a:rPr>
              <a:t> to be effective AND successful.</a:t>
            </a:r>
          </a:p>
          <a:p>
            <a:pPr>
              <a:spcAft>
                <a:spcPts val="300"/>
              </a:spcAft>
            </a:pPr>
            <a:r>
              <a:rPr sz="1600" b="1" i="0">
                <a:solidFill>
                  <a:srgbClr val="1A1A1A"/>
                </a:solidFill>
                <a:latin typeface="Calibri"/>
              </a:rPr>
              <a:t>Myths the class challenged</a:t>
            </a:r>
          </a:p>
          <a:p>
            <a:pPr>
              <a:spcAft>
                <a:spcPts val="300"/>
              </a:spcAft>
            </a:pPr>
            <a:r>
              <a:rPr sz="1600" b="1" i="0">
                <a:solidFill>
                  <a:srgbClr val="1A1A1A"/>
                </a:solidFill>
                <a:latin typeface="Calibri"/>
              </a:rPr>
              <a:t>• </a:t>
            </a:r>
            <a:r>
              <a:rPr sz="1600" b="0" i="0">
                <a:solidFill>
                  <a:srgbClr val="1A1A1A"/>
                </a:solidFill>
                <a:latin typeface="Calibri"/>
              </a:rPr>
              <a:t>AI can lead / replace humans · decisions are always rational · HRM is a myth · innovation is only tech-driven · technology is the key to success</a:t>
            </a:r>
          </a:p>
          <a:p>
            <a:pPr>
              <a:spcAft>
                <a:spcPts val="300"/>
              </a:spcAft>
            </a:pPr>
            <a:r>
              <a:rPr sz="1600" b="1" i="0">
                <a:solidFill>
                  <a:srgbClr val="1A1A1A"/>
                </a:solidFill>
                <a:latin typeface="Calibri"/>
              </a:rPr>
              <a:t>Use in an answer</a:t>
            </a:r>
          </a:p>
          <a:p>
            <a:pPr>
              <a:spcAft>
                <a:spcPts val="300"/>
              </a:spcAft>
            </a:pPr>
            <a:r>
              <a:rPr sz="1600" b="1" i="0">
                <a:solidFill>
                  <a:srgbClr val="1A1A1A"/>
                </a:solidFill>
                <a:latin typeface="Calibri"/>
              </a:rPr>
              <a:t>• </a:t>
            </a:r>
            <a:r>
              <a:rPr sz="1600" b="0" i="0">
                <a:solidFill>
                  <a:srgbClr val="1A1A1A"/>
                </a:solidFill>
                <a:latin typeface="Calibri"/>
              </a:rPr>
              <a:t>When a case has a 'task-only' manager (e.g., Alex at Starbucks), cite: managers achieve results THROUGH people.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600" b="1" i="0">
                <a:solidFill>
                  <a:srgbClr val="FFFFFF"/>
                </a:solidFill>
                <a:latin typeface="Calibri"/>
              </a:rPr>
              <a:t>What is OB? Definitions, features, levels, disciplines</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C4D2E6"/>
                </a:solidFill>
                <a:latin typeface="Calibri"/>
              </a:rPr>
              <a:t>MODULE 1 · INTRO, ETHICS &amp; PROBLEM SOLVING</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Ch 1 p. 4 · PPT 17–64</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7</a:t>
            </a:r>
          </a:p>
        </p:txBody>
      </p:sp>
      <p:sp>
        <p:nvSpPr>
          <p:cNvPr id="7" name="Rounded Rectangle 6"/>
          <p:cNvSpPr/>
          <p:nvPr/>
        </p:nvSpPr>
        <p:spPr>
          <a:xfrm>
            <a:off x="274320" y="1051560"/>
            <a:ext cx="5760720" cy="2011680"/>
          </a:xfrm>
          <a:prstGeom prst="roundRect">
            <a:avLst>
              <a:gd name="adj" fmla="val 6000"/>
            </a:avLst>
          </a:prstGeom>
          <a:solidFill>
            <a:srgbClr val="FFFFFF"/>
          </a:solidFill>
          <a:ln w="19050">
            <a:solidFill>
              <a:srgbClr val="95A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74320" y="1051560"/>
            <a:ext cx="5760720" cy="457200"/>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371600"/>
            <a:ext cx="5760720" cy="137160"/>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051560"/>
            <a:ext cx="5577840" cy="457200"/>
          </a:xfrm>
          <a:prstGeom prst="rect">
            <a:avLst/>
          </a:prstGeom>
          <a:noFill/>
        </p:spPr>
        <p:txBody>
          <a:bodyPr wrap="square" anchor="ctr" lIns="45720" rIns="45720" tIns="18288" bIns="18288"/>
          <a:lstStyle/>
          <a:p>
            <a:pPr algn="l"/>
            <a:r>
              <a:rPr sz="1900" b="1" i="0">
                <a:solidFill>
                  <a:srgbClr val="FFFFFF"/>
                </a:solidFill>
                <a:latin typeface="Calibri"/>
              </a:rPr>
              <a:t>Definitions (quote one in answers)</a:t>
            </a:r>
          </a:p>
        </p:txBody>
      </p:sp>
      <p:sp>
        <p:nvSpPr>
          <p:cNvPr id="11" name="TextBox 10"/>
          <p:cNvSpPr txBox="1"/>
          <p:nvPr/>
        </p:nvSpPr>
        <p:spPr>
          <a:xfrm>
            <a:off x="347472" y="1563624"/>
            <a:ext cx="5614416" cy="1463040"/>
          </a:xfrm>
          <a:prstGeom prst="rect">
            <a:avLst/>
          </a:prstGeom>
          <a:noFill/>
        </p:spPr>
        <p:txBody>
          <a:bodyPr wrap="square" anchor="t" lIns="54864" rIns="54864" tIns="27432" bIns="27432"/>
          <a:lstStyle/>
          <a:p>
            <a:pPr>
              <a:spcAft>
                <a:spcPts val="300"/>
              </a:spcAft>
            </a:pPr>
            <a:r>
              <a:rPr sz="1200" b="1" i="0">
                <a:solidFill>
                  <a:srgbClr val="1A1A1A"/>
                </a:solidFill>
                <a:latin typeface="Calibri"/>
              </a:rPr>
              <a:t>• </a:t>
            </a:r>
            <a:r>
              <a:rPr sz="1200" b="1" i="0">
                <a:solidFill>
                  <a:srgbClr val="1A1A1A"/>
                </a:solidFill>
                <a:latin typeface="Calibri"/>
              </a:rPr>
              <a:t>Robbins</a:t>
            </a:r>
            <a:r>
              <a:rPr sz="1200" b="0" i="0">
                <a:solidFill>
                  <a:srgbClr val="1A1A1A"/>
                </a:solidFill>
                <a:latin typeface="Calibri"/>
              </a:rPr>
              <a:t>: field of study investigating the impact of </a:t>
            </a:r>
            <a:r>
              <a:rPr sz="1200" b="1" i="0">
                <a:solidFill>
                  <a:srgbClr val="1A1A1A"/>
                </a:solidFill>
                <a:latin typeface="Calibri"/>
              </a:rPr>
              <a:t>individuals, groups and structure</a:t>
            </a:r>
            <a:r>
              <a:rPr sz="1200" b="0" i="0">
                <a:solidFill>
                  <a:srgbClr val="1A1A1A"/>
                </a:solidFill>
                <a:latin typeface="Calibri"/>
              </a:rPr>
              <a:t> on behaviour within organisations, to apply that knowledge to improve </a:t>
            </a:r>
            <a:r>
              <a:rPr sz="1200" b="1" i="0">
                <a:solidFill>
                  <a:srgbClr val="1A1A1A"/>
                </a:solidFill>
                <a:latin typeface="Calibri"/>
              </a:rPr>
              <a:t>organisational effectiveness</a:t>
            </a:r>
          </a:p>
          <a:p>
            <a:pPr>
              <a:spcAft>
                <a:spcPts val="300"/>
              </a:spcAft>
            </a:pPr>
            <a:r>
              <a:rPr sz="1200" b="1" i="0">
                <a:solidFill>
                  <a:srgbClr val="1A1A1A"/>
                </a:solidFill>
                <a:latin typeface="Calibri"/>
              </a:rPr>
              <a:t>• </a:t>
            </a:r>
            <a:r>
              <a:rPr sz="1200" b="1" i="0">
                <a:solidFill>
                  <a:srgbClr val="1A1A1A"/>
                </a:solidFill>
                <a:latin typeface="Calibri"/>
              </a:rPr>
              <a:t>Luthans</a:t>
            </a:r>
            <a:r>
              <a:rPr sz="1200" b="0" i="0">
                <a:solidFill>
                  <a:srgbClr val="1A1A1A"/>
                </a:solidFill>
                <a:latin typeface="Calibri"/>
              </a:rPr>
              <a:t>: understanding, prediction &amp; control of human behaviour in organisations</a:t>
            </a:r>
          </a:p>
          <a:p>
            <a:pPr>
              <a:spcAft>
                <a:spcPts val="300"/>
              </a:spcAft>
            </a:pPr>
            <a:r>
              <a:rPr sz="1200" b="1" i="0">
                <a:solidFill>
                  <a:srgbClr val="1A1A1A"/>
                </a:solidFill>
                <a:latin typeface="Calibri"/>
              </a:rPr>
              <a:t>• </a:t>
            </a:r>
            <a:r>
              <a:rPr sz="1200" b="1" i="0">
                <a:solidFill>
                  <a:srgbClr val="1A1A1A"/>
                </a:solidFill>
                <a:latin typeface="Calibri"/>
              </a:rPr>
              <a:t>Kinicki (p. 4)</a:t>
            </a:r>
            <a:r>
              <a:rPr sz="1200" b="0" i="0">
                <a:solidFill>
                  <a:srgbClr val="1A1A1A"/>
                </a:solidFill>
                <a:latin typeface="Calibri"/>
              </a:rPr>
              <a:t>: interdisciplinary field dedicated to understanding &amp; managing people at work</a:t>
            </a:r>
          </a:p>
        </p:txBody>
      </p:sp>
      <p:sp>
        <p:nvSpPr>
          <p:cNvPr id="12" name="Rounded Rectangle 11"/>
          <p:cNvSpPr/>
          <p:nvPr/>
        </p:nvSpPr>
        <p:spPr>
          <a:xfrm>
            <a:off x="274320" y="3200400"/>
            <a:ext cx="2834640" cy="3337560"/>
          </a:xfrm>
          <a:prstGeom prst="roundRect">
            <a:avLst>
              <a:gd name="adj" fmla="val 6000"/>
            </a:avLst>
          </a:prstGeom>
          <a:solidFill>
            <a:srgbClr val="FFFFFF"/>
          </a:solidFill>
          <a:ln w="19050">
            <a:solidFill>
              <a:srgbClr val="95A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74320" y="3200400"/>
            <a:ext cx="2834640" cy="457200"/>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4320" y="3520440"/>
            <a:ext cx="2834640" cy="137160"/>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3200400"/>
            <a:ext cx="2651760" cy="457200"/>
          </a:xfrm>
          <a:prstGeom prst="rect">
            <a:avLst/>
          </a:prstGeom>
          <a:noFill/>
        </p:spPr>
        <p:txBody>
          <a:bodyPr wrap="square" anchor="ctr" lIns="45720" rIns="45720" tIns="18288" bIns="18288"/>
          <a:lstStyle/>
          <a:p>
            <a:pPr algn="l"/>
            <a:r>
              <a:rPr sz="1900" b="1" i="0">
                <a:solidFill>
                  <a:srgbClr val="FFFFFF"/>
                </a:solidFill>
                <a:latin typeface="Calibri"/>
              </a:rPr>
              <a:t>Features</a:t>
            </a:r>
          </a:p>
        </p:txBody>
      </p:sp>
      <p:sp>
        <p:nvSpPr>
          <p:cNvPr id="16" name="TextBox 15"/>
          <p:cNvSpPr txBox="1"/>
          <p:nvPr/>
        </p:nvSpPr>
        <p:spPr>
          <a:xfrm>
            <a:off x="347472" y="3712463"/>
            <a:ext cx="2688336" cy="2788920"/>
          </a:xfrm>
          <a:prstGeom prst="rect">
            <a:avLst/>
          </a:prstGeom>
          <a:noFill/>
        </p:spPr>
        <p:txBody>
          <a:bodyPr wrap="square" anchor="t" lIns="54864" rIns="54864" tIns="27432" bIns="27432"/>
          <a:lstStyle/>
          <a:p>
            <a:pPr>
              <a:spcAft>
                <a:spcPts val="300"/>
              </a:spcAft>
            </a:pPr>
            <a:r>
              <a:rPr sz="1300" b="1" i="0">
                <a:solidFill>
                  <a:srgbClr val="1A1A1A"/>
                </a:solidFill>
                <a:latin typeface="Calibri"/>
              </a:rPr>
              <a:t>• </a:t>
            </a:r>
            <a:r>
              <a:rPr sz="1300" b="0" i="0">
                <a:solidFill>
                  <a:srgbClr val="1A1A1A"/>
                </a:solidFill>
                <a:latin typeface="Calibri"/>
              </a:rPr>
              <a:t>Behavioural approach to mgmt</a:t>
            </a:r>
          </a:p>
          <a:p>
            <a:pPr>
              <a:spcAft>
                <a:spcPts val="300"/>
              </a:spcAft>
            </a:pPr>
            <a:r>
              <a:rPr sz="1300" b="1" i="0">
                <a:solidFill>
                  <a:srgbClr val="1A1A1A"/>
                </a:solidFill>
                <a:latin typeface="Calibri"/>
              </a:rPr>
              <a:t>• </a:t>
            </a:r>
            <a:r>
              <a:rPr sz="1300" b="0" i="0">
                <a:solidFill>
                  <a:srgbClr val="1A1A1A"/>
                </a:solidFill>
                <a:latin typeface="Calibri"/>
              </a:rPr>
              <a:t>Theory + research + application</a:t>
            </a:r>
          </a:p>
          <a:p>
            <a:pPr>
              <a:spcAft>
                <a:spcPts val="300"/>
              </a:spcAft>
            </a:pPr>
            <a:r>
              <a:rPr sz="1300" b="1" i="0">
                <a:solidFill>
                  <a:srgbClr val="1A1A1A"/>
                </a:solidFill>
                <a:latin typeface="Calibri"/>
              </a:rPr>
              <a:t>• </a:t>
            </a:r>
            <a:r>
              <a:rPr sz="1300" b="0" i="0">
                <a:solidFill>
                  <a:srgbClr val="1A1A1A"/>
                </a:solidFill>
                <a:latin typeface="Calibri"/>
              </a:rPr>
              <a:t>Human tool for human benefit</a:t>
            </a:r>
          </a:p>
          <a:p>
            <a:pPr>
              <a:spcAft>
                <a:spcPts val="300"/>
              </a:spcAft>
            </a:pPr>
            <a:r>
              <a:rPr sz="1300" b="1" i="0">
                <a:solidFill>
                  <a:srgbClr val="1A1A1A"/>
                </a:solidFill>
                <a:latin typeface="Calibri"/>
              </a:rPr>
              <a:t>• </a:t>
            </a:r>
            <a:r>
              <a:rPr sz="1300" b="0" i="0">
                <a:solidFill>
                  <a:srgbClr val="1A1A1A"/>
                </a:solidFill>
                <a:latin typeface="Calibri"/>
              </a:rPr>
              <a:t>Interdisciplinary</a:t>
            </a:r>
          </a:p>
          <a:p>
            <a:pPr>
              <a:spcAft>
                <a:spcPts val="300"/>
              </a:spcAft>
            </a:pPr>
            <a:r>
              <a:rPr sz="1300" b="1" i="0">
                <a:solidFill>
                  <a:srgbClr val="1A1A1A"/>
                </a:solidFill>
                <a:latin typeface="Calibri"/>
              </a:rPr>
              <a:t>• </a:t>
            </a:r>
            <a:r>
              <a:rPr sz="1300" b="0" i="0">
                <a:solidFill>
                  <a:srgbClr val="1A1A1A"/>
                </a:solidFill>
                <a:latin typeface="Calibri"/>
              </a:rPr>
              <a:t>3 levels of analysis</a:t>
            </a:r>
          </a:p>
          <a:p>
            <a:pPr>
              <a:spcAft>
                <a:spcPts val="300"/>
              </a:spcAft>
            </a:pPr>
            <a:r>
              <a:rPr sz="1300" b="1" i="0">
                <a:solidFill>
                  <a:srgbClr val="1A1A1A"/>
                </a:solidFill>
                <a:latin typeface="Calibri"/>
              </a:rPr>
              <a:t>• </a:t>
            </a:r>
            <a:r>
              <a:rPr sz="1300" b="0" i="0">
                <a:solidFill>
                  <a:srgbClr val="1A1A1A"/>
                </a:solidFill>
                <a:latin typeface="Calibri"/>
              </a:rPr>
              <a:t>Action-oriented, goal-directed</a:t>
            </a:r>
          </a:p>
          <a:p>
            <a:pPr>
              <a:spcAft>
                <a:spcPts val="300"/>
              </a:spcAft>
            </a:pPr>
            <a:r>
              <a:rPr sz="1300" b="1" i="0">
                <a:solidFill>
                  <a:srgbClr val="1A1A1A"/>
                </a:solidFill>
                <a:latin typeface="Calibri"/>
              </a:rPr>
              <a:t>• </a:t>
            </a:r>
            <a:r>
              <a:rPr sz="1300" b="0" i="0">
                <a:solidFill>
                  <a:srgbClr val="1A1A1A"/>
                </a:solidFill>
                <a:latin typeface="Calibri"/>
              </a:rPr>
              <a:t>Science AND art</a:t>
            </a:r>
          </a:p>
          <a:p>
            <a:pPr>
              <a:spcAft>
                <a:spcPts val="300"/>
              </a:spcAft>
            </a:pPr>
            <a:r>
              <a:rPr sz="1300" b="1" i="0">
                <a:solidFill>
                  <a:srgbClr val="1A1A1A"/>
                </a:solidFill>
                <a:latin typeface="Calibri"/>
              </a:rPr>
              <a:t>• </a:t>
            </a:r>
            <a:r>
              <a:rPr sz="1300" b="0" i="0">
                <a:solidFill>
                  <a:srgbClr val="1A1A1A"/>
                </a:solidFill>
                <a:latin typeface="Calibri"/>
              </a:rPr>
              <a:t>Systematic, not intuition</a:t>
            </a:r>
          </a:p>
        </p:txBody>
      </p:sp>
      <p:sp>
        <p:nvSpPr>
          <p:cNvPr id="17" name="Rounded Rectangle 16"/>
          <p:cNvSpPr/>
          <p:nvPr/>
        </p:nvSpPr>
        <p:spPr>
          <a:xfrm>
            <a:off x="3200400" y="3200400"/>
            <a:ext cx="2834640" cy="3337560"/>
          </a:xfrm>
          <a:prstGeom prst="roundRect">
            <a:avLst>
              <a:gd name="adj" fmla="val 6000"/>
            </a:avLst>
          </a:prstGeom>
          <a:solidFill>
            <a:srgbClr val="FFFFFF"/>
          </a:solidFill>
          <a:ln w="19050">
            <a:solidFill>
              <a:srgbClr val="95A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0" y="3200400"/>
            <a:ext cx="2834640" cy="457200"/>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00400" y="3520440"/>
            <a:ext cx="2834640" cy="137160"/>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91840" y="3200400"/>
            <a:ext cx="2651760" cy="457200"/>
          </a:xfrm>
          <a:prstGeom prst="rect">
            <a:avLst/>
          </a:prstGeom>
          <a:noFill/>
        </p:spPr>
        <p:txBody>
          <a:bodyPr wrap="square" anchor="ctr" lIns="45720" rIns="45720" tIns="18288" bIns="18288"/>
          <a:lstStyle/>
          <a:p>
            <a:pPr algn="l"/>
            <a:r>
              <a:rPr sz="1900" b="1" i="0">
                <a:solidFill>
                  <a:srgbClr val="FFFFFF"/>
                </a:solidFill>
                <a:latin typeface="Calibri"/>
              </a:rPr>
              <a:t>Goals &amp; significance</a:t>
            </a:r>
          </a:p>
        </p:txBody>
      </p:sp>
      <p:sp>
        <p:nvSpPr>
          <p:cNvPr id="21" name="TextBox 20"/>
          <p:cNvSpPr txBox="1"/>
          <p:nvPr/>
        </p:nvSpPr>
        <p:spPr>
          <a:xfrm>
            <a:off x="3273552" y="3712463"/>
            <a:ext cx="2688336" cy="2788920"/>
          </a:xfrm>
          <a:prstGeom prst="rect">
            <a:avLst/>
          </a:prstGeom>
          <a:noFill/>
        </p:spPr>
        <p:txBody>
          <a:bodyPr wrap="square" anchor="t" lIns="54864" rIns="54864" tIns="27432" bIns="27432"/>
          <a:lstStyle/>
          <a:p>
            <a:pPr>
              <a:spcAft>
                <a:spcPts val="300"/>
              </a:spcAft>
            </a:pPr>
            <a:r>
              <a:rPr sz="1500" b="1" i="0">
                <a:solidFill>
                  <a:srgbClr val="1A1A1A"/>
                </a:solidFill>
                <a:latin typeface="Calibri"/>
              </a:rPr>
              <a:t>• </a:t>
            </a:r>
            <a:r>
              <a:rPr sz="1500" b="1" i="0">
                <a:solidFill>
                  <a:srgbClr val="1A1A1A"/>
                </a:solidFill>
                <a:latin typeface="Calibri"/>
              </a:rPr>
              <a:t>Explain, predict, control</a:t>
            </a:r>
            <a:r>
              <a:rPr sz="1500" b="0" i="0">
                <a:solidFill>
                  <a:srgbClr val="1A1A1A"/>
                </a:solidFill>
                <a:latin typeface="Calibri"/>
              </a:rPr>
              <a:t> behaviour</a:t>
            </a:r>
          </a:p>
          <a:p>
            <a:pPr>
              <a:spcAft>
                <a:spcPts val="300"/>
              </a:spcAft>
            </a:pPr>
            <a:r>
              <a:rPr sz="1500" b="1" i="0">
                <a:solidFill>
                  <a:srgbClr val="1A1A1A"/>
                </a:solidFill>
                <a:latin typeface="Calibri"/>
              </a:rPr>
              <a:t>• </a:t>
            </a:r>
            <a:r>
              <a:rPr sz="1500" b="0" i="0">
                <a:solidFill>
                  <a:srgbClr val="1A1A1A"/>
                </a:solidFill>
                <a:latin typeface="Calibri"/>
              </a:rPr>
              <a:t>Raise employee &amp; org effectiveness</a:t>
            </a:r>
          </a:p>
          <a:p>
            <a:pPr>
              <a:spcAft>
                <a:spcPts val="300"/>
              </a:spcAft>
            </a:pPr>
            <a:r>
              <a:rPr sz="1500" b="1" i="0">
                <a:solidFill>
                  <a:srgbClr val="1A1A1A"/>
                </a:solidFill>
                <a:latin typeface="Calibri"/>
              </a:rPr>
              <a:t>• </a:t>
            </a:r>
            <a:r>
              <a:rPr sz="1500" b="0" i="0">
                <a:solidFill>
                  <a:srgbClr val="1A1A1A"/>
                </a:solidFill>
                <a:latin typeface="Calibri"/>
              </a:rPr>
              <a:t>Understand self &amp; others</a:t>
            </a:r>
          </a:p>
          <a:p>
            <a:pPr>
              <a:spcAft>
                <a:spcPts val="300"/>
              </a:spcAft>
            </a:pPr>
            <a:r>
              <a:rPr sz="1500" b="1" i="0">
                <a:solidFill>
                  <a:srgbClr val="1A1A1A"/>
                </a:solidFill>
                <a:latin typeface="Calibri"/>
              </a:rPr>
              <a:t>• </a:t>
            </a:r>
            <a:r>
              <a:rPr sz="1500" b="0" i="0">
                <a:solidFill>
                  <a:srgbClr val="1A1A1A"/>
                </a:solidFill>
                <a:latin typeface="Calibri"/>
              </a:rPr>
              <a:t>Motivation</a:t>
            </a:r>
          </a:p>
          <a:p>
            <a:pPr>
              <a:spcAft>
                <a:spcPts val="300"/>
              </a:spcAft>
            </a:pPr>
            <a:r>
              <a:rPr sz="1500" b="1" i="0">
                <a:solidFill>
                  <a:srgbClr val="1A1A1A"/>
                </a:solidFill>
                <a:latin typeface="Calibri"/>
              </a:rPr>
              <a:t>• </a:t>
            </a:r>
            <a:r>
              <a:rPr sz="1500" b="0" i="0">
                <a:solidFill>
                  <a:srgbClr val="1A1A1A"/>
                </a:solidFill>
                <a:latin typeface="Calibri"/>
              </a:rPr>
              <a:t>Effective communication</a:t>
            </a:r>
          </a:p>
          <a:p>
            <a:pPr>
              <a:spcAft>
                <a:spcPts val="300"/>
              </a:spcAft>
            </a:pPr>
            <a:r>
              <a:rPr sz="1500" b="1" i="0">
                <a:solidFill>
                  <a:srgbClr val="1A1A1A"/>
                </a:solidFill>
                <a:latin typeface="Calibri"/>
              </a:rPr>
              <a:t>• </a:t>
            </a:r>
            <a:r>
              <a:rPr sz="1500" b="0" i="0">
                <a:solidFill>
                  <a:srgbClr val="1A1A1A"/>
                </a:solidFill>
                <a:latin typeface="Calibri"/>
              </a:rPr>
              <a:t>Healthy climate</a:t>
            </a:r>
          </a:p>
          <a:p>
            <a:pPr>
              <a:spcAft>
                <a:spcPts val="300"/>
              </a:spcAft>
            </a:pPr>
            <a:r>
              <a:rPr sz="1500" b="1" i="0">
                <a:solidFill>
                  <a:srgbClr val="1A1A1A"/>
                </a:solidFill>
                <a:latin typeface="Calibri"/>
              </a:rPr>
              <a:t>• </a:t>
            </a:r>
            <a:r>
              <a:rPr sz="1500" b="0" i="0">
                <a:solidFill>
                  <a:srgbClr val="1A1A1A"/>
                </a:solidFill>
                <a:latin typeface="Calibri"/>
              </a:rPr>
              <a:t>Good HR relations</a:t>
            </a:r>
          </a:p>
        </p:txBody>
      </p:sp>
      <p:sp>
        <p:nvSpPr>
          <p:cNvPr id="22" name="Rounded Rectangle 21"/>
          <p:cNvSpPr/>
          <p:nvPr/>
        </p:nvSpPr>
        <p:spPr>
          <a:xfrm>
            <a:off x="6172200" y="1051560"/>
            <a:ext cx="2834640" cy="2743200"/>
          </a:xfrm>
          <a:prstGeom prst="roundRect">
            <a:avLst>
              <a:gd name="adj" fmla="val 6000"/>
            </a:avLst>
          </a:prstGeom>
          <a:solidFill>
            <a:srgbClr val="FFFFFF"/>
          </a:solidFill>
          <a:ln w="19050">
            <a:solidFill>
              <a:srgbClr val="95A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172200" y="1051560"/>
            <a:ext cx="2834640" cy="457200"/>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2200" y="1371600"/>
            <a:ext cx="2834640" cy="137160"/>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63640" y="1051560"/>
            <a:ext cx="2651760" cy="457200"/>
          </a:xfrm>
          <a:prstGeom prst="rect">
            <a:avLst/>
          </a:prstGeom>
          <a:noFill/>
        </p:spPr>
        <p:txBody>
          <a:bodyPr wrap="square" anchor="ctr" lIns="45720" rIns="45720" tIns="18288" bIns="18288"/>
          <a:lstStyle/>
          <a:p>
            <a:pPr algn="l"/>
            <a:r>
              <a:rPr sz="1900" b="1" i="0">
                <a:solidFill>
                  <a:srgbClr val="FFFFFF"/>
                </a:solidFill>
                <a:latin typeface="Calibri"/>
              </a:rPr>
              <a:t>3 levels of OB</a:t>
            </a:r>
          </a:p>
        </p:txBody>
      </p:sp>
      <p:sp>
        <p:nvSpPr>
          <p:cNvPr id="26" name="TextBox 25"/>
          <p:cNvSpPr txBox="1"/>
          <p:nvPr/>
        </p:nvSpPr>
        <p:spPr>
          <a:xfrm>
            <a:off x="6245352" y="1563624"/>
            <a:ext cx="2688336" cy="2194560"/>
          </a:xfrm>
          <a:prstGeom prst="rect">
            <a:avLst/>
          </a:prstGeom>
          <a:noFill/>
        </p:spPr>
        <p:txBody>
          <a:bodyPr wrap="square" anchor="t" lIns="54864" rIns="54864" tIns="27432" bIns="27432"/>
          <a:lstStyle/>
          <a:p>
            <a:pPr>
              <a:spcAft>
                <a:spcPts val="300"/>
              </a:spcAft>
            </a:pPr>
            <a:r>
              <a:rPr sz="1600" b="1" i="0">
                <a:solidFill>
                  <a:srgbClr val="1A1A1A"/>
                </a:solidFill>
                <a:latin typeface="Calibri"/>
              </a:rPr>
              <a:t>• </a:t>
            </a:r>
            <a:r>
              <a:rPr sz="1600" b="1" i="0">
                <a:solidFill>
                  <a:srgbClr val="1A1A1A"/>
                </a:solidFill>
                <a:latin typeface="Calibri"/>
              </a:rPr>
              <a:t>Individual</a:t>
            </a:r>
            <a:r>
              <a:rPr sz="1600" b="0" i="0">
                <a:solidFill>
                  <a:srgbClr val="1A1A1A"/>
                </a:solidFill>
                <a:latin typeface="Calibri"/>
              </a:rPr>
              <a:t>: attitudes, personality, performance</a:t>
            </a:r>
          </a:p>
          <a:p>
            <a:pPr>
              <a:spcAft>
                <a:spcPts val="300"/>
              </a:spcAft>
            </a:pPr>
            <a:r>
              <a:rPr sz="1600" b="1" i="0">
                <a:solidFill>
                  <a:srgbClr val="1A1A1A"/>
                </a:solidFill>
                <a:latin typeface="Calibri"/>
              </a:rPr>
              <a:t>• </a:t>
            </a:r>
            <a:r>
              <a:rPr sz="1600" b="1" i="0">
                <a:solidFill>
                  <a:srgbClr val="1A1A1A"/>
                </a:solidFill>
                <a:latin typeface="Calibri"/>
              </a:rPr>
              <a:t>Group/Team</a:t>
            </a:r>
            <a:r>
              <a:rPr sz="1600" b="0" i="0">
                <a:solidFill>
                  <a:srgbClr val="1A1A1A"/>
                </a:solidFill>
                <a:latin typeface="Calibri"/>
              </a:rPr>
              <a:t>: collaborate, communicate, coordinate</a:t>
            </a:r>
          </a:p>
          <a:p>
            <a:pPr>
              <a:spcAft>
                <a:spcPts val="300"/>
              </a:spcAft>
            </a:pPr>
            <a:r>
              <a:rPr sz="1600" b="1" i="0">
                <a:solidFill>
                  <a:srgbClr val="1A1A1A"/>
                </a:solidFill>
                <a:latin typeface="Calibri"/>
              </a:rPr>
              <a:t>• </a:t>
            </a:r>
            <a:r>
              <a:rPr sz="1600" b="1" i="0">
                <a:solidFill>
                  <a:srgbClr val="1A1A1A"/>
                </a:solidFill>
                <a:latin typeface="Calibri"/>
              </a:rPr>
              <a:t>Organisation</a:t>
            </a:r>
            <a:r>
              <a:rPr sz="1600" b="0" i="0">
                <a:solidFill>
                  <a:srgbClr val="1A1A1A"/>
                </a:solidFill>
                <a:latin typeface="Calibri"/>
              </a:rPr>
              <a:t>: structure, culture, systems</a:t>
            </a:r>
          </a:p>
        </p:txBody>
      </p:sp>
      <p:sp>
        <p:nvSpPr>
          <p:cNvPr id="27" name="Rounded Rectangle 26"/>
          <p:cNvSpPr/>
          <p:nvPr/>
        </p:nvSpPr>
        <p:spPr>
          <a:xfrm>
            <a:off x="9098280" y="1051560"/>
            <a:ext cx="2834640" cy="2743200"/>
          </a:xfrm>
          <a:prstGeom prst="roundRect">
            <a:avLst>
              <a:gd name="adj" fmla="val 6000"/>
            </a:avLst>
          </a:prstGeom>
          <a:solidFill>
            <a:srgbClr val="FFFFFF"/>
          </a:solidFill>
          <a:ln w="19050">
            <a:solidFill>
              <a:srgbClr val="95A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098280" y="1051560"/>
            <a:ext cx="2834640" cy="457200"/>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098280" y="1371600"/>
            <a:ext cx="2834640" cy="137160"/>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89719" y="1051560"/>
            <a:ext cx="2651760" cy="457200"/>
          </a:xfrm>
          <a:prstGeom prst="rect">
            <a:avLst/>
          </a:prstGeom>
          <a:noFill/>
        </p:spPr>
        <p:txBody>
          <a:bodyPr wrap="square" anchor="ctr" lIns="45720" rIns="45720" tIns="18288" bIns="18288"/>
          <a:lstStyle/>
          <a:p>
            <a:pPr algn="l"/>
            <a:r>
              <a:rPr sz="1600" b="1" i="0">
                <a:solidFill>
                  <a:srgbClr val="FFFFFF"/>
                </a:solidFill>
                <a:latin typeface="Calibri"/>
              </a:rPr>
              <a:t>Contributing disciplines</a:t>
            </a:r>
          </a:p>
        </p:txBody>
      </p:sp>
      <p:sp>
        <p:nvSpPr>
          <p:cNvPr id="31" name="TextBox 30"/>
          <p:cNvSpPr txBox="1"/>
          <p:nvPr/>
        </p:nvSpPr>
        <p:spPr>
          <a:xfrm>
            <a:off x="9171432" y="1563624"/>
            <a:ext cx="2688336" cy="2194560"/>
          </a:xfrm>
          <a:prstGeom prst="rect">
            <a:avLst/>
          </a:prstGeom>
          <a:noFill/>
        </p:spPr>
        <p:txBody>
          <a:bodyPr wrap="square" anchor="t" lIns="54864" rIns="54864" tIns="27432" bIns="27432"/>
          <a:lstStyle/>
          <a:p>
            <a:pPr>
              <a:spcAft>
                <a:spcPts val="300"/>
              </a:spcAft>
            </a:pPr>
            <a:r>
              <a:rPr sz="1200" b="1" i="0">
                <a:solidFill>
                  <a:srgbClr val="1A1A1A"/>
                </a:solidFill>
                <a:latin typeface="Calibri"/>
              </a:rPr>
              <a:t>• </a:t>
            </a:r>
            <a:r>
              <a:rPr sz="1200" b="0" i="0">
                <a:solidFill>
                  <a:srgbClr val="1A1A1A"/>
                </a:solidFill>
                <a:latin typeface="Calibri"/>
              </a:rPr>
              <a:t>Psychology (individual)</a:t>
            </a:r>
          </a:p>
          <a:p>
            <a:pPr>
              <a:spcAft>
                <a:spcPts val="300"/>
              </a:spcAft>
            </a:pPr>
            <a:r>
              <a:rPr sz="1200" b="1" i="0">
                <a:solidFill>
                  <a:srgbClr val="1A1A1A"/>
                </a:solidFill>
                <a:latin typeface="Calibri"/>
              </a:rPr>
              <a:t>• </a:t>
            </a:r>
            <a:r>
              <a:rPr sz="1200" b="0" i="0">
                <a:solidFill>
                  <a:srgbClr val="1A1A1A"/>
                </a:solidFill>
                <a:latin typeface="Calibri"/>
              </a:rPr>
              <a:t>Sociology (group, org system)</a:t>
            </a:r>
          </a:p>
          <a:p>
            <a:pPr>
              <a:spcAft>
                <a:spcPts val="300"/>
              </a:spcAft>
            </a:pPr>
            <a:r>
              <a:rPr sz="1200" b="1" i="0">
                <a:solidFill>
                  <a:srgbClr val="1A1A1A"/>
                </a:solidFill>
                <a:latin typeface="Calibri"/>
              </a:rPr>
              <a:t>• </a:t>
            </a:r>
            <a:r>
              <a:rPr sz="1200" b="0" i="0">
                <a:solidFill>
                  <a:srgbClr val="1A1A1A"/>
                </a:solidFill>
                <a:latin typeface="Calibri"/>
              </a:rPr>
              <a:t>Social psychology (influence of people on one another)</a:t>
            </a:r>
          </a:p>
          <a:p>
            <a:pPr>
              <a:spcAft>
                <a:spcPts val="300"/>
              </a:spcAft>
            </a:pPr>
            <a:r>
              <a:rPr sz="1200" b="1" i="0">
                <a:solidFill>
                  <a:srgbClr val="1A1A1A"/>
                </a:solidFill>
                <a:latin typeface="Calibri"/>
              </a:rPr>
              <a:t>• </a:t>
            </a:r>
            <a:r>
              <a:rPr sz="1200" b="0" i="0">
                <a:solidFill>
                  <a:srgbClr val="1A1A1A"/>
                </a:solidFill>
                <a:latin typeface="Calibri"/>
              </a:rPr>
              <a:t>Anthropology (culture)</a:t>
            </a:r>
          </a:p>
          <a:p>
            <a:pPr>
              <a:spcAft>
                <a:spcPts val="300"/>
              </a:spcAft>
            </a:pPr>
            <a:r>
              <a:rPr sz="1200" b="1" i="0">
                <a:solidFill>
                  <a:srgbClr val="1A1A1A"/>
                </a:solidFill>
                <a:latin typeface="Calibri"/>
              </a:rPr>
              <a:t>• </a:t>
            </a:r>
            <a:r>
              <a:rPr sz="1200" b="0" i="0">
                <a:solidFill>
                  <a:srgbClr val="1A1A1A"/>
                </a:solidFill>
                <a:latin typeface="Calibri"/>
              </a:rPr>
              <a:t>Political science (power, conflict)</a:t>
            </a:r>
          </a:p>
          <a:p>
            <a:pPr>
              <a:spcAft>
                <a:spcPts val="300"/>
              </a:spcAft>
            </a:pPr>
            <a:r>
              <a:rPr sz="1200" b="1" i="0">
                <a:solidFill>
                  <a:srgbClr val="1A1A1A"/>
                </a:solidFill>
                <a:latin typeface="Calibri"/>
              </a:rPr>
              <a:t>• </a:t>
            </a:r>
            <a:r>
              <a:rPr sz="1200" b="0" i="0">
                <a:solidFill>
                  <a:srgbClr val="1A1A1A"/>
                </a:solidFill>
                <a:latin typeface="Calibri"/>
              </a:rPr>
              <a:t>+ economics, ethics, neuroscience</a:t>
            </a:r>
          </a:p>
        </p:txBody>
      </p:sp>
      <p:sp>
        <p:nvSpPr>
          <p:cNvPr id="32" name="Rounded Rectangle 31"/>
          <p:cNvSpPr/>
          <p:nvPr/>
        </p:nvSpPr>
        <p:spPr>
          <a:xfrm>
            <a:off x="6172200" y="3931920"/>
            <a:ext cx="5760720" cy="2606040"/>
          </a:xfrm>
          <a:prstGeom prst="roundRect">
            <a:avLst>
              <a:gd name="adj" fmla="val 6000"/>
            </a:avLst>
          </a:prstGeom>
          <a:solidFill>
            <a:srgbClr val="FFFFFF"/>
          </a:solidFill>
          <a:ln w="19050">
            <a:solidFill>
              <a:srgbClr val="95A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172200" y="3931920"/>
            <a:ext cx="5760720" cy="457200"/>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172200" y="4251959"/>
            <a:ext cx="5760720" cy="137160"/>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63640" y="3931920"/>
            <a:ext cx="5577840" cy="457200"/>
          </a:xfrm>
          <a:prstGeom prst="rect">
            <a:avLst/>
          </a:prstGeom>
          <a:noFill/>
        </p:spPr>
        <p:txBody>
          <a:bodyPr wrap="square" anchor="ctr" lIns="45720" rIns="45720" tIns="18288" bIns="18288"/>
          <a:lstStyle/>
          <a:p>
            <a:pPr algn="l"/>
            <a:r>
              <a:rPr sz="1800" b="1" i="0">
                <a:solidFill>
                  <a:srgbClr val="FFFFFF"/>
                </a:solidFill>
                <a:latin typeface="Calibri"/>
              </a:rPr>
              <a:t>Contingency approach + why not 'common sense'</a:t>
            </a:r>
          </a:p>
        </p:txBody>
      </p:sp>
      <p:sp>
        <p:nvSpPr>
          <p:cNvPr id="36" name="TextBox 35"/>
          <p:cNvSpPr txBox="1"/>
          <p:nvPr/>
        </p:nvSpPr>
        <p:spPr>
          <a:xfrm>
            <a:off x="6245352" y="4443983"/>
            <a:ext cx="5614416" cy="2057400"/>
          </a:xfrm>
          <a:prstGeom prst="rect">
            <a:avLst/>
          </a:prstGeom>
          <a:noFill/>
        </p:spPr>
        <p:txBody>
          <a:bodyPr wrap="square" anchor="t" lIns="54864" rIns="54864" tIns="27432" bIns="27432"/>
          <a:lstStyle/>
          <a:p>
            <a:pPr>
              <a:spcAft>
                <a:spcPts val="300"/>
              </a:spcAft>
            </a:pPr>
            <a:r>
              <a:rPr sz="1300" b="1" i="0">
                <a:solidFill>
                  <a:srgbClr val="1A1A1A"/>
                </a:solidFill>
                <a:latin typeface="Calibri"/>
              </a:rPr>
              <a:t>• </a:t>
            </a:r>
            <a:r>
              <a:rPr sz="1300" b="1" i="0">
                <a:solidFill>
                  <a:srgbClr val="1A1A1A"/>
                </a:solidFill>
                <a:latin typeface="Calibri"/>
              </a:rPr>
              <a:t>No one best way</a:t>
            </a:r>
            <a:r>
              <a:rPr sz="1300" b="0" i="0">
                <a:solidFill>
                  <a:srgbClr val="1A1A1A"/>
                </a:solidFill>
                <a:latin typeface="Calibri"/>
              </a:rPr>
              <a:t>: use OB tools that best suit the situation (p. 5)</a:t>
            </a:r>
          </a:p>
          <a:p>
            <a:pPr>
              <a:spcAft>
                <a:spcPts val="300"/>
              </a:spcAft>
            </a:pPr>
            <a:r>
              <a:rPr sz="1300" b="1" i="0">
                <a:solidFill>
                  <a:srgbClr val="1A1A1A"/>
                </a:solidFill>
                <a:latin typeface="Calibri"/>
              </a:rPr>
              <a:t>• </a:t>
            </a:r>
            <a:r>
              <a:rPr sz="1300" b="0" i="0">
                <a:solidFill>
                  <a:srgbClr val="1A1A1A"/>
                </a:solidFill>
                <a:latin typeface="Calibri"/>
              </a:rPr>
              <a:t>Common sense has 3 weaknesses (p. 7): </a:t>
            </a:r>
            <a:r>
              <a:rPr sz="1300" b="1" i="0">
                <a:solidFill>
                  <a:srgbClr val="1A1A1A"/>
                </a:solidFill>
                <a:latin typeface="Calibri"/>
              </a:rPr>
              <a:t>overreliance on hindsight</a:t>
            </a:r>
            <a:r>
              <a:rPr sz="1300" b="0" i="0">
                <a:solidFill>
                  <a:srgbClr val="1A1A1A"/>
                </a:solidFill>
                <a:latin typeface="Calibri"/>
              </a:rPr>
              <a:t>, </a:t>
            </a:r>
            <a:r>
              <a:rPr sz="1300" b="1" i="0">
                <a:solidFill>
                  <a:srgbClr val="1A1A1A"/>
                </a:solidFill>
                <a:latin typeface="Calibri"/>
              </a:rPr>
              <a:t>lack of rigor</a:t>
            </a:r>
            <a:r>
              <a:rPr sz="1300" b="0" i="0">
                <a:solidFill>
                  <a:srgbClr val="1A1A1A"/>
                </a:solidFill>
                <a:latin typeface="Calibri"/>
              </a:rPr>
              <a:t>, </a:t>
            </a:r>
            <a:r>
              <a:rPr sz="1300" b="1" i="0">
                <a:solidFill>
                  <a:srgbClr val="1A1A1A"/>
                </a:solidFill>
                <a:latin typeface="Calibri"/>
              </a:rPr>
              <a:t>lack of objectivity</a:t>
            </a:r>
          </a:p>
          <a:p>
            <a:pPr>
              <a:spcAft>
                <a:spcPts val="300"/>
              </a:spcAft>
            </a:pPr>
            <a:r>
              <a:rPr sz="1300" b="1" i="0">
                <a:solidFill>
                  <a:srgbClr val="1A1A1A"/>
                </a:solidFill>
                <a:latin typeface="Calibri"/>
              </a:rPr>
              <a:t>• </a:t>
            </a:r>
            <a:r>
              <a:rPr sz="1300" b="0" i="0">
                <a:solidFill>
                  <a:srgbClr val="1A1A1A"/>
                </a:solidFill>
                <a:latin typeface="Calibri"/>
              </a:rPr>
              <a:t>Intuition = feeling not supported by research; systematic study = cause-effect conclusions from evidence. Preconceived notions ≠ facts</a:t>
            </a:r>
          </a:p>
          <a:p>
            <a:pPr>
              <a:spcAft>
                <a:spcPts val="300"/>
              </a:spcAft>
            </a:pPr>
            <a:r>
              <a:rPr sz="1300" b="1" i="0">
                <a:solidFill>
                  <a:srgbClr val="1A1A1A"/>
                </a:solidFill>
                <a:latin typeface="Calibri"/>
              </a:rPr>
              <a:t>• </a:t>
            </a:r>
            <a:r>
              <a:rPr sz="1300" b="1" i="0">
                <a:solidFill>
                  <a:srgbClr val="1A1A1A"/>
                </a:solidFill>
                <a:latin typeface="Calibri"/>
              </a:rPr>
              <a:t>Organisational iceberg</a:t>
            </a:r>
            <a:r>
              <a:rPr sz="1300" b="0" i="0">
                <a:solidFill>
                  <a:srgbClr val="1A1A1A"/>
                </a:solidFill>
                <a:latin typeface="Calibri"/>
              </a:rPr>
              <a:t>: visible formal aspects (structure, goals) vs hidden informal aspects (attitudes, feelings, norms, politics) that sink ships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600" b="1" i="0">
                <a:solidFill>
                  <a:srgbClr val="FFFFFF"/>
                </a:solidFill>
                <a:latin typeface="Calibri"/>
              </a:rPr>
              <a:t>Why OB matters for your career: hard vs soft skills</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C4D2E6"/>
                </a:solidFill>
                <a:latin typeface="Calibri"/>
              </a:rPr>
              <a:t>MODULE 1 · INTRO, ETHICS &amp; PROBLEM SOLVING</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Ch 1 pp. 3–10</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8</a:t>
            </a:r>
          </a:p>
        </p:txBody>
      </p:sp>
      <p:sp>
        <p:nvSpPr>
          <p:cNvPr id="7" name="Rounded Rectangle 6"/>
          <p:cNvSpPr/>
          <p:nvPr/>
        </p:nvSpPr>
        <p:spPr>
          <a:xfrm>
            <a:off x="274320" y="1051560"/>
            <a:ext cx="3840480" cy="2468880"/>
          </a:xfrm>
          <a:prstGeom prst="roundRect">
            <a:avLst>
              <a:gd name="adj" fmla="val 6000"/>
            </a:avLst>
          </a:prstGeom>
          <a:solidFill>
            <a:srgbClr val="FFFFFF"/>
          </a:solidFill>
          <a:ln w="19050">
            <a:solidFill>
              <a:srgbClr val="95A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74320" y="1051560"/>
            <a:ext cx="3840480" cy="457200"/>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371600"/>
            <a:ext cx="3840480" cy="137160"/>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051560"/>
            <a:ext cx="3657600" cy="457200"/>
          </a:xfrm>
          <a:prstGeom prst="rect">
            <a:avLst/>
          </a:prstGeom>
          <a:noFill/>
        </p:spPr>
        <p:txBody>
          <a:bodyPr wrap="square" anchor="ctr" lIns="45720" rIns="45720" tIns="18288" bIns="18288"/>
          <a:lstStyle/>
          <a:p>
            <a:pPr algn="l"/>
            <a:r>
              <a:rPr sz="1900" b="1" i="0">
                <a:solidFill>
                  <a:srgbClr val="FFFFFF"/>
                </a:solidFill>
                <a:latin typeface="Calibri"/>
              </a:rPr>
              <a:t>Hard vs soft skills (p. 7)</a:t>
            </a:r>
          </a:p>
        </p:txBody>
      </p:sp>
      <p:sp>
        <p:nvSpPr>
          <p:cNvPr id="11" name="TextBox 10"/>
          <p:cNvSpPr txBox="1"/>
          <p:nvPr/>
        </p:nvSpPr>
        <p:spPr>
          <a:xfrm>
            <a:off x="347472" y="1563624"/>
            <a:ext cx="3694176" cy="1920240"/>
          </a:xfrm>
          <a:prstGeom prst="rect">
            <a:avLst/>
          </a:prstGeom>
          <a:noFill/>
        </p:spPr>
        <p:txBody>
          <a:bodyPr wrap="square" anchor="t" lIns="54864" rIns="54864" tIns="27432" bIns="27432"/>
          <a:lstStyle/>
          <a:p>
            <a:pPr>
              <a:spcAft>
                <a:spcPts val="300"/>
              </a:spcAft>
            </a:pPr>
            <a:r>
              <a:rPr sz="1500" b="1" i="0">
                <a:solidFill>
                  <a:srgbClr val="1A1A1A"/>
                </a:solidFill>
                <a:latin typeface="Calibri"/>
              </a:rPr>
              <a:t>• </a:t>
            </a:r>
            <a:r>
              <a:rPr sz="1500" b="1" i="0">
                <a:solidFill>
                  <a:srgbClr val="1A1A1A"/>
                </a:solidFill>
                <a:latin typeface="Calibri"/>
              </a:rPr>
              <a:t>Hard</a:t>
            </a:r>
            <a:r>
              <a:rPr sz="1500" b="0" i="0">
                <a:solidFill>
                  <a:srgbClr val="1A1A1A"/>
                </a:solidFill>
                <a:latin typeface="Calibri"/>
              </a:rPr>
              <a:t> = technical expertise for a task (accounting, finance)</a:t>
            </a:r>
          </a:p>
          <a:p>
            <a:pPr>
              <a:spcAft>
                <a:spcPts val="300"/>
              </a:spcAft>
            </a:pPr>
            <a:r>
              <a:rPr sz="1500" b="1" i="0">
                <a:solidFill>
                  <a:srgbClr val="1A1A1A"/>
                </a:solidFill>
                <a:latin typeface="Calibri"/>
              </a:rPr>
              <a:t>• </a:t>
            </a:r>
            <a:r>
              <a:rPr sz="1500" b="1" i="0">
                <a:solidFill>
                  <a:srgbClr val="1A1A1A"/>
                </a:solidFill>
                <a:latin typeface="Calibri"/>
              </a:rPr>
              <a:t>Soft</a:t>
            </a:r>
            <a:r>
              <a:rPr sz="1500" b="0" i="0">
                <a:solidFill>
                  <a:srgbClr val="1A1A1A"/>
                </a:solidFill>
                <a:latin typeface="Calibri"/>
              </a:rPr>
              <a:t> = interpersonal skills + personal attributes: 'hard skills are WHAT you do, soft skills are HOW you do it'</a:t>
            </a:r>
          </a:p>
          <a:p>
            <a:pPr>
              <a:spcAft>
                <a:spcPts val="300"/>
              </a:spcAft>
            </a:pPr>
            <a:r>
              <a:rPr sz="1500" b="1" i="0">
                <a:solidFill>
                  <a:srgbClr val="1A1A1A"/>
                </a:solidFill>
                <a:latin typeface="Calibri"/>
              </a:rPr>
              <a:t>• </a:t>
            </a:r>
            <a:r>
              <a:rPr sz="1500" b="0" i="0">
                <a:solidFill>
                  <a:srgbClr val="1A1A1A"/>
                </a:solidFill>
                <a:latin typeface="Calibri"/>
              </a:rPr>
              <a:t>Soft skills are </a:t>
            </a:r>
            <a:r>
              <a:rPr sz="1500" b="1" i="0">
                <a:solidFill>
                  <a:srgbClr val="1A1A1A"/>
                </a:solidFill>
                <a:latin typeface="Calibri"/>
              </a:rPr>
              <a:t>portable</a:t>
            </a:r>
            <a:r>
              <a:rPr sz="1500" b="0" i="0">
                <a:solidFill>
                  <a:srgbClr val="1A1A1A"/>
                </a:solidFill>
                <a:latin typeface="Calibri"/>
              </a:rPr>
              <a:t> across jobs and levels</a:t>
            </a:r>
          </a:p>
        </p:txBody>
      </p:sp>
      <p:graphicFrame>
        <p:nvGraphicFramePr>
          <p:cNvPr id="12" name="Table 11"/>
          <p:cNvGraphicFramePr>
            <a:graphicFrameLocks noGrp="1"/>
          </p:cNvGraphicFramePr>
          <p:nvPr/>
        </p:nvGraphicFramePr>
        <p:xfrm>
          <a:off x="4251960" y="1051560"/>
          <a:ext cx="3931918" cy="2468880"/>
        </p:xfrm>
        <a:graphic>
          <a:graphicData uri="http://schemas.openxmlformats.org/drawingml/2006/table">
            <a:tbl>
              <a:tblPr firstRow="1" bandRow="1">
                <a:tableStyleId>{5C22544A-7EE6-4342-B048-85BDC9FD1C3A}</a:tableStyleId>
              </a:tblPr>
              <a:tblGrid>
                <a:gridCol w="1463039"/>
                <a:gridCol w="2468879"/>
              </a:tblGrid>
              <a:tr h="493776">
                <a:tc>
                  <a:txBody>
                    <a:bodyPr wrap="square"/>
                    <a:lstStyle/>
                    <a:p>
                      <a:r>
                        <a:rPr sz="1300" b="1" i="0">
                          <a:solidFill>
                            <a:srgbClr val="FFFFFF"/>
                          </a:solidFill>
                          <a:latin typeface="Calibri"/>
                        </a:rPr>
                        <a:t>Table 1.1: top 4 skills</a:t>
                      </a:r>
                    </a:p>
                  </a:txBody>
                  <a:tcPr marL="54864" marR="54864" marT="27432" marB="27432" anchor="ctr">
                    <a:solidFill>
                      <a:srgbClr val="154C9E"/>
                    </a:solidFill>
                  </a:tcPr>
                </a:tc>
                <a:tc>
                  <a:txBody>
                    <a:bodyPr wrap="square"/>
                    <a:lstStyle/>
                    <a:p>
                      <a:r>
                        <a:rPr sz="1300" b="1" i="0">
                          <a:solidFill>
                            <a:srgbClr val="FFFFFF"/>
                          </a:solidFill>
                          <a:latin typeface="Calibri"/>
                        </a:rPr>
                        <a:t>Meaning</a:t>
                      </a:r>
                    </a:p>
                  </a:txBody>
                  <a:tcPr marL="54864" marR="54864" marT="27432" marB="27432" anchor="ctr">
                    <a:solidFill>
                      <a:srgbClr val="154C9E"/>
                    </a:solidFill>
                  </a:tcPr>
                </a:tc>
              </a:tr>
              <a:tr h="493776">
                <a:tc>
                  <a:txBody>
                    <a:bodyPr wrap="square"/>
                    <a:lstStyle/>
                    <a:p>
                      <a:r>
                        <a:rPr sz="1300" b="1" i="0">
                          <a:solidFill>
                            <a:srgbClr val="1A1A1A"/>
                          </a:solidFill>
                          <a:latin typeface="Calibri"/>
                        </a:rPr>
                        <a:t>Problem solving</a:t>
                      </a:r>
                    </a:p>
                  </a:txBody>
                  <a:tcPr marL="54864" marR="54864" marT="27432" marB="27432" anchor="ctr">
                    <a:solidFill>
                      <a:srgbClr val="FFFFFF"/>
                    </a:solidFill>
                  </a:tcPr>
                </a:tc>
                <a:tc>
                  <a:txBody>
                    <a:bodyPr wrap="square"/>
                    <a:lstStyle/>
                    <a:p>
                      <a:r>
                        <a:rPr sz="1300" b="0" i="0">
                          <a:solidFill>
                            <a:srgbClr val="1A1A1A"/>
                          </a:solidFill>
                          <a:latin typeface="Calibri"/>
                        </a:rPr>
                        <a:t>Identify problems, evaluate options, implement</a:t>
                      </a:r>
                    </a:p>
                  </a:txBody>
                  <a:tcPr marL="54864" marR="54864" marT="27432" marB="27432" anchor="ctr">
                    <a:solidFill>
                      <a:srgbClr val="FFFFFF"/>
                    </a:solidFill>
                  </a:tcPr>
                </a:tc>
              </a:tr>
              <a:tr h="493776">
                <a:tc>
                  <a:txBody>
                    <a:bodyPr wrap="square"/>
                    <a:lstStyle/>
                    <a:p>
                      <a:r>
                        <a:rPr sz="1300" b="1" i="0">
                          <a:solidFill>
                            <a:srgbClr val="1A1A1A"/>
                          </a:solidFill>
                          <a:latin typeface="Calibri"/>
                        </a:rPr>
                        <a:t>Critical thinking</a:t>
                      </a:r>
                    </a:p>
                  </a:txBody>
                  <a:tcPr marL="54864" marR="54864" marT="27432" marB="27432" anchor="ctr">
                    <a:solidFill>
                      <a:srgbClr val="E7EDF5"/>
                    </a:solidFill>
                  </a:tcPr>
                </a:tc>
                <a:tc>
                  <a:txBody>
                    <a:bodyPr wrap="square"/>
                    <a:lstStyle/>
                    <a:p>
                      <a:r>
                        <a:rPr sz="1300" b="0" i="0">
                          <a:solidFill>
                            <a:srgbClr val="1A1A1A"/>
                          </a:solidFill>
                          <a:latin typeface="Calibri"/>
                        </a:rPr>
                        <a:t>Logic to weigh alternatives</a:t>
                      </a:r>
                    </a:p>
                  </a:txBody>
                  <a:tcPr marL="54864" marR="54864" marT="27432" marB="27432" anchor="ctr">
                    <a:solidFill>
                      <a:srgbClr val="E7EDF5"/>
                    </a:solidFill>
                  </a:tcPr>
                </a:tc>
              </a:tr>
              <a:tr h="493776">
                <a:tc>
                  <a:txBody>
                    <a:bodyPr wrap="square"/>
                    <a:lstStyle/>
                    <a:p>
                      <a:r>
                        <a:rPr sz="1300" b="1" i="0">
                          <a:solidFill>
                            <a:srgbClr val="1A1A1A"/>
                          </a:solidFill>
                          <a:latin typeface="Calibri"/>
                        </a:rPr>
                        <a:t>Creativity</a:t>
                      </a:r>
                    </a:p>
                  </a:txBody>
                  <a:tcPr marL="54864" marR="54864" marT="27432" marB="27432" anchor="ctr">
                    <a:solidFill>
                      <a:srgbClr val="FFFFFF"/>
                    </a:solidFill>
                  </a:tcPr>
                </a:tc>
                <a:tc>
                  <a:txBody>
                    <a:bodyPr wrap="square"/>
                    <a:lstStyle/>
                    <a:p>
                      <a:r>
                        <a:rPr sz="1300" b="0" i="0">
                          <a:solidFill>
                            <a:srgbClr val="1A1A1A"/>
                          </a:solidFill>
                          <a:latin typeface="Calibri"/>
                        </a:rPr>
                        <a:t>New ideas, processes, tech</a:t>
                      </a:r>
                    </a:p>
                  </a:txBody>
                  <a:tcPr marL="54864" marR="54864" marT="27432" marB="27432" anchor="ctr">
                    <a:solidFill>
                      <a:srgbClr val="FFFFFF"/>
                    </a:solidFill>
                  </a:tcPr>
                </a:tc>
              </a:tr>
              <a:tr h="493776">
                <a:tc>
                  <a:txBody>
                    <a:bodyPr wrap="square"/>
                    <a:lstStyle/>
                    <a:p>
                      <a:r>
                        <a:rPr sz="1300" b="1" i="0">
                          <a:solidFill>
                            <a:srgbClr val="1A1A1A"/>
                          </a:solidFill>
                          <a:latin typeface="Calibri"/>
                        </a:rPr>
                        <a:t>People management</a:t>
                      </a:r>
                    </a:p>
                  </a:txBody>
                  <a:tcPr marL="54864" marR="54864" marT="27432" marB="27432" anchor="ctr">
                    <a:solidFill>
                      <a:srgbClr val="E7EDF5"/>
                    </a:solidFill>
                  </a:tcPr>
                </a:tc>
                <a:tc>
                  <a:txBody>
                    <a:bodyPr wrap="square"/>
                    <a:lstStyle/>
                    <a:p>
                      <a:r>
                        <a:rPr sz="1300" b="0" i="0">
                          <a:solidFill>
                            <a:srgbClr val="1A1A1A"/>
                          </a:solidFill>
                          <a:latin typeface="Calibri"/>
                        </a:rPr>
                        <a:t>Motivate, develop, influence</a:t>
                      </a:r>
                    </a:p>
                  </a:txBody>
                  <a:tcPr marL="54864" marR="54864" marT="27432" marB="27432" anchor="ctr">
                    <a:solidFill>
                      <a:srgbClr val="E7EDF5"/>
                    </a:solidFill>
                  </a:tcPr>
                </a:tc>
              </a:tr>
            </a:tbl>
          </a:graphicData>
        </a:graphic>
      </p:graphicFrame>
      <p:sp>
        <p:nvSpPr>
          <p:cNvPr id="13" name="Rounded Rectangle 12"/>
          <p:cNvSpPr/>
          <p:nvPr/>
        </p:nvSpPr>
        <p:spPr>
          <a:xfrm>
            <a:off x="8321040" y="1051560"/>
            <a:ext cx="3611880" cy="2468880"/>
          </a:xfrm>
          <a:prstGeom prst="roundRect">
            <a:avLst>
              <a:gd name="adj" fmla="val 6000"/>
            </a:avLst>
          </a:prstGeom>
          <a:solidFill>
            <a:srgbClr val="FFFFFF"/>
          </a:solidFill>
          <a:ln w="19050">
            <a:solidFill>
              <a:srgbClr val="95A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321040" y="1051560"/>
            <a:ext cx="3611880" cy="457200"/>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21040" y="1371600"/>
            <a:ext cx="3611880" cy="137160"/>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0" y="1051560"/>
            <a:ext cx="3429000" cy="457200"/>
          </a:xfrm>
          <a:prstGeom prst="rect">
            <a:avLst/>
          </a:prstGeom>
          <a:noFill/>
        </p:spPr>
        <p:txBody>
          <a:bodyPr wrap="square" anchor="ctr" lIns="45720" rIns="45720" tIns="18288" bIns="18288"/>
          <a:lstStyle/>
          <a:p>
            <a:pPr algn="l"/>
            <a:r>
              <a:rPr sz="1900" b="1" i="0">
                <a:solidFill>
                  <a:srgbClr val="FFFFFF"/>
                </a:solidFill>
                <a:latin typeface="Calibri"/>
              </a:rPr>
              <a:t>Hired vs promoted (p. 9)</a:t>
            </a:r>
          </a:p>
        </p:txBody>
      </p:sp>
      <p:sp>
        <p:nvSpPr>
          <p:cNvPr id="17" name="TextBox 16"/>
          <p:cNvSpPr txBox="1"/>
          <p:nvPr/>
        </p:nvSpPr>
        <p:spPr>
          <a:xfrm>
            <a:off x="8394192" y="1563624"/>
            <a:ext cx="3465576" cy="1920240"/>
          </a:xfrm>
          <a:prstGeom prst="rect">
            <a:avLst/>
          </a:prstGeom>
          <a:noFill/>
        </p:spPr>
        <p:txBody>
          <a:bodyPr wrap="square" anchor="t" lIns="54864" rIns="54864" tIns="27432" bIns="27432"/>
          <a:lstStyle/>
          <a:p>
            <a:pPr>
              <a:spcAft>
                <a:spcPts val="300"/>
              </a:spcAft>
            </a:pPr>
            <a:r>
              <a:rPr sz="1500" b="1" i="0">
                <a:solidFill>
                  <a:srgbClr val="1A1A1A"/>
                </a:solidFill>
                <a:latin typeface="Calibri"/>
              </a:rPr>
              <a:t>• </a:t>
            </a:r>
            <a:r>
              <a:rPr sz="1500" b="1" i="0">
                <a:solidFill>
                  <a:srgbClr val="1A1A1A"/>
                </a:solidFill>
                <a:latin typeface="Calibri"/>
              </a:rPr>
              <a:t>Hired for</a:t>
            </a:r>
            <a:r>
              <a:rPr sz="1500" b="0" i="0">
                <a:solidFill>
                  <a:srgbClr val="1A1A1A"/>
                </a:solidFill>
                <a:latin typeface="Calibri"/>
              </a:rPr>
              <a:t>: technical skills, GPA, nuts &amp; bolts of the job</a:t>
            </a:r>
          </a:p>
          <a:p>
            <a:pPr>
              <a:spcAft>
                <a:spcPts val="300"/>
              </a:spcAft>
            </a:pPr>
            <a:r>
              <a:rPr sz="1500" b="1" i="0">
                <a:solidFill>
                  <a:srgbClr val="1A1A1A"/>
                </a:solidFill>
                <a:latin typeface="Calibri"/>
              </a:rPr>
              <a:t>• </a:t>
            </a:r>
            <a:r>
              <a:rPr sz="1500" b="1" i="0">
                <a:solidFill>
                  <a:srgbClr val="1A1A1A"/>
                </a:solidFill>
                <a:latin typeface="Calibri"/>
              </a:rPr>
              <a:t>Promoted for</a:t>
            </a:r>
            <a:r>
              <a:rPr sz="1500" b="0" i="0">
                <a:solidFill>
                  <a:srgbClr val="1A1A1A"/>
                </a:solidFill>
                <a:latin typeface="Calibri"/>
              </a:rPr>
              <a:t>: managing people, team skills, building relationships</a:t>
            </a:r>
          </a:p>
          <a:p>
            <a:pPr>
              <a:spcAft>
                <a:spcPts val="300"/>
              </a:spcAft>
            </a:pPr>
            <a:r>
              <a:rPr sz="1500" b="1" i="0">
                <a:solidFill>
                  <a:srgbClr val="1A1A1A"/>
                </a:solidFill>
                <a:latin typeface="Calibri"/>
              </a:rPr>
              <a:t>• </a:t>
            </a:r>
            <a:r>
              <a:rPr sz="1500" b="0" i="0">
                <a:solidFill>
                  <a:srgbClr val="1A1A1A"/>
                </a:solidFill>
                <a:latin typeface="Calibri"/>
              </a:rPr>
              <a:t>ManpowerGroup: 61% rate people (OB) skills most important</a:t>
            </a:r>
          </a:p>
        </p:txBody>
      </p:sp>
      <p:sp>
        <p:nvSpPr>
          <p:cNvPr id="18" name="Rounded Rectangle 17"/>
          <p:cNvSpPr/>
          <p:nvPr/>
        </p:nvSpPr>
        <p:spPr>
          <a:xfrm>
            <a:off x="274320" y="3657600"/>
            <a:ext cx="5760720" cy="2880360"/>
          </a:xfrm>
          <a:prstGeom prst="roundRect">
            <a:avLst>
              <a:gd name="adj" fmla="val 6000"/>
            </a:avLst>
          </a:prstGeom>
          <a:solidFill>
            <a:srgbClr val="FFFFFF"/>
          </a:solidFill>
          <a:ln w="19050">
            <a:solidFill>
              <a:srgbClr val="95A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74320" y="3657600"/>
            <a:ext cx="5760720" cy="457200"/>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74320" y="3977639"/>
            <a:ext cx="5760720" cy="137160"/>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3657600"/>
            <a:ext cx="5577840" cy="457200"/>
          </a:xfrm>
          <a:prstGeom prst="rect">
            <a:avLst/>
          </a:prstGeom>
          <a:noFill/>
        </p:spPr>
        <p:txBody>
          <a:bodyPr wrap="square" anchor="ctr" lIns="45720" rIns="45720" tIns="18288" bIns="18288"/>
          <a:lstStyle/>
          <a:p>
            <a:pPr algn="l"/>
            <a:r>
              <a:rPr sz="1900" b="1" i="0">
                <a:solidFill>
                  <a:srgbClr val="FFFFFF"/>
                </a:solidFill>
                <a:latin typeface="Calibri"/>
              </a:rPr>
              <a:t>Self-awareness: key to career (pp. 5–6)</a:t>
            </a:r>
          </a:p>
        </p:txBody>
      </p:sp>
      <p:sp>
        <p:nvSpPr>
          <p:cNvPr id="22" name="TextBox 21"/>
          <p:cNvSpPr txBox="1"/>
          <p:nvPr/>
        </p:nvSpPr>
        <p:spPr>
          <a:xfrm>
            <a:off x="347472" y="4169663"/>
            <a:ext cx="5614416" cy="2331720"/>
          </a:xfrm>
          <a:prstGeom prst="rect">
            <a:avLst/>
          </a:prstGeom>
          <a:noFill/>
        </p:spPr>
        <p:txBody>
          <a:bodyPr wrap="square" anchor="t" lIns="54864" rIns="54864" tIns="27432" bIns="27432"/>
          <a:lstStyle/>
          <a:p>
            <a:pPr>
              <a:spcAft>
                <a:spcPts val="300"/>
              </a:spcAft>
            </a:pPr>
            <a:r>
              <a:rPr sz="1600" b="1" i="0">
                <a:solidFill>
                  <a:srgbClr val="1A1A1A"/>
                </a:solidFill>
                <a:latin typeface="Calibri"/>
              </a:rPr>
              <a:t>• </a:t>
            </a:r>
            <a:r>
              <a:rPr sz="1600" b="0" i="0">
                <a:solidFill>
                  <a:srgbClr val="1A1A1A"/>
                </a:solidFill>
                <a:latin typeface="Calibri"/>
              </a:rPr>
              <a:t>Knowing your skills, values, weaknesses, preferences AND how others see you</a:t>
            </a:r>
          </a:p>
          <a:p>
            <a:pPr>
              <a:spcAft>
                <a:spcPts val="300"/>
              </a:spcAft>
            </a:pPr>
            <a:r>
              <a:rPr sz="1600" b="1" i="0">
                <a:solidFill>
                  <a:srgbClr val="1A1A1A"/>
                </a:solidFill>
                <a:latin typeface="Calibri"/>
              </a:rPr>
              <a:t>• </a:t>
            </a:r>
            <a:r>
              <a:rPr sz="1600" b="0" i="0">
                <a:solidFill>
                  <a:srgbClr val="1A1A1A"/>
                </a:solidFill>
                <a:latin typeface="Calibri"/>
              </a:rPr>
              <a:t>Stanford GSB advisory council's #1 skill to learn: self-awareness</a:t>
            </a:r>
          </a:p>
          <a:p>
            <a:pPr>
              <a:spcAft>
                <a:spcPts val="300"/>
              </a:spcAft>
            </a:pPr>
            <a:r>
              <a:rPr sz="1600" b="1" i="0">
                <a:solidFill>
                  <a:srgbClr val="1A1A1A"/>
                </a:solidFill>
                <a:latin typeface="Calibri"/>
              </a:rPr>
              <a:t>• </a:t>
            </a:r>
            <a:r>
              <a:rPr sz="1600" b="0" i="0">
                <a:solidFill>
                  <a:srgbClr val="1A1A1A"/>
                </a:solidFill>
                <a:latin typeface="Calibri"/>
              </a:rPr>
              <a:t>Only 10–15% truly self-aware; seniority breeds overconfidence</a:t>
            </a:r>
          </a:p>
          <a:p>
            <a:pPr>
              <a:spcAft>
                <a:spcPts val="300"/>
              </a:spcAft>
            </a:pPr>
            <a:r>
              <a:rPr sz="1600" b="1" i="0">
                <a:solidFill>
                  <a:srgbClr val="1A1A1A"/>
                </a:solidFill>
                <a:latin typeface="Calibri"/>
              </a:rPr>
              <a:t>• </a:t>
            </a:r>
            <a:r>
              <a:rPr sz="1600" b="1" i="0">
                <a:solidFill>
                  <a:srgbClr val="1A1A1A"/>
                </a:solidFill>
                <a:latin typeface="Calibri"/>
              </a:rPr>
              <a:t>Build it</a:t>
            </a:r>
            <a:r>
              <a:rPr sz="1600" b="0" i="0">
                <a:solidFill>
                  <a:srgbClr val="1A1A1A"/>
                </a:solidFill>
                <a:latin typeface="Calibri"/>
              </a:rPr>
              <a:t>: mindfulness · timeouts · keep ears open, mouth shut · diary of strengths &amp; weaknesses · self-assessments · seek feedback</a:t>
            </a:r>
          </a:p>
        </p:txBody>
      </p:sp>
      <p:sp>
        <p:nvSpPr>
          <p:cNvPr id="23" name="Rounded Rectangle 22"/>
          <p:cNvSpPr/>
          <p:nvPr/>
        </p:nvSpPr>
        <p:spPr>
          <a:xfrm>
            <a:off x="6172200" y="3657600"/>
            <a:ext cx="5760720" cy="2880360"/>
          </a:xfrm>
          <a:prstGeom prst="roundRect">
            <a:avLst>
              <a:gd name="adj" fmla="val 6000"/>
            </a:avLst>
          </a:prstGeom>
          <a:solidFill>
            <a:srgbClr val="FFFFFF"/>
          </a:solidFill>
          <a:ln w="19050">
            <a:solidFill>
              <a:srgbClr val="95A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172200" y="3657600"/>
            <a:ext cx="5760720" cy="457200"/>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72200" y="3977639"/>
            <a:ext cx="5760720" cy="137160"/>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63640" y="3657600"/>
            <a:ext cx="5577840" cy="457200"/>
          </a:xfrm>
          <a:prstGeom prst="rect">
            <a:avLst/>
          </a:prstGeom>
          <a:noFill/>
        </p:spPr>
        <p:txBody>
          <a:bodyPr wrap="square" anchor="ctr" lIns="45720" rIns="45720" tIns="18288" bIns="18288"/>
          <a:lstStyle/>
          <a:p>
            <a:pPr algn="l"/>
            <a:r>
              <a:rPr sz="1900" b="1" i="0">
                <a:solidFill>
                  <a:srgbClr val="FFFFFF"/>
                </a:solidFill>
                <a:latin typeface="Calibri"/>
              </a:rPr>
              <a:t>Challenges &amp; opportunities for OB (PPT)</a:t>
            </a:r>
          </a:p>
        </p:txBody>
      </p:sp>
      <p:sp>
        <p:nvSpPr>
          <p:cNvPr id="27" name="TextBox 26"/>
          <p:cNvSpPr txBox="1"/>
          <p:nvPr/>
        </p:nvSpPr>
        <p:spPr>
          <a:xfrm>
            <a:off x="6245352" y="4169663"/>
            <a:ext cx="5614416" cy="2331720"/>
          </a:xfrm>
          <a:prstGeom prst="rect">
            <a:avLst/>
          </a:prstGeom>
          <a:noFill/>
        </p:spPr>
        <p:txBody>
          <a:bodyPr wrap="square" anchor="t" lIns="54864" rIns="54864" tIns="27432" bIns="27432"/>
          <a:lstStyle/>
          <a:p>
            <a:pPr>
              <a:spcAft>
                <a:spcPts val="300"/>
              </a:spcAft>
            </a:pPr>
            <a:r>
              <a:rPr sz="1500" b="1" i="0">
                <a:solidFill>
                  <a:srgbClr val="1A1A1A"/>
                </a:solidFill>
                <a:latin typeface="Calibri"/>
              </a:rPr>
              <a:t>• </a:t>
            </a:r>
            <a:r>
              <a:rPr sz="1500" b="0" i="0">
                <a:solidFill>
                  <a:srgbClr val="1A1A1A"/>
                </a:solidFill>
                <a:latin typeface="Calibri"/>
              </a:rPr>
              <a:t>Globalisation (foreign assignments, cultures, job movement)</a:t>
            </a:r>
          </a:p>
          <a:p>
            <a:pPr>
              <a:spcAft>
                <a:spcPts val="300"/>
              </a:spcAft>
            </a:pPr>
            <a:r>
              <a:rPr sz="1500" b="1" i="0">
                <a:solidFill>
                  <a:srgbClr val="1A1A1A"/>
                </a:solidFill>
                <a:latin typeface="Calibri"/>
              </a:rPr>
              <a:t>• </a:t>
            </a:r>
            <a:r>
              <a:rPr sz="1500" b="0" i="0">
                <a:solidFill>
                  <a:srgbClr val="1A1A1A"/>
                </a:solidFill>
                <a:latin typeface="Calibri"/>
              </a:rPr>
              <a:t>Workforce diversity · improving people skills · empowering people</a:t>
            </a:r>
          </a:p>
          <a:p>
            <a:pPr>
              <a:spcAft>
                <a:spcPts val="300"/>
              </a:spcAft>
            </a:pPr>
            <a:r>
              <a:rPr sz="1500" b="1" i="0">
                <a:solidFill>
                  <a:srgbClr val="1A1A1A"/>
                </a:solidFill>
                <a:latin typeface="Calibri"/>
              </a:rPr>
              <a:t>• </a:t>
            </a:r>
            <a:r>
              <a:rPr sz="1500" b="0" i="0">
                <a:solidFill>
                  <a:srgbClr val="1A1A1A"/>
                </a:solidFill>
                <a:latin typeface="Calibri"/>
              </a:rPr>
              <a:t>Innovation &amp; change · coping with 'temporariness' · networked orgs</a:t>
            </a:r>
          </a:p>
          <a:p>
            <a:pPr>
              <a:spcAft>
                <a:spcPts val="300"/>
              </a:spcAft>
            </a:pPr>
            <a:r>
              <a:rPr sz="1500" b="1" i="0">
                <a:solidFill>
                  <a:srgbClr val="1A1A1A"/>
                </a:solidFill>
                <a:latin typeface="Calibri"/>
              </a:rPr>
              <a:t>• </a:t>
            </a:r>
            <a:r>
              <a:rPr sz="1500" b="0" i="0">
                <a:solidFill>
                  <a:srgbClr val="1A1A1A"/>
                </a:solidFill>
                <a:latin typeface="Calibri"/>
              </a:rPr>
              <a:t>Work-life balance · improving ethical behaviour · AI &amp; hybrid work</a:t>
            </a:r>
          </a:p>
          <a:p>
            <a:pPr>
              <a:spcAft>
                <a:spcPts val="300"/>
              </a:spcAft>
            </a:pPr>
            <a:r>
              <a:rPr sz="1500" b="1" i="0">
                <a:solidFill>
                  <a:srgbClr val="1A1A1A"/>
                </a:solidFill>
                <a:latin typeface="Calibri"/>
              </a:rPr>
              <a:t>• </a:t>
            </a:r>
            <a:r>
              <a:rPr sz="1500" b="0" i="0">
                <a:solidFill>
                  <a:srgbClr val="1A1A1A"/>
                </a:solidFill>
                <a:latin typeface="Calibri"/>
              </a:rPr>
              <a:t>Why more systematic study now: diversity, global competition, technology, social change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600" b="1" i="0">
                <a:solidFill>
                  <a:srgbClr val="FFFFFF"/>
                </a:solidFill>
                <a:latin typeface="Calibri"/>
              </a:rPr>
              <a:t>1.2 Ethics &amp; performance: why it matters, cheating, lapses</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C4D2E6"/>
                </a:solidFill>
                <a:latin typeface="Calibri"/>
              </a:rPr>
              <a:t>MODULE 1 · INTRO, ETHICS &amp; PROBLEM SOLVING</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Ch 1 pp. 11–17</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9</a:t>
            </a:r>
          </a:p>
        </p:txBody>
      </p:sp>
      <p:sp>
        <p:nvSpPr>
          <p:cNvPr id="7" name="Rounded Rectangle 6"/>
          <p:cNvSpPr/>
          <p:nvPr/>
        </p:nvSpPr>
        <p:spPr>
          <a:xfrm>
            <a:off x="274320" y="1051560"/>
            <a:ext cx="3840480" cy="2743200"/>
          </a:xfrm>
          <a:prstGeom prst="roundRect">
            <a:avLst>
              <a:gd name="adj" fmla="val 6000"/>
            </a:avLst>
          </a:prstGeom>
          <a:solidFill>
            <a:srgbClr val="FFFFFF"/>
          </a:solidFill>
          <a:ln w="19050">
            <a:solidFill>
              <a:srgbClr val="95A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74320" y="1051560"/>
            <a:ext cx="3840480" cy="457200"/>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371600"/>
            <a:ext cx="3840480" cy="137160"/>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051560"/>
            <a:ext cx="3657600" cy="457200"/>
          </a:xfrm>
          <a:prstGeom prst="rect">
            <a:avLst/>
          </a:prstGeom>
          <a:noFill/>
        </p:spPr>
        <p:txBody>
          <a:bodyPr wrap="square" anchor="ctr" lIns="45720" rIns="45720" tIns="18288" bIns="18288"/>
          <a:lstStyle/>
          <a:p>
            <a:pPr algn="l"/>
            <a:r>
              <a:rPr sz="1600" b="1" i="0">
                <a:solidFill>
                  <a:srgbClr val="FFFFFF"/>
                </a:solidFill>
                <a:latin typeface="Calibri"/>
              </a:rPr>
              <a:t>Why ethics gets priority (p. 11)</a:t>
            </a:r>
          </a:p>
        </p:txBody>
      </p:sp>
      <p:sp>
        <p:nvSpPr>
          <p:cNvPr id="11" name="TextBox 10"/>
          <p:cNvSpPr txBox="1"/>
          <p:nvPr/>
        </p:nvSpPr>
        <p:spPr>
          <a:xfrm>
            <a:off x="347472" y="1563624"/>
            <a:ext cx="3694176" cy="2194560"/>
          </a:xfrm>
          <a:prstGeom prst="rect">
            <a:avLst/>
          </a:prstGeom>
          <a:noFill/>
        </p:spPr>
        <p:txBody>
          <a:bodyPr wrap="square" anchor="t" lIns="54864" rIns="54864" tIns="27432" bIns="27432"/>
          <a:lstStyle/>
          <a:p>
            <a:pPr>
              <a:spcAft>
                <a:spcPts val="300"/>
              </a:spcAft>
            </a:pPr>
            <a:r>
              <a:rPr sz="1500" b="1" i="0">
                <a:solidFill>
                  <a:srgbClr val="1A1A1A"/>
                </a:solidFill>
                <a:latin typeface="Calibri"/>
              </a:rPr>
              <a:t>• </a:t>
            </a:r>
            <a:r>
              <a:rPr sz="1500" b="0" i="0">
                <a:solidFill>
                  <a:srgbClr val="1A1A1A"/>
                </a:solidFill>
                <a:latin typeface="Calibri"/>
              </a:rPr>
              <a:t>1. Employees face ethical challenges at all levels, throughout careers</a:t>
            </a:r>
          </a:p>
          <a:p>
            <a:pPr>
              <a:spcAft>
                <a:spcPts val="300"/>
              </a:spcAft>
            </a:pPr>
            <a:r>
              <a:rPr sz="1500" b="1" i="0">
                <a:solidFill>
                  <a:srgbClr val="1A1A1A"/>
                </a:solidFill>
                <a:latin typeface="Calibri"/>
              </a:rPr>
              <a:t>• </a:t>
            </a:r>
            <a:r>
              <a:rPr sz="1500" b="0" i="0">
                <a:solidFill>
                  <a:srgbClr val="1A1A1A"/>
                </a:solidFill>
                <a:latin typeface="Calibri"/>
              </a:rPr>
              <a:t>2. Unethical behaviour </a:t>
            </a:r>
            <a:r>
              <a:rPr sz="1500" b="1" i="0">
                <a:solidFill>
                  <a:srgbClr val="1A1A1A"/>
                </a:solidFill>
                <a:latin typeface="Calibri"/>
              </a:rPr>
              <a:t>damages relationships &amp; trust</a:t>
            </a:r>
            <a:r>
              <a:rPr sz="1500" b="0" i="0">
                <a:solidFill>
                  <a:srgbClr val="1A1A1A"/>
                </a:solidFill>
                <a:latin typeface="Calibri"/>
              </a:rPr>
              <a:t>, making business &amp; influence hard</a:t>
            </a:r>
          </a:p>
          <a:p>
            <a:pPr>
              <a:spcAft>
                <a:spcPts val="300"/>
              </a:spcAft>
            </a:pPr>
            <a:r>
              <a:rPr sz="1500" b="1" i="0">
                <a:solidFill>
                  <a:srgbClr val="1A1A1A"/>
                </a:solidFill>
                <a:latin typeface="Calibri"/>
              </a:rPr>
              <a:t>• </a:t>
            </a:r>
            <a:r>
              <a:rPr sz="1500" b="0" i="0">
                <a:solidFill>
                  <a:srgbClr val="1A1A1A"/>
                </a:solidFill>
                <a:latin typeface="Calibri"/>
              </a:rPr>
              <a:t>3. Reduces cooperation, loyalty, contribution → hurts individual, team, org performance</a:t>
            </a:r>
          </a:p>
        </p:txBody>
      </p:sp>
      <p:sp>
        <p:nvSpPr>
          <p:cNvPr id="12" name="Rounded Rectangle 11"/>
          <p:cNvSpPr/>
          <p:nvPr/>
        </p:nvSpPr>
        <p:spPr>
          <a:xfrm>
            <a:off x="274320" y="3931920"/>
            <a:ext cx="3840480" cy="2606040"/>
          </a:xfrm>
          <a:prstGeom prst="roundRect">
            <a:avLst>
              <a:gd name="adj" fmla="val 6000"/>
            </a:avLst>
          </a:prstGeom>
          <a:solidFill>
            <a:srgbClr val="FFFFFF"/>
          </a:solidFill>
          <a:ln w="19050">
            <a:solidFill>
              <a:srgbClr val="95A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74320" y="3931920"/>
            <a:ext cx="3840480" cy="457200"/>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4320" y="4251959"/>
            <a:ext cx="3840480" cy="137160"/>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3931920"/>
            <a:ext cx="3657600" cy="457200"/>
          </a:xfrm>
          <a:prstGeom prst="rect">
            <a:avLst/>
          </a:prstGeom>
          <a:noFill/>
        </p:spPr>
        <p:txBody>
          <a:bodyPr wrap="square" anchor="ctr" lIns="45720" rIns="45720" tIns="18288" bIns="18288"/>
          <a:lstStyle/>
          <a:p>
            <a:pPr algn="l"/>
            <a:r>
              <a:rPr sz="1900" b="1" i="0">
                <a:solidFill>
                  <a:srgbClr val="FFFFFF"/>
                </a:solidFill>
                <a:latin typeface="Calibri"/>
              </a:rPr>
              <a:t>Key ideas</a:t>
            </a:r>
          </a:p>
        </p:txBody>
      </p:sp>
      <p:sp>
        <p:nvSpPr>
          <p:cNvPr id="16" name="TextBox 15"/>
          <p:cNvSpPr txBox="1"/>
          <p:nvPr/>
        </p:nvSpPr>
        <p:spPr>
          <a:xfrm>
            <a:off x="347472" y="4443983"/>
            <a:ext cx="3694176" cy="2057400"/>
          </a:xfrm>
          <a:prstGeom prst="rect">
            <a:avLst/>
          </a:prstGeom>
          <a:noFill/>
        </p:spPr>
        <p:txBody>
          <a:bodyPr wrap="square" anchor="t" lIns="54864" rIns="54864" tIns="27432" bIns="27432"/>
          <a:lstStyle/>
          <a:p>
            <a:pPr>
              <a:spcAft>
                <a:spcPts val="300"/>
              </a:spcAft>
            </a:pPr>
            <a:r>
              <a:rPr sz="1400" b="1" i="0">
                <a:solidFill>
                  <a:srgbClr val="1A1A1A"/>
                </a:solidFill>
                <a:latin typeface="Calibri"/>
              </a:rPr>
              <a:t>• </a:t>
            </a:r>
            <a:r>
              <a:rPr sz="1400" b="1" i="0">
                <a:solidFill>
                  <a:srgbClr val="1A1A1A"/>
                </a:solidFill>
                <a:latin typeface="Calibri"/>
              </a:rPr>
              <a:t>Unethical ≠ illegal</a:t>
            </a:r>
            <a:r>
              <a:rPr sz="1400" b="0" i="0">
                <a:solidFill>
                  <a:srgbClr val="1A1A1A"/>
                </a:solidFill>
                <a:latin typeface="Calibri"/>
              </a:rPr>
              <a:t>: most unethical acts are legal and unpunished, so don't rely on law (p. 14)</a:t>
            </a:r>
          </a:p>
          <a:p>
            <a:pPr>
              <a:spcAft>
                <a:spcPts val="300"/>
              </a:spcAft>
            </a:pPr>
            <a:r>
              <a:rPr sz="1400" b="1" i="0">
                <a:solidFill>
                  <a:srgbClr val="1A1A1A"/>
                </a:solidFill>
                <a:latin typeface="Calibri"/>
              </a:rPr>
              <a:t>• </a:t>
            </a:r>
            <a:r>
              <a:rPr sz="1400" b="1" i="0">
                <a:solidFill>
                  <a:srgbClr val="1A1A1A"/>
                </a:solidFill>
                <a:latin typeface="Calibri"/>
              </a:rPr>
              <a:t>Ethical dilemma</a:t>
            </a:r>
            <a:r>
              <a:rPr sz="1400" b="0" i="0">
                <a:solidFill>
                  <a:srgbClr val="1A1A1A"/>
                </a:solidFill>
                <a:latin typeface="Calibri"/>
              </a:rPr>
              <a:t> = two choices, neither ethically acceptable (#MeToo whistle-blowing; drug pricing) (p. 16)</a:t>
            </a:r>
          </a:p>
          <a:p>
            <a:pPr>
              <a:spcAft>
                <a:spcPts val="300"/>
              </a:spcAft>
            </a:pPr>
            <a:r>
              <a:rPr sz="1400" b="1" i="0">
                <a:solidFill>
                  <a:srgbClr val="1A1A1A"/>
                </a:solidFill>
                <a:latin typeface="Calibri"/>
              </a:rPr>
              <a:t>• </a:t>
            </a:r>
            <a:r>
              <a:rPr sz="1400" b="0" i="0">
                <a:solidFill>
                  <a:srgbClr val="1A1A1A"/>
                </a:solidFill>
                <a:latin typeface="Calibri"/>
              </a:rPr>
              <a:t>Most wrongdoers are 'good people'; the </a:t>
            </a:r>
            <a:r>
              <a:rPr sz="1400" b="1" i="0">
                <a:solidFill>
                  <a:srgbClr val="1A1A1A"/>
                </a:solidFill>
                <a:latin typeface="Calibri"/>
              </a:rPr>
              <a:t>work environment</a:t>
            </a:r>
            <a:r>
              <a:rPr sz="1400" b="0" i="0">
                <a:solidFill>
                  <a:srgbClr val="1A1A1A"/>
                </a:solidFill>
                <a:latin typeface="Calibri"/>
              </a:rPr>
              <a:t> produces misconduct</a:t>
            </a:r>
          </a:p>
        </p:txBody>
      </p:sp>
      <p:graphicFrame>
        <p:nvGraphicFramePr>
          <p:cNvPr id="17" name="Table 16"/>
          <p:cNvGraphicFramePr>
            <a:graphicFrameLocks noGrp="1"/>
          </p:cNvGraphicFramePr>
          <p:nvPr/>
        </p:nvGraphicFramePr>
        <p:xfrm>
          <a:off x="4251960" y="1051560"/>
          <a:ext cx="7680960" cy="3108960"/>
        </p:xfrm>
        <a:graphic>
          <a:graphicData uri="http://schemas.openxmlformats.org/drawingml/2006/table">
            <a:tbl>
              <a:tblPr firstRow="1" bandRow="1">
                <a:tableStyleId>{5C22544A-7EE6-4342-B048-85BDC9FD1C3A}</a:tableStyleId>
              </a:tblPr>
              <a:tblGrid>
                <a:gridCol w="1554480"/>
                <a:gridCol w="4206240"/>
                <a:gridCol w="1920240"/>
              </a:tblGrid>
              <a:tr h="518160">
                <a:tc>
                  <a:txBody>
                    <a:bodyPr wrap="square"/>
                    <a:lstStyle/>
                    <a:p>
                      <a:r>
                        <a:rPr sz="1300" b="1" i="0">
                          <a:solidFill>
                            <a:srgbClr val="FFFFFF"/>
                          </a:solidFill>
                          <a:latin typeface="Calibri"/>
                        </a:rPr>
                        <a:t>Indian ethical lapses (p. 14)</a:t>
                      </a:r>
                    </a:p>
                  </a:txBody>
                  <a:tcPr marL="54864" marR="54864" marT="27432" marB="27432" anchor="ctr">
                    <a:solidFill>
                      <a:srgbClr val="154C9E"/>
                    </a:solidFill>
                  </a:tcPr>
                </a:tc>
                <a:tc>
                  <a:txBody>
                    <a:bodyPr wrap="square"/>
                    <a:lstStyle/>
                    <a:p>
                      <a:r>
                        <a:rPr sz="1300" b="1" i="0">
                          <a:solidFill>
                            <a:srgbClr val="FFFFFF"/>
                          </a:solidFill>
                          <a:latin typeface="Calibri"/>
                        </a:rPr>
                        <a:t>What happened</a:t>
                      </a:r>
                    </a:p>
                  </a:txBody>
                  <a:tcPr marL="54864" marR="54864" marT="27432" marB="27432" anchor="ctr">
                    <a:solidFill>
                      <a:srgbClr val="154C9E"/>
                    </a:solidFill>
                  </a:tcPr>
                </a:tc>
                <a:tc>
                  <a:txBody>
                    <a:bodyPr wrap="square"/>
                    <a:lstStyle/>
                    <a:p>
                      <a:r>
                        <a:rPr sz="1300" b="1" i="0">
                          <a:solidFill>
                            <a:srgbClr val="FFFFFF"/>
                          </a:solidFill>
                          <a:latin typeface="Calibri"/>
                        </a:rPr>
                        <a:t>Year / who</a:t>
                      </a:r>
                    </a:p>
                  </a:txBody>
                  <a:tcPr marL="54864" marR="54864" marT="27432" marB="27432" anchor="ctr">
                    <a:solidFill>
                      <a:srgbClr val="154C9E"/>
                    </a:solidFill>
                  </a:tcPr>
                </a:tc>
              </a:tr>
              <a:tr h="518160">
                <a:tc>
                  <a:txBody>
                    <a:bodyPr wrap="square"/>
                    <a:lstStyle/>
                    <a:p>
                      <a:r>
                        <a:rPr sz="1300" b="1" i="0">
                          <a:solidFill>
                            <a:srgbClr val="1A1A1A"/>
                          </a:solidFill>
                          <a:latin typeface="Calibri"/>
                        </a:rPr>
                        <a:t>Satyam</a:t>
                      </a:r>
                    </a:p>
                  </a:txBody>
                  <a:tcPr marL="54864" marR="54864" marT="27432" marB="27432" anchor="ctr">
                    <a:solidFill>
                      <a:srgbClr val="FFFFFF"/>
                    </a:solidFill>
                  </a:tcPr>
                </a:tc>
                <a:tc>
                  <a:txBody>
                    <a:bodyPr wrap="square"/>
                    <a:lstStyle/>
                    <a:p>
                      <a:r>
                        <a:rPr sz="1300" b="0" i="0">
                          <a:solidFill>
                            <a:srgbClr val="1A1A1A"/>
                          </a:solidFill>
                          <a:latin typeface="Calibri"/>
                        </a:rPr>
                        <a:t>Inflated revenue &amp; cash (~₹7000 cr fake assets); India's largest accounting fraud</a:t>
                      </a:r>
                    </a:p>
                  </a:txBody>
                  <a:tcPr marL="54864" marR="54864" marT="27432" marB="27432" anchor="ctr">
                    <a:solidFill>
                      <a:srgbClr val="FFFFFF"/>
                    </a:solidFill>
                  </a:tcPr>
                </a:tc>
                <a:tc>
                  <a:txBody>
                    <a:bodyPr wrap="square"/>
                    <a:lstStyle/>
                    <a:p>
                      <a:r>
                        <a:rPr sz="1300" b="0" i="0">
                          <a:solidFill>
                            <a:srgbClr val="1A1A1A"/>
                          </a:solidFill>
                          <a:latin typeface="Calibri"/>
                        </a:rPr>
                        <a:t>2009 · Ramalinga Raju</a:t>
                      </a:r>
                    </a:p>
                  </a:txBody>
                  <a:tcPr marL="54864" marR="54864" marT="27432" marB="27432" anchor="ctr">
                    <a:solidFill>
                      <a:srgbClr val="FFFFFF"/>
                    </a:solidFill>
                  </a:tcPr>
                </a:tc>
              </a:tr>
              <a:tr h="518160">
                <a:tc>
                  <a:txBody>
                    <a:bodyPr wrap="square"/>
                    <a:lstStyle/>
                    <a:p>
                      <a:r>
                        <a:rPr sz="1300" b="1" i="0">
                          <a:solidFill>
                            <a:srgbClr val="1A1A1A"/>
                          </a:solidFill>
                          <a:latin typeface="Calibri"/>
                        </a:rPr>
                        <a:t>Harshad Mehta</a:t>
                      </a:r>
                    </a:p>
                  </a:txBody>
                  <a:tcPr marL="54864" marR="54864" marT="27432" marB="27432" anchor="ctr">
                    <a:solidFill>
                      <a:srgbClr val="E7EDF5"/>
                    </a:solidFill>
                  </a:tcPr>
                </a:tc>
                <a:tc>
                  <a:txBody>
                    <a:bodyPr wrap="square"/>
                    <a:lstStyle/>
                    <a:p>
                      <a:r>
                        <a:rPr sz="1300" b="0" i="0">
                          <a:solidFill>
                            <a:srgbClr val="1A1A1A"/>
                          </a:solidFill>
                          <a:latin typeface="Calibri"/>
                        </a:rPr>
                        <a:t>Stock market scam; illegal trading</a:t>
                      </a:r>
                    </a:p>
                  </a:txBody>
                  <a:tcPr marL="54864" marR="54864" marT="27432" marB="27432" anchor="ctr">
                    <a:solidFill>
                      <a:srgbClr val="E7EDF5"/>
                    </a:solidFill>
                  </a:tcPr>
                </a:tc>
                <a:tc>
                  <a:txBody>
                    <a:bodyPr wrap="square"/>
                    <a:lstStyle/>
                    <a:p>
                      <a:r>
                        <a:rPr sz="1300" b="0" i="0">
                          <a:solidFill>
                            <a:srgbClr val="1A1A1A"/>
                          </a:solidFill>
                          <a:latin typeface="Calibri"/>
                        </a:rPr>
                        <a:t>1992</a:t>
                      </a:r>
                    </a:p>
                  </a:txBody>
                  <a:tcPr marL="54864" marR="54864" marT="27432" marB="27432" anchor="ctr">
                    <a:solidFill>
                      <a:srgbClr val="E7EDF5"/>
                    </a:solidFill>
                  </a:tcPr>
                </a:tc>
              </a:tr>
              <a:tr h="518160">
                <a:tc>
                  <a:txBody>
                    <a:bodyPr wrap="square"/>
                    <a:lstStyle/>
                    <a:p>
                      <a:r>
                        <a:rPr sz="1300" b="1" i="0">
                          <a:solidFill>
                            <a:srgbClr val="1A1A1A"/>
                          </a:solidFill>
                          <a:latin typeface="Calibri"/>
                        </a:rPr>
                        <a:t>PNB fraud</a:t>
                      </a:r>
                    </a:p>
                  </a:txBody>
                  <a:tcPr marL="54864" marR="54864" marT="27432" marB="27432" anchor="ctr">
                    <a:solidFill>
                      <a:srgbClr val="FFFFFF"/>
                    </a:solidFill>
                  </a:tcPr>
                </a:tc>
                <a:tc>
                  <a:txBody>
                    <a:bodyPr wrap="square"/>
                    <a:lstStyle/>
                    <a:p>
                      <a:r>
                        <a:rPr sz="1300" b="0" i="0">
                          <a:solidFill>
                            <a:srgbClr val="1A1A1A"/>
                          </a:solidFill>
                          <a:latin typeface="Calibri"/>
                        </a:rPr>
                        <a:t>Fraudulent LoUs via SWIFT for overseas loans</a:t>
                      </a:r>
                    </a:p>
                  </a:txBody>
                  <a:tcPr marL="54864" marR="54864" marT="27432" marB="27432" anchor="ctr">
                    <a:solidFill>
                      <a:srgbClr val="FFFFFF"/>
                    </a:solidFill>
                  </a:tcPr>
                </a:tc>
                <a:tc>
                  <a:txBody>
                    <a:bodyPr wrap="square"/>
                    <a:lstStyle/>
                    <a:p>
                      <a:r>
                        <a:rPr sz="1300" b="0" i="0">
                          <a:solidFill>
                            <a:srgbClr val="1A1A1A"/>
                          </a:solidFill>
                          <a:latin typeface="Calibri"/>
                        </a:rPr>
                        <a:t>2018 · Nirav Modi, Mehul Choksi</a:t>
                      </a:r>
                    </a:p>
                  </a:txBody>
                  <a:tcPr marL="54864" marR="54864" marT="27432" marB="27432" anchor="ctr">
                    <a:solidFill>
                      <a:srgbClr val="FFFFFF"/>
                    </a:solidFill>
                  </a:tcPr>
                </a:tc>
              </a:tr>
              <a:tr h="518160">
                <a:tc>
                  <a:txBody>
                    <a:bodyPr wrap="square"/>
                    <a:lstStyle/>
                    <a:p>
                      <a:r>
                        <a:rPr sz="1300" b="1" i="0">
                          <a:solidFill>
                            <a:srgbClr val="1A1A1A"/>
                          </a:solidFill>
                          <a:latin typeface="Calibri"/>
                        </a:rPr>
                        <a:t>ABG Shipyard</a:t>
                      </a:r>
                    </a:p>
                  </a:txBody>
                  <a:tcPr marL="54864" marR="54864" marT="27432" marB="27432" anchor="ctr">
                    <a:solidFill>
                      <a:srgbClr val="E7EDF5"/>
                    </a:solidFill>
                  </a:tcPr>
                </a:tc>
                <a:tc>
                  <a:txBody>
                    <a:bodyPr wrap="square"/>
                    <a:lstStyle/>
                    <a:p>
                      <a:r>
                        <a:rPr sz="1300" b="0" i="0">
                          <a:solidFill>
                            <a:srgbClr val="1A1A1A"/>
                          </a:solidFill>
                          <a:latin typeface="Calibri"/>
                        </a:rPr>
                        <a:t>Cheated 28-bank consortium; diverted funds</a:t>
                      </a:r>
                    </a:p>
                  </a:txBody>
                  <a:tcPr marL="54864" marR="54864" marT="27432" marB="27432" anchor="ctr">
                    <a:solidFill>
                      <a:srgbClr val="E7EDF5"/>
                    </a:solidFill>
                  </a:tcPr>
                </a:tc>
                <a:tc>
                  <a:txBody>
                    <a:bodyPr wrap="square"/>
                    <a:lstStyle/>
                    <a:p>
                      <a:r>
                        <a:rPr sz="1300" b="0" i="0">
                          <a:solidFill>
                            <a:srgbClr val="1A1A1A"/>
                          </a:solidFill>
                          <a:latin typeface="Calibri"/>
                        </a:rPr>
                        <a:t>2017</a:t>
                      </a:r>
                    </a:p>
                  </a:txBody>
                  <a:tcPr marL="54864" marR="54864" marT="27432" marB="27432" anchor="ctr">
                    <a:solidFill>
                      <a:srgbClr val="E7EDF5"/>
                    </a:solidFill>
                  </a:tcPr>
                </a:tc>
              </a:tr>
              <a:tr h="518160">
                <a:tc>
                  <a:txBody>
                    <a:bodyPr wrap="square"/>
                    <a:lstStyle/>
                    <a:p>
                      <a:r>
                        <a:rPr sz="1300" b="1" i="0">
                          <a:solidFill>
                            <a:srgbClr val="1A1A1A"/>
                          </a:solidFill>
                          <a:latin typeface="Calibri"/>
                        </a:rPr>
                        <a:t>Kingfisher</a:t>
                      </a:r>
                    </a:p>
                  </a:txBody>
                  <a:tcPr marL="54864" marR="54864" marT="27432" marB="27432" anchor="ctr">
                    <a:solidFill>
                      <a:srgbClr val="FFFFFF"/>
                    </a:solidFill>
                  </a:tcPr>
                </a:tc>
                <a:tc>
                  <a:txBody>
                    <a:bodyPr wrap="square"/>
                    <a:lstStyle/>
                    <a:p>
                      <a:r>
                        <a:rPr sz="1300" b="0" i="0">
                          <a:solidFill>
                            <a:srgbClr val="1A1A1A"/>
                          </a:solidFill>
                          <a:latin typeface="Calibri"/>
                        </a:rPr>
                        <a:t>Financial fraud/mismanagement; collapse with huge debts</a:t>
                      </a:r>
                    </a:p>
                  </a:txBody>
                  <a:tcPr marL="54864" marR="54864" marT="27432" marB="27432" anchor="ctr">
                    <a:solidFill>
                      <a:srgbClr val="FFFFFF"/>
                    </a:solidFill>
                  </a:tcPr>
                </a:tc>
                <a:tc>
                  <a:txBody>
                    <a:bodyPr wrap="square"/>
                    <a:lstStyle/>
                    <a:p>
                      <a:r>
                        <a:rPr sz="1300" b="0" i="0">
                          <a:solidFill>
                            <a:srgbClr val="1A1A1A"/>
                          </a:solidFill>
                          <a:latin typeface="Calibri"/>
                        </a:rPr>
                        <a:t>2010–16 · Vijay Mallya</a:t>
                      </a:r>
                    </a:p>
                  </a:txBody>
                  <a:tcPr marL="54864" marR="54864" marT="27432" marB="27432" anchor="ctr">
                    <a:solidFill>
                      <a:srgbClr val="FFFFFF"/>
                    </a:solidFill>
                  </a:tcPr>
                </a:tc>
              </a:tr>
            </a:tbl>
          </a:graphicData>
        </a:graphic>
      </p:graphicFrame>
      <p:sp>
        <p:nvSpPr>
          <p:cNvPr id="18" name="Rounded Rectangle 17"/>
          <p:cNvSpPr/>
          <p:nvPr/>
        </p:nvSpPr>
        <p:spPr>
          <a:xfrm>
            <a:off x="4251960" y="4297680"/>
            <a:ext cx="7680960" cy="2240280"/>
          </a:xfrm>
          <a:prstGeom prst="roundRect">
            <a:avLst>
              <a:gd name="adj" fmla="val 6000"/>
            </a:avLst>
          </a:prstGeom>
          <a:solidFill>
            <a:srgbClr val="FFFFFF"/>
          </a:solidFill>
          <a:ln w="19050">
            <a:solidFill>
              <a:srgbClr val="95A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251960" y="4297680"/>
            <a:ext cx="7680960" cy="457200"/>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51960" y="4617720"/>
            <a:ext cx="7680960" cy="137160"/>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43400" y="4297680"/>
            <a:ext cx="7498080" cy="457200"/>
          </a:xfrm>
          <a:prstGeom prst="rect">
            <a:avLst/>
          </a:prstGeom>
          <a:noFill/>
        </p:spPr>
        <p:txBody>
          <a:bodyPr wrap="square" anchor="ctr" lIns="45720" rIns="45720" tIns="18288" bIns="18288"/>
          <a:lstStyle/>
          <a:p>
            <a:pPr algn="l"/>
            <a:r>
              <a:rPr sz="1400" b="1" i="0">
                <a:solidFill>
                  <a:srgbClr val="FFFFFF"/>
                </a:solidFill>
                <a:latin typeface="Calibri"/>
              </a:rPr>
              <a:t>OB in Action: Bank of Baroda 'bob World' app scam (p. 17), a GREAT exam example</a:t>
            </a:r>
          </a:p>
        </p:txBody>
      </p:sp>
      <p:sp>
        <p:nvSpPr>
          <p:cNvPr id="22" name="TextBox 21"/>
          <p:cNvSpPr txBox="1"/>
          <p:nvPr/>
        </p:nvSpPr>
        <p:spPr>
          <a:xfrm>
            <a:off x="4325112" y="4809744"/>
            <a:ext cx="7534656" cy="1691640"/>
          </a:xfrm>
          <a:prstGeom prst="rect">
            <a:avLst/>
          </a:prstGeom>
          <a:noFill/>
        </p:spPr>
        <p:txBody>
          <a:bodyPr wrap="square" anchor="t" lIns="54864" rIns="54864" tIns="27432" bIns="27432"/>
          <a:lstStyle/>
          <a:p>
            <a:pPr>
              <a:spcAft>
                <a:spcPts val="300"/>
              </a:spcAft>
            </a:pPr>
            <a:r>
              <a:rPr sz="1500" b="1" i="0">
                <a:solidFill>
                  <a:srgbClr val="1A1A1A"/>
                </a:solidFill>
                <a:latin typeface="Calibri"/>
              </a:rPr>
              <a:t>• </a:t>
            </a:r>
            <a:r>
              <a:rPr sz="1500" b="0" i="0">
                <a:solidFill>
                  <a:srgbClr val="1A1A1A"/>
                </a:solidFill>
                <a:latin typeface="Calibri"/>
              </a:rPr>
              <a:t>Bhopal-zone staff told to report at 7 a.m. with </a:t>
            </a:r>
            <a:r>
              <a:rPr sz="1500" b="1" i="0">
                <a:solidFill>
                  <a:srgbClr val="1A1A1A"/>
                </a:solidFill>
                <a:latin typeface="Calibri"/>
              </a:rPr>
              <a:t>aggressive enrolment targets</a:t>
            </a:r>
            <a:r>
              <a:rPr sz="1500" b="0" i="0">
                <a:solidFill>
                  <a:srgbClr val="1A1A1A"/>
                </a:solidFill>
                <a:latin typeface="Calibri"/>
              </a:rPr>
              <a:t>; staff linked customer accounts to unrelated mobile numbers to hit quotas</a:t>
            </a:r>
          </a:p>
          <a:p>
            <a:pPr>
              <a:spcAft>
                <a:spcPts val="300"/>
              </a:spcAft>
            </a:pPr>
            <a:r>
              <a:rPr sz="1500" b="1" i="0">
                <a:solidFill>
                  <a:srgbClr val="1A1A1A"/>
                </a:solidFill>
                <a:latin typeface="Calibri"/>
              </a:rPr>
              <a:t>• </a:t>
            </a:r>
            <a:r>
              <a:rPr sz="1500" b="0" i="0">
                <a:solidFill>
                  <a:srgbClr val="1A1A1A"/>
                </a:solidFill>
                <a:latin typeface="Calibri"/>
              </a:rPr>
              <a:t>RBI (Oct 2023) halted new onboarding → reputational damage</a:t>
            </a:r>
          </a:p>
          <a:p>
            <a:pPr>
              <a:spcAft>
                <a:spcPts val="300"/>
              </a:spcAft>
            </a:pPr>
            <a:r>
              <a:rPr sz="1500" b="1" i="0">
                <a:solidFill>
                  <a:srgbClr val="1A1A1A"/>
                </a:solidFill>
                <a:latin typeface="Calibri"/>
              </a:rPr>
              <a:t>• </a:t>
            </a:r>
            <a:r>
              <a:rPr sz="1500" b="1" i="0">
                <a:solidFill>
                  <a:srgbClr val="1A1A1A"/>
                </a:solidFill>
                <a:latin typeface="Calibri"/>
              </a:rPr>
              <a:t>OB lesson</a:t>
            </a:r>
            <a:r>
              <a:rPr sz="1500" b="0" i="0">
                <a:solidFill>
                  <a:srgbClr val="1A1A1A"/>
                </a:solidFill>
                <a:latin typeface="Calibri"/>
              </a:rPr>
              <a:t>: ill-conceived goals + pressure from supervisors + reward systems → unethical behaviour (links to goal-setting risks, Ch 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600" b="1" i="0">
                <a:solidFill>
                  <a:srgbClr val="FFFFFF"/>
                </a:solidFill>
                <a:latin typeface="Calibri"/>
              </a:rPr>
              <a:t>Causes of unethical behaviour &amp; what YOU can do about it</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C4D2E6"/>
                </a:solidFill>
                <a:latin typeface="Calibri"/>
              </a:rPr>
              <a:t>MODULE 1 · INTRO, ETHICS &amp; PROBLEM SOLVING</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Ch 1 Table 1.2 p. 18; p. 20</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10</a:t>
            </a:r>
          </a:p>
        </p:txBody>
      </p:sp>
      <p:graphicFrame>
        <p:nvGraphicFramePr>
          <p:cNvPr id="7" name="Table 6"/>
          <p:cNvGraphicFramePr>
            <a:graphicFrameLocks noGrp="1"/>
          </p:cNvGraphicFramePr>
          <p:nvPr/>
        </p:nvGraphicFramePr>
        <p:xfrm>
          <a:off x="274320" y="1051560"/>
          <a:ext cx="8046720" cy="4206240"/>
        </p:xfrm>
        <a:graphic>
          <a:graphicData uri="http://schemas.openxmlformats.org/drawingml/2006/table">
            <a:tbl>
              <a:tblPr firstRow="1" bandRow="1">
                <a:tableStyleId>{5C22544A-7EE6-4342-B048-85BDC9FD1C3A}</a:tableStyleId>
              </a:tblPr>
              <a:tblGrid>
                <a:gridCol w="1698752"/>
                <a:gridCol w="2235200"/>
                <a:gridCol w="1966976"/>
                <a:gridCol w="2145792"/>
              </a:tblGrid>
              <a:tr h="701040">
                <a:tc>
                  <a:txBody>
                    <a:bodyPr wrap="square"/>
                    <a:lstStyle/>
                    <a:p>
                      <a:r>
                        <a:rPr sz="1300" b="1" i="0">
                          <a:solidFill>
                            <a:srgbClr val="FFFFFF"/>
                          </a:solidFill>
                          <a:latin typeface="Calibri"/>
                        </a:rPr>
                        <a:t>Cause (Bazerman &amp; Tenbrunsel)</a:t>
                      </a:r>
                    </a:p>
                  </a:txBody>
                  <a:tcPr marL="54864" marR="54864" marT="27432" marB="27432" anchor="ctr">
                    <a:solidFill>
                      <a:srgbClr val="154C9E"/>
                    </a:solidFill>
                  </a:tcPr>
                </a:tc>
                <a:tc>
                  <a:txBody>
                    <a:bodyPr wrap="square"/>
                    <a:lstStyle/>
                    <a:p>
                      <a:r>
                        <a:rPr sz="1300" b="1" i="0">
                          <a:solidFill>
                            <a:srgbClr val="FFFFFF"/>
                          </a:solidFill>
                          <a:latin typeface="Calibri"/>
                        </a:rPr>
                        <a:t>What it means</a:t>
                      </a:r>
                    </a:p>
                  </a:txBody>
                  <a:tcPr marL="54864" marR="54864" marT="27432" marB="27432" anchor="ctr">
                    <a:solidFill>
                      <a:srgbClr val="154C9E"/>
                    </a:solidFill>
                  </a:tcPr>
                </a:tc>
                <a:tc>
                  <a:txBody>
                    <a:bodyPr wrap="square"/>
                    <a:lstStyle/>
                    <a:p>
                      <a:r>
                        <a:rPr sz="1300" b="1" i="0">
                          <a:solidFill>
                            <a:srgbClr val="FFFFFF"/>
                          </a:solidFill>
                          <a:latin typeface="Calibri"/>
                        </a:rPr>
                        <a:t>Example</a:t>
                      </a:r>
                    </a:p>
                  </a:txBody>
                  <a:tcPr marL="54864" marR="54864" marT="27432" marB="27432" anchor="ctr">
                    <a:solidFill>
                      <a:srgbClr val="154C9E"/>
                    </a:solidFill>
                  </a:tcPr>
                </a:tc>
                <a:tc>
                  <a:txBody>
                    <a:bodyPr wrap="square"/>
                    <a:lstStyle/>
                    <a:p>
                      <a:r>
                        <a:rPr sz="1300" b="1" i="0">
                          <a:solidFill>
                            <a:srgbClr val="FFFFFF"/>
                          </a:solidFill>
                          <a:latin typeface="Calibri"/>
                        </a:rPr>
                        <a:t>Remedy</a:t>
                      </a:r>
                    </a:p>
                  </a:txBody>
                  <a:tcPr marL="54864" marR="54864" marT="27432" marB="27432" anchor="ctr">
                    <a:solidFill>
                      <a:srgbClr val="154C9E"/>
                    </a:solidFill>
                  </a:tcPr>
                </a:tc>
              </a:tr>
              <a:tr h="701040">
                <a:tc>
                  <a:txBody>
                    <a:bodyPr wrap="square"/>
                    <a:lstStyle/>
                    <a:p>
                      <a:r>
                        <a:rPr sz="1300" b="1" i="0">
                          <a:solidFill>
                            <a:srgbClr val="1A1A1A"/>
                          </a:solidFill>
                          <a:latin typeface="Calibri"/>
                        </a:rPr>
                        <a:t>Ill-conceived goals</a:t>
                      </a:r>
                    </a:p>
                  </a:txBody>
                  <a:tcPr marL="54864" marR="54864" marT="27432" marB="27432" anchor="ctr">
                    <a:solidFill>
                      <a:srgbClr val="FFFFFF"/>
                    </a:solidFill>
                  </a:tcPr>
                </a:tc>
                <a:tc>
                  <a:txBody>
                    <a:bodyPr wrap="square"/>
                    <a:lstStyle/>
                    <a:p>
                      <a:r>
                        <a:rPr sz="1300" b="0" i="0">
                          <a:solidFill>
                            <a:srgbClr val="1A1A1A"/>
                          </a:solidFill>
                          <a:latin typeface="Calibri"/>
                        </a:rPr>
                        <a:t>Goals/incentives meant for good behaviour encourage bad</a:t>
                      </a:r>
                    </a:p>
                  </a:txBody>
                  <a:tcPr marL="54864" marR="54864" marT="27432" marB="27432" anchor="ctr">
                    <a:solidFill>
                      <a:srgbClr val="FFFFFF"/>
                    </a:solidFill>
                  </a:tcPr>
                </a:tc>
                <a:tc>
                  <a:txBody>
                    <a:bodyPr wrap="square"/>
                    <a:lstStyle/>
                    <a:p>
                      <a:r>
                        <a:rPr sz="1300" b="0" i="0">
                          <a:solidFill>
                            <a:srgbClr val="1A1A1A"/>
                          </a:solidFill>
                          <a:latin typeface="Calibri"/>
                        </a:rPr>
                        <a:t>Billable-hours pressure → padding</a:t>
                      </a:r>
                    </a:p>
                  </a:txBody>
                  <a:tcPr marL="54864" marR="54864" marT="27432" marB="27432" anchor="ctr">
                    <a:solidFill>
                      <a:srgbClr val="FFFFFF"/>
                    </a:solidFill>
                  </a:tcPr>
                </a:tc>
                <a:tc>
                  <a:txBody>
                    <a:bodyPr wrap="square"/>
                    <a:lstStyle/>
                    <a:p>
                      <a:r>
                        <a:rPr sz="1300" b="0" i="0">
                          <a:solidFill>
                            <a:srgbClr val="1A1A1A"/>
                          </a:solidFill>
                          <a:latin typeface="Calibri"/>
                        </a:rPr>
                        <a:t>Brainstorm unintended consequences; reward other goals</a:t>
                      </a:r>
                    </a:p>
                  </a:txBody>
                  <a:tcPr marL="54864" marR="54864" marT="27432" marB="27432" anchor="ctr">
                    <a:solidFill>
                      <a:srgbClr val="FFFFFF"/>
                    </a:solidFill>
                  </a:tcPr>
                </a:tc>
              </a:tr>
              <a:tr h="701040">
                <a:tc>
                  <a:txBody>
                    <a:bodyPr wrap="square"/>
                    <a:lstStyle/>
                    <a:p>
                      <a:r>
                        <a:rPr sz="1300" b="1" i="0">
                          <a:solidFill>
                            <a:srgbClr val="1A1A1A"/>
                          </a:solidFill>
                          <a:latin typeface="Calibri"/>
                        </a:rPr>
                        <a:t>Motivated blindness</a:t>
                      </a:r>
                    </a:p>
                  </a:txBody>
                  <a:tcPr marL="54864" marR="54864" marT="27432" marB="27432" anchor="ctr">
                    <a:solidFill>
                      <a:srgbClr val="E7EDF5"/>
                    </a:solidFill>
                  </a:tcPr>
                </a:tc>
                <a:tc>
                  <a:txBody>
                    <a:bodyPr wrap="square"/>
                    <a:lstStyle/>
                    <a:p>
                      <a:r>
                        <a:rPr sz="1300" b="0" i="0">
                          <a:solidFill>
                            <a:srgbClr val="1A1A1A"/>
                          </a:solidFill>
                          <a:latin typeface="Calibri"/>
                        </a:rPr>
                        <a:t>Overlook others' wrongdoing when it's in our interest</a:t>
                      </a:r>
                    </a:p>
                  </a:txBody>
                  <a:tcPr marL="54864" marR="54864" marT="27432" marB="27432" anchor="ctr">
                    <a:solidFill>
                      <a:srgbClr val="E7EDF5"/>
                    </a:solidFill>
                  </a:tcPr>
                </a:tc>
                <a:tc>
                  <a:txBody>
                    <a:bodyPr wrap="square"/>
                    <a:lstStyle/>
                    <a:p>
                      <a:r>
                        <a:rPr sz="1300" b="0" i="0">
                          <a:solidFill>
                            <a:srgbClr val="1A1A1A"/>
                          </a:solidFill>
                          <a:latin typeface="Calibri"/>
                        </a:rPr>
                        <a:t>Baseball officials &amp; steroids</a:t>
                      </a:r>
                    </a:p>
                  </a:txBody>
                  <a:tcPr marL="54864" marR="54864" marT="27432" marB="27432" anchor="ctr">
                    <a:solidFill>
                      <a:srgbClr val="E7EDF5"/>
                    </a:solidFill>
                  </a:tcPr>
                </a:tc>
                <a:tc>
                  <a:txBody>
                    <a:bodyPr wrap="square"/>
                    <a:lstStyle/>
                    <a:p>
                      <a:r>
                        <a:rPr sz="1300" b="0" i="0">
                          <a:solidFill>
                            <a:srgbClr val="1A1A1A"/>
                          </a:solidFill>
                          <a:latin typeface="Calibri"/>
                        </a:rPr>
                        <a:t>Root out conflicts of interest</a:t>
                      </a:r>
                    </a:p>
                  </a:txBody>
                  <a:tcPr marL="54864" marR="54864" marT="27432" marB="27432" anchor="ctr">
                    <a:solidFill>
                      <a:srgbClr val="E7EDF5"/>
                    </a:solidFill>
                  </a:tcPr>
                </a:tc>
              </a:tr>
              <a:tr h="701040">
                <a:tc>
                  <a:txBody>
                    <a:bodyPr wrap="square"/>
                    <a:lstStyle/>
                    <a:p>
                      <a:r>
                        <a:rPr sz="1300" b="1" i="0">
                          <a:solidFill>
                            <a:srgbClr val="1A1A1A"/>
                          </a:solidFill>
                          <a:latin typeface="Calibri"/>
                        </a:rPr>
                        <a:t>Indirect blindness</a:t>
                      </a:r>
                    </a:p>
                  </a:txBody>
                  <a:tcPr marL="54864" marR="54864" marT="27432" marB="27432" anchor="ctr">
                    <a:solidFill>
                      <a:srgbClr val="FFFFFF"/>
                    </a:solidFill>
                  </a:tcPr>
                </a:tc>
                <a:tc>
                  <a:txBody>
                    <a:bodyPr wrap="square"/>
                    <a:lstStyle/>
                    <a:p>
                      <a:r>
                        <a:rPr sz="1300" b="0" i="0">
                          <a:solidFill>
                            <a:srgbClr val="1A1A1A"/>
                          </a:solidFill>
                          <a:latin typeface="Calibri"/>
                        </a:rPr>
                        <a:t>Hold others less accountable when done via third parties</a:t>
                      </a:r>
                    </a:p>
                  </a:txBody>
                  <a:tcPr marL="54864" marR="54864" marT="27432" marB="27432" anchor="ctr">
                    <a:solidFill>
                      <a:srgbClr val="FFFFFF"/>
                    </a:solidFill>
                  </a:tcPr>
                </a:tc>
                <a:tc>
                  <a:txBody>
                    <a:bodyPr wrap="square"/>
                    <a:lstStyle/>
                    <a:p>
                      <a:r>
                        <a:rPr sz="1300" b="0" i="0">
                          <a:solidFill>
                            <a:srgbClr val="1A1A1A"/>
                          </a:solidFill>
                          <a:latin typeface="Calibri"/>
                        </a:rPr>
                        <a:t>Drug firm sells rights; buyer raises price</a:t>
                      </a:r>
                    </a:p>
                  </a:txBody>
                  <a:tcPr marL="54864" marR="54864" marT="27432" marB="27432" anchor="ctr">
                    <a:solidFill>
                      <a:srgbClr val="FFFFFF"/>
                    </a:solidFill>
                  </a:tcPr>
                </a:tc>
                <a:tc>
                  <a:txBody>
                    <a:bodyPr wrap="square"/>
                    <a:lstStyle/>
                    <a:p>
                      <a:r>
                        <a:rPr sz="1300" b="0" i="0">
                          <a:solidFill>
                            <a:srgbClr val="1A1A1A"/>
                          </a:solidFill>
                          <a:latin typeface="Calibri"/>
                        </a:rPr>
                        <a:t>Own the implications of outsourced work</a:t>
                      </a:r>
                    </a:p>
                  </a:txBody>
                  <a:tcPr marL="54864" marR="54864" marT="27432" marB="27432" anchor="ctr">
                    <a:solidFill>
                      <a:srgbClr val="FFFFFF"/>
                    </a:solidFill>
                  </a:tcPr>
                </a:tc>
              </a:tr>
              <a:tr h="701040">
                <a:tc>
                  <a:txBody>
                    <a:bodyPr wrap="square"/>
                    <a:lstStyle/>
                    <a:p>
                      <a:r>
                        <a:rPr sz="1300" b="1" i="0">
                          <a:solidFill>
                            <a:srgbClr val="1A1A1A"/>
                          </a:solidFill>
                          <a:latin typeface="Calibri"/>
                        </a:rPr>
                        <a:t>Slippery slope</a:t>
                      </a:r>
                    </a:p>
                  </a:txBody>
                  <a:tcPr marL="54864" marR="54864" marT="27432" marB="27432" anchor="ctr">
                    <a:solidFill>
                      <a:srgbClr val="E7EDF5"/>
                    </a:solidFill>
                  </a:tcPr>
                </a:tc>
                <a:tc>
                  <a:txBody>
                    <a:bodyPr wrap="square"/>
                    <a:lstStyle/>
                    <a:p>
                      <a:r>
                        <a:rPr sz="1300" b="0" i="0">
                          <a:solidFill>
                            <a:srgbClr val="1A1A1A"/>
                          </a:solidFill>
                          <a:latin typeface="Calibri"/>
                        </a:rPr>
                        <a:t>Miss unethical behaviour that develops gradually</a:t>
                      </a:r>
                    </a:p>
                  </a:txBody>
                  <a:tcPr marL="54864" marR="54864" marT="27432" marB="27432" anchor="ctr">
                    <a:solidFill>
                      <a:srgbClr val="E7EDF5"/>
                    </a:solidFill>
                  </a:tcPr>
                </a:tc>
                <a:tc>
                  <a:txBody>
                    <a:bodyPr wrap="square"/>
                    <a:lstStyle/>
                    <a:p>
                      <a:r>
                        <a:rPr sz="1300" b="0" i="0">
                          <a:solidFill>
                            <a:srgbClr val="1A1A1A"/>
                          </a:solidFill>
                          <a:latin typeface="Calibri"/>
                        </a:rPr>
                        <a:t>Auditors accept slowly worsening statements</a:t>
                      </a:r>
                    </a:p>
                  </a:txBody>
                  <a:tcPr marL="54864" marR="54864" marT="27432" marB="27432" anchor="ctr">
                    <a:solidFill>
                      <a:srgbClr val="E7EDF5"/>
                    </a:solidFill>
                  </a:tcPr>
                </a:tc>
                <a:tc>
                  <a:txBody>
                    <a:bodyPr wrap="square"/>
                    <a:lstStyle/>
                    <a:p>
                      <a:r>
                        <a:rPr sz="1300" b="0" i="0">
                          <a:solidFill>
                            <a:srgbClr val="1A1A1A"/>
                          </a:solidFill>
                          <a:latin typeface="Calibri"/>
                        </a:rPr>
                        <a:t>Act on even trivial infractions immediately</a:t>
                      </a:r>
                    </a:p>
                  </a:txBody>
                  <a:tcPr marL="54864" marR="54864" marT="27432" marB="27432" anchor="ctr">
                    <a:solidFill>
                      <a:srgbClr val="E7EDF5"/>
                    </a:solidFill>
                  </a:tcPr>
                </a:tc>
              </a:tr>
              <a:tr h="701040">
                <a:tc>
                  <a:txBody>
                    <a:bodyPr wrap="square"/>
                    <a:lstStyle/>
                    <a:p>
                      <a:r>
                        <a:rPr sz="1300" b="1" i="0">
                          <a:solidFill>
                            <a:srgbClr val="1A1A1A"/>
                          </a:solidFill>
                          <a:latin typeface="Calibri"/>
                        </a:rPr>
                        <a:t>Overvaluing outcomes</a:t>
                      </a:r>
                    </a:p>
                  </a:txBody>
                  <a:tcPr marL="54864" marR="54864" marT="27432" marB="27432" anchor="ctr">
                    <a:solidFill>
                      <a:srgbClr val="FFFFFF"/>
                    </a:solidFill>
                  </a:tcPr>
                </a:tc>
                <a:tc>
                  <a:txBody>
                    <a:bodyPr wrap="square"/>
                    <a:lstStyle/>
                    <a:p>
                      <a:r>
                        <a:rPr sz="1300" b="0" i="0">
                          <a:solidFill>
                            <a:srgbClr val="1A1A1A"/>
                          </a:solidFill>
                          <a:latin typeface="Calibri"/>
                        </a:rPr>
                        <a:t>Excuse unethical acts if outcome is good</a:t>
                      </a:r>
                    </a:p>
                  </a:txBody>
                  <a:tcPr marL="54864" marR="54864" marT="27432" marB="27432" anchor="ctr">
                    <a:solidFill>
                      <a:srgbClr val="FFFFFF"/>
                    </a:solidFill>
                  </a:tcPr>
                </a:tc>
                <a:tc>
                  <a:txBody>
                    <a:bodyPr wrap="square"/>
                    <a:lstStyle/>
                    <a:p>
                      <a:r>
                        <a:rPr sz="1300" b="0" i="0">
                          <a:solidFill>
                            <a:srgbClr val="1A1A1A"/>
                          </a:solidFill>
                          <a:latin typeface="Calibri"/>
                        </a:rPr>
                        <a:t>Fraudulent trial that 'saves lives'</a:t>
                      </a:r>
                    </a:p>
                  </a:txBody>
                  <a:tcPr marL="54864" marR="54864" marT="27432" marB="27432" anchor="ctr">
                    <a:solidFill>
                      <a:srgbClr val="FFFFFF"/>
                    </a:solidFill>
                  </a:tcPr>
                </a:tc>
                <a:tc>
                  <a:txBody>
                    <a:bodyPr wrap="square"/>
                    <a:lstStyle/>
                    <a:p>
                      <a:r>
                        <a:rPr sz="1300" b="0" i="0">
                          <a:solidFill>
                            <a:srgbClr val="1A1A1A"/>
                          </a:solidFill>
                          <a:latin typeface="Calibri"/>
                        </a:rPr>
                        <a:t>Reward sound processes, not just outcomes</a:t>
                      </a:r>
                    </a:p>
                  </a:txBody>
                  <a:tcPr marL="54864" marR="54864" marT="27432" marB="27432" anchor="ctr">
                    <a:solidFill>
                      <a:srgbClr val="FFFFFF"/>
                    </a:solidFill>
                  </a:tcPr>
                </a:tc>
              </a:tr>
            </a:tbl>
          </a:graphicData>
        </a:graphic>
      </p:graphicFrame>
      <p:sp>
        <p:nvSpPr>
          <p:cNvPr id="8" name="Rounded Rectangle 7"/>
          <p:cNvSpPr/>
          <p:nvPr/>
        </p:nvSpPr>
        <p:spPr>
          <a:xfrm>
            <a:off x="8458200" y="1051560"/>
            <a:ext cx="3474720" cy="4206240"/>
          </a:xfrm>
          <a:prstGeom prst="roundRect">
            <a:avLst>
              <a:gd name="adj" fmla="val 6000"/>
            </a:avLst>
          </a:prstGeom>
          <a:solidFill>
            <a:srgbClr val="FFFFFF"/>
          </a:solidFill>
          <a:ln w="19050">
            <a:solidFill>
              <a:srgbClr val="95A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458200" y="1051560"/>
            <a:ext cx="3474720" cy="457200"/>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458200" y="1371600"/>
            <a:ext cx="3474720" cy="137160"/>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49640" y="1051560"/>
            <a:ext cx="3291839" cy="457200"/>
          </a:xfrm>
          <a:prstGeom prst="rect">
            <a:avLst/>
          </a:prstGeom>
          <a:noFill/>
        </p:spPr>
        <p:txBody>
          <a:bodyPr wrap="square" anchor="ctr" lIns="45720" rIns="45720" tIns="18288" bIns="18288"/>
          <a:lstStyle/>
          <a:p>
            <a:pPr algn="l"/>
            <a:r>
              <a:rPr sz="1900" b="1" i="0">
                <a:solidFill>
                  <a:srgbClr val="FFFFFF"/>
                </a:solidFill>
                <a:latin typeface="Calibri"/>
              </a:rPr>
              <a:t>Other causes (p. 18)</a:t>
            </a:r>
          </a:p>
        </p:txBody>
      </p:sp>
      <p:sp>
        <p:nvSpPr>
          <p:cNvPr id="12" name="TextBox 11"/>
          <p:cNvSpPr txBox="1"/>
          <p:nvPr/>
        </p:nvSpPr>
        <p:spPr>
          <a:xfrm>
            <a:off x="8531352" y="1563624"/>
            <a:ext cx="3328415" cy="3657599"/>
          </a:xfrm>
          <a:prstGeom prst="rect">
            <a:avLst/>
          </a:prstGeom>
          <a:noFill/>
        </p:spPr>
        <p:txBody>
          <a:bodyPr wrap="square" anchor="t" lIns="54864" rIns="54864" tIns="27432" bIns="27432"/>
          <a:lstStyle/>
          <a:p>
            <a:pPr>
              <a:spcAft>
                <a:spcPts val="300"/>
              </a:spcAft>
            </a:pPr>
            <a:r>
              <a:rPr sz="1800" b="1" i="0">
                <a:solidFill>
                  <a:srgbClr val="1A1A1A"/>
                </a:solidFill>
                <a:latin typeface="Calibri"/>
              </a:rPr>
              <a:t>• </a:t>
            </a:r>
            <a:r>
              <a:rPr sz="1800" b="0" i="0">
                <a:solidFill>
                  <a:srgbClr val="1A1A1A"/>
                </a:solidFill>
                <a:latin typeface="Calibri"/>
              </a:rPr>
              <a:t>Personal motivation to perform ('I must be No. 1')</a:t>
            </a:r>
          </a:p>
          <a:p>
            <a:pPr>
              <a:spcAft>
                <a:spcPts val="300"/>
              </a:spcAft>
            </a:pPr>
            <a:r>
              <a:rPr sz="1800" b="1" i="0">
                <a:solidFill>
                  <a:srgbClr val="1A1A1A"/>
                </a:solidFill>
                <a:latin typeface="Calibri"/>
              </a:rPr>
              <a:t>• </a:t>
            </a:r>
            <a:r>
              <a:rPr sz="1800" b="0" i="0">
                <a:solidFill>
                  <a:srgbClr val="1A1A1A"/>
                </a:solidFill>
                <a:latin typeface="Calibri"/>
              </a:rPr>
              <a:t>Supervisor pressure + unrealistic goals + threats</a:t>
            </a:r>
          </a:p>
          <a:p>
            <a:pPr>
              <a:spcAft>
                <a:spcPts val="300"/>
              </a:spcAft>
            </a:pPr>
            <a:r>
              <a:rPr sz="1800" b="1" i="0">
                <a:solidFill>
                  <a:srgbClr val="1A1A1A"/>
                </a:solidFill>
                <a:latin typeface="Calibri"/>
              </a:rPr>
              <a:t>• </a:t>
            </a:r>
            <a:r>
              <a:rPr sz="1800" b="0" i="0">
                <a:solidFill>
                  <a:srgbClr val="1A1A1A"/>
                </a:solidFill>
                <a:latin typeface="Calibri"/>
              </a:rPr>
              <a:t>Reward systems that honour unethical behaviour</a:t>
            </a:r>
          </a:p>
          <a:p>
            <a:pPr>
              <a:spcAft>
                <a:spcPts val="300"/>
              </a:spcAft>
            </a:pPr>
            <a:r>
              <a:rPr sz="1800" b="1" i="0">
                <a:solidFill>
                  <a:srgbClr val="1A1A1A"/>
                </a:solidFill>
                <a:latin typeface="Calibri"/>
              </a:rPr>
              <a:t>• </a:t>
            </a:r>
            <a:r>
              <a:rPr sz="1800" b="0" i="0">
                <a:solidFill>
                  <a:srgbClr val="1A1A1A"/>
                </a:solidFill>
                <a:latin typeface="Calibri"/>
              </a:rPr>
              <a:t>Perceived little/no consequences</a:t>
            </a:r>
          </a:p>
          <a:p>
            <a:pPr>
              <a:spcAft>
                <a:spcPts val="300"/>
              </a:spcAft>
            </a:pPr>
            <a:r>
              <a:rPr sz="1800" b="1" i="0">
                <a:solidFill>
                  <a:srgbClr val="1A1A1A"/>
                </a:solidFill>
                <a:latin typeface="Calibri"/>
              </a:rPr>
              <a:t>• </a:t>
            </a:r>
            <a:r>
              <a:rPr sz="1800" b="0" i="0">
                <a:solidFill>
                  <a:srgbClr val="1A1A1A"/>
                </a:solidFill>
                <a:latin typeface="Calibri"/>
              </a:rPr>
              <a:t>Students: </a:t>
            </a:r>
            <a:r>
              <a:rPr sz="1800" b="1" i="0">
                <a:solidFill>
                  <a:srgbClr val="1A1A1A"/>
                </a:solidFill>
                <a:latin typeface="Calibri"/>
              </a:rPr>
              <a:t>peer behaviour</a:t>
            </a:r>
            <a:r>
              <a:rPr sz="1800" b="0" i="0">
                <a:solidFill>
                  <a:srgbClr val="1A1A1A"/>
                </a:solidFill>
                <a:latin typeface="Calibri"/>
              </a:rPr>
              <a:t> = strongest predictor of cheating</a:t>
            </a:r>
          </a:p>
        </p:txBody>
      </p:sp>
      <p:sp>
        <p:nvSpPr>
          <p:cNvPr id="13" name="TextBox 12"/>
          <p:cNvSpPr txBox="1"/>
          <p:nvPr/>
        </p:nvSpPr>
        <p:spPr>
          <a:xfrm>
            <a:off x="274320" y="5349240"/>
            <a:ext cx="7772400" cy="365760"/>
          </a:xfrm>
          <a:prstGeom prst="rect">
            <a:avLst/>
          </a:prstGeom>
          <a:noFill/>
        </p:spPr>
        <p:txBody>
          <a:bodyPr wrap="square" anchor="t" lIns="45720" rIns="45720" tIns="18288" bIns="18288"/>
          <a:lstStyle/>
          <a:p>
            <a:pPr algn="l"/>
            <a:r>
              <a:rPr sz="1500" b="1" i="0">
                <a:solidFill>
                  <a:srgbClr val="154C9E"/>
                </a:solidFill>
                <a:latin typeface="Calibri"/>
              </a:rPr>
              <a:t>What you can do about unethical conduct (p. 20):</a:t>
            </a:r>
          </a:p>
        </p:txBody>
      </p:sp>
      <p:sp>
        <p:nvSpPr>
          <p:cNvPr id="14" name="Rounded Rectangle 13"/>
          <p:cNvSpPr/>
          <p:nvPr/>
        </p:nvSpPr>
        <p:spPr>
          <a:xfrm>
            <a:off x="274320" y="5715000"/>
            <a:ext cx="1874519" cy="822960"/>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i="0">
                <a:solidFill>
                  <a:srgbClr val="FFFFFF"/>
                </a:solidFill>
                <a:latin typeface="Calibri"/>
              </a:rPr>
              <a:t>Treat it as business</a:t>
            </a:r>
          </a:p>
        </p:txBody>
      </p:sp>
      <p:sp>
        <p:nvSpPr>
          <p:cNvPr id="15" name="Rounded Rectangle 14"/>
          <p:cNvSpPr/>
          <p:nvPr/>
        </p:nvSpPr>
        <p:spPr>
          <a:xfrm>
            <a:off x="2221991" y="5715000"/>
            <a:ext cx="1874519" cy="822960"/>
          </a:xfrm>
          <a:prstGeom prst="roundRect">
            <a:avLst>
              <a:gd name="adj" fmla="val 6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i="0">
                <a:solidFill>
                  <a:srgbClr val="FFFFFF"/>
                </a:solidFill>
                <a:latin typeface="Calibri"/>
              </a:rPr>
              <a:t>Accept it's part of your job</a:t>
            </a:r>
          </a:p>
        </p:txBody>
      </p:sp>
      <p:sp>
        <p:nvSpPr>
          <p:cNvPr id="16" name="Rounded Rectangle 15"/>
          <p:cNvSpPr/>
          <p:nvPr/>
        </p:nvSpPr>
        <p:spPr>
          <a:xfrm>
            <a:off x="4169663" y="5715000"/>
            <a:ext cx="1874519" cy="822960"/>
          </a:xfrm>
          <a:prstGeom prst="roundRect">
            <a:avLst>
              <a:gd name="adj" fmla="val 6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i="0">
                <a:solidFill>
                  <a:srgbClr val="FFFFFF"/>
                </a:solidFill>
                <a:latin typeface="Calibri"/>
              </a:rPr>
              <a:t>Challenge the rationale</a:t>
            </a:r>
          </a:p>
        </p:txBody>
      </p:sp>
      <p:sp>
        <p:nvSpPr>
          <p:cNvPr id="17" name="Rounded Rectangle 16"/>
          <p:cNvSpPr/>
          <p:nvPr/>
        </p:nvSpPr>
        <p:spPr>
          <a:xfrm>
            <a:off x="6117336" y="5715000"/>
            <a:ext cx="1874519" cy="82296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i="0">
                <a:solidFill>
                  <a:srgbClr val="FFFFFF"/>
                </a:solidFill>
                <a:latin typeface="Calibri"/>
              </a:rPr>
              <a:t>Use junior status as an asset</a:t>
            </a:r>
          </a:p>
        </p:txBody>
      </p:sp>
      <p:sp>
        <p:nvSpPr>
          <p:cNvPr id="18" name="Rounded Rectangle 17"/>
          <p:cNvSpPr/>
          <p:nvPr/>
        </p:nvSpPr>
        <p:spPr>
          <a:xfrm>
            <a:off x="8065008" y="5715000"/>
            <a:ext cx="1874519" cy="822960"/>
          </a:xfrm>
          <a:prstGeom prst="roundRect">
            <a:avLst>
              <a:gd name="adj" fmla="val 6000"/>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i="0">
                <a:solidFill>
                  <a:srgbClr val="FFFFFF"/>
                </a:solidFill>
                <a:latin typeface="Calibri"/>
              </a:rPr>
              <a:t>Explain long-term consequences</a:t>
            </a:r>
          </a:p>
        </p:txBody>
      </p:sp>
      <p:sp>
        <p:nvSpPr>
          <p:cNvPr id="19" name="Rounded Rectangle 18"/>
          <p:cNvSpPr/>
          <p:nvPr/>
        </p:nvSpPr>
        <p:spPr>
          <a:xfrm>
            <a:off x="10012680" y="5715000"/>
            <a:ext cx="1874519" cy="822960"/>
          </a:xfrm>
          <a:prstGeom prst="roundRect">
            <a:avLst>
              <a:gd name="adj" fmla="val 6000"/>
            </a:avLst>
          </a:prstGeom>
          <a:solidFill>
            <a:srgbClr val="B7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i="0">
                <a:solidFill>
                  <a:srgbClr val="FFFFFF"/>
                </a:solidFill>
                <a:latin typeface="Calibri"/>
              </a:rPr>
              <a:t>Suggest solutions, not complaints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200" b="1" i="0">
                <a:solidFill>
                  <a:srgbClr val="FFFFFF"/>
                </a:solidFill>
                <a:latin typeface="Calibri"/>
              </a:rPr>
              <a:t>1.3–1.5 Structured problem solving: the backbone of every answer</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C4D2E6"/>
                </a:solidFill>
                <a:latin typeface="Calibri"/>
              </a:rPr>
              <a:t>MODULE 1 · INTRO, ETHICS &amp; PROBLEM SOLVING</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Ch 1 pp. 21–31</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11</a:t>
            </a:r>
          </a:p>
        </p:txBody>
      </p:sp>
      <p:sp>
        <p:nvSpPr>
          <p:cNvPr id="7" name="Rounded Rectangle 6"/>
          <p:cNvSpPr/>
          <p:nvPr/>
        </p:nvSpPr>
        <p:spPr>
          <a:xfrm>
            <a:off x="274320" y="1051560"/>
            <a:ext cx="3886200" cy="3291840"/>
          </a:xfrm>
          <a:prstGeom prst="roundRect">
            <a:avLst>
              <a:gd name="adj" fmla="val 6000"/>
            </a:avLst>
          </a:prstGeom>
          <a:solidFill>
            <a:srgbClr val="FFFFFF"/>
          </a:solidFill>
          <a:ln w="19050">
            <a:solidFill>
              <a:srgbClr val="95A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74320" y="1051560"/>
            <a:ext cx="3886200" cy="457200"/>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371600"/>
            <a:ext cx="3886200" cy="137160"/>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051560"/>
            <a:ext cx="3703320" cy="457200"/>
          </a:xfrm>
          <a:prstGeom prst="rect">
            <a:avLst/>
          </a:prstGeom>
          <a:noFill/>
        </p:spPr>
        <p:txBody>
          <a:bodyPr wrap="square" anchor="ctr" lIns="45720" rIns="45720" tIns="18288" bIns="18288"/>
          <a:lstStyle/>
          <a:p>
            <a:pPr algn="l"/>
            <a:r>
              <a:rPr sz="1900" b="1" i="0">
                <a:solidFill>
                  <a:srgbClr val="FFFFFF"/>
                </a:solidFill>
                <a:latin typeface="Calibri"/>
              </a:rPr>
              <a:t>3-Step Approach (p. 21)</a:t>
            </a:r>
          </a:p>
        </p:txBody>
      </p:sp>
      <p:sp>
        <p:nvSpPr>
          <p:cNvPr id="11" name="TextBox 10"/>
          <p:cNvSpPr txBox="1"/>
          <p:nvPr/>
        </p:nvSpPr>
        <p:spPr>
          <a:xfrm>
            <a:off x="347472" y="1563624"/>
            <a:ext cx="3739896" cy="2743200"/>
          </a:xfrm>
          <a:prstGeom prst="rect">
            <a:avLst/>
          </a:prstGeom>
          <a:noFill/>
        </p:spPr>
        <p:txBody>
          <a:bodyPr wrap="square" anchor="t" lIns="54864" rIns="54864" tIns="27432" bIns="27432"/>
          <a:lstStyle/>
          <a:p>
            <a:pPr>
              <a:spcAft>
                <a:spcPts val="300"/>
              </a:spcAft>
            </a:pPr>
            <a:r>
              <a:rPr sz="1500" b="1" i="0">
                <a:solidFill>
                  <a:srgbClr val="1A1A1A"/>
                </a:solidFill>
                <a:latin typeface="Calibri"/>
              </a:rPr>
              <a:t>• </a:t>
            </a:r>
            <a:r>
              <a:rPr sz="1500" b="1" i="0">
                <a:solidFill>
                  <a:srgbClr val="1A1A1A"/>
                </a:solidFill>
                <a:latin typeface="Calibri"/>
              </a:rPr>
              <a:t>Problem</a:t>
            </a:r>
            <a:r>
              <a:rPr sz="1500" b="0" i="0">
                <a:solidFill>
                  <a:srgbClr val="1A1A1A"/>
                </a:solidFill>
                <a:latin typeface="Calibri"/>
              </a:rPr>
              <a:t> = gap between actual &amp; desired state; problem solving = systematic process to close it</a:t>
            </a:r>
          </a:p>
          <a:p>
            <a:pPr>
              <a:spcAft>
                <a:spcPts val="300"/>
              </a:spcAft>
            </a:pPr>
            <a:r>
              <a:rPr sz="1500" b="1" i="0">
                <a:solidFill>
                  <a:srgbClr val="1A1A1A"/>
                </a:solidFill>
                <a:latin typeface="Calibri"/>
              </a:rPr>
              <a:t>• </a:t>
            </a:r>
            <a:r>
              <a:rPr sz="1500" b="1" i="0">
                <a:solidFill>
                  <a:srgbClr val="1A1A1A"/>
                </a:solidFill>
                <a:latin typeface="Calibri"/>
              </a:rPr>
              <a:t>1 Define</a:t>
            </a:r>
            <a:r>
              <a:rPr sz="1500" b="0" i="0">
                <a:solidFill>
                  <a:srgbClr val="1A1A1A"/>
                </a:solidFill>
                <a:latin typeface="Calibri"/>
              </a:rPr>
              <a:t> (in terms of desired outcomes; test with 'Why is this a problem?'; Einstein: 59 min defining)</a:t>
            </a:r>
          </a:p>
          <a:p>
            <a:pPr>
              <a:spcAft>
                <a:spcPts val="300"/>
              </a:spcAft>
            </a:pPr>
            <a:r>
              <a:rPr sz="1500" b="1" i="0">
                <a:solidFill>
                  <a:srgbClr val="1A1A1A"/>
                </a:solidFill>
                <a:latin typeface="Calibri"/>
              </a:rPr>
              <a:t>• </a:t>
            </a:r>
            <a:r>
              <a:rPr sz="1500" b="1" i="0">
                <a:solidFill>
                  <a:srgbClr val="1A1A1A"/>
                </a:solidFill>
                <a:latin typeface="Calibri"/>
              </a:rPr>
              <a:t>2 Causes</a:t>
            </a:r>
            <a:r>
              <a:rPr sz="1500" b="0" i="0">
                <a:solidFill>
                  <a:srgbClr val="1A1A1A"/>
                </a:solidFill>
                <a:latin typeface="Calibri"/>
              </a:rPr>
              <a:t> via OB concepts (test: 'Why/how does this cause it?')</a:t>
            </a:r>
          </a:p>
          <a:p>
            <a:pPr>
              <a:spcAft>
                <a:spcPts val="300"/>
              </a:spcAft>
            </a:pPr>
            <a:r>
              <a:rPr sz="1500" b="1" i="0">
                <a:solidFill>
                  <a:srgbClr val="1A1A1A"/>
                </a:solidFill>
                <a:latin typeface="Calibri"/>
              </a:rPr>
              <a:t>• </a:t>
            </a:r>
            <a:r>
              <a:rPr sz="1500" b="1" i="0">
                <a:solidFill>
                  <a:srgbClr val="1A1A1A"/>
                </a:solidFill>
                <a:latin typeface="Calibri"/>
              </a:rPr>
              <a:t>3 Recommend &amp; act</a:t>
            </a:r>
            <a:r>
              <a:rPr sz="1500" b="0" i="0">
                <a:solidFill>
                  <a:srgbClr val="1A1A1A"/>
                </a:solidFill>
                <a:latin typeface="Calibri"/>
              </a:rPr>
              <a:t>: map recos onto causes</a:t>
            </a:r>
          </a:p>
        </p:txBody>
      </p:sp>
      <p:sp>
        <p:nvSpPr>
          <p:cNvPr id="12" name="Rounded Rectangle 11"/>
          <p:cNvSpPr/>
          <p:nvPr/>
        </p:nvSpPr>
        <p:spPr>
          <a:xfrm>
            <a:off x="274320" y="4480560"/>
            <a:ext cx="3886200" cy="2057400"/>
          </a:xfrm>
          <a:prstGeom prst="roundRect">
            <a:avLst>
              <a:gd name="adj" fmla="val 6000"/>
            </a:avLst>
          </a:prstGeom>
          <a:solidFill>
            <a:srgbClr val="FFFFFF"/>
          </a:solidFill>
          <a:ln w="19050">
            <a:solidFill>
              <a:srgbClr val="95A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74320" y="4480560"/>
            <a:ext cx="3886200" cy="457200"/>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4320" y="4800600"/>
            <a:ext cx="3886200" cy="137160"/>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4480560"/>
            <a:ext cx="3703320" cy="457200"/>
          </a:xfrm>
          <a:prstGeom prst="rect">
            <a:avLst/>
          </a:prstGeom>
          <a:noFill/>
        </p:spPr>
        <p:txBody>
          <a:bodyPr wrap="square" anchor="ctr" lIns="45720" rIns="45720" tIns="18288" bIns="18288"/>
          <a:lstStyle/>
          <a:p>
            <a:pPr algn="l"/>
            <a:r>
              <a:rPr sz="1700" b="1" i="0">
                <a:solidFill>
                  <a:srgbClr val="FFFFFF"/>
                </a:solidFill>
                <a:latin typeface="Calibri"/>
              </a:rPr>
              <a:t>Choosing a solution (pp. 29–30)</a:t>
            </a:r>
          </a:p>
        </p:txBody>
      </p:sp>
      <p:sp>
        <p:nvSpPr>
          <p:cNvPr id="16" name="TextBox 15"/>
          <p:cNvSpPr txBox="1"/>
          <p:nvPr/>
        </p:nvSpPr>
        <p:spPr>
          <a:xfrm>
            <a:off x="347472" y="4992624"/>
            <a:ext cx="3739896" cy="1508760"/>
          </a:xfrm>
          <a:prstGeom prst="rect">
            <a:avLst/>
          </a:prstGeom>
          <a:noFill/>
        </p:spPr>
        <p:txBody>
          <a:bodyPr wrap="square" anchor="t" lIns="54864" rIns="54864" tIns="27432" bIns="27432"/>
          <a:lstStyle/>
          <a:p>
            <a:pPr>
              <a:spcAft>
                <a:spcPts val="300"/>
              </a:spcAft>
            </a:pPr>
            <a:r>
              <a:rPr sz="1200" b="1" i="0">
                <a:solidFill>
                  <a:srgbClr val="1A1A1A"/>
                </a:solidFill>
                <a:latin typeface="Calibri"/>
              </a:rPr>
              <a:t>• </a:t>
            </a:r>
            <a:r>
              <a:rPr sz="1200" b="1" i="0">
                <a:solidFill>
                  <a:srgbClr val="1A1A1A"/>
                </a:solidFill>
                <a:latin typeface="Calibri"/>
              </a:rPr>
              <a:t>Resolve</a:t>
            </a:r>
            <a:r>
              <a:rPr sz="1200" b="0" i="0">
                <a:solidFill>
                  <a:srgbClr val="1A1A1A"/>
                </a:solidFill>
                <a:latin typeface="Calibri"/>
              </a:rPr>
              <a:t> = satisfactory fix (doughnut spare tyre)</a:t>
            </a:r>
          </a:p>
          <a:p>
            <a:pPr>
              <a:spcAft>
                <a:spcPts val="300"/>
              </a:spcAft>
            </a:pPr>
            <a:r>
              <a:rPr sz="1200" b="1" i="0">
                <a:solidFill>
                  <a:srgbClr val="1A1A1A"/>
                </a:solidFill>
                <a:latin typeface="Calibri"/>
              </a:rPr>
              <a:t>• </a:t>
            </a:r>
            <a:r>
              <a:rPr sz="1200" b="1" i="0">
                <a:solidFill>
                  <a:srgbClr val="1A1A1A"/>
                </a:solidFill>
                <a:latin typeface="Calibri"/>
              </a:rPr>
              <a:t>Solve</a:t>
            </a:r>
            <a:r>
              <a:rPr sz="1200" b="0" i="0">
                <a:solidFill>
                  <a:srgbClr val="1A1A1A"/>
                </a:solidFill>
                <a:latin typeface="Calibri"/>
              </a:rPr>
              <a:t> = optimal fix (full-size spare)</a:t>
            </a:r>
          </a:p>
          <a:p>
            <a:pPr>
              <a:spcAft>
                <a:spcPts val="300"/>
              </a:spcAft>
            </a:pPr>
            <a:r>
              <a:rPr sz="1200" b="1" i="0">
                <a:solidFill>
                  <a:srgbClr val="1A1A1A"/>
                </a:solidFill>
                <a:latin typeface="Calibri"/>
              </a:rPr>
              <a:t>• </a:t>
            </a:r>
            <a:r>
              <a:rPr sz="1200" b="1" i="0">
                <a:solidFill>
                  <a:srgbClr val="1A1A1A"/>
                </a:solidFill>
                <a:latin typeface="Calibri"/>
              </a:rPr>
              <a:t>Dissolve</a:t>
            </a:r>
            <a:r>
              <a:rPr sz="1200" b="0" i="0">
                <a:solidFill>
                  <a:srgbClr val="1A1A1A"/>
                </a:solidFill>
                <a:latin typeface="Calibri"/>
              </a:rPr>
              <a:t> = remove the situation (public transport)</a:t>
            </a:r>
          </a:p>
          <a:p>
            <a:pPr>
              <a:spcAft>
                <a:spcPts val="300"/>
              </a:spcAft>
            </a:pPr>
            <a:r>
              <a:rPr sz="1200" b="1" i="0">
                <a:solidFill>
                  <a:srgbClr val="1A1A1A"/>
                </a:solidFill>
                <a:latin typeface="Calibri"/>
              </a:rPr>
              <a:t>• </a:t>
            </a:r>
            <a:r>
              <a:rPr sz="1200" b="0" i="0">
                <a:solidFill>
                  <a:srgbClr val="1A1A1A"/>
                </a:solidFill>
                <a:latin typeface="Calibri"/>
              </a:rPr>
              <a:t>Criteria · consequences/trade-offs · choice process (you/team/third party) · resources</a:t>
            </a:r>
          </a:p>
        </p:txBody>
      </p:sp>
      <p:sp>
        <p:nvSpPr>
          <p:cNvPr id="17" name="Rounded Rectangle 16"/>
          <p:cNvSpPr/>
          <p:nvPr/>
        </p:nvSpPr>
        <p:spPr>
          <a:xfrm>
            <a:off x="4297680" y="1051560"/>
            <a:ext cx="3749039" cy="2743200"/>
          </a:xfrm>
          <a:prstGeom prst="roundRect">
            <a:avLst>
              <a:gd name="adj" fmla="val 6000"/>
            </a:avLst>
          </a:prstGeom>
          <a:solidFill>
            <a:srgbClr val="FFFFFF"/>
          </a:solidFill>
          <a:ln w="19050">
            <a:solidFill>
              <a:srgbClr val="95A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297680" y="1051560"/>
            <a:ext cx="3749039" cy="457200"/>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97680" y="1371600"/>
            <a:ext cx="3749039" cy="137160"/>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89120" y="1051560"/>
            <a:ext cx="3566159" cy="457200"/>
          </a:xfrm>
          <a:prstGeom prst="rect">
            <a:avLst/>
          </a:prstGeom>
          <a:noFill/>
        </p:spPr>
        <p:txBody>
          <a:bodyPr wrap="square" anchor="ctr" lIns="45720" rIns="45720" tIns="18288" bIns="18288"/>
          <a:lstStyle/>
          <a:p>
            <a:pPr algn="l"/>
            <a:r>
              <a:rPr sz="1400" b="1" i="0">
                <a:solidFill>
                  <a:srgbClr val="FFFFFF"/>
                </a:solidFill>
                <a:latin typeface="Calibri"/>
              </a:rPr>
              <a:t>Person–Situation distinction (p. 24)</a:t>
            </a:r>
          </a:p>
        </p:txBody>
      </p:sp>
      <p:sp>
        <p:nvSpPr>
          <p:cNvPr id="21" name="TextBox 20"/>
          <p:cNvSpPr txBox="1"/>
          <p:nvPr/>
        </p:nvSpPr>
        <p:spPr>
          <a:xfrm>
            <a:off x="4370832" y="1563624"/>
            <a:ext cx="3602735" cy="2194560"/>
          </a:xfrm>
          <a:prstGeom prst="rect">
            <a:avLst/>
          </a:prstGeom>
          <a:noFill/>
        </p:spPr>
        <p:txBody>
          <a:bodyPr wrap="square" anchor="t" lIns="54864" rIns="54864" tIns="27432" bIns="27432"/>
          <a:lstStyle/>
          <a:p>
            <a:pPr>
              <a:spcAft>
                <a:spcPts val="300"/>
              </a:spcAft>
            </a:pPr>
            <a:r>
              <a:rPr sz="1500" b="1" i="0">
                <a:solidFill>
                  <a:srgbClr val="1A1A1A"/>
                </a:solidFill>
                <a:latin typeface="Calibri"/>
              </a:rPr>
              <a:t>• </a:t>
            </a:r>
            <a:r>
              <a:rPr sz="1500" b="1" i="0">
                <a:solidFill>
                  <a:srgbClr val="1A1A1A"/>
                </a:solidFill>
                <a:latin typeface="Calibri"/>
              </a:rPr>
              <a:t>Person factors</a:t>
            </a:r>
            <a:r>
              <a:rPr sz="1500" b="0" i="0">
                <a:solidFill>
                  <a:srgbClr val="1A1A1A"/>
                </a:solidFill>
                <a:latin typeface="Calibri"/>
              </a:rPr>
              <a:t>: characteristics that give unique identity (Part One of book)</a:t>
            </a:r>
          </a:p>
          <a:p>
            <a:pPr>
              <a:spcAft>
                <a:spcPts val="300"/>
              </a:spcAft>
            </a:pPr>
            <a:r>
              <a:rPr sz="1500" b="1" i="0">
                <a:solidFill>
                  <a:srgbClr val="1A1A1A"/>
                </a:solidFill>
                <a:latin typeface="Calibri"/>
              </a:rPr>
              <a:t>• </a:t>
            </a:r>
            <a:r>
              <a:rPr sz="1500" b="1" i="0">
                <a:solidFill>
                  <a:srgbClr val="1A1A1A"/>
                </a:solidFill>
                <a:latin typeface="Calibri"/>
              </a:rPr>
              <a:t>Situation factors</a:t>
            </a:r>
            <a:r>
              <a:rPr sz="1500" b="0" i="0">
                <a:solidFill>
                  <a:srgbClr val="1A1A1A"/>
                </a:solidFill>
                <a:latin typeface="Calibri"/>
              </a:rPr>
              <a:t>: everything outside us that helps/hinders</a:t>
            </a:r>
          </a:p>
          <a:p>
            <a:pPr>
              <a:spcAft>
                <a:spcPts val="300"/>
              </a:spcAft>
            </a:pPr>
            <a:r>
              <a:rPr sz="1500" b="1" i="0">
                <a:solidFill>
                  <a:srgbClr val="1A1A1A"/>
                </a:solidFill>
                <a:latin typeface="Calibri"/>
              </a:rPr>
              <a:t>• </a:t>
            </a:r>
            <a:r>
              <a:rPr sz="1500" b="1" i="0">
                <a:solidFill>
                  <a:srgbClr val="1A1A1A"/>
                </a:solidFill>
                <a:latin typeface="Calibri"/>
              </a:rPr>
              <a:t>Interactional perspective</a:t>
            </a:r>
            <a:r>
              <a:rPr sz="1500" b="0" i="0">
                <a:solidFill>
                  <a:srgbClr val="1A1A1A"/>
                </a:solidFill>
                <a:latin typeface="Calibri"/>
              </a:rPr>
              <a:t>: behaviour = f(person × situation); both are dynamic and change each other</a:t>
            </a:r>
          </a:p>
        </p:txBody>
      </p:sp>
      <p:sp>
        <p:nvSpPr>
          <p:cNvPr id="22" name="Rounded Rectangle 21"/>
          <p:cNvSpPr/>
          <p:nvPr/>
        </p:nvSpPr>
        <p:spPr>
          <a:xfrm>
            <a:off x="4297680" y="3931920"/>
            <a:ext cx="3749039" cy="2606040"/>
          </a:xfrm>
          <a:prstGeom prst="roundRect">
            <a:avLst>
              <a:gd name="adj" fmla="val 6000"/>
            </a:avLst>
          </a:prstGeom>
          <a:solidFill>
            <a:srgbClr val="FFFFFF"/>
          </a:solidFill>
          <a:ln w="19050">
            <a:solidFill>
              <a:srgbClr val="95A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297680" y="3931920"/>
            <a:ext cx="3749039" cy="457200"/>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297680" y="4251959"/>
            <a:ext cx="3749039" cy="137160"/>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89120" y="3931920"/>
            <a:ext cx="3566159" cy="457200"/>
          </a:xfrm>
          <a:prstGeom prst="rect">
            <a:avLst/>
          </a:prstGeom>
          <a:noFill/>
        </p:spPr>
        <p:txBody>
          <a:bodyPr wrap="square" anchor="ctr" lIns="45720" rIns="45720" tIns="18288" bIns="18288"/>
          <a:lstStyle/>
          <a:p>
            <a:pPr algn="l"/>
            <a:r>
              <a:rPr sz="1400" b="1" i="0">
                <a:solidFill>
                  <a:srgbClr val="FFFFFF"/>
                </a:solidFill>
                <a:latin typeface="Calibri"/>
              </a:rPr>
              <a:t>Using levels to find causes (p. 26)</a:t>
            </a:r>
          </a:p>
        </p:txBody>
      </p:sp>
      <p:sp>
        <p:nvSpPr>
          <p:cNvPr id="26" name="TextBox 25"/>
          <p:cNvSpPr txBox="1"/>
          <p:nvPr/>
        </p:nvSpPr>
        <p:spPr>
          <a:xfrm>
            <a:off x="4370832" y="4443983"/>
            <a:ext cx="3602735" cy="2057400"/>
          </a:xfrm>
          <a:prstGeom prst="rect">
            <a:avLst/>
          </a:prstGeom>
          <a:noFill/>
        </p:spPr>
        <p:txBody>
          <a:bodyPr wrap="square" anchor="t" lIns="54864" rIns="54864" tIns="27432" bIns="27432"/>
          <a:lstStyle/>
          <a:p>
            <a:pPr>
              <a:spcAft>
                <a:spcPts val="300"/>
              </a:spcAft>
            </a:pPr>
            <a:r>
              <a:rPr sz="1600" b="1" i="0">
                <a:solidFill>
                  <a:srgbClr val="1A1A1A"/>
                </a:solidFill>
                <a:latin typeface="Calibri"/>
              </a:rPr>
              <a:t>• </a:t>
            </a:r>
            <a:r>
              <a:rPr sz="1600" b="0" i="0">
                <a:solidFill>
                  <a:srgbClr val="1A1A1A"/>
                </a:solidFill>
                <a:latin typeface="Calibri"/>
              </a:rPr>
              <a:t>Turnover example: Person (shared traits of leavers?) · Situation (better job market?) · Individual (job became boring?) · Group (new micromanaging boss?) · Org (restructuring, HQ moved?)</a:t>
            </a:r>
          </a:p>
          <a:p>
            <a:pPr>
              <a:spcAft>
                <a:spcPts val="300"/>
              </a:spcAft>
            </a:pPr>
            <a:r>
              <a:rPr sz="1600" b="1" i="0">
                <a:solidFill>
                  <a:srgbClr val="1A1A1A"/>
                </a:solidFill>
                <a:latin typeface="Calibri"/>
              </a:rPr>
              <a:t>• </a:t>
            </a:r>
            <a:r>
              <a:rPr sz="1600" b="0" i="0">
                <a:solidFill>
                  <a:srgbClr val="1A1A1A"/>
                </a:solidFill>
                <a:latin typeface="Calibri"/>
              </a:rPr>
              <a:t>→ widen focus, more possible causes</a:t>
            </a:r>
          </a:p>
        </p:txBody>
      </p:sp>
      <p:sp>
        <p:nvSpPr>
          <p:cNvPr id="27" name="TextBox 26"/>
          <p:cNvSpPr txBox="1"/>
          <p:nvPr/>
        </p:nvSpPr>
        <p:spPr>
          <a:xfrm>
            <a:off x="8183879" y="1051560"/>
            <a:ext cx="3749039" cy="365760"/>
          </a:xfrm>
          <a:prstGeom prst="rect">
            <a:avLst/>
          </a:prstGeom>
          <a:noFill/>
        </p:spPr>
        <p:txBody>
          <a:bodyPr wrap="square" anchor="t" lIns="45720" rIns="45720" tIns="18288" bIns="18288"/>
          <a:lstStyle/>
          <a:p>
            <a:pPr algn="l"/>
            <a:r>
              <a:rPr sz="1600" b="1" i="0">
                <a:solidFill>
                  <a:srgbClr val="154C9E"/>
                </a:solidFill>
                <a:latin typeface="Calibri"/>
              </a:rPr>
              <a:t>Organizing Framework (Fig 1.3, p. 27)</a:t>
            </a:r>
          </a:p>
        </p:txBody>
      </p:sp>
      <p:sp>
        <p:nvSpPr>
          <p:cNvPr id="28" name="Rounded Rectangle 27"/>
          <p:cNvSpPr/>
          <p:nvPr/>
        </p:nvSpPr>
        <p:spPr>
          <a:xfrm>
            <a:off x="8183879" y="1463039"/>
            <a:ext cx="1143000" cy="2468880"/>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500" b="1" i="0">
                <a:solidFill>
                  <a:srgbClr val="FFFFFF"/>
                </a:solidFill>
                <a:latin typeface="Calibri"/>
              </a:rPr>
              <a:t>INPUTS</a:t>
            </a:r>
          </a:p>
          <a:p>
            <a:pPr algn="ctr"/>
            <a:r>
              <a:rPr sz="1200" b="0" i="0">
                <a:solidFill>
                  <a:srgbClr val="FFFFFF"/>
                </a:solidFill>
                <a:latin typeface="Calibri"/>
              </a:rPr>
              <a:t>Person factors
+
Situation factors</a:t>
            </a:r>
          </a:p>
        </p:txBody>
      </p:sp>
      <p:sp>
        <p:nvSpPr>
          <p:cNvPr id="29" name="Right Arrow 28"/>
          <p:cNvSpPr/>
          <p:nvPr/>
        </p:nvSpPr>
        <p:spPr>
          <a:xfrm>
            <a:off x="9345167" y="2468880"/>
            <a:ext cx="274320" cy="457200"/>
          </a:xfrm>
          <a:prstGeom prst="rightArrow">
            <a:avLst/>
          </a:prstGeom>
          <a:solidFill>
            <a:srgbClr val="729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646919" y="1463039"/>
            <a:ext cx="1097280" cy="2468880"/>
          </a:xfrm>
          <a:prstGeom prst="roundRect">
            <a:avLst>
              <a:gd name="adj" fmla="val 6000"/>
            </a:avLst>
          </a:prstGeom>
          <a:solidFill>
            <a:srgbClr val="4F78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i="0">
                <a:solidFill>
                  <a:srgbClr val="FFFFFF"/>
                </a:solidFill>
                <a:latin typeface="Calibri"/>
              </a:rPr>
              <a:t>PROCESSES</a:t>
            </a:r>
          </a:p>
          <a:p>
            <a:pPr algn="ctr"/>
            <a:r>
              <a:rPr sz="1100" b="0" i="0">
                <a:solidFill>
                  <a:srgbClr val="FFFFFF"/>
                </a:solidFill>
                <a:latin typeface="Calibri"/>
              </a:rPr>
              <a:t>Individual
Group/Team
Organisational</a:t>
            </a:r>
          </a:p>
        </p:txBody>
      </p:sp>
      <p:sp>
        <p:nvSpPr>
          <p:cNvPr id="31" name="Right Arrow 30"/>
          <p:cNvSpPr/>
          <p:nvPr/>
        </p:nvSpPr>
        <p:spPr>
          <a:xfrm>
            <a:off x="10762488" y="2468880"/>
            <a:ext cx="274320" cy="457200"/>
          </a:xfrm>
          <a:prstGeom prst="rightArrow">
            <a:avLst/>
          </a:prstGeom>
          <a:solidFill>
            <a:srgbClr val="729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1064240" y="1463039"/>
            <a:ext cx="868680" cy="2468880"/>
          </a:xfrm>
          <a:prstGeom prst="roundRect">
            <a:avLst>
              <a:gd name="adj" fmla="val 6000"/>
            </a:avLst>
          </a:prstGeom>
          <a:solidFill>
            <a:srgbClr val="7E9C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i="0">
                <a:solidFill>
                  <a:srgbClr val="1A1A1A"/>
                </a:solidFill>
                <a:latin typeface="Calibri"/>
              </a:rPr>
              <a:t>OUT-
COMES</a:t>
            </a:r>
          </a:p>
          <a:p>
            <a:pPr algn="ctr"/>
            <a:r>
              <a:rPr sz="1000" b="0" i="0">
                <a:solidFill>
                  <a:srgbClr val="1A1A1A"/>
                </a:solidFill>
                <a:latin typeface="Calibri"/>
              </a:rPr>
              <a:t>Indiv
Group
Org</a:t>
            </a:r>
          </a:p>
        </p:txBody>
      </p:sp>
      <p:sp>
        <p:nvSpPr>
          <p:cNvPr id="33" name="Rounded Rectangle 32"/>
          <p:cNvSpPr/>
          <p:nvPr/>
        </p:nvSpPr>
        <p:spPr>
          <a:xfrm>
            <a:off x="8183879" y="4023360"/>
            <a:ext cx="3749039" cy="2514600"/>
          </a:xfrm>
          <a:prstGeom prst="roundRect">
            <a:avLst>
              <a:gd name="adj" fmla="val 6000"/>
            </a:avLst>
          </a:prstGeom>
          <a:solidFill>
            <a:srgbClr val="FFFFFF"/>
          </a:solidFill>
          <a:ln w="19050">
            <a:solidFill>
              <a:srgbClr val="95A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183879" y="4023360"/>
            <a:ext cx="3749039" cy="457200"/>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183879" y="4343400"/>
            <a:ext cx="3749039" cy="137160"/>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75319" y="4023360"/>
            <a:ext cx="3566159" cy="457200"/>
          </a:xfrm>
          <a:prstGeom prst="rect">
            <a:avLst/>
          </a:prstGeom>
          <a:noFill/>
        </p:spPr>
        <p:txBody>
          <a:bodyPr wrap="square" anchor="ctr" lIns="45720" rIns="45720" tIns="18288" bIns="18288"/>
          <a:lstStyle/>
          <a:p>
            <a:pPr algn="l"/>
            <a:r>
              <a:rPr sz="1800" b="1" i="0">
                <a:solidFill>
                  <a:srgbClr val="FFFFFF"/>
                </a:solidFill>
                <a:latin typeface="Calibri"/>
              </a:rPr>
              <a:t>Insights from Fig 1.4 (p. 31)</a:t>
            </a:r>
          </a:p>
        </p:txBody>
      </p:sp>
      <p:sp>
        <p:nvSpPr>
          <p:cNvPr id="37" name="TextBox 36"/>
          <p:cNvSpPr txBox="1"/>
          <p:nvPr/>
        </p:nvSpPr>
        <p:spPr>
          <a:xfrm>
            <a:off x="8257031" y="4535424"/>
            <a:ext cx="3602735" cy="1965960"/>
          </a:xfrm>
          <a:prstGeom prst="rect">
            <a:avLst/>
          </a:prstGeom>
          <a:noFill/>
        </p:spPr>
        <p:txBody>
          <a:bodyPr wrap="square" anchor="t" lIns="54864" rIns="54864" tIns="27432" bIns="27432"/>
          <a:lstStyle/>
          <a:p>
            <a:pPr>
              <a:spcAft>
                <a:spcPts val="300"/>
              </a:spcAft>
            </a:pPr>
            <a:r>
              <a:rPr sz="1300" b="1" i="0">
                <a:solidFill>
                  <a:srgbClr val="1A1A1A"/>
                </a:solidFill>
                <a:latin typeface="Calibri"/>
              </a:rPr>
              <a:t>• </a:t>
            </a:r>
            <a:r>
              <a:rPr sz="1300" b="0" i="0">
                <a:solidFill>
                  <a:srgbClr val="1A1A1A"/>
                </a:solidFill>
                <a:latin typeface="Calibri"/>
              </a:rPr>
              <a:t>Systems model with </a:t>
            </a:r>
            <a:r>
              <a:rPr sz="1300" b="1" i="0">
                <a:solidFill>
                  <a:srgbClr val="1A1A1A"/>
                </a:solidFill>
                <a:latin typeface="Calibri"/>
              </a:rPr>
              <a:t>feedback loops</a:t>
            </a:r>
            <a:r>
              <a:rPr sz="1300" b="0" i="0">
                <a:solidFill>
                  <a:srgbClr val="1A1A1A"/>
                </a:solidFill>
                <a:latin typeface="Calibri"/>
              </a:rPr>
              <a:t> (outcomes shape future inputs)</a:t>
            </a:r>
          </a:p>
          <a:p>
            <a:pPr>
              <a:spcAft>
                <a:spcPts val="300"/>
              </a:spcAft>
            </a:pPr>
            <a:r>
              <a:rPr sz="1300" b="1" i="0">
                <a:solidFill>
                  <a:srgbClr val="1A1A1A"/>
                </a:solidFill>
                <a:latin typeface="Calibri"/>
              </a:rPr>
              <a:t>• </a:t>
            </a:r>
            <a:r>
              <a:rPr sz="1300" b="0" i="0">
                <a:solidFill>
                  <a:srgbClr val="1A1A1A"/>
                </a:solidFill>
                <a:latin typeface="Calibri"/>
              </a:rPr>
              <a:t>More person than situation factors → look at person factors for causes</a:t>
            </a:r>
          </a:p>
          <a:p>
            <a:pPr>
              <a:spcAft>
                <a:spcPts val="300"/>
              </a:spcAft>
            </a:pPr>
            <a:r>
              <a:rPr sz="1300" b="1" i="0">
                <a:solidFill>
                  <a:srgbClr val="1A1A1A"/>
                </a:solidFill>
                <a:latin typeface="Calibri"/>
              </a:rPr>
              <a:t>• </a:t>
            </a:r>
            <a:r>
              <a:rPr sz="1300" b="0" i="0">
                <a:solidFill>
                  <a:srgbClr val="1A1A1A"/>
                </a:solidFill>
                <a:latin typeface="Calibri"/>
              </a:rPr>
              <a:t>Think across levels; leadership is both input AND process</a:t>
            </a:r>
          </a:p>
          <a:p>
            <a:pPr>
              <a:spcAft>
                <a:spcPts val="300"/>
              </a:spcAft>
            </a:pPr>
            <a:r>
              <a:rPr sz="1300" b="1" i="0">
                <a:solidFill>
                  <a:srgbClr val="1A1A1A"/>
                </a:solidFill>
                <a:latin typeface="Calibri"/>
              </a:rPr>
              <a:t>• </a:t>
            </a:r>
            <a:r>
              <a:rPr sz="1300" b="0" i="0">
                <a:solidFill>
                  <a:srgbClr val="1A1A1A"/>
                </a:solidFill>
                <a:latin typeface="Calibri"/>
              </a:rPr>
              <a:t>Mars Inc. example (p. 28): frugal but 'Five Principles' culture → 5% turnover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600" b="1" i="0">
                <a:solidFill>
                  <a:srgbClr val="FFFFFF"/>
                </a:solidFill>
                <a:latin typeface="Calibri"/>
              </a:rPr>
              <a:t>Behavioural problems of employees: diagnose, don't label</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C4D2E6"/>
                </a:solidFill>
                <a:latin typeface="Calibri"/>
              </a:rPr>
              <a:t>MODULE 1 · INTRO, ETHICS &amp; PROBLEM SOLVING</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Handout 1 · PPT 'Behavioural Problem'</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12</a:t>
            </a:r>
          </a:p>
        </p:txBody>
      </p:sp>
      <p:sp>
        <p:nvSpPr>
          <p:cNvPr id="7" name="Rounded Rectangle 6"/>
          <p:cNvSpPr/>
          <p:nvPr/>
        </p:nvSpPr>
        <p:spPr>
          <a:xfrm>
            <a:off x="274320" y="1051560"/>
            <a:ext cx="3840480" cy="1920240"/>
          </a:xfrm>
          <a:prstGeom prst="roundRect">
            <a:avLst>
              <a:gd name="adj" fmla="val 6000"/>
            </a:avLst>
          </a:prstGeom>
          <a:solidFill>
            <a:srgbClr val="FFFFFF"/>
          </a:solidFill>
          <a:ln w="19050">
            <a:solidFill>
              <a:srgbClr val="95A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74320" y="1051560"/>
            <a:ext cx="3840480" cy="457200"/>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371600"/>
            <a:ext cx="3840480" cy="137160"/>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051560"/>
            <a:ext cx="3657600" cy="457200"/>
          </a:xfrm>
          <a:prstGeom prst="rect">
            <a:avLst/>
          </a:prstGeom>
          <a:noFill/>
        </p:spPr>
        <p:txBody>
          <a:bodyPr wrap="square" anchor="ctr" lIns="45720" rIns="45720" tIns="18288" bIns="18288"/>
          <a:lstStyle/>
          <a:p>
            <a:pPr algn="l"/>
            <a:r>
              <a:rPr sz="1900" b="1" i="0">
                <a:solidFill>
                  <a:srgbClr val="FFFFFF"/>
                </a:solidFill>
                <a:latin typeface="Calibri"/>
              </a:rPr>
              <a:t>Definition</a:t>
            </a:r>
          </a:p>
        </p:txBody>
      </p:sp>
      <p:sp>
        <p:nvSpPr>
          <p:cNvPr id="11" name="TextBox 10"/>
          <p:cNvSpPr txBox="1"/>
          <p:nvPr/>
        </p:nvSpPr>
        <p:spPr>
          <a:xfrm>
            <a:off x="347472" y="1563624"/>
            <a:ext cx="3694176" cy="1371600"/>
          </a:xfrm>
          <a:prstGeom prst="rect">
            <a:avLst/>
          </a:prstGeom>
          <a:noFill/>
        </p:spPr>
        <p:txBody>
          <a:bodyPr wrap="square" anchor="t" lIns="54864" rIns="54864" tIns="27432" bIns="27432"/>
          <a:lstStyle/>
          <a:p>
            <a:pPr>
              <a:spcAft>
                <a:spcPts val="300"/>
              </a:spcAft>
            </a:pPr>
            <a:r>
              <a:rPr sz="1200" b="1" i="0">
                <a:solidFill>
                  <a:srgbClr val="1A1A1A"/>
                </a:solidFill>
                <a:latin typeface="Calibri"/>
              </a:rPr>
              <a:t>• </a:t>
            </a:r>
            <a:r>
              <a:rPr sz="1200" b="0" i="0">
                <a:solidFill>
                  <a:srgbClr val="1A1A1A"/>
                </a:solidFill>
                <a:latin typeface="Calibri"/>
              </a:rPr>
              <a:t>Recurring/significant patterns of behaviour that negatively affect performance, relationships, team or org effectiveness</a:t>
            </a:r>
          </a:p>
          <a:p>
            <a:pPr>
              <a:spcAft>
                <a:spcPts val="300"/>
              </a:spcAft>
            </a:pPr>
            <a:r>
              <a:rPr sz="1200" b="1" i="0">
                <a:solidFill>
                  <a:srgbClr val="1A1A1A"/>
                </a:solidFill>
                <a:latin typeface="Calibri"/>
              </a:rPr>
              <a:t>• </a:t>
            </a:r>
            <a:r>
              <a:rPr sz="1200" b="0" i="0">
                <a:solidFill>
                  <a:srgbClr val="1A1A1A"/>
                </a:solidFill>
                <a:latin typeface="Calibri"/>
              </a:rPr>
              <a:t>Problem = observable behaviour; </a:t>
            </a:r>
            <a:r>
              <a:rPr sz="1200" b="1" i="0">
                <a:solidFill>
                  <a:srgbClr val="1A1A1A"/>
                </a:solidFill>
                <a:latin typeface="Calibri"/>
              </a:rPr>
              <a:t>cause</a:t>
            </a:r>
            <a:r>
              <a:rPr sz="1200" b="0" i="0">
                <a:solidFill>
                  <a:srgbClr val="1A1A1A"/>
                </a:solidFill>
                <a:latin typeface="Calibri"/>
              </a:rPr>
              <a:t> may be personality, perception, attitude, motivation, emotion, leadership, culture</a:t>
            </a:r>
          </a:p>
        </p:txBody>
      </p:sp>
      <p:graphicFrame>
        <p:nvGraphicFramePr>
          <p:cNvPr id="12" name="Table 11"/>
          <p:cNvGraphicFramePr>
            <a:graphicFrameLocks noGrp="1"/>
          </p:cNvGraphicFramePr>
          <p:nvPr/>
        </p:nvGraphicFramePr>
        <p:xfrm>
          <a:off x="4251960" y="1051560"/>
          <a:ext cx="7680960" cy="1920240"/>
        </p:xfrm>
        <a:graphic>
          <a:graphicData uri="http://schemas.openxmlformats.org/drawingml/2006/table">
            <a:tbl>
              <a:tblPr firstRow="1" bandRow="1">
                <a:tableStyleId>{5C22544A-7EE6-4342-B048-85BDC9FD1C3A}</a:tableStyleId>
              </a:tblPr>
              <a:tblGrid>
                <a:gridCol w="2560320"/>
                <a:gridCol w="2560320"/>
                <a:gridCol w="2560320"/>
              </a:tblGrid>
              <a:tr h="960120">
                <a:tc>
                  <a:txBody>
                    <a:bodyPr wrap="square"/>
                    <a:lstStyle/>
                    <a:p>
                      <a:r>
                        <a:rPr sz="1300" b="1" i="0">
                          <a:solidFill>
                            <a:srgbClr val="FFFFFF"/>
                          </a:solidFill>
                          <a:latin typeface="Calibri"/>
                        </a:rPr>
                        <a:t>Individual level</a:t>
                      </a:r>
                    </a:p>
                  </a:txBody>
                  <a:tcPr marL="54864" marR="54864" marT="27432" marB="27432" anchor="ctr">
                    <a:solidFill>
                      <a:srgbClr val="154C9E"/>
                    </a:solidFill>
                  </a:tcPr>
                </a:tc>
                <a:tc>
                  <a:txBody>
                    <a:bodyPr wrap="square"/>
                    <a:lstStyle/>
                    <a:p>
                      <a:r>
                        <a:rPr sz="1300" b="1" i="0">
                          <a:solidFill>
                            <a:srgbClr val="FFFFFF"/>
                          </a:solidFill>
                          <a:latin typeface="Calibri"/>
                        </a:rPr>
                        <a:t>Group level</a:t>
                      </a:r>
                    </a:p>
                  </a:txBody>
                  <a:tcPr marL="54864" marR="54864" marT="27432" marB="27432" anchor="ctr">
                    <a:solidFill>
                      <a:srgbClr val="154C9E"/>
                    </a:solidFill>
                  </a:tcPr>
                </a:tc>
                <a:tc>
                  <a:txBody>
                    <a:bodyPr wrap="square"/>
                    <a:lstStyle/>
                    <a:p>
                      <a:r>
                        <a:rPr sz="1300" b="1" i="0">
                          <a:solidFill>
                            <a:srgbClr val="FFFFFF"/>
                          </a:solidFill>
                          <a:latin typeface="Calibri"/>
                        </a:rPr>
                        <a:t>Organisation level</a:t>
                      </a:r>
                    </a:p>
                  </a:txBody>
                  <a:tcPr marL="54864" marR="54864" marT="27432" marB="27432" anchor="ctr">
                    <a:solidFill>
                      <a:srgbClr val="154C9E"/>
                    </a:solidFill>
                  </a:tcPr>
                </a:tc>
              </a:tr>
              <a:tr h="960120">
                <a:tc>
                  <a:txBody>
                    <a:bodyPr wrap="square"/>
                    <a:lstStyle/>
                    <a:p>
                      <a:r>
                        <a:rPr sz="1300" b="0" i="0">
                          <a:solidFill>
                            <a:srgbClr val="1A1A1A"/>
                          </a:solidFill>
                          <a:latin typeface="Calibri"/>
                        </a:rPr>
                        <a:t>Low motivation · cynicism · absenteeism &amp; lateness · poor adaptability · no initiative · emotional outbursts · low commitment</a:t>
                      </a:r>
                    </a:p>
                  </a:txBody>
                  <a:tcPr marL="54864" marR="54864" marT="27432" marB="27432" anchor="ctr">
                    <a:solidFill>
                      <a:srgbClr val="FFFFFF"/>
                    </a:solidFill>
                  </a:tcPr>
                </a:tc>
                <a:tc>
                  <a:txBody>
                    <a:bodyPr wrap="square"/>
                    <a:lstStyle/>
                    <a:p>
                      <a:r>
                        <a:rPr sz="1300" b="0" i="0">
                          <a:solidFill>
                            <a:srgbClr val="1A1A1A"/>
                          </a:solidFill>
                          <a:latin typeface="Calibri"/>
                        </a:rPr>
                        <a:t>Interpersonal conflict · poor teamwork · incivility · gossip · knowledge hoarding · conformity · blame shifting</a:t>
                      </a:r>
                    </a:p>
                  </a:txBody>
                  <a:tcPr marL="54864" marR="54864" marT="27432" marB="27432" anchor="ctr">
                    <a:solidFill>
                      <a:srgbClr val="FFFFFF"/>
                    </a:solidFill>
                  </a:tcPr>
                </a:tc>
                <a:tc>
                  <a:txBody>
                    <a:bodyPr wrap="square"/>
                    <a:lstStyle/>
                    <a:p>
                      <a:r>
                        <a:rPr sz="1300" b="0" i="0">
                          <a:solidFill>
                            <a:srgbClr val="1A1A1A"/>
                          </a:solidFill>
                          <a:latin typeface="Calibri"/>
                        </a:rPr>
                        <a:t>Resistance to change · politics &amp; favouritism · employee silence · unethical behaviour · CWB · high turnover · weak OCB</a:t>
                      </a:r>
                    </a:p>
                  </a:txBody>
                  <a:tcPr marL="54864" marR="54864" marT="27432" marB="27432" anchor="ctr">
                    <a:solidFill>
                      <a:srgbClr val="FFFFFF"/>
                    </a:solidFill>
                  </a:tcPr>
                </a:tc>
              </a:tr>
            </a:tbl>
          </a:graphicData>
        </a:graphic>
      </p:graphicFrame>
      <p:sp>
        <p:nvSpPr>
          <p:cNvPr id="13" name="Rounded Rectangle 12"/>
          <p:cNvSpPr/>
          <p:nvPr/>
        </p:nvSpPr>
        <p:spPr>
          <a:xfrm>
            <a:off x="274320" y="3108960"/>
            <a:ext cx="2194560" cy="960120"/>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600" b="1" i="0">
                <a:solidFill>
                  <a:srgbClr val="FFFFFF"/>
                </a:solidFill>
                <a:latin typeface="Calibri"/>
              </a:rPr>
              <a:t>1 OBSERVE</a:t>
            </a:r>
          </a:p>
          <a:p>
            <a:pPr algn="ctr"/>
            <a:r>
              <a:rPr sz="1300" b="0" i="0">
                <a:solidFill>
                  <a:srgbClr val="FFFFFF"/>
                </a:solidFill>
                <a:latin typeface="Calibri"/>
              </a:rPr>
              <a:t>What exactly is the behaviour?</a:t>
            </a:r>
          </a:p>
        </p:txBody>
      </p:sp>
      <p:sp>
        <p:nvSpPr>
          <p:cNvPr id="14" name="Rounded Rectangle 13"/>
          <p:cNvSpPr/>
          <p:nvPr/>
        </p:nvSpPr>
        <p:spPr>
          <a:xfrm>
            <a:off x="2615184" y="3108960"/>
            <a:ext cx="2194560" cy="960120"/>
          </a:xfrm>
          <a:prstGeom prst="roundRect">
            <a:avLst>
              <a:gd name="adj" fmla="val 6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600" b="1" i="0">
                <a:solidFill>
                  <a:srgbClr val="FFFFFF"/>
                </a:solidFill>
                <a:latin typeface="Calibri"/>
              </a:rPr>
              <a:t>2 IDENTIFY</a:t>
            </a:r>
          </a:p>
          <a:p>
            <a:pPr algn="ctr"/>
            <a:r>
              <a:rPr sz="1300" b="0" i="0">
                <a:solidFill>
                  <a:srgbClr val="FFFFFF"/>
                </a:solidFill>
                <a:latin typeface="Calibri"/>
              </a:rPr>
              <a:t>Individual, group or org?</a:t>
            </a:r>
          </a:p>
        </p:txBody>
      </p:sp>
      <p:sp>
        <p:nvSpPr>
          <p:cNvPr id="15" name="Rounded Rectangle 14"/>
          <p:cNvSpPr/>
          <p:nvPr/>
        </p:nvSpPr>
        <p:spPr>
          <a:xfrm>
            <a:off x="4956048" y="3108960"/>
            <a:ext cx="2194560" cy="960120"/>
          </a:xfrm>
          <a:prstGeom prst="roundRect">
            <a:avLst>
              <a:gd name="adj" fmla="val 6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600" b="1" i="0">
                <a:solidFill>
                  <a:srgbClr val="FFFFFF"/>
                </a:solidFill>
                <a:latin typeface="Calibri"/>
              </a:rPr>
              <a:t>3 DIAGNOSE</a:t>
            </a:r>
          </a:p>
          <a:p>
            <a:pPr algn="ctr"/>
            <a:r>
              <a:rPr sz="1300" b="0" i="0">
                <a:solidFill>
                  <a:srgbClr val="FFFFFF"/>
                </a:solidFill>
                <a:latin typeface="Calibri"/>
              </a:rPr>
              <a:t>What factors cause it?</a:t>
            </a:r>
          </a:p>
        </p:txBody>
      </p:sp>
      <p:sp>
        <p:nvSpPr>
          <p:cNvPr id="16" name="Rounded Rectangle 15"/>
          <p:cNvSpPr/>
          <p:nvPr/>
        </p:nvSpPr>
        <p:spPr>
          <a:xfrm>
            <a:off x="7296912" y="3108960"/>
            <a:ext cx="2194560" cy="96012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600" b="1" i="0">
                <a:solidFill>
                  <a:srgbClr val="FFFFFF"/>
                </a:solidFill>
                <a:latin typeface="Calibri"/>
              </a:rPr>
              <a:t>4 INTERVENE</a:t>
            </a:r>
          </a:p>
          <a:p>
            <a:pPr algn="ctr"/>
            <a:r>
              <a:rPr sz="1300" b="0" i="0">
                <a:solidFill>
                  <a:srgbClr val="FFFFFF"/>
                </a:solidFill>
                <a:latin typeface="Calibri"/>
              </a:rPr>
              <a:t>What can the manager change?</a:t>
            </a:r>
          </a:p>
        </p:txBody>
      </p:sp>
      <p:sp>
        <p:nvSpPr>
          <p:cNvPr id="17" name="Rounded Rectangle 16"/>
          <p:cNvSpPr/>
          <p:nvPr/>
        </p:nvSpPr>
        <p:spPr>
          <a:xfrm>
            <a:off x="9637776" y="3108960"/>
            <a:ext cx="2194560" cy="960120"/>
          </a:xfrm>
          <a:prstGeom prst="roundRect">
            <a:avLst>
              <a:gd name="adj" fmla="val 6000"/>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600" b="1" i="0">
                <a:solidFill>
                  <a:srgbClr val="FFFFFF"/>
                </a:solidFill>
                <a:latin typeface="Calibri"/>
              </a:rPr>
              <a:t>5 FOLLOW UP</a:t>
            </a:r>
          </a:p>
          <a:p>
            <a:pPr algn="ctr"/>
            <a:r>
              <a:rPr sz="1300" b="0" i="0">
                <a:solidFill>
                  <a:srgbClr val="FFFFFF"/>
                </a:solidFill>
                <a:latin typeface="Calibri"/>
              </a:rPr>
              <a:t>Has it improved?</a:t>
            </a:r>
          </a:p>
        </p:txBody>
      </p:sp>
      <p:sp>
        <p:nvSpPr>
          <p:cNvPr id="18" name="Rounded Rectangle 17"/>
          <p:cNvSpPr/>
          <p:nvPr/>
        </p:nvSpPr>
        <p:spPr>
          <a:xfrm>
            <a:off x="274320" y="4206240"/>
            <a:ext cx="3840480" cy="2331720"/>
          </a:xfrm>
          <a:prstGeom prst="roundRect">
            <a:avLst>
              <a:gd name="adj" fmla="val 6000"/>
            </a:avLst>
          </a:prstGeom>
          <a:solidFill>
            <a:srgbClr val="FFFFFF"/>
          </a:solidFill>
          <a:ln w="19050">
            <a:solidFill>
              <a:srgbClr val="95A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74320" y="4206240"/>
            <a:ext cx="3840480" cy="457200"/>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74320" y="4526279"/>
            <a:ext cx="3840480" cy="137160"/>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4206240"/>
            <a:ext cx="3657600" cy="457200"/>
          </a:xfrm>
          <a:prstGeom prst="rect">
            <a:avLst/>
          </a:prstGeom>
          <a:noFill/>
        </p:spPr>
        <p:txBody>
          <a:bodyPr wrap="square" anchor="ctr" lIns="45720" rIns="45720" tIns="18288" bIns="18288"/>
          <a:lstStyle/>
          <a:p>
            <a:pPr algn="l"/>
            <a:r>
              <a:rPr sz="1900" b="1" i="0">
                <a:solidFill>
                  <a:srgbClr val="FFFFFF"/>
                </a:solidFill>
                <a:latin typeface="Calibri"/>
              </a:rPr>
              <a:t>Problem → OB concept</a:t>
            </a:r>
          </a:p>
        </p:txBody>
      </p:sp>
      <p:sp>
        <p:nvSpPr>
          <p:cNvPr id="22" name="TextBox 21"/>
          <p:cNvSpPr txBox="1"/>
          <p:nvPr/>
        </p:nvSpPr>
        <p:spPr>
          <a:xfrm>
            <a:off x="347472" y="4718303"/>
            <a:ext cx="3694176" cy="1783079"/>
          </a:xfrm>
          <a:prstGeom prst="rect">
            <a:avLst/>
          </a:prstGeom>
          <a:noFill/>
        </p:spPr>
        <p:txBody>
          <a:bodyPr wrap="square" anchor="t" lIns="54864" rIns="54864" tIns="27432" bIns="27432"/>
          <a:lstStyle/>
          <a:p>
            <a:pPr>
              <a:spcAft>
                <a:spcPts val="300"/>
              </a:spcAft>
            </a:pPr>
            <a:r>
              <a:rPr sz="1200" b="1" i="0">
                <a:solidFill>
                  <a:srgbClr val="1A1A1A"/>
                </a:solidFill>
                <a:latin typeface="Calibri"/>
              </a:rPr>
              <a:t>• </a:t>
            </a:r>
            <a:r>
              <a:rPr sz="1200" b="0" i="0">
                <a:solidFill>
                  <a:srgbClr val="1A1A1A"/>
                </a:solidFill>
                <a:latin typeface="Calibri"/>
              </a:rPr>
              <a:t>Low motivation → motivation theories, rewards, goals</a:t>
            </a:r>
          </a:p>
          <a:p>
            <a:pPr>
              <a:spcAft>
                <a:spcPts val="300"/>
              </a:spcAft>
            </a:pPr>
            <a:r>
              <a:rPr sz="1200" b="1" i="0">
                <a:solidFill>
                  <a:srgbClr val="1A1A1A"/>
                </a:solidFill>
                <a:latin typeface="Calibri"/>
              </a:rPr>
              <a:t>• </a:t>
            </a:r>
            <a:r>
              <a:rPr sz="1200" b="0" i="0">
                <a:solidFill>
                  <a:srgbClr val="1A1A1A"/>
                </a:solidFill>
                <a:latin typeface="Calibri"/>
              </a:rPr>
              <a:t>Conflict → personality, communication, group dynamics</a:t>
            </a:r>
          </a:p>
          <a:p>
            <a:pPr>
              <a:spcAft>
                <a:spcPts val="300"/>
              </a:spcAft>
            </a:pPr>
            <a:r>
              <a:rPr sz="1200" b="1" i="0">
                <a:solidFill>
                  <a:srgbClr val="1A1A1A"/>
                </a:solidFill>
                <a:latin typeface="Calibri"/>
              </a:rPr>
              <a:t>• </a:t>
            </a:r>
            <a:r>
              <a:rPr sz="1200" b="0" i="0">
                <a:solidFill>
                  <a:srgbClr val="1A1A1A"/>
                </a:solidFill>
                <a:latin typeface="Calibri"/>
              </a:rPr>
              <a:t>Resistance to change → perception, attitudes</a:t>
            </a:r>
          </a:p>
          <a:p>
            <a:pPr>
              <a:spcAft>
                <a:spcPts val="300"/>
              </a:spcAft>
            </a:pPr>
            <a:r>
              <a:rPr sz="1200" b="1" i="0">
                <a:solidFill>
                  <a:srgbClr val="1A1A1A"/>
                </a:solidFill>
                <a:latin typeface="Calibri"/>
              </a:rPr>
              <a:t>• </a:t>
            </a:r>
            <a:r>
              <a:rPr sz="1200" b="0" i="0">
                <a:solidFill>
                  <a:srgbClr val="1A1A1A"/>
                </a:solidFill>
                <a:latin typeface="Calibri"/>
              </a:rPr>
              <a:t>Incivility → emotions, attitudes</a:t>
            </a:r>
          </a:p>
          <a:p>
            <a:pPr>
              <a:spcAft>
                <a:spcPts val="300"/>
              </a:spcAft>
            </a:pPr>
            <a:r>
              <a:rPr sz="1200" b="1" i="0">
                <a:solidFill>
                  <a:srgbClr val="1A1A1A"/>
                </a:solidFill>
                <a:latin typeface="Calibri"/>
              </a:rPr>
              <a:t>• </a:t>
            </a:r>
            <a:r>
              <a:rPr sz="1200" b="0" i="0">
                <a:solidFill>
                  <a:srgbClr val="1A1A1A"/>
                </a:solidFill>
                <a:latin typeface="Calibri"/>
              </a:rPr>
              <a:t>Silence → power, leadership, psych. safety</a:t>
            </a:r>
          </a:p>
          <a:p>
            <a:pPr>
              <a:spcAft>
                <a:spcPts val="300"/>
              </a:spcAft>
            </a:pPr>
            <a:r>
              <a:rPr sz="1200" b="1" i="0">
                <a:solidFill>
                  <a:srgbClr val="1A1A1A"/>
                </a:solidFill>
                <a:latin typeface="Calibri"/>
              </a:rPr>
              <a:t>• </a:t>
            </a:r>
            <a:r>
              <a:rPr sz="1200" b="0" i="0">
                <a:solidFill>
                  <a:srgbClr val="1A1A1A"/>
                </a:solidFill>
                <a:latin typeface="Calibri"/>
              </a:rPr>
              <a:t>Politics → power &amp; influence</a:t>
            </a:r>
          </a:p>
        </p:txBody>
      </p:sp>
      <p:sp>
        <p:nvSpPr>
          <p:cNvPr id="23" name="Rounded Rectangle 22"/>
          <p:cNvSpPr/>
          <p:nvPr/>
        </p:nvSpPr>
        <p:spPr>
          <a:xfrm>
            <a:off x="4251960" y="4206240"/>
            <a:ext cx="3840480" cy="2331720"/>
          </a:xfrm>
          <a:prstGeom prst="roundRect">
            <a:avLst>
              <a:gd name="adj" fmla="val 6000"/>
            </a:avLst>
          </a:prstGeom>
          <a:solidFill>
            <a:srgbClr val="FFFFFF"/>
          </a:solidFill>
          <a:ln w="19050">
            <a:solidFill>
              <a:srgbClr val="95A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251960" y="4206240"/>
            <a:ext cx="3840480" cy="457200"/>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51960" y="4526279"/>
            <a:ext cx="3840480" cy="137160"/>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43400" y="4206240"/>
            <a:ext cx="3657600" cy="457200"/>
          </a:xfrm>
          <a:prstGeom prst="rect">
            <a:avLst/>
          </a:prstGeom>
          <a:noFill/>
        </p:spPr>
        <p:txBody>
          <a:bodyPr wrap="square" anchor="ctr" lIns="45720" rIns="45720" tIns="18288" bIns="18288"/>
          <a:lstStyle/>
          <a:p>
            <a:pPr algn="l"/>
            <a:r>
              <a:rPr sz="1700" b="1" i="0">
                <a:solidFill>
                  <a:srgbClr val="FFFFFF"/>
                </a:solidFill>
                <a:latin typeface="Calibri"/>
              </a:rPr>
              <a:t>'Is he really lazy?' mini-case</a:t>
            </a:r>
          </a:p>
        </p:txBody>
      </p:sp>
      <p:sp>
        <p:nvSpPr>
          <p:cNvPr id="27" name="TextBox 26"/>
          <p:cNvSpPr txBox="1"/>
          <p:nvPr/>
        </p:nvSpPr>
        <p:spPr>
          <a:xfrm>
            <a:off x="4325112" y="4718303"/>
            <a:ext cx="3694176" cy="1783079"/>
          </a:xfrm>
          <a:prstGeom prst="rect">
            <a:avLst/>
          </a:prstGeom>
          <a:noFill/>
        </p:spPr>
        <p:txBody>
          <a:bodyPr wrap="square" anchor="t" lIns="54864" rIns="54864" tIns="27432" bIns="27432"/>
          <a:lstStyle/>
          <a:p>
            <a:pPr>
              <a:spcAft>
                <a:spcPts val="300"/>
              </a:spcAft>
            </a:pPr>
            <a:r>
              <a:rPr sz="1400" b="1" i="0">
                <a:solidFill>
                  <a:srgbClr val="1A1A1A"/>
                </a:solidFill>
                <a:latin typeface="Calibri"/>
              </a:rPr>
              <a:t>• </a:t>
            </a:r>
            <a:r>
              <a:rPr sz="1400" b="0" i="0">
                <a:solidFill>
                  <a:srgbClr val="1A1A1A"/>
                </a:solidFill>
                <a:latin typeface="Calibri"/>
              </a:rPr>
              <a:t>Experienced employee: late, avoids meetings, refuses new digital system, complains, stopped helping</a:t>
            </a:r>
          </a:p>
          <a:p>
            <a:pPr>
              <a:spcAft>
                <a:spcPts val="300"/>
              </a:spcAft>
            </a:pPr>
            <a:r>
              <a:rPr sz="1400" b="1" i="0">
                <a:solidFill>
                  <a:srgbClr val="1A1A1A"/>
                </a:solidFill>
                <a:latin typeface="Calibri"/>
              </a:rPr>
              <a:t>• </a:t>
            </a:r>
            <a:r>
              <a:rPr sz="1400" b="0" i="0">
                <a:solidFill>
                  <a:srgbClr val="1A1A1A"/>
                </a:solidFill>
                <a:latin typeface="Calibri"/>
              </a:rPr>
              <a:t>Check: personality · perception of change · attitude/trust · motivation/rewards · emotions/frustration · group ties · leader · culture</a:t>
            </a:r>
          </a:p>
        </p:txBody>
      </p:sp>
      <p:sp>
        <p:nvSpPr>
          <p:cNvPr id="28" name="Rounded Rectangle 27"/>
          <p:cNvSpPr/>
          <p:nvPr/>
        </p:nvSpPr>
        <p:spPr>
          <a:xfrm>
            <a:off x="8229600" y="4206240"/>
            <a:ext cx="3703320" cy="2331720"/>
          </a:xfrm>
          <a:prstGeom prst="roundRect">
            <a:avLst>
              <a:gd name="adj" fmla="val 6000"/>
            </a:avLst>
          </a:prstGeom>
          <a:solidFill>
            <a:srgbClr val="FFFFFF"/>
          </a:solidFill>
          <a:ln w="19050">
            <a:solidFill>
              <a:srgbClr val="95A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229600" y="4206240"/>
            <a:ext cx="3703320" cy="457200"/>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229600" y="4526279"/>
            <a:ext cx="3703320" cy="137160"/>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21040" y="4206240"/>
            <a:ext cx="3520439" cy="457200"/>
          </a:xfrm>
          <a:prstGeom prst="rect">
            <a:avLst/>
          </a:prstGeom>
          <a:noFill/>
        </p:spPr>
        <p:txBody>
          <a:bodyPr wrap="square" anchor="ctr" lIns="45720" rIns="45720" tIns="18288" bIns="18288"/>
          <a:lstStyle/>
          <a:p>
            <a:pPr algn="l"/>
            <a:r>
              <a:rPr sz="1700" b="1" i="0">
                <a:solidFill>
                  <a:srgbClr val="FFFFFF"/>
                </a:solidFill>
                <a:latin typeface="Calibri"/>
              </a:rPr>
              <a:t>Causes &amp; managerial responses</a:t>
            </a:r>
          </a:p>
        </p:txBody>
      </p:sp>
      <p:sp>
        <p:nvSpPr>
          <p:cNvPr id="32" name="TextBox 31"/>
          <p:cNvSpPr txBox="1"/>
          <p:nvPr/>
        </p:nvSpPr>
        <p:spPr>
          <a:xfrm>
            <a:off x="8302752" y="4718303"/>
            <a:ext cx="3557015" cy="1783079"/>
          </a:xfrm>
          <a:prstGeom prst="rect">
            <a:avLst/>
          </a:prstGeom>
          <a:noFill/>
        </p:spPr>
        <p:txBody>
          <a:bodyPr wrap="square" anchor="t" lIns="54864" rIns="54864" tIns="27432" bIns="27432"/>
          <a:lstStyle/>
          <a:p>
            <a:pPr>
              <a:spcAft>
                <a:spcPts val="300"/>
              </a:spcAft>
            </a:pPr>
            <a:r>
              <a:rPr sz="1300" b="1" i="0">
                <a:solidFill>
                  <a:srgbClr val="1A1A1A"/>
                </a:solidFill>
                <a:latin typeface="Calibri"/>
              </a:rPr>
              <a:t>• </a:t>
            </a:r>
            <a:r>
              <a:rPr sz="1300" b="0" i="0">
                <a:solidFill>
                  <a:srgbClr val="1A1A1A"/>
                </a:solidFill>
                <a:latin typeface="Calibri"/>
              </a:rPr>
              <a:t>Causes: individual · job (role ambiguity, workload) · leadership · group · organisation · external</a:t>
            </a:r>
          </a:p>
          <a:p>
            <a:pPr>
              <a:spcAft>
                <a:spcPts val="300"/>
              </a:spcAft>
            </a:pPr>
            <a:r>
              <a:rPr sz="1300" b="1" i="0">
                <a:solidFill>
                  <a:srgbClr val="1A1A1A"/>
                </a:solidFill>
                <a:latin typeface="Calibri"/>
              </a:rPr>
              <a:t>• </a:t>
            </a:r>
            <a:r>
              <a:rPr sz="1300" b="0" i="0">
                <a:solidFill>
                  <a:srgbClr val="1A1A1A"/>
                </a:solidFill>
                <a:latin typeface="Calibri"/>
              </a:rPr>
              <a:t>Responses: clarify roles · coaching &amp; feedback · redesign job · voice channels · recognition · address conflict early</a:t>
            </a:r>
          </a:p>
          <a:p>
            <a:pPr>
              <a:spcAft>
                <a:spcPts val="300"/>
              </a:spcAft>
            </a:pPr>
            <a:r>
              <a:rPr sz="1300" b="1" i="0">
                <a:solidFill>
                  <a:srgbClr val="1A1A1A"/>
                </a:solidFill>
                <a:latin typeface="Calibri"/>
              </a:rPr>
              <a:t>• </a:t>
            </a:r>
            <a:r>
              <a:rPr sz="1300" b="1" i="0">
                <a:solidFill>
                  <a:srgbClr val="1A1A1A"/>
                </a:solidFill>
                <a:latin typeface="Calibri"/>
              </a:rPr>
              <a:t>'Diagnosis, not blame'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200" b="1" i="0">
                <a:solidFill>
                  <a:srgbClr val="FFFFFF"/>
                </a:solidFill>
                <a:latin typeface="Calibri"/>
              </a:rPr>
              <a:t>People-management skills (Starbucks 'Alex') &amp; HR-OB success vs failure</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C4D2E6"/>
                </a:solidFill>
                <a:latin typeface="Calibri"/>
              </a:rPr>
              <a:t>MODULE 1 · INTRO, ETHICS &amp; PROBLEM SOLVING</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Handouts 5 &amp; 8</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13</a:t>
            </a:r>
          </a:p>
        </p:txBody>
      </p:sp>
      <p:sp>
        <p:nvSpPr>
          <p:cNvPr id="7" name="Rounded Rectangle 6"/>
          <p:cNvSpPr/>
          <p:nvPr/>
        </p:nvSpPr>
        <p:spPr>
          <a:xfrm>
            <a:off x="274320" y="1051560"/>
            <a:ext cx="3931920" cy="2926080"/>
          </a:xfrm>
          <a:prstGeom prst="roundRect">
            <a:avLst>
              <a:gd name="adj" fmla="val 6000"/>
            </a:avLst>
          </a:prstGeom>
          <a:solidFill>
            <a:srgbClr val="FFFFFF"/>
          </a:solidFill>
          <a:ln w="19050">
            <a:solidFill>
              <a:srgbClr val="95A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74320" y="1051560"/>
            <a:ext cx="3931920" cy="457200"/>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371600"/>
            <a:ext cx="3931920" cy="137160"/>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051560"/>
            <a:ext cx="3749039" cy="457200"/>
          </a:xfrm>
          <a:prstGeom prst="rect">
            <a:avLst/>
          </a:prstGeom>
          <a:noFill/>
        </p:spPr>
        <p:txBody>
          <a:bodyPr wrap="square" anchor="ctr" lIns="45720" rIns="45720" tIns="18288" bIns="18288"/>
          <a:lstStyle/>
          <a:p>
            <a:pPr algn="l"/>
            <a:r>
              <a:rPr sz="1800" b="1" i="0">
                <a:solidFill>
                  <a:srgbClr val="FFFFFF"/>
                </a:solidFill>
                <a:latin typeface="Calibri"/>
              </a:rPr>
              <a:t>Starbucks store: the situation</a:t>
            </a:r>
          </a:p>
        </p:txBody>
      </p:sp>
      <p:sp>
        <p:nvSpPr>
          <p:cNvPr id="11" name="TextBox 10"/>
          <p:cNvSpPr txBox="1"/>
          <p:nvPr/>
        </p:nvSpPr>
        <p:spPr>
          <a:xfrm>
            <a:off x="347472" y="1563624"/>
            <a:ext cx="3785615" cy="2377440"/>
          </a:xfrm>
          <a:prstGeom prst="rect">
            <a:avLst/>
          </a:prstGeom>
          <a:noFill/>
        </p:spPr>
        <p:txBody>
          <a:bodyPr wrap="square" anchor="t" lIns="54864" rIns="54864" tIns="27432" bIns="27432"/>
          <a:lstStyle/>
          <a:p>
            <a:pPr>
              <a:spcAft>
                <a:spcPts val="300"/>
              </a:spcAft>
            </a:pPr>
            <a:r>
              <a:rPr sz="1400" b="1" i="0">
                <a:solidFill>
                  <a:srgbClr val="1A1A1A"/>
                </a:solidFill>
                <a:latin typeface="Calibri"/>
              </a:rPr>
              <a:t>• </a:t>
            </a:r>
            <a:r>
              <a:rPr sz="1400" b="0" i="0">
                <a:solidFill>
                  <a:srgbClr val="1A1A1A"/>
                </a:solidFill>
                <a:latin typeface="Calibri"/>
              </a:rPr>
              <a:t>Long queues, staff shortages; manager </a:t>
            </a:r>
            <a:r>
              <a:rPr sz="1400" b="1" i="0">
                <a:solidFill>
                  <a:srgbClr val="1A1A1A"/>
                </a:solidFill>
                <a:latin typeface="Calibri"/>
              </a:rPr>
              <a:t>Alex</a:t>
            </a:r>
            <a:r>
              <a:rPr sz="1400" b="0" i="0">
                <a:solidFill>
                  <a:srgbClr val="1A1A1A"/>
                </a:solidFill>
                <a:latin typeface="Calibri"/>
              </a:rPr>
              <a:t> focuses only on targets &amp; efficiency</a:t>
            </a:r>
          </a:p>
          <a:p>
            <a:pPr>
              <a:spcAft>
                <a:spcPts val="300"/>
              </a:spcAft>
            </a:pPr>
            <a:r>
              <a:rPr sz="1400" b="1" i="0">
                <a:solidFill>
                  <a:srgbClr val="1A1A1A"/>
                </a:solidFill>
                <a:latin typeface="Calibri"/>
              </a:rPr>
              <a:t>• </a:t>
            </a:r>
            <a:r>
              <a:rPr sz="1400" b="0" i="0">
                <a:solidFill>
                  <a:srgbClr val="1A1A1A"/>
                </a:solidFill>
                <a:latin typeface="Calibri"/>
              </a:rPr>
              <a:t>Publicly criticises mistakes, 'work faster'</a:t>
            </a:r>
          </a:p>
          <a:p>
            <a:pPr>
              <a:spcAft>
                <a:spcPts val="300"/>
              </a:spcAft>
            </a:pPr>
            <a:r>
              <a:rPr sz="1400" b="1" i="0">
                <a:solidFill>
                  <a:srgbClr val="1A1A1A"/>
                </a:solidFill>
                <a:latin typeface="Calibri"/>
              </a:rPr>
              <a:t>• </a:t>
            </a:r>
            <a:r>
              <a:rPr sz="1400" b="0" i="0">
                <a:solidFill>
                  <a:srgbClr val="1A1A1A"/>
                </a:solidFill>
                <a:latin typeface="Calibri"/>
              </a:rPr>
              <a:t>→ short-term productivity ↑, then silence, blame, experienced staff leave, absenteeism, complaints ↑</a:t>
            </a:r>
          </a:p>
          <a:p>
            <a:pPr>
              <a:spcAft>
                <a:spcPts val="300"/>
              </a:spcAft>
            </a:pPr>
            <a:r>
              <a:rPr sz="1400" b="1" i="0">
                <a:solidFill>
                  <a:srgbClr val="1A1A1A"/>
                </a:solidFill>
                <a:latin typeface="Calibri"/>
              </a:rPr>
              <a:t>• </a:t>
            </a:r>
            <a:r>
              <a:rPr sz="1400" b="0" i="0">
                <a:solidFill>
                  <a:srgbClr val="1A1A1A"/>
                </a:solidFill>
                <a:latin typeface="Calibri"/>
              </a:rPr>
              <a:t>Alex: 'I communicated targets… why isn't the team performing?'</a:t>
            </a:r>
          </a:p>
        </p:txBody>
      </p:sp>
      <p:sp>
        <p:nvSpPr>
          <p:cNvPr id="12" name="Rounded Rectangle 11"/>
          <p:cNvSpPr/>
          <p:nvPr/>
        </p:nvSpPr>
        <p:spPr>
          <a:xfrm>
            <a:off x="274320" y="4114800"/>
            <a:ext cx="3931920" cy="2423160"/>
          </a:xfrm>
          <a:prstGeom prst="roundRect">
            <a:avLst>
              <a:gd name="adj" fmla="val 6000"/>
            </a:avLst>
          </a:prstGeom>
          <a:solidFill>
            <a:srgbClr val="FFFFFF"/>
          </a:solidFill>
          <a:ln w="19050">
            <a:solidFill>
              <a:srgbClr val="95A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74320" y="4114800"/>
            <a:ext cx="3931920" cy="457200"/>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4320" y="4434840"/>
            <a:ext cx="3931920" cy="137160"/>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4114800"/>
            <a:ext cx="3749039" cy="457200"/>
          </a:xfrm>
          <a:prstGeom prst="rect">
            <a:avLst/>
          </a:prstGeom>
          <a:noFill/>
        </p:spPr>
        <p:txBody>
          <a:bodyPr wrap="square" anchor="ctr" lIns="45720" rIns="45720" tIns="18288" bIns="18288"/>
          <a:lstStyle/>
          <a:p>
            <a:pPr algn="l"/>
            <a:r>
              <a:rPr sz="1900" b="1" i="0">
                <a:solidFill>
                  <a:srgbClr val="FFFFFF"/>
                </a:solidFill>
                <a:latin typeface="Calibri"/>
              </a:rPr>
              <a:t>Diagnosis</a:t>
            </a:r>
          </a:p>
        </p:txBody>
      </p:sp>
      <p:sp>
        <p:nvSpPr>
          <p:cNvPr id="16" name="TextBox 15"/>
          <p:cNvSpPr txBox="1"/>
          <p:nvPr/>
        </p:nvSpPr>
        <p:spPr>
          <a:xfrm>
            <a:off x="347472" y="4626864"/>
            <a:ext cx="3785615" cy="1874519"/>
          </a:xfrm>
          <a:prstGeom prst="rect">
            <a:avLst/>
          </a:prstGeom>
          <a:noFill/>
        </p:spPr>
        <p:txBody>
          <a:bodyPr wrap="square" anchor="t" lIns="54864" rIns="54864" tIns="27432" bIns="27432"/>
          <a:lstStyle/>
          <a:p>
            <a:pPr>
              <a:spcAft>
                <a:spcPts val="300"/>
              </a:spcAft>
            </a:pPr>
            <a:r>
              <a:rPr sz="1400" b="1" i="0">
                <a:solidFill>
                  <a:srgbClr val="1A1A1A"/>
                </a:solidFill>
                <a:latin typeface="Calibri"/>
              </a:rPr>
              <a:t>• </a:t>
            </a:r>
            <a:r>
              <a:rPr sz="1400" b="0" i="0">
                <a:solidFill>
                  <a:srgbClr val="1A1A1A"/>
                </a:solidFill>
                <a:latin typeface="Calibri"/>
              </a:rPr>
              <a:t>A </a:t>
            </a:r>
            <a:r>
              <a:rPr sz="1400" b="1" i="0">
                <a:solidFill>
                  <a:srgbClr val="1A1A1A"/>
                </a:solidFill>
                <a:latin typeface="Calibri"/>
              </a:rPr>
              <a:t>people-management</a:t>
            </a:r>
            <a:r>
              <a:rPr sz="1400" b="0" i="0">
                <a:solidFill>
                  <a:srgbClr val="1A1A1A"/>
                </a:solidFill>
                <a:latin typeface="Calibri"/>
              </a:rPr>
              <a:t> problem, not a productivity problem</a:t>
            </a:r>
          </a:p>
          <a:p>
            <a:pPr>
              <a:spcAft>
                <a:spcPts val="300"/>
              </a:spcAft>
            </a:pPr>
            <a:r>
              <a:rPr sz="1400" b="1" i="0">
                <a:solidFill>
                  <a:srgbClr val="1A1A1A"/>
                </a:solidFill>
                <a:latin typeface="Calibri"/>
              </a:rPr>
              <a:t>• </a:t>
            </a:r>
            <a:r>
              <a:rPr sz="1400" b="0" i="0">
                <a:solidFill>
                  <a:srgbClr val="1A1A1A"/>
                </a:solidFill>
                <a:latin typeface="Calibri"/>
              </a:rPr>
              <a:t>Public criticism → ↓ trust &amp; psychological safety; pressure without support → ↓ motivation; blame → ↓ teamwork</a:t>
            </a:r>
          </a:p>
          <a:p>
            <a:pPr>
              <a:spcAft>
                <a:spcPts val="300"/>
              </a:spcAft>
            </a:pPr>
            <a:r>
              <a:rPr sz="1400" b="1" i="0">
                <a:solidFill>
                  <a:srgbClr val="1A1A1A"/>
                </a:solidFill>
                <a:latin typeface="Calibri"/>
              </a:rPr>
              <a:t>• </a:t>
            </a:r>
            <a:r>
              <a:rPr sz="1400" b="0" i="0">
                <a:solidFill>
                  <a:srgbClr val="1A1A1A"/>
                </a:solidFill>
                <a:latin typeface="Calibri"/>
              </a:rPr>
              <a:t>Task-focused: 'Work faster' vs people-focused: 'What is causing the delay?'</a:t>
            </a:r>
          </a:p>
        </p:txBody>
      </p:sp>
      <p:sp>
        <p:nvSpPr>
          <p:cNvPr id="17" name="Rounded Rectangle 16"/>
          <p:cNvSpPr/>
          <p:nvPr/>
        </p:nvSpPr>
        <p:spPr>
          <a:xfrm>
            <a:off x="4343400" y="1051560"/>
            <a:ext cx="3749039" cy="5486400"/>
          </a:xfrm>
          <a:prstGeom prst="roundRect">
            <a:avLst>
              <a:gd name="adj" fmla="val 6000"/>
            </a:avLst>
          </a:prstGeom>
          <a:solidFill>
            <a:srgbClr val="FFFFFF"/>
          </a:solidFill>
          <a:ln w="19050">
            <a:solidFill>
              <a:srgbClr val="95A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343400" y="1051560"/>
            <a:ext cx="3749039" cy="457200"/>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43400" y="1371600"/>
            <a:ext cx="3749039" cy="137160"/>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34840" y="1051560"/>
            <a:ext cx="3566159" cy="457200"/>
          </a:xfrm>
          <a:prstGeom prst="rect">
            <a:avLst/>
          </a:prstGeom>
          <a:noFill/>
        </p:spPr>
        <p:txBody>
          <a:bodyPr wrap="square" anchor="ctr" lIns="45720" rIns="45720" tIns="18288" bIns="18288"/>
          <a:lstStyle/>
          <a:p>
            <a:pPr algn="l"/>
            <a:r>
              <a:rPr sz="1900" b="1" i="0">
                <a:solidFill>
                  <a:srgbClr val="FFFFFF"/>
                </a:solidFill>
                <a:latin typeface="Calibri"/>
              </a:rPr>
              <a:t>8 key skills → outcomes</a:t>
            </a:r>
          </a:p>
        </p:txBody>
      </p:sp>
      <p:sp>
        <p:nvSpPr>
          <p:cNvPr id="21" name="TextBox 20"/>
          <p:cNvSpPr txBox="1"/>
          <p:nvPr/>
        </p:nvSpPr>
        <p:spPr>
          <a:xfrm>
            <a:off x="4416552" y="1563624"/>
            <a:ext cx="3602735" cy="4937760"/>
          </a:xfrm>
          <a:prstGeom prst="rect">
            <a:avLst/>
          </a:prstGeom>
          <a:noFill/>
        </p:spPr>
        <p:txBody>
          <a:bodyPr wrap="square" anchor="t" lIns="54864" rIns="54864" tIns="27432" bIns="27432"/>
          <a:lstStyle/>
          <a:p>
            <a:pPr>
              <a:spcAft>
                <a:spcPts val="300"/>
              </a:spcAft>
            </a:pPr>
            <a:r>
              <a:rPr sz="1500" b="1" i="0">
                <a:solidFill>
                  <a:srgbClr val="1A1A1A"/>
                </a:solidFill>
                <a:latin typeface="Calibri"/>
              </a:rPr>
              <a:t>• </a:t>
            </a:r>
            <a:r>
              <a:rPr sz="1500" b="0" i="0">
                <a:solidFill>
                  <a:srgbClr val="1A1A1A"/>
                </a:solidFill>
                <a:latin typeface="Calibri"/>
              </a:rPr>
              <a:t>Communication → coordination</a:t>
            </a:r>
          </a:p>
          <a:p>
            <a:pPr>
              <a:spcAft>
                <a:spcPts val="300"/>
              </a:spcAft>
            </a:pPr>
            <a:r>
              <a:rPr sz="1500" b="1" i="0">
                <a:solidFill>
                  <a:srgbClr val="1A1A1A"/>
                </a:solidFill>
                <a:latin typeface="Calibri"/>
              </a:rPr>
              <a:t>• </a:t>
            </a:r>
            <a:r>
              <a:rPr sz="1500" b="0" i="0">
                <a:solidFill>
                  <a:srgbClr val="1A1A1A"/>
                </a:solidFill>
                <a:latin typeface="Calibri"/>
              </a:rPr>
              <a:t>Active listening → early problem detection</a:t>
            </a:r>
          </a:p>
          <a:p>
            <a:pPr>
              <a:spcAft>
                <a:spcPts val="300"/>
              </a:spcAft>
            </a:pPr>
            <a:r>
              <a:rPr sz="1500" b="1" i="0">
                <a:solidFill>
                  <a:srgbClr val="1A1A1A"/>
                </a:solidFill>
                <a:latin typeface="Calibri"/>
              </a:rPr>
              <a:t>• </a:t>
            </a:r>
            <a:r>
              <a:rPr sz="1500" b="0" i="0">
                <a:solidFill>
                  <a:srgbClr val="1A1A1A"/>
                </a:solidFill>
                <a:latin typeface="Calibri"/>
              </a:rPr>
              <a:t>Emotional intelligence</a:t>
            </a:r>
          </a:p>
          <a:p>
            <a:pPr>
              <a:spcAft>
                <a:spcPts val="300"/>
              </a:spcAft>
            </a:pPr>
            <a:r>
              <a:rPr sz="1500" b="1" i="0">
                <a:solidFill>
                  <a:srgbClr val="1A1A1A"/>
                </a:solidFill>
                <a:latin typeface="Calibri"/>
              </a:rPr>
              <a:t>• </a:t>
            </a:r>
            <a:r>
              <a:rPr sz="1500" b="0" i="0">
                <a:solidFill>
                  <a:srgbClr val="1A1A1A"/>
                </a:solidFill>
                <a:latin typeface="Calibri"/>
              </a:rPr>
              <a:t>Empathy → relationships</a:t>
            </a:r>
          </a:p>
          <a:p>
            <a:pPr>
              <a:spcAft>
                <a:spcPts val="300"/>
              </a:spcAft>
            </a:pPr>
            <a:r>
              <a:rPr sz="1500" b="1" i="0">
                <a:solidFill>
                  <a:srgbClr val="1A1A1A"/>
                </a:solidFill>
                <a:latin typeface="Calibri"/>
              </a:rPr>
              <a:t>• </a:t>
            </a:r>
            <a:r>
              <a:rPr sz="1500" b="0" i="0">
                <a:solidFill>
                  <a:srgbClr val="1A1A1A"/>
                </a:solidFill>
                <a:latin typeface="Calibri"/>
              </a:rPr>
              <a:t>Constructive feedback (private, not humiliating) → learning</a:t>
            </a:r>
          </a:p>
          <a:p>
            <a:pPr>
              <a:spcAft>
                <a:spcPts val="300"/>
              </a:spcAft>
            </a:pPr>
            <a:r>
              <a:rPr sz="1500" b="1" i="0">
                <a:solidFill>
                  <a:srgbClr val="1A1A1A"/>
                </a:solidFill>
                <a:latin typeface="Calibri"/>
              </a:rPr>
              <a:t>• </a:t>
            </a:r>
            <a:r>
              <a:rPr sz="1500" b="0" i="0">
                <a:solidFill>
                  <a:srgbClr val="1A1A1A"/>
                </a:solidFill>
                <a:latin typeface="Calibri"/>
              </a:rPr>
              <a:t>Coaching → capability</a:t>
            </a:r>
          </a:p>
          <a:p>
            <a:pPr>
              <a:spcAft>
                <a:spcPts val="300"/>
              </a:spcAft>
            </a:pPr>
            <a:r>
              <a:rPr sz="1500" b="1" i="0">
                <a:solidFill>
                  <a:srgbClr val="1A1A1A"/>
                </a:solidFill>
                <a:latin typeface="Calibri"/>
              </a:rPr>
              <a:t>• </a:t>
            </a:r>
            <a:r>
              <a:rPr sz="1500" b="0" i="0">
                <a:solidFill>
                  <a:srgbClr val="1A1A1A"/>
                </a:solidFill>
                <a:latin typeface="Calibri"/>
              </a:rPr>
              <a:t>Conflict management → teamwork</a:t>
            </a:r>
          </a:p>
          <a:p>
            <a:pPr>
              <a:spcAft>
                <a:spcPts val="300"/>
              </a:spcAft>
            </a:pPr>
            <a:r>
              <a:rPr sz="1500" b="1" i="0">
                <a:solidFill>
                  <a:srgbClr val="1A1A1A"/>
                </a:solidFill>
                <a:latin typeface="Calibri"/>
              </a:rPr>
              <a:t>• </a:t>
            </a:r>
            <a:r>
              <a:rPr sz="1500" b="0" i="0">
                <a:solidFill>
                  <a:srgbClr val="1A1A1A"/>
                </a:solidFill>
                <a:latin typeface="Calibri"/>
              </a:rPr>
              <a:t>Recognition → engagement</a:t>
            </a:r>
          </a:p>
          <a:p>
            <a:pPr>
              <a:spcAft>
                <a:spcPts val="300"/>
              </a:spcAft>
            </a:pPr>
            <a:r>
              <a:rPr sz="1500" b="1" i="0">
                <a:solidFill>
                  <a:srgbClr val="1A1A1A"/>
                </a:solidFill>
                <a:latin typeface="Calibri"/>
              </a:rPr>
              <a:t>• </a:t>
            </a:r>
            <a:r>
              <a:rPr sz="1500" b="0" i="0">
                <a:solidFill>
                  <a:srgbClr val="1A1A1A"/>
                </a:solidFill>
                <a:latin typeface="Calibri"/>
              </a:rPr>
              <a:t>Delegation → ownership</a:t>
            </a:r>
          </a:p>
          <a:p>
            <a:pPr>
              <a:spcAft>
                <a:spcPts val="300"/>
              </a:spcAft>
            </a:pPr>
            <a:r>
              <a:rPr sz="1500" b="1" i="0">
                <a:solidFill>
                  <a:srgbClr val="1A1A1A"/>
                </a:solidFill>
                <a:latin typeface="Calibri"/>
              </a:rPr>
              <a:t>Dashboard Alex should track</a:t>
            </a:r>
          </a:p>
          <a:p>
            <a:pPr>
              <a:spcAft>
                <a:spcPts val="300"/>
              </a:spcAft>
            </a:pPr>
            <a:r>
              <a:rPr sz="1500" b="1" i="0">
                <a:solidFill>
                  <a:srgbClr val="1A1A1A"/>
                </a:solidFill>
                <a:latin typeface="Calibri"/>
              </a:rPr>
              <a:t>• </a:t>
            </a:r>
            <a:r>
              <a:rPr sz="1500" b="0" i="0">
                <a:solidFill>
                  <a:srgbClr val="1A1A1A"/>
                </a:solidFill>
                <a:latin typeface="Calibri"/>
              </a:rPr>
              <a:t>Business (sales, complaints) + People (absenteeism, turnover, engagement) + Team (conflict, peer support) + Leadership (trust, voice)</a:t>
            </a:r>
          </a:p>
        </p:txBody>
      </p:sp>
      <p:graphicFrame>
        <p:nvGraphicFramePr>
          <p:cNvPr id="22" name="Table 21"/>
          <p:cNvGraphicFramePr>
            <a:graphicFrameLocks noGrp="1"/>
          </p:cNvGraphicFramePr>
          <p:nvPr/>
        </p:nvGraphicFramePr>
        <p:xfrm>
          <a:off x="8229600" y="1051560"/>
          <a:ext cx="3703320" cy="5486397"/>
        </p:xfrm>
        <a:graphic>
          <a:graphicData uri="http://schemas.openxmlformats.org/drawingml/2006/table">
            <a:tbl>
              <a:tblPr firstRow="1" bandRow="1">
                <a:tableStyleId>{5C22544A-7EE6-4342-B048-85BDC9FD1C3A}</a:tableStyleId>
              </a:tblPr>
              <a:tblGrid>
                <a:gridCol w="1851660"/>
                <a:gridCol w="1851660"/>
              </a:tblGrid>
              <a:tr h="783771">
                <a:tc>
                  <a:txBody>
                    <a:bodyPr wrap="square"/>
                    <a:lstStyle/>
                    <a:p>
                      <a:r>
                        <a:rPr sz="1400" b="1" i="0">
                          <a:solidFill>
                            <a:srgbClr val="FFFFFF"/>
                          </a:solidFill>
                          <a:latin typeface="Calibri"/>
                        </a:rPr>
                        <a:t>Infosys ✔ (success)</a:t>
                      </a:r>
                    </a:p>
                  </a:txBody>
                  <a:tcPr marL="54864" marR="54864" marT="27432" marB="27432" anchor="ctr">
                    <a:solidFill>
                      <a:srgbClr val="154C9E"/>
                    </a:solidFill>
                  </a:tcPr>
                </a:tc>
                <a:tc>
                  <a:txBody>
                    <a:bodyPr wrap="square"/>
                    <a:lstStyle/>
                    <a:p>
                      <a:r>
                        <a:rPr sz="1400" b="1" i="0">
                          <a:solidFill>
                            <a:srgbClr val="FFFFFF"/>
                          </a:solidFill>
                          <a:latin typeface="Calibri"/>
                        </a:rPr>
                        <a:t>Jet Airways ✘ (failure)</a:t>
                      </a:r>
                    </a:p>
                  </a:txBody>
                  <a:tcPr marL="54864" marR="54864" marT="27432" marB="27432" anchor="ctr">
                    <a:solidFill>
                      <a:srgbClr val="154C9E"/>
                    </a:solidFill>
                  </a:tcPr>
                </a:tc>
              </a:tr>
              <a:tr h="783771">
                <a:tc>
                  <a:txBody>
                    <a:bodyPr wrap="square"/>
                    <a:lstStyle/>
                    <a:p>
                      <a:r>
                        <a:rPr sz="1400" b="0" i="0">
                          <a:solidFill>
                            <a:srgbClr val="1A1A1A"/>
                          </a:solidFill>
                          <a:latin typeface="Calibri"/>
                        </a:rPr>
                        <a:t>L&amp;D culture: 'Lex' learning platform</a:t>
                      </a:r>
                    </a:p>
                  </a:txBody>
                  <a:tcPr marL="54864" marR="54864" marT="27432" marB="27432" anchor="ctr">
                    <a:solidFill>
                      <a:srgbClr val="FFFFFF"/>
                    </a:solidFill>
                  </a:tcPr>
                </a:tc>
                <a:tc>
                  <a:txBody>
                    <a:bodyPr wrap="square"/>
                    <a:lstStyle/>
                    <a:p>
                      <a:r>
                        <a:rPr sz="1400" b="0" i="0">
                          <a:solidFill>
                            <a:srgbClr val="1A1A1A"/>
                          </a:solidFill>
                          <a:latin typeface="Calibri"/>
                        </a:rPr>
                        <a:t>Poor employee relations &amp; communication</a:t>
                      </a:r>
                    </a:p>
                  </a:txBody>
                  <a:tcPr marL="54864" marR="54864" marT="27432" marB="27432" anchor="ctr">
                    <a:solidFill>
                      <a:srgbClr val="FFFFFF"/>
                    </a:solidFill>
                  </a:tcPr>
                </a:tc>
              </a:tr>
              <a:tr h="783771">
                <a:tc>
                  <a:txBody>
                    <a:bodyPr wrap="square"/>
                    <a:lstStyle/>
                    <a:p>
                      <a:r>
                        <a:rPr sz="1400" b="0" i="0">
                          <a:solidFill>
                            <a:srgbClr val="1A1A1A"/>
                          </a:solidFill>
                          <a:latin typeface="Calibri"/>
                        </a:rPr>
                        <a:t>Transparent career paths, competency appraisals</a:t>
                      </a:r>
                    </a:p>
                  </a:txBody>
                  <a:tcPr marL="54864" marR="54864" marT="27432" marB="27432" anchor="ctr">
                    <a:solidFill>
                      <a:srgbClr val="E7EDF5"/>
                    </a:solidFill>
                  </a:tcPr>
                </a:tc>
                <a:tc>
                  <a:txBody>
                    <a:bodyPr wrap="square"/>
                    <a:lstStyle/>
                    <a:p>
                      <a:r>
                        <a:rPr sz="1400" b="0" i="0">
                          <a:solidFill>
                            <a:srgbClr val="1A1A1A"/>
                          </a:solidFill>
                          <a:latin typeface="Calibri"/>
                        </a:rPr>
                        <a:t>Unfair compensation, delayed salaries</a:t>
                      </a:r>
                    </a:p>
                  </a:txBody>
                  <a:tcPr marL="54864" marR="54864" marT="27432" marB="27432" anchor="ctr">
                    <a:solidFill>
                      <a:srgbClr val="E7EDF5"/>
                    </a:solidFill>
                  </a:tcPr>
                </a:tc>
              </a:tr>
              <a:tr h="783771">
                <a:tc>
                  <a:txBody>
                    <a:bodyPr wrap="square"/>
                    <a:lstStyle/>
                    <a:p>
                      <a:r>
                        <a:rPr sz="1400" b="0" i="0">
                          <a:solidFill>
                            <a:srgbClr val="1A1A1A"/>
                          </a:solidFill>
                          <a:latin typeface="Calibri"/>
                        </a:rPr>
                        <a:t>'Infosys Cares', InfyMe app; open grievance portals</a:t>
                      </a:r>
                    </a:p>
                  </a:txBody>
                  <a:tcPr marL="54864" marR="54864" marT="27432" marB="27432" anchor="ctr">
                    <a:solidFill>
                      <a:srgbClr val="FFFFFF"/>
                    </a:solidFill>
                  </a:tcPr>
                </a:tc>
                <a:tc>
                  <a:txBody>
                    <a:bodyPr wrap="square"/>
                    <a:lstStyle/>
                    <a:p>
                      <a:r>
                        <a:rPr sz="1400" b="0" i="0">
                          <a:solidFill>
                            <a:srgbClr val="1A1A1A"/>
                          </a:solidFill>
                          <a:latin typeface="Calibri"/>
                        </a:rPr>
                        <a:t>Low morale, no engagement</a:t>
                      </a:r>
                    </a:p>
                  </a:txBody>
                  <a:tcPr marL="54864" marR="54864" marT="27432" marB="27432" anchor="ctr">
                    <a:solidFill>
                      <a:srgbClr val="FFFFFF"/>
                    </a:solidFill>
                  </a:tcPr>
                </a:tc>
              </a:tr>
              <a:tr h="783771">
                <a:tc>
                  <a:txBody>
                    <a:bodyPr wrap="square"/>
                    <a:lstStyle/>
                    <a:p>
                      <a:r>
                        <a:rPr sz="1400" b="0" i="0">
                          <a:solidFill>
                            <a:srgbClr val="1A1A1A"/>
                          </a:solidFill>
                          <a:latin typeface="Calibri"/>
                        </a:rPr>
                        <a:t>Women in Leadership; flexible work, maternity benefits</a:t>
                      </a:r>
                    </a:p>
                  </a:txBody>
                  <a:tcPr marL="54864" marR="54864" marT="27432" marB="27432" anchor="ctr">
                    <a:solidFill>
                      <a:srgbClr val="E7EDF5"/>
                    </a:solidFill>
                  </a:tcPr>
                </a:tc>
                <a:tc>
                  <a:txBody>
                    <a:bodyPr wrap="square"/>
                    <a:lstStyle/>
                    <a:p>
                      <a:r>
                        <a:rPr sz="1400" b="0" i="0">
                          <a:solidFill>
                            <a:srgbClr val="1A1A1A"/>
                          </a:solidFill>
                          <a:latin typeface="Calibri"/>
                        </a:rPr>
                        <a:t>No workforce planning (overstaffing + skill gaps)</a:t>
                      </a:r>
                    </a:p>
                  </a:txBody>
                  <a:tcPr marL="54864" marR="54864" marT="27432" marB="27432" anchor="ctr">
                    <a:solidFill>
                      <a:srgbClr val="E7EDF5"/>
                    </a:solidFill>
                  </a:tcPr>
                </a:tc>
              </a:tr>
              <a:tr h="783771">
                <a:tc>
                  <a:txBody>
                    <a:bodyPr wrap="square"/>
                    <a:lstStyle/>
                    <a:p>
                      <a:r>
                        <a:rPr sz="1400" b="0" i="0">
                          <a:solidFill>
                            <a:srgbClr val="1A1A1A"/>
                          </a:solidFill>
                          <a:latin typeface="Calibri"/>
                        </a:rPr>
                        <a:t>Values: C-LIFE; ethical leadership</a:t>
                      </a:r>
                    </a:p>
                  </a:txBody>
                  <a:tcPr marL="54864" marR="54864" marT="27432" marB="27432" anchor="ctr">
                    <a:solidFill>
                      <a:srgbClr val="FFFFFF"/>
                    </a:solidFill>
                  </a:tcPr>
                </a:tc>
                <a:tc>
                  <a:txBody>
                    <a:bodyPr wrap="square"/>
                    <a:lstStyle/>
                    <a:p>
                      <a:r>
                        <a:rPr sz="1400" b="0" i="0">
                          <a:solidFill>
                            <a:srgbClr val="1A1A1A"/>
                          </a:solidFill>
                          <a:latin typeface="Calibri"/>
                        </a:rPr>
                        <a:t>No change mgmt when IndiGo/SpiceJet disrupted</a:t>
                      </a:r>
                    </a:p>
                  </a:txBody>
                  <a:tcPr marL="54864" marR="54864" marT="27432" marB="27432" anchor="ctr">
                    <a:solidFill>
                      <a:srgbClr val="FFFFFF"/>
                    </a:solidFill>
                  </a:tcPr>
                </a:tc>
              </a:tr>
              <a:tr h="783771">
                <a:tc>
                  <a:txBody>
                    <a:bodyPr wrap="square"/>
                    <a:lstStyle/>
                    <a:p>
                      <a:r>
                        <a:rPr sz="1400" b="0" i="0">
                          <a:solidFill>
                            <a:srgbClr val="1A1A1A"/>
                          </a:solidFill>
                          <a:latin typeface="Calibri"/>
                        </a:rPr>
                        <a:t>First Indian co. on NASDAQ; low attrition</a:t>
                      </a:r>
                    </a:p>
                  </a:txBody>
                  <a:tcPr marL="54864" marR="54864" marT="27432" marB="27432" anchor="ctr">
                    <a:solidFill>
                      <a:srgbClr val="E7EDF5"/>
                    </a:solidFill>
                  </a:tcPr>
                </a:tc>
                <a:tc>
                  <a:txBody>
                    <a:bodyPr wrap="square"/>
                    <a:lstStyle/>
                    <a:p>
                      <a:r>
                        <a:rPr sz="1400" b="0" i="0">
                          <a:solidFill>
                            <a:srgbClr val="1A1A1A"/>
                          </a:solidFill>
                          <a:latin typeface="Calibri"/>
                        </a:rPr>
                        <a:t>Shut April 2019; 20,000+ jobless</a:t>
                      </a:r>
                    </a:p>
                  </a:txBody>
                  <a:tcPr marL="54864" marR="54864" marT="27432" marB="27432" anchor="ctr">
                    <a:solidFill>
                      <a:srgbClr val="E7EDF5"/>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200" b="1" i="0">
                <a:solidFill>
                  <a:srgbClr val="FFFFFF"/>
                </a:solidFill>
                <a:latin typeface="Calibri"/>
              </a:rPr>
              <a:t>R1: Indiana Dept. of Revenue: from bureaucracy to Top-100 US workplace</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C4D2E6"/>
                </a:solidFill>
                <a:latin typeface="Calibri"/>
              </a:rPr>
              <a:t>MODULE 1 · INTRO, ETHICS &amp; PROBLEM SOLVING</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Austrom, Business Horizons 2024</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14</a:t>
            </a:r>
          </a:p>
        </p:txBody>
      </p:sp>
      <p:sp>
        <p:nvSpPr>
          <p:cNvPr id="7" name="Rounded Rectangle 6"/>
          <p:cNvSpPr/>
          <p:nvPr/>
        </p:nvSpPr>
        <p:spPr>
          <a:xfrm>
            <a:off x="274320" y="1051560"/>
            <a:ext cx="3840480" cy="2788920"/>
          </a:xfrm>
          <a:prstGeom prst="roundRect">
            <a:avLst>
              <a:gd name="adj" fmla="val 6000"/>
            </a:avLst>
          </a:prstGeom>
          <a:solidFill>
            <a:srgbClr val="FFFFFF"/>
          </a:solidFill>
          <a:ln w="19050">
            <a:solidFill>
              <a:srgbClr val="95A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74320" y="1051560"/>
            <a:ext cx="3840480" cy="457200"/>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371600"/>
            <a:ext cx="3840480" cy="137160"/>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051560"/>
            <a:ext cx="3657600" cy="457200"/>
          </a:xfrm>
          <a:prstGeom prst="rect">
            <a:avLst/>
          </a:prstGeom>
          <a:noFill/>
        </p:spPr>
        <p:txBody>
          <a:bodyPr wrap="square" anchor="ctr" lIns="45720" rIns="45720" tIns="18288" bIns="18288"/>
          <a:lstStyle/>
          <a:p>
            <a:pPr algn="l"/>
            <a:r>
              <a:rPr sz="1900" b="1" i="0">
                <a:solidFill>
                  <a:srgbClr val="FFFFFF"/>
                </a:solidFill>
                <a:latin typeface="Calibri"/>
              </a:rPr>
              <a:t>The crisis (2011–12)</a:t>
            </a:r>
          </a:p>
        </p:txBody>
      </p:sp>
      <p:sp>
        <p:nvSpPr>
          <p:cNvPr id="11" name="TextBox 10"/>
          <p:cNvSpPr txBox="1"/>
          <p:nvPr/>
        </p:nvSpPr>
        <p:spPr>
          <a:xfrm>
            <a:off x="347472" y="1563624"/>
            <a:ext cx="3694176" cy="2240279"/>
          </a:xfrm>
          <a:prstGeom prst="rect">
            <a:avLst/>
          </a:prstGeom>
          <a:noFill/>
        </p:spPr>
        <p:txBody>
          <a:bodyPr wrap="square" anchor="t" lIns="54864" rIns="54864" tIns="27432" bIns="27432"/>
          <a:lstStyle/>
          <a:p>
            <a:pPr>
              <a:spcAft>
                <a:spcPts val="300"/>
              </a:spcAft>
            </a:pPr>
            <a:r>
              <a:rPr sz="1500" b="1" i="0">
                <a:solidFill>
                  <a:srgbClr val="1A1A1A"/>
                </a:solidFill>
                <a:latin typeface="Calibri"/>
              </a:rPr>
              <a:t>• </a:t>
            </a:r>
            <a:r>
              <a:rPr sz="1500" b="0" i="0">
                <a:solidFill>
                  <a:srgbClr val="1A1A1A"/>
                </a:solidFill>
                <a:latin typeface="Calibri"/>
              </a:rPr>
              <a:t>Failed to distribute </a:t>
            </a:r>
            <a:r>
              <a:rPr sz="1500" b="1" i="0">
                <a:solidFill>
                  <a:srgbClr val="1A1A1A"/>
                </a:solidFill>
                <a:latin typeface="Calibri"/>
              </a:rPr>
              <a:t>$205M</a:t>
            </a:r>
            <a:r>
              <a:rPr sz="1500" b="0" i="0">
                <a:solidFill>
                  <a:srgbClr val="1A1A1A"/>
                </a:solidFill>
                <a:latin typeface="Calibri"/>
              </a:rPr>
              <a:t> local tax revenue + $320M corporate taxes misallocated → </a:t>
            </a:r>
            <a:r>
              <a:rPr sz="1500" b="1" i="0">
                <a:solidFill>
                  <a:srgbClr val="1A1A1A"/>
                </a:solidFill>
                <a:latin typeface="Calibri"/>
              </a:rPr>
              <a:t>$526M errors</a:t>
            </a:r>
          </a:p>
          <a:p>
            <a:pPr>
              <a:spcAft>
                <a:spcPts val="300"/>
              </a:spcAft>
            </a:pPr>
            <a:r>
              <a:rPr sz="1500" b="1" i="0">
                <a:solidFill>
                  <a:srgbClr val="1A1A1A"/>
                </a:solidFill>
                <a:latin typeface="Calibri"/>
              </a:rPr>
              <a:t>• </a:t>
            </a:r>
            <a:r>
              <a:rPr sz="1500" b="0" i="0">
                <a:solidFill>
                  <a:srgbClr val="1A1A1A"/>
                </a:solidFill>
                <a:latin typeface="Calibri"/>
              </a:rPr>
              <a:t>Deloitte audit: fragmented systems + 'culture that sacrificed </a:t>
            </a:r>
            <a:r>
              <a:rPr sz="1500" b="1" i="0">
                <a:solidFill>
                  <a:srgbClr val="1A1A1A"/>
                </a:solidFill>
                <a:latin typeface="Calibri"/>
              </a:rPr>
              <a:t>accuracy for speed</a:t>
            </a:r>
            <a:r>
              <a:rPr sz="1500" b="0" i="0">
                <a:solidFill>
                  <a:srgbClr val="1A1A1A"/>
                </a:solidFill>
                <a:latin typeface="Calibri"/>
              </a:rPr>
              <a:t>'</a:t>
            </a:r>
          </a:p>
          <a:p>
            <a:pPr>
              <a:spcAft>
                <a:spcPts val="300"/>
              </a:spcAft>
            </a:pPr>
            <a:r>
              <a:rPr sz="1500" b="1" i="0">
                <a:solidFill>
                  <a:srgbClr val="1A1A1A"/>
                </a:solidFill>
                <a:latin typeface="Calibri"/>
              </a:rPr>
              <a:t>• </a:t>
            </a:r>
            <a:r>
              <a:rPr sz="1500" b="0" i="0">
                <a:solidFill>
                  <a:srgbClr val="1A1A1A"/>
                </a:solidFill>
                <a:latin typeface="Calibri"/>
              </a:rPr>
              <a:t>Old culture: time clocks, pay docked, micromanaged, locked doors, fear: 'kept our heads down'</a:t>
            </a:r>
          </a:p>
        </p:txBody>
      </p:sp>
      <p:sp>
        <p:nvSpPr>
          <p:cNvPr id="12" name="Rounded Rectangle 11"/>
          <p:cNvSpPr/>
          <p:nvPr/>
        </p:nvSpPr>
        <p:spPr>
          <a:xfrm>
            <a:off x="274320" y="3977639"/>
            <a:ext cx="3840480" cy="2560320"/>
          </a:xfrm>
          <a:prstGeom prst="roundRect">
            <a:avLst>
              <a:gd name="adj" fmla="val 6000"/>
            </a:avLst>
          </a:prstGeom>
          <a:solidFill>
            <a:srgbClr val="FFFFFF"/>
          </a:solidFill>
          <a:ln w="19050">
            <a:solidFill>
              <a:srgbClr val="95A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74320" y="3977639"/>
            <a:ext cx="3840480" cy="457200"/>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4320" y="4297679"/>
            <a:ext cx="3840480" cy="137160"/>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3977639"/>
            <a:ext cx="3657600" cy="457200"/>
          </a:xfrm>
          <a:prstGeom prst="rect">
            <a:avLst/>
          </a:prstGeom>
          <a:noFill/>
        </p:spPr>
        <p:txBody>
          <a:bodyPr wrap="square" anchor="ctr" lIns="45720" rIns="45720" tIns="18288" bIns="18288"/>
          <a:lstStyle/>
          <a:p>
            <a:pPr algn="l"/>
            <a:r>
              <a:rPr sz="1900" b="1" i="0">
                <a:solidFill>
                  <a:srgbClr val="FFFFFF"/>
                </a:solidFill>
                <a:latin typeface="Calibri"/>
              </a:rPr>
              <a:t>Transformational leaders</a:t>
            </a:r>
          </a:p>
        </p:txBody>
      </p:sp>
      <p:sp>
        <p:nvSpPr>
          <p:cNvPr id="16" name="TextBox 15"/>
          <p:cNvSpPr txBox="1"/>
          <p:nvPr/>
        </p:nvSpPr>
        <p:spPr>
          <a:xfrm>
            <a:off x="347472" y="4489703"/>
            <a:ext cx="3694176" cy="2011679"/>
          </a:xfrm>
          <a:prstGeom prst="rect">
            <a:avLst/>
          </a:prstGeom>
          <a:noFill/>
        </p:spPr>
        <p:txBody>
          <a:bodyPr wrap="square" anchor="t" lIns="54864" rIns="54864" tIns="27432" bIns="27432"/>
          <a:lstStyle/>
          <a:p>
            <a:pPr>
              <a:spcAft>
                <a:spcPts val="300"/>
              </a:spcAft>
            </a:pPr>
            <a:r>
              <a:rPr sz="1300" b="1" i="0">
                <a:solidFill>
                  <a:srgbClr val="1A1A1A"/>
                </a:solidFill>
                <a:latin typeface="Calibri"/>
              </a:rPr>
              <a:t>• </a:t>
            </a:r>
            <a:r>
              <a:rPr sz="1300" b="1" i="0">
                <a:solidFill>
                  <a:srgbClr val="1A1A1A"/>
                </a:solidFill>
                <a:latin typeface="Calibri"/>
              </a:rPr>
              <a:t>Adam Krupp</a:t>
            </a:r>
            <a:r>
              <a:rPr sz="1300" b="0" i="0">
                <a:solidFill>
                  <a:srgbClr val="1A1A1A"/>
                </a:solidFill>
                <a:latin typeface="Calibri"/>
              </a:rPr>
              <a:t> (2017–20) &amp; </a:t>
            </a:r>
            <a:r>
              <a:rPr sz="1300" b="1" i="0">
                <a:solidFill>
                  <a:srgbClr val="1A1A1A"/>
                </a:solidFill>
                <a:latin typeface="Calibri"/>
              </a:rPr>
              <a:t>Bob Grennes</a:t>
            </a:r>
            <a:r>
              <a:rPr sz="1300" b="0" i="0">
                <a:solidFill>
                  <a:srgbClr val="1A1A1A"/>
                </a:solidFill>
                <a:latin typeface="Calibri"/>
              </a:rPr>
              <a:t> (2017–)</a:t>
            </a:r>
          </a:p>
          <a:p>
            <a:pPr>
              <a:spcAft>
                <a:spcPts val="300"/>
              </a:spcAft>
            </a:pPr>
            <a:r>
              <a:rPr sz="1300" b="1" i="0">
                <a:solidFill>
                  <a:srgbClr val="1A1A1A"/>
                </a:solidFill>
                <a:latin typeface="Calibri"/>
              </a:rPr>
              <a:t>• </a:t>
            </a:r>
            <a:r>
              <a:rPr sz="1300" b="0" i="0">
                <a:solidFill>
                  <a:srgbClr val="1A1A1A"/>
                </a:solidFill>
                <a:latin typeface="Calibri"/>
              </a:rPr>
              <a:t>Motto: </a:t>
            </a:r>
            <a:r>
              <a:rPr sz="1300" b="1" i="0">
                <a:solidFill>
                  <a:srgbClr val="1A1A1A"/>
                </a:solidFill>
                <a:latin typeface="Calibri"/>
              </a:rPr>
              <a:t>Respect, Trust, Caring</a:t>
            </a:r>
            <a:r>
              <a:rPr sz="1300" b="0" i="0">
                <a:solidFill>
                  <a:srgbClr val="1A1A1A"/>
                </a:solidFill>
                <a:latin typeface="Calibri"/>
              </a:rPr>
              <a:t>; 'people as people, not objects' (Arbinger)</a:t>
            </a:r>
          </a:p>
          <a:p>
            <a:pPr>
              <a:spcAft>
                <a:spcPts val="300"/>
              </a:spcAft>
            </a:pPr>
            <a:r>
              <a:rPr sz="1300" b="1" i="0">
                <a:solidFill>
                  <a:srgbClr val="1A1A1A"/>
                </a:solidFill>
                <a:latin typeface="Calibri"/>
              </a:rPr>
              <a:t>• </a:t>
            </a:r>
            <a:r>
              <a:rPr sz="1300" b="0" i="0">
                <a:solidFill>
                  <a:srgbClr val="1A1A1A"/>
                </a:solidFill>
                <a:latin typeface="Calibri"/>
              </a:rPr>
              <a:t>Walked corridors, knew names, asked 'what do you need?', fixed broken chairs</a:t>
            </a:r>
          </a:p>
          <a:p>
            <a:pPr>
              <a:spcAft>
                <a:spcPts val="300"/>
              </a:spcAft>
            </a:pPr>
            <a:r>
              <a:rPr sz="1300" b="1" i="0">
                <a:solidFill>
                  <a:srgbClr val="1A1A1A"/>
                </a:solidFill>
                <a:latin typeface="Calibri"/>
              </a:rPr>
              <a:t>• </a:t>
            </a:r>
            <a:r>
              <a:rPr sz="1300" b="0" i="0">
                <a:solidFill>
                  <a:srgbClr val="1A1A1A"/>
                </a:solidFill>
                <a:latin typeface="Calibri"/>
              </a:rPr>
              <a:t>Schein: 'The only thing of real importance leaders do is create &amp; manage culture'</a:t>
            </a:r>
          </a:p>
        </p:txBody>
      </p:sp>
      <p:graphicFrame>
        <p:nvGraphicFramePr>
          <p:cNvPr id="17" name="Table 16"/>
          <p:cNvGraphicFramePr>
            <a:graphicFrameLocks noGrp="1"/>
          </p:cNvGraphicFramePr>
          <p:nvPr/>
        </p:nvGraphicFramePr>
        <p:xfrm>
          <a:off x="4251960" y="1051560"/>
          <a:ext cx="7680960" cy="3657600"/>
        </p:xfrm>
        <a:graphic>
          <a:graphicData uri="http://schemas.openxmlformats.org/drawingml/2006/table">
            <a:tbl>
              <a:tblPr firstRow="1" bandRow="1">
                <a:tableStyleId>{5C22544A-7EE6-4342-B048-85BDC9FD1C3A}</a:tableStyleId>
              </a:tblPr>
              <a:tblGrid>
                <a:gridCol w="1554480"/>
                <a:gridCol w="6126480"/>
              </a:tblGrid>
              <a:tr h="914400">
                <a:tc>
                  <a:txBody>
                    <a:bodyPr wrap="square"/>
                    <a:lstStyle/>
                    <a:p>
                      <a:r>
                        <a:rPr sz="1400" b="1" i="0">
                          <a:solidFill>
                            <a:srgbClr val="FFFFFF"/>
                          </a:solidFill>
                          <a:latin typeface="Calibri"/>
                        </a:rPr>
                        <a:t>Schein's level</a:t>
                      </a:r>
                    </a:p>
                  </a:txBody>
                  <a:tcPr marL="54864" marR="54864" marT="27432" marB="27432" anchor="ctr">
                    <a:solidFill>
                      <a:srgbClr val="154C9E"/>
                    </a:solidFill>
                  </a:tcPr>
                </a:tc>
                <a:tc>
                  <a:txBody>
                    <a:bodyPr wrap="square"/>
                    <a:lstStyle/>
                    <a:p>
                      <a:r>
                        <a:rPr sz="1400" b="1" i="0">
                          <a:solidFill>
                            <a:srgbClr val="FFFFFF"/>
                          </a:solidFill>
                          <a:latin typeface="Calibri"/>
                        </a:rPr>
                        <a:t>What DOR did</a:t>
                      </a:r>
                    </a:p>
                  </a:txBody>
                  <a:tcPr marL="54864" marR="54864" marT="27432" marB="27432" anchor="ctr">
                    <a:solidFill>
                      <a:srgbClr val="154C9E"/>
                    </a:solidFill>
                  </a:tcPr>
                </a:tc>
              </a:tr>
              <a:tr h="914400">
                <a:tc>
                  <a:txBody>
                    <a:bodyPr wrap="square"/>
                    <a:lstStyle/>
                    <a:p>
                      <a:r>
                        <a:rPr sz="1400" b="1" i="0">
                          <a:solidFill>
                            <a:srgbClr val="1A1A1A"/>
                          </a:solidFill>
                          <a:latin typeface="Calibri"/>
                        </a:rPr>
                        <a:t>1 ARTIFACTS</a:t>
                      </a:r>
                    </a:p>
                    <a:p>
                      <a:r>
                        <a:rPr sz="1400" b="1" i="0">
                          <a:solidFill>
                            <a:srgbClr val="1A1A1A"/>
                          </a:solidFill>
                          <a:latin typeface="Calibri"/>
                        </a:rPr>
                        <a:t>(visible)</a:t>
                      </a:r>
                    </a:p>
                  </a:txBody>
                  <a:tcPr marL="54864" marR="54864" marT="27432" marB="27432" anchor="ctr">
                    <a:solidFill>
                      <a:srgbClr val="FFFFFF"/>
                    </a:solidFill>
                  </a:tcPr>
                </a:tc>
                <a:tc>
                  <a:txBody>
                    <a:bodyPr wrap="square"/>
                    <a:lstStyle/>
                    <a:p>
                      <a:r>
                        <a:rPr sz="1400" b="0" i="0">
                          <a:solidFill>
                            <a:srgbClr val="1A1A1A"/>
                          </a:solidFill>
                          <a:latin typeface="Calibri"/>
                        </a:rPr>
                        <a:t>Unlocked doors, painted walls, staff photos in annual reports, removed petty rules, relaxed dress, frequent communication, recognition programs, leadership development</a:t>
                      </a:r>
                    </a:p>
                  </a:txBody>
                  <a:tcPr marL="54864" marR="54864" marT="27432" marB="27432" anchor="ctr">
                    <a:solidFill>
                      <a:srgbClr val="FFFFFF"/>
                    </a:solidFill>
                  </a:tcPr>
                </a:tc>
              </a:tr>
              <a:tr h="914400">
                <a:tc>
                  <a:txBody>
                    <a:bodyPr wrap="square"/>
                    <a:lstStyle/>
                    <a:p>
                      <a:r>
                        <a:rPr sz="1400" b="1" i="0">
                          <a:solidFill>
                            <a:srgbClr val="1A1A1A"/>
                          </a:solidFill>
                          <a:latin typeface="Calibri"/>
                        </a:rPr>
                        <a:t>2 ESPOUSED VALUES</a:t>
                      </a:r>
                    </a:p>
                  </a:txBody>
                  <a:tcPr marL="54864" marR="54864" marT="27432" marB="27432" anchor="ctr">
                    <a:solidFill>
                      <a:srgbClr val="E7EDF5"/>
                    </a:solidFill>
                  </a:tcPr>
                </a:tc>
                <a:tc>
                  <a:txBody>
                    <a:bodyPr wrap="square"/>
                    <a:lstStyle/>
                    <a:p>
                      <a:r>
                        <a:rPr sz="1400" b="0" i="0">
                          <a:solidFill>
                            <a:srgbClr val="1A1A1A"/>
                          </a:solidFill>
                          <a:latin typeface="Calibri"/>
                        </a:rPr>
                        <a:t>Short, memorable mission/vision → </a:t>
                      </a:r>
                      <a:r>
                        <a:rPr sz="1400" b="1" i="0">
                          <a:solidFill>
                            <a:srgbClr val="1A1A1A"/>
                          </a:solidFill>
                          <a:latin typeface="Calibri"/>
                        </a:rPr>
                        <a:t>Pyramid of Excellence</a:t>
                      </a:r>
                      <a:r>
                        <a:rPr sz="1400" b="0" i="0">
                          <a:solidFill>
                            <a:srgbClr val="1A1A1A"/>
                          </a:solidFill>
                          <a:latin typeface="Calibri"/>
                        </a:rPr>
                        <a:t>; 7 core values: </a:t>
                      </a:r>
                      <a:r>
                        <a:rPr sz="1400" b="1" i="0">
                          <a:solidFill>
                            <a:srgbClr val="1A1A1A"/>
                          </a:solidFill>
                          <a:latin typeface="Calibri"/>
                        </a:rPr>
                        <a:t>Fun</a:t>
                      </a:r>
                      <a:r>
                        <a:rPr sz="1400" b="0" i="0">
                          <a:solidFill>
                            <a:srgbClr val="1A1A1A"/>
                          </a:solidFill>
                          <a:latin typeface="Calibri"/>
                        </a:rPr>
                        <a:t>, leadership, integrity, respect, teamwork, service, continuous improvement</a:t>
                      </a:r>
                    </a:p>
                  </a:txBody>
                  <a:tcPr marL="54864" marR="54864" marT="27432" marB="27432" anchor="ctr">
                    <a:solidFill>
                      <a:srgbClr val="E7EDF5"/>
                    </a:solidFill>
                  </a:tcPr>
                </a:tc>
              </a:tr>
              <a:tr h="914400">
                <a:tc>
                  <a:txBody>
                    <a:bodyPr wrap="square"/>
                    <a:lstStyle/>
                    <a:p>
                      <a:r>
                        <a:rPr sz="1400" b="1" i="0">
                          <a:solidFill>
                            <a:srgbClr val="1A1A1A"/>
                          </a:solidFill>
                          <a:latin typeface="Calibri"/>
                        </a:rPr>
                        <a:t>3 BASIC ASSUMPTIONS</a:t>
                      </a:r>
                    </a:p>
                    <a:p>
                      <a:r>
                        <a:rPr sz="1400" b="1" i="0">
                          <a:solidFill>
                            <a:srgbClr val="1A1A1A"/>
                          </a:solidFill>
                          <a:latin typeface="Calibri"/>
                        </a:rPr>
                        <a:t>(deepest)</a:t>
                      </a:r>
                    </a:p>
                  </a:txBody>
                  <a:tcPr marL="54864" marR="54864" marT="27432" marB="27432" anchor="ctr">
                    <a:solidFill>
                      <a:srgbClr val="FFFFFF"/>
                    </a:solidFill>
                  </a:tcPr>
                </a:tc>
                <a:tc>
                  <a:txBody>
                    <a:bodyPr wrap="square"/>
                    <a:lstStyle/>
                    <a:p>
                      <a:r>
                        <a:rPr sz="1400" b="0" i="0">
                          <a:solidFill>
                            <a:srgbClr val="1A1A1A"/>
                          </a:solidFill>
                          <a:latin typeface="Calibri"/>
                        </a:rPr>
                        <a:t>Mindset shifts: people as objects → people as people; distrust → trust; </a:t>
                      </a:r>
                      <a:r>
                        <a:rPr sz="1400" b="1" i="0">
                          <a:solidFill>
                            <a:srgbClr val="1A1A1A"/>
                          </a:solidFill>
                          <a:latin typeface="Calibri"/>
                        </a:rPr>
                        <a:t>taxpayers → customers</a:t>
                      </a:r>
                      <a:r>
                        <a:rPr sz="1400" b="0" i="0">
                          <a:solidFill>
                            <a:srgbClr val="1A1A1A"/>
                          </a:solidFill>
                          <a:latin typeface="Calibri"/>
                        </a:rPr>
                        <a:t>; collecting taxes → serving citizens; stakeholders: adversaries → allies</a:t>
                      </a:r>
                    </a:p>
                  </a:txBody>
                  <a:tcPr marL="54864" marR="54864" marT="27432" marB="27432" anchor="ctr">
                    <a:solidFill>
                      <a:srgbClr val="FFFFFF"/>
                    </a:solidFill>
                  </a:tcPr>
                </a:tc>
              </a:tr>
            </a:tbl>
          </a:graphicData>
        </a:graphic>
      </p:graphicFrame>
      <p:sp>
        <p:nvSpPr>
          <p:cNvPr id="18" name="Rounded Rectangle 17"/>
          <p:cNvSpPr/>
          <p:nvPr/>
        </p:nvSpPr>
        <p:spPr>
          <a:xfrm>
            <a:off x="4251960" y="4846320"/>
            <a:ext cx="7680960" cy="1691640"/>
          </a:xfrm>
          <a:prstGeom prst="roundRect">
            <a:avLst>
              <a:gd name="adj" fmla="val 6000"/>
            </a:avLst>
          </a:prstGeom>
          <a:solidFill>
            <a:srgbClr val="FFF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43400" y="4864607"/>
            <a:ext cx="7498080" cy="1655064"/>
          </a:xfrm>
          <a:prstGeom prst="rect">
            <a:avLst/>
          </a:prstGeom>
          <a:noFill/>
        </p:spPr>
        <p:txBody>
          <a:bodyPr wrap="square" anchor="ctr" lIns="45720" rIns="45720" tIns="18288" bIns="18288"/>
          <a:lstStyle/>
          <a:p>
            <a:pPr algn="l"/>
            <a:r>
              <a:rPr sz="1500" b="1" i="0">
                <a:solidFill>
                  <a:srgbClr val="1A1A1A"/>
                </a:solidFill>
                <a:latin typeface="Calibri"/>
              </a:rPr>
              <a:t>RESULTS: Project NextDOR ($100M IT modernisation) on time &amp; on budget for 5 years; &gt;90% customer satisfaction; first government agency in US Top 100 Workplaces (2023), WITHOUT private-sector pay or perks. 'If you are not having fun, you are doing it wrong.'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200" b="1" i="0">
                <a:solidFill>
                  <a:srgbClr val="FFFFFF"/>
                </a:solidFill>
                <a:latin typeface="Calibri"/>
              </a:rPr>
              <a:t>R1 (contd.): Pfeffer's 7 people-centred practices + Heifetz on change</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C4D2E6"/>
                </a:solidFill>
                <a:latin typeface="Calibri"/>
              </a:rPr>
              <a:t>MODULE 1 · INTRO, ETHICS &amp; PROBLEM SOLVING</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Use for: effectiveness, culture, motivation, POB</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15</a:t>
            </a:r>
          </a:p>
        </p:txBody>
      </p:sp>
      <p:graphicFrame>
        <p:nvGraphicFramePr>
          <p:cNvPr id="7" name="Table 6"/>
          <p:cNvGraphicFramePr>
            <a:graphicFrameLocks noGrp="1"/>
          </p:cNvGraphicFramePr>
          <p:nvPr/>
        </p:nvGraphicFramePr>
        <p:xfrm>
          <a:off x="274320" y="1051560"/>
          <a:ext cx="7223760" cy="5486400"/>
        </p:xfrm>
        <a:graphic>
          <a:graphicData uri="http://schemas.openxmlformats.org/drawingml/2006/table">
            <a:tbl>
              <a:tblPr firstRow="1" bandRow="1">
                <a:tableStyleId>{5C22544A-7EE6-4342-B048-85BDC9FD1C3A}</a:tableStyleId>
              </a:tblPr>
              <a:tblGrid>
                <a:gridCol w="2011680"/>
                <a:gridCol w="5212080"/>
              </a:tblGrid>
              <a:tr h="685800">
                <a:tc>
                  <a:txBody>
                    <a:bodyPr wrap="square"/>
                    <a:lstStyle/>
                    <a:p>
                      <a:r>
                        <a:rPr sz="1300" b="1" i="0">
                          <a:solidFill>
                            <a:srgbClr val="FFFFFF"/>
                          </a:solidFill>
                          <a:latin typeface="Calibri"/>
                        </a:rPr>
                        <a:t>Pfeffer practice</a:t>
                      </a:r>
                    </a:p>
                  </a:txBody>
                  <a:tcPr marL="54864" marR="54864" marT="27432" marB="27432" anchor="ctr">
                    <a:solidFill>
                      <a:srgbClr val="154C9E"/>
                    </a:solidFill>
                  </a:tcPr>
                </a:tc>
                <a:tc>
                  <a:txBody>
                    <a:bodyPr wrap="square"/>
                    <a:lstStyle/>
                    <a:p>
                      <a:r>
                        <a:rPr sz="1300" b="1" i="0">
                          <a:solidFill>
                            <a:srgbClr val="FFFFFF"/>
                          </a:solidFill>
                          <a:latin typeface="Calibri"/>
                        </a:rPr>
                        <a:t>How DOR applied it (or constraint)</a:t>
                      </a:r>
                    </a:p>
                  </a:txBody>
                  <a:tcPr marL="54864" marR="54864" marT="27432" marB="27432" anchor="ctr">
                    <a:solidFill>
                      <a:srgbClr val="154C9E"/>
                    </a:solidFill>
                  </a:tcPr>
                </a:tc>
              </a:tr>
              <a:tr h="685800">
                <a:tc>
                  <a:txBody>
                    <a:bodyPr wrap="square"/>
                    <a:lstStyle/>
                    <a:p>
                      <a:r>
                        <a:rPr sz="1300" b="1" i="0">
                          <a:solidFill>
                            <a:srgbClr val="1A1A1A"/>
                          </a:solidFill>
                          <a:latin typeface="Calibri"/>
                        </a:rPr>
                        <a:t>1 Employment security</a:t>
                      </a:r>
                    </a:p>
                  </a:txBody>
                  <a:tcPr marL="54864" marR="54864" marT="27432" marB="27432" anchor="ctr">
                    <a:solidFill>
                      <a:srgbClr val="FFFFFF"/>
                    </a:solidFill>
                  </a:tcPr>
                </a:tc>
                <a:tc>
                  <a:txBody>
                    <a:bodyPr wrap="square"/>
                    <a:lstStyle/>
                    <a:p>
                      <a:r>
                        <a:rPr sz="1300" b="0" i="0">
                          <a:solidFill>
                            <a:srgbClr val="1A1A1A"/>
                          </a:solidFill>
                          <a:latin typeface="Calibri"/>
                        </a:rPr>
                        <a:t>Govt jobs already secure → acts only as a </a:t>
                      </a:r>
                      <a:r>
                        <a:rPr sz="1300" b="1" i="0">
                          <a:solidFill>
                            <a:srgbClr val="1A1A1A"/>
                          </a:solidFill>
                          <a:latin typeface="Calibri"/>
                        </a:rPr>
                        <a:t>hygiene factor</a:t>
                      </a:r>
                      <a:r>
                        <a:rPr sz="1300" b="0" i="0">
                          <a:solidFill>
                            <a:srgbClr val="1A1A1A"/>
                          </a:solidFill>
                          <a:latin typeface="Calibri"/>
                        </a:rPr>
                        <a:t> (Herzberg)</a:t>
                      </a:r>
                    </a:p>
                  </a:txBody>
                  <a:tcPr marL="54864" marR="54864" marT="27432" marB="27432" anchor="ctr">
                    <a:solidFill>
                      <a:srgbClr val="FFFFFF"/>
                    </a:solidFill>
                  </a:tcPr>
                </a:tc>
              </a:tr>
              <a:tr h="685800">
                <a:tc>
                  <a:txBody>
                    <a:bodyPr wrap="square"/>
                    <a:lstStyle/>
                    <a:p>
                      <a:r>
                        <a:rPr sz="1300" b="1" i="0">
                          <a:solidFill>
                            <a:srgbClr val="1A1A1A"/>
                          </a:solidFill>
                          <a:latin typeface="Calibri"/>
                        </a:rPr>
                        <a:t>2 Selective hiring</a:t>
                      </a:r>
                    </a:p>
                  </a:txBody>
                  <a:tcPr marL="54864" marR="54864" marT="27432" marB="27432" anchor="ctr">
                    <a:solidFill>
                      <a:srgbClr val="E7EDF5"/>
                    </a:solidFill>
                  </a:tcPr>
                </a:tc>
                <a:tc>
                  <a:txBody>
                    <a:bodyPr wrap="square"/>
                    <a:lstStyle/>
                    <a:p>
                      <a:r>
                        <a:rPr sz="1300" b="0" i="0">
                          <a:solidFill>
                            <a:srgbClr val="1A1A1A"/>
                          </a:solidFill>
                          <a:latin typeface="Calibri"/>
                        </a:rPr>
                        <a:t>State controls hiring, yet DOR screens for fit: Lencioni's 'humble, hungry, smart'</a:t>
                      </a:r>
                    </a:p>
                  </a:txBody>
                  <a:tcPr marL="54864" marR="54864" marT="27432" marB="27432" anchor="ctr">
                    <a:solidFill>
                      <a:srgbClr val="E7EDF5"/>
                    </a:solidFill>
                  </a:tcPr>
                </a:tc>
              </a:tr>
              <a:tr h="685800">
                <a:tc>
                  <a:txBody>
                    <a:bodyPr wrap="square"/>
                    <a:lstStyle/>
                    <a:p>
                      <a:r>
                        <a:rPr sz="1300" b="1" i="0">
                          <a:solidFill>
                            <a:srgbClr val="1A1A1A"/>
                          </a:solidFill>
                          <a:latin typeface="Calibri"/>
                        </a:rPr>
                        <a:t>3 Extensive training</a:t>
                      </a:r>
                    </a:p>
                  </a:txBody>
                  <a:tcPr marL="54864" marR="54864" marT="27432" marB="27432" anchor="ctr">
                    <a:solidFill>
                      <a:srgbClr val="FFFFFF"/>
                    </a:solidFill>
                  </a:tcPr>
                </a:tc>
                <a:tc>
                  <a:txBody>
                    <a:bodyPr wrap="square"/>
                    <a:lstStyle/>
                    <a:p>
                      <a:r>
                        <a:rPr sz="1300" b="0" i="0">
                          <a:solidFill>
                            <a:srgbClr val="1A1A1A"/>
                          </a:solidFill>
                          <a:latin typeface="Calibri"/>
                        </a:rPr>
                        <a:t>Call-centre training 2 days → 4 weeks + 2 weeks coaching; tuition reimbursement; leadership academy</a:t>
                      </a:r>
                    </a:p>
                  </a:txBody>
                  <a:tcPr marL="54864" marR="54864" marT="27432" marB="27432" anchor="ctr">
                    <a:solidFill>
                      <a:srgbClr val="FFFFFF"/>
                    </a:solidFill>
                  </a:tcPr>
                </a:tc>
              </a:tr>
              <a:tr h="685800">
                <a:tc>
                  <a:txBody>
                    <a:bodyPr wrap="square"/>
                    <a:lstStyle/>
                    <a:p>
                      <a:r>
                        <a:rPr sz="1300" b="1" i="0">
                          <a:solidFill>
                            <a:srgbClr val="1A1A1A"/>
                          </a:solidFill>
                          <a:latin typeface="Calibri"/>
                        </a:rPr>
                        <a:t>4 Sharing information</a:t>
                      </a:r>
                    </a:p>
                  </a:txBody>
                  <a:tcPr marL="54864" marR="54864" marT="27432" marB="27432" anchor="ctr">
                    <a:solidFill>
                      <a:srgbClr val="E7EDF5"/>
                    </a:solidFill>
                  </a:tcPr>
                </a:tc>
                <a:tc>
                  <a:txBody>
                    <a:bodyPr wrap="square"/>
                    <a:lstStyle/>
                    <a:p>
                      <a:r>
                        <a:rPr sz="1300" b="0" i="0">
                          <a:solidFill>
                            <a:srgbClr val="1A1A1A"/>
                          </a:solidFill>
                          <a:latin typeface="Calibri"/>
                        </a:rPr>
                        <a:t>Shares financial &amp; performance metrics; teams set own targets → trust</a:t>
                      </a:r>
                    </a:p>
                  </a:txBody>
                  <a:tcPr marL="54864" marR="54864" marT="27432" marB="27432" anchor="ctr">
                    <a:solidFill>
                      <a:srgbClr val="E7EDF5"/>
                    </a:solidFill>
                  </a:tcPr>
                </a:tc>
              </a:tr>
              <a:tr h="685800">
                <a:tc>
                  <a:txBody>
                    <a:bodyPr wrap="square"/>
                    <a:lstStyle/>
                    <a:p>
                      <a:r>
                        <a:rPr sz="1300" b="1" i="0">
                          <a:solidFill>
                            <a:srgbClr val="1A1A1A"/>
                          </a:solidFill>
                          <a:latin typeface="Calibri"/>
                        </a:rPr>
                        <a:t>5 Self-managed teams</a:t>
                      </a:r>
                    </a:p>
                  </a:txBody>
                  <a:tcPr marL="54864" marR="54864" marT="27432" marB="27432" anchor="ctr">
                    <a:solidFill>
                      <a:srgbClr val="FFFFFF"/>
                    </a:solidFill>
                  </a:tcPr>
                </a:tc>
                <a:tc>
                  <a:txBody>
                    <a:bodyPr wrap="square"/>
                    <a:lstStyle/>
                    <a:p>
                      <a:r>
                        <a:rPr sz="1300" b="0" i="0">
                          <a:solidFill>
                            <a:srgbClr val="1A1A1A"/>
                          </a:solidFill>
                          <a:latin typeface="Calibri"/>
                        </a:rPr>
                        <a:t>Consultative, empowered: 'Let's see if we can make that happen'</a:t>
                      </a:r>
                    </a:p>
                  </a:txBody>
                  <a:tcPr marL="54864" marR="54864" marT="27432" marB="27432" anchor="ctr">
                    <a:solidFill>
                      <a:srgbClr val="FFFFFF"/>
                    </a:solidFill>
                  </a:tcPr>
                </a:tc>
              </a:tr>
              <a:tr h="685800">
                <a:tc>
                  <a:txBody>
                    <a:bodyPr wrap="square"/>
                    <a:lstStyle/>
                    <a:p>
                      <a:r>
                        <a:rPr sz="1300" b="1" i="0">
                          <a:solidFill>
                            <a:srgbClr val="1A1A1A"/>
                          </a:solidFill>
                          <a:latin typeface="Calibri"/>
                        </a:rPr>
                        <a:t>6 Reduced status differences</a:t>
                      </a:r>
                    </a:p>
                  </a:txBody>
                  <a:tcPr marL="54864" marR="54864" marT="27432" marB="27432" anchor="ctr">
                    <a:solidFill>
                      <a:srgbClr val="E7EDF5"/>
                    </a:solidFill>
                  </a:tcPr>
                </a:tc>
                <a:tc>
                  <a:txBody>
                    <a:bodyPr wrap="square"/>
                    <a:lstStyle/>
                    <a:p>
                      <a:r>
                        <a:rPr sz="1300" b="0" i="0">
                          <a:solidFill>
                            <a:srgbClr val="1A1A1A"/>
                          </a:solidFill>
                          <a:latin typeface="Calibri"/>
                        </a:rPr>
                        <a:t>'Blow up the distinctions': opened 'Mahogany Row', exec bathrooms; hierarchy of ROLES not control</a:t>
                      </a:r>
                    </a:p>
                  </a:txBody>
                  <a:tcPr marL="54864" marR="54864" marT="27432" marB="27432" anchor="ctr">
                    <a:solidFill>
                      <a:srgbClr val="E7EDF5"/>
                    </a:solidFill>
                  </a:tcPr>
                </a:tc>
              </a:tr>
              <a:tr h="685800">
                <a:tc>
                  <a:txBody>
                    <a:bodyPr wrap="square"/>
                    <a:lstStyle/>
                    <a:p>
                      <a:r>
                        <a:rPr sz="1300" b="1" i="0">
                          <a:solidFill>
                            <a:srgbClr val="1A1A1A"/>
                          </a:solidFill>
                          <a:latin typeface="Calibri"/>
                        </a:rPr>
                        <a:t>7 High contingent pay</a:t>
                      </a:r>
                    </a:p>
                  </a:txBody>
                  <a:tcPr marL="54864" marR="54864" marT="27432" marB="27432" anchor="ctr">
                    <a:solidFill>
                      <a:srgbClr val="FFFFFF"/>
                    </a:solidFill>
                  </a:tcPr>
                </a:tc>
                <a:tc>
                  <a:txBody>
                    <a:bodyPr wrap="square"/>
                    <a:lstStyle/>
                    <a:p>
                      <a:r>
                        <a:rPr sz="1300" b="0" i="0">
                          <a:solidFill>
                            <a:srgbClr val="1A1A1A"/>
                          </a:solidFill>
                          <a:latin typeface="Calibri"/>
                        </a:rPr>
                        <a:t>NOT possible; pay stagnant till 2022, yet engagement high → Pink's autonomy, mastery, purpose</a:t>
                      </a:r>
                    </a:p>
                  </a:txBody>
                  <a:tcPr marL="54864" marR="54864" marT="27432" marB="27432" anchor="ctr">
                    <a:solidFill>
                      <a:srgbClr val="FFFFFF"/>
                    </a:solidFill>
                  </a:tcPr>
                </a:tc>
              </a:tr>
            </a:tbl>
          </a:graphicData>
        </a:graphic>
      </p:graphicFrame>
      <p:sp>
        <p:nvSpPr>
          <p:cNvPr id="8" name="Rounded Rectangle 7"/>
          <p:cNvSpPr/>
          <p:nvPr/>
        </p:nvSpPr>
        <p:spPr>
          <a:xfrm>
            <a:off x="7635240" y="1051560"/>
            <a:ext cx="4297680" cy="2514600"/>
          </a:xfrm>
          <a:prstGeom prst="roundRect">
            <a:avLst>
              <a:gd name="adj" fmla="val 6000"/>
            </a:avLst>
          </a:prstGeom>
          <a:solidFill>
            <a:srgbClr val="FFFFFF"/>
          </a:solidFill>
          <a:ln w="19050">
            <a:solidFill>
              <a:srgbClr val="95A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635240" y="1051560"/>
            <a:ext cx="4297680" cy="457200"/>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635240" y="1371600"/>
            <a:ext cx="4297680" cy="137160"/>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26679" y="1051560"/>
            <a:ext cx="4114800" cy="457200"/>
          </a:xfrm>
          <a:prstGeom prst="rect">
            <a:avLst/>
          </a:prstGeom>
          <a:noFill/>
        </p:spPr>
        <p:txBody>
          <a:bodyPr wrap="square" anchor="ctr" lIns="45720" rIns="45720" tIns="18288" bIns="18288"/>
          <a:lstStyle/>
          <a:p>
            <a:pPr algn="l"/>
            <a:r>
              <a:rPr sz="1900" b="1" i="0">
                <a:solidFill>
                  <a:srgbClr val="FFFFFF"/>
                </a:solidFill>
                <a:latin typeface="Calibri"/>
              </a:rPr>
              <a:t>Heifetz: technical vs adaptive</a:t>
            </a:r>
          </a:p>
        </p:txBody>
      </p:sp>
      <p:sp>
        <p:nvSpPr>
          <p:cNvPr id="12" name="TextBox 11"/>
          <p:cNvSpPr txBox="1"/>
          <p:nvPr/>
        </p:nvSpPr>
        <p:spPr>
          <a:xfrm>
            <a:off x="7708392" y="1563624"/>
            <a:ext cx="4151376" cy="1965960"/>
          </a:xfrm>
          <a:prstGeom prst="rect">
            <a:avLst/>
          </a:prstGeom>
          <a:noFill/>
        </p:spPr>
        <p:txBody>
          <a:bodyPr wrap="square" anchor="t" lIns="54864" rIns="54864" tIns="27432" bIns="27432"/>
          <a:lstStyle/>
          <a:p>
            <a:pPr>
              <a:spcAft>
                <a:spcPts val="300"/>
              </a:spcAft>
            </a:pPr>
            <a:r>
              <a:rPr sz="1500" b="1" i="0">
                <a:solidFill>
                  <a:srgbClr val="1A1A1A"/>
                </a:solidFill>
                <a:latin typeface="Calibri"/>
              </a:rPr>
              <a:t>• </a:t>
            </a:r>
            <a:r>
              <a:rPr sz="1500" b="1" i="0">
                <a:solidFill>
                  <a:srgbClr val="1A1A1A"/>
                </a:solidFill>
                <a:latin typeface="Calibri"/>
              </a:rPr>
              <a:t>Technical</a:t>
            </a:r>
            <a:r>
              <a:rPr sz="1500" b="0" i="0">
                <a:solidFill>
                  <a:srgbClr val="1A1A1A"/>
                </a:solidFill>
                <a:latin typeface="Calibri"/>
              </a:rPr>
              <a:t> problems: solvable with existing expertise</a:t>
            </a:r>
          </a:p>
          <a:p>
            <a:pPr>
              <a:spcAft>
                <a:spcPts val="300"/>
              </a:spcAft>
            </a:pPr>
            <a:r>
              <a:rPr sz="1500" b="1" i="0">
                <a:solidFill>
                  <a:srgbClr val="1A1A1A"/>
                </a:solidFill>
                <a:latin typeface="Calibri"/>
              </a:rPr>
              <a:t>• </a:t>
            </a:r>
            <a:r>
              <a:rPr sz="1500" b="1" i="0">
                <a:solidFill>
                  <a:srgbClr val="1A1A1A"/>
                </a:solidFill>
                <a:latin typeface="Calibri"/>
              </a:rPr>
              <a:t>Adaptive</a:t>
            </a:r>
            <a:r>
              <a:rPr sz="1500" b="0" i="0">
                <a:solidFill>
                  <a:srgbClr val="1A1A1A"/>
                </a:solidFill>
                <a:latin typeface="Calibri"/>
              </a:rPr>
              <a:t> challenges: need new learning in beliefs, mindsets, values</a:t>
            </a:r>
          </a:p>
          <a:p>
            <a:pPr>
              <a:spcAft>
                <a:spcPts val="300"/>
              </a:spcAft>
            </a:pPr>
            <a:r>
              <a:rPr sz="1500" b="1" i="0">
                <a:solidFill>
                  <a:srgbClr val="1A1A1A"/>
                </a:solidFill>
                <a:latin typeface="Calibri"/>
              </a:rPr>
              <a:t>• </a:t>
            </a:r>
            <a:r>
              <a:rPr sz="1500" b="0" i="0">
                <a:solidFill>
                  <a:srgbClr val="1A1A1A"/>
                </a:solidFill>
                <a:latin typeface="Calibri"/>
              </a:rPr>
              <a:t>Pre-2017 fixes were technical; DOR treated NextDOR as BOTH systems &amp; business (culture) modernisation; front-line staff mapped processes</a:t>
            </a:r>
          </a:p>
        </p:txBody>
      </p:sp>
      <p:sp>
        <p:nvSpPr>
          <p:cNvPr id="13" name="Rounded Rectangle 12"/>
          <p:cNvSpPr/>
          <p:nvPr/>
        </p:nvSpPr>
        <p:spPr>
          <a:xfrm>
            <a:off x="7635240" y="3703320"/>
            <a:ext cx="4297680" cy="2834640"/>
          </a:xfrm>
          <a:prstGeom prst="roundRect">
            <a:avLst>
              <a:gd name="adj" fmla="val 6000"/>
            </a:avLst>
          </a:prstGeom>
          <a:solidFill>
            <a:srgbClr val="FFFFFF"/>
          </a:solidFill>
          <a:ln w="19050">
            <a:solidFill>
              <a:srgbClr val="95A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635240" y="3703320"/>
            <a:ext cx="4297680" cy="457200"/>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35240" y="4023359"/>
            <a:ext cx="4297680" cy="137160"/>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26679" y="3703320"/>
            <a:ext cx="4114800" cy="457200"/>
          </a:xfrm>
          <a:prstGeom prst="rect">
            <a:avLst/>
          </a:prstGeom>
          <a:noFill/>
        </p:spPr>
        <p:txBody>
          <a:bodyPr wrap="square" anchor="ctr" lIns="45720" rIns="45720" tIns="18288" bIns="18288"/>
          <a:lstStyle/>
          <a:p>
            <a:pPr algn="l"/>
            <a:r>
              <a:rPr sz="1900" b="1" i="0">
                <a:solidFill>
                  <a:srgbClr val="FFFFFF"/>
                </a:solidFill>
                <a:latin typeface="Calibri"/>
              </a:rPr>
              <a:t>Exam angles for R1</a:t>
            </a:r>
          </a:p>
        </p:txBody>
      </p:sp>
      <p:sp>
        <p:nvSpPr>
          <p:cNvPr id="17" name="TextBox 16"/>
          <p:cNvSpPr txBox="1"/>
          <p:nvPr/>
        </p:nvSpPr>
        <p:spPr>
          <a:xfrm>
            <a:off x="7708392" y="4215383"/>
            <a:ext cx="4151376" cy="2286000"/>
          </a:xfrm>
          <a:prstGeom prst="rect">
            <a:avLst/>
          </a:prstGeom>
          <a:noFill/>
        </p:spPr>
        <p:txBody>
          <a:bodyPr wrap="square" anchor="t" lIns="54864" rIns="54864" tIns="27432" bIns="27432"/>
          <a:lstStyle/>
          <a:p>
            <a:pPr>
              <a:spcAft>
                <a:spcPts val="300"/>
              </a:spcAft>
            </a:pPr>
            <a:r>
              <a:rPr sz="1300" b="1" i="0">
                <a:solidFill>
                  <a:srgbClr val="1A1A1A"/>
                </a:solidFill>
                <a:latin typeface="Calibri"/>
              </a:rPr>
              <a:t>• </a:t>
            </a:r>
            <a:r>
              <a:rPr sz="1300" b="1" i="0">
                <a:solidFill>
                  <a:srgbClr val="1A1A1A"/>
                </a:solidFill>
                <a:latin typeface="Calibri"/>
              </a:rPr>
              <a:t>Workplace effectiveness</a:t>
            </a:r>
            <a:r>
              <a:rPr sz="1300" b="0" i="0">
                <a:solidFill>
                  <a:srgbClr val="1A1A1A"/>
                </a:solidFill>
                <a:latin typeface="Calibri"/>
              </a:rPr>
              <a:t>: culture → engagement → performance</a:t>
            </a:r>
          </a:p>
          <a:p>
            <a:pPr>
              <a:spcAft>
                <a:spcPts val="300"/>
              </a:spcAft>
            </a:pPr>
            <a:r>
              <a:rPr sz="1300" b="1" i="0">
                <a:solidFill>
                  <a:srgbClr val="1A1A1A"/>
                </a:solidFill>
                <a:latin typeface="Calibri"/>
              </a:rPr>
              <a:t>• </a:t>
            </a:r>
            <a:r>
              <a:rPr sz="1300" b="1" i="0">
                <a:solidFill>
                  <a:srgbClr val="1A1A1A"/>
                </a:solidFill>
                <a:latin typeface="Calibri"/>
              </a:rPr>
              <a:t>Motivation</a:t>
            </a:r>
            <a:r>
              <a:rPr sz="1300" b="0" i="0">
                <a:solidFill>
                  <a:srgbClr val="1A1A1A"/>
                </a:solidFill>
                <a:latin typeface="Calibri"/>
              </a:rPr>
              <a:t>: non-monetary (recognition, fun, meaning) when pay is fixed (Herzberg, SDT)</a:t>
            </a:r>
          </a:p>
          <a:p>
            <a:pPr>
              <a:spcAft>
                <a:spcPts val="300"/>
              </a:spcAft>
            </a:pPr>
            <a:r>
              <a:rPr sz="1300" b="1" i="0">
                <a:solidFill>
                  <a:srgbClr val="1A1A1A"/>
                </a:solidFill>
                <a:latin typeface="Calibri"/>
              </a:rPr>
              <a:t>• </a:t>
            </a:r>
            <a:r>
              <a:rPr sz="1300" b="1" i="0">
                <a:solidFill>
                  <a:srgbClr val="1A1A1A"/>
                </a:solidFill>
                <a:latin typeface="Calibri"/>
              </a:rPr>
              <a:t>Values/attitudes</a:t>
            </a:r>
            <a:r>
              <a:rPr sz="1300" b="0" i="0">
                <a:solidFill>
                  <a:srgbClr val="1A1A1A"/>
                </a:solidFill>
                <a:latin typeface="Calibri"/>
              </a:rPr>
              <a:t>: espoused vs enacted values; person-org fit</a:t>
            </a:r>
          </a:p>
          <a:p>
            <a:pPr>
              <a:spcAft>
                <a:spcPts val="300"/>
              </a:spcAft>
            </a:pPr>
            <a:r>
              <a:rPr sz="1300" b="1" i="0">
                <a:solidFill>
                  <a:srgbClr val="1A1A1A"/>
                </a:solidFill>
                <a:latin typeface="Calibri"/>
              </a:rPr>
              <a:t>• </a:t>
            </a:r>
            <a:r>
              <a:rPr sz="1300" b="1" i="0">
                <a:solidFill>
                  <a:srgbClr val="1A1A1A"/>
                </a:solidFill>
                <a:latin typeface="Calibri"/>
              </a:rPr>
              <a:t>POB</a:t>
            </a:r>
            <a:r>
              <a:rPr sz="1300" b="0" i="0">
                <a:solidFill>
                  <a:srgbClr val="1A1A1A"/>
                </a:solidFill>
                <a:latin typeface="Calibri"/>
              </a:rPr>
              <a:t>: virtuous leadership, positive climate, flourishing</a:t>
            </a:r>
          </a:p>
          <a:p>
            <a:pPr>
              <a:spcAft>
                <a:spcPts val="300"/>
              </a:spcAft>
            </a:pPr>
            <a:r>
              <a:rPr sz="1300" b="1" i="0">
                <a:solidFill>
                  <a:srgbClr val="1A1A1A"/>
                </a:solidFill>
                <a:latin typeface="Calibri"/>
              </a:rPr>
              <a:t>• </a:t>
            </a:r>
            <a:r>
              <a:rPr sz="1300" b="0" i="0">
                <a:solidFill>
                  <a:srgbClr val="1A1A1A"/>
                </a:solidFill>
                <a:latin typeface="Calibri"/>
              </a:rPr>
              <a:t>Change = 'hundreds of interconnected things', not a program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200" b="1" i="0">
                <a:solidFill>
                  <a:srgbClr val="FFFFFF"/>
                </a:solidFill>
                <a:latin typeface="Calibri"/>
              </a:rPr>
              <a:t>R2: Getting to the Bottom of Destructive Behaviors (Ron Carucci, HBR 2019)</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C4D2E6"/>
                </a:solidFill>
                <a:latin typeface="Calibri"/>
              </a:rPr>
              <a:t>MODULE 1 · INTRO, ETHICS &amp; PROBLEM SOLVING</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Ethics, problem solving, emotions</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16</a:t>
            </a:r>
          </a:p>
        </p:txBody>
      </p:sp>
      <p:sp>
        <p:nvSpPr>
          <p:cNvPr id="7" name="Rounded Rectangle 6"/>
          <p:cNvSpPr/>
          <p:nvPr/>
        </p:nvSpPr>
        <p:spPr>
          <a:xfrm>
            <a:off x="274320" y="1051560"/>
            <a:ext cx="3931920" cy="2743200"/>
          </a:xfrm>
          <a:prstGeom prst="roundRect">
            <a:avLst>
              <a:gd name="adj" fmla="val 6000"/>
            </a:avLst>
          </a:prstGeom>
          <a:solidFill>
            <a:srgbClr val="FFFFFF"/>
          </a:solidFill>
          <a:ln w="19050">
            <a:solidFill>
              <a:srgbClr val="95A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74320" y="1051560"/>
            <a:ext cx="3931920" cy="457200"/>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371600"/>
            <a:ext cx="3931920" cy="137160"/>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051560"/>
            <a:ext cx="3749039" cy="457200"/>
          </a:xfrm>
          <a:prstGeom prst="rect">
            <a:avLst/>
          </a:prstGeom>
          <a:noFill/>
        </p:spPr>
        <p:txBody>
          <a:bodyPr wrap="square" anchor="ctr" lIns="45720" rIns="45720" tIns="18288" bIns="18288"/>
          <a:lstStyle/>
          <a:p>
            <a:pPr algn="l"/>
            <a:r>
              <a:rPr sz="1900" b="1" i="0">
                <a:solidFill>
                  <a:srgbClr val="FFFFFF"/>
                </a:solidFill>
                <a:latin typeface="Calibri"/>
              </a:rPr>
              <a:t>Why change fails: the brain</a:t>
            </a:r>
          </a:p>
        </p:txBody>
      </p:sp>
      <p:sp>
        <p:nvSpPr>
          <p:cNvPr id="11" name="TextBox 10"/>
          <p:cNvSpPr txBox="1"/>
          <p:nvPr/>
        </p:nvSpPr>
        <p:spPr>
          <a:xfrm>
            <a:off x="347472" y="1563624"/>
            <a:ext cx="3785615" cy="2194560"/>
          </a:xfrm>
          <a:prstGeom prst="rect">
            <a:avLst/>
          </a:prstGeom>
          <a:noFill/>
        </p:spPr>
        <p:txBody>
          <a:bodyPr wrap="square" anchor="t" lIns="54864" rIns="54864" tIns="27432" bIns="27432"/>
          <a:lstStyle/>
          <a:p>
            <a:pPr>
              <a:spcAft>
                <a:spcPts val="300"/>
              </a:spcAft>
            </a:pPr>
            <a:r>
              <a:rPr sz="1400" b="1" i="0">
                <a:solidFill>
                  <a:srgbClr val="1A1A1A"/>
                </a:solidFill>
                <a:latin typeface="Calibri"/>
              </a:rPr>
              <a:t>• </a:t>
            </a:r>
            <a:r>
              <a:rPr sz="1400" b="1" i="0">
                <a:solidFill>
                  <a:srgbClr val="1A1A1A"/>
                </a:solidFill>
                <a:latin typeface="Calibri"/>
              </a:rPr>
              <a:t>Prefrontal cortex</a:t>
            </a:r>
            <a:r>
              <a:rPr sz="1400" b="0" i="0">
                <a:solidFill>
                  <a:srgbClr val="1A1A1A"/>
                </a:solidFill>
                <a:latin typeface="Calibri"/>
              </a:rPr>
              <a:t> = cognition = 'the WAY' (learning new skills)</a:t>
            </a:r>
          </a:p>
          <a:p>
            <a:pPr>
              <a:spcAft>
                <a:spcPts val="300"/>
              </a:spcAft>
            </a:pPr>
            <a:r>
              <a:rPr sz="1400" b="1" i="0">
                <a:solidFill>
                  <a:srgbClr val="1A1A1A"/>
                </a:solidFill>
                <a:latin typeface="Calibri"/>
              </a:rPr>
              <a:t>• </a:t>
            </a:r>
            <a:r>
              <a:rPr sz="1400" b="1" i="0">
                <a:solidFill>
                  <a:srgbClr val="1A1A1A"/>
                </a:solidFill>
                <a:latin typeface="Calibri"/>
              </a:rPr>
              <a:t>Reward system</a:t>
            </a:r>
            <a:r>
              <a:rPr sz="1400" b="0" i="0">
                <a:solidFill>
                  <a:srgbClr val="1A1A1A"/>
                </a:solidFill>
                <a:latin typeface="Calibri"/>
              </a:rPr>
              <a:t> (dopamine) = motivation = 'the WILL'</a:t>
            </a:r>
          </a:p>
          <a:p>
            <a:pPr>
              <a:spcAft>
                <a:spcPts val="300"/>
              </a:spcAft>
            </a:pPr>
            <a:r>
              <a:rPr sz="1400" b="1" i="0">
                <a:solidFill>
                  <a:srgbClr val="1A1A1A"/>
                </a:solidFill>
                <a:latin typeface="Calibri"/>
              </a:rPr>
              <a:t>• </a:t>
            </a:r>
            <a:r>
              <a:rPr sz="1400" b="0" i="0">
                <a:solidFill>
                  <a:srgbClr val="1A1A1A"/>
                </a:solidFill>
                <a:latin typeface="Calibri"/>
              </a:rPr>
              <a:t>Most change fails when only one is engaged</a:t>
            </a:r>
          </a:p>
          <a:p>
            <a:pPr>
              <a:spcAft>
                <a:spcPts val="300"/>
              </a:spcAft>
            </a:pPr>
            <a:r>
              <a:rPr sz="1400" b="1" i="0">
                <a:solidFill>
                  <a:srgbClr val="1A1A1A"/>
                </a:solidFill>
                <a:latin typeface="Calibri"/>
              </a:rPr>
              <a:t>• </a:t>
            </a:r>
            <a:r>
              <a:rPr sz="1400" b="0" i="0">
                <a:solidFill>
                  <a:srgbClr val="1A1A1A"/>
                </a:solidFill>
                <a:latin typeface="Calibri"/>
              </a:rPr>
              <a:t>Chronic behaviours are rooted in formative trauma stored in the </a:t>
            </a:r>
            <a:r>
              <a:rPr sz="1400" b="1" i="0">
                <a:solidFill>
                  <a:srgbClr val="1A1A1A"/>
                </a:solidFill>
                <a:latin typeface="Calibri"/>
              </a:rPr>
              <a:t>amygdala</a:t>
            </a:r>
            <a:r>
              <a:rPr sz="1400" b="0" i="0">
                <a:solidFill>
                  <a:srgbClr val="1A1A1A"/>
                </a:solidFill>
                <a:latin typeface="Calibri"/>
              </a:rPr>
              <a:t> → self-protective re-enactment; will + way not enough</a:t>
            </a:r>
          </a:p>
        </p:txBody>
      </p:sp>
      <p:sp>
        <p:nvSpPr>
          <p:cNvPr id="12" name="Rounded Rectangle 11"/>
          <p:cNvSpPr/>
          <p:nvPr/>
        </p:nvSpPr>
        <p:spPr>
          <a:xfrm>
            <a:off x="274320" y="3931920"/>
            <a:ext cx="3931920" cy="2606040"/>
          </a:xfrm>
          <a:prstGeom prst="roundRect">
            <a:avLst>
              <a:gd name="adj" fmla="val 6000"/>
            </a:avLst>
          </a:prstGeom>
          <a:solidFill>
            <a:srgbClr val="FFFFFF"/>
          </a:solidFill>
          <a:ln w="19050">
            <a:solidFill>
              <a:srgbClr val="95A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74320" y="3931920"/>
            <a:ext cx="3931920" cy="457200"/>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4320" y="4251959"/>
            <a:ext cx="3931920" cy="137160"/>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3931920"/>
            <a:ext cx="3749039" cy="457200"/>
          </a:xfrm>
          <a:prstGeom prst="rect">
            <a:avLst/>
          </a:prstGeom>
          <a:noFill/>
        </p:spPr>
        <p:txBody>
          <a:bodyPr wrap="square" anchor="ctr" lIns="45720" rIns="45720" tIns="18288" bIns="18288"/>
          <a:lstStyle/>
          <a:p>
            <a:pPr algn="l"/>
            <a:r>
              <a:rPr sz="1200" b="1" i="0">
                <a:solidFill>
                  <a:srgbClr val="FFFFFF"/>
                </a:solidFill>
                <a:latin typeface="Calibri"/>
              </a:rPr>
              <a:t>Case: Andy (division president, accounting firm)</a:t>
            </a:r>
          </a:p>
        </p:txBody>
      </p:sp>
      <p:sp>
        <p:nvSpPr>
          <p:cNvPr id="16" name="TextBox 15"/>
          <p:cNvSpPr txBox="1"/>
          <p:nvPr/>
        </p:nvSpPr>
        <p:spPr>
          <a:xfrm>
            <a:off x="347472" y="4443983"/>
            <a:ext cx="3785615" cy="2057400"/>
          </a:xfrm>
          <a:prstGeom prst="rect">
            <a:avLst/>
          </a:prstGeom>
          <a:noFill/>
        </p:spPr>
        <p:txBody>
          <a:bodyPr wrap="square" anchor="t" lIns="54864" rIns="54864" tIns="27432" bIns="27432"/>
          <a:lstStyle/>
          <a:p>
            <a:pPr>
              <a:spcAft>
                <a:spcPts val="300"/>
              </a:spcAft>
            </a:pPr>
            <a:r>
              <a:rPr sz="1400" b="1" i="0">
                <a:solidFill>
                  <a:srgbClr val="1A1A1A"/>
                </a:solidFill>
                <a:latin typeface="Calibri"/>
              </a:rPr>
              <a:t>• </a:t>
            </a:r>
            <a:r>
              <a:rPr sz="1400" b="0" i="0">
                <a:solidFill>
                  <a:srgbClr val="1A1A1A"/>
                </a:solidFill>
                <a:latin typeface="Calibri"/>
              </a:rPr>
              <a:t>Affable, articulate BUT needed to be right, craved spotlight, talked non-stop, belittled others</a:t>
            </a:r>
          </a:p>
          <a:p>
            <a:pPr>
              <a:spcAft>
                <a:spcPts val="300"/>
              </a:spcAft>
            </a:pPr>
            <a:r>
              <a:rPr sz="1400" b="1" i="0">
                <a:solidFill>
                  <a:srgbClr val="1A1A1A"/>
                </a:solidFill>
                <a:latin typeface="Calibri"/>
              </a:rPr>
              <a:t>• </a:t>
            </a:r>
            <a:r>
              <a:rPr sz="1400" b="0" i="0">
                <a:solidFill>
                  <a:srgbClr val="1A1A1A"/>
                </a:solidFill>
                <a:latin typeface="Calibri"/>
              </a:rPr>
              <a:t>Origin: stutter + ADHD; walked past jeering peers to the 'stupid classroom' age 10</a:t>
            </a:r>
          </a:p>
          <a:p>
            <a:pPr>
              <a:spcAft>
                <a:spcPts val="300"/>
              </a:spcAft>
            </a:pPr>
            <a:r>
              <a:rPr sz="1400" b="1" i="0">
                <a:solidFill>
                  <a:srgbClr val="1A1A1A"/>
                </a:solidFill>
                <a:latin typeface="Calibri"/>
              </a:rPr>
              <a:t>• </a:t>
            </a:r>
            <a:r>
              <a:rPr sz="1400" b="0" i="0">
                <a:solidFill>
                  <a:srgbClr val="1A1A1A"/>
                </a:solidFill>
                <a:latin typeface="Calibri"/>
              </a:rPr>
              <a:t>Old narrative: 'Unless you prove otherwise, everyone will see how stupid you are'</a:t>
            </a:r>
          </a:p>
        </p:txBody>
      </p:sp>
      <p:sp>
        <p:nvSpPr>
          <p:cNvPr id="17" name="Rounded Rectangle 16"/>
          <p:cNvSpPr/>
          <p:nvPr/>
        </p:nvSpPr>
        <p:spPr>
          <a:xfrm>
            <a:off x="4343400" y="1051560"/>
            <a:ext cx="2377440" cy="1234440"/>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600" b="1" i="0">
                <a:solidFill>
                  <a:srgbClr val="FFFFFF"/>
                </a:solidFill>
                <a:latin typeface="Calibri"/>
              </a:rPr>
              <a:t>1 Write origin stories</a:t>
            </a:r>
          </a:p>
        </p:txBody>
      </p:sp>
      <p:sp>
        <p:nvSpPr>
          <p:cNvPr id="18" name="Rounded Rectangle 17"/>
          <p:cNvSpPr/>
          <p:nvPr/>
        </p:nvSpPr>
        <p:spPr>
          <a:xfrm>
            <a:off x="6766560" y="1051560"/>
            <a:ext cx="5166360" cy="1234440"/>
          </a:xfrm>
          <a:prstGeom prst="roundRect">
            <a:avLst>
              <a:gd name="adj" fmla="val 6000"/>
            </a:avLst>
          </a:prstGeom>
          <a:solidFill>
            <a:srgbClr val="FFFFFF"/>
          </a:solidFill>
          <a:ln w="19050">
            <a:solidFill>
              <a:srgbClr val="8AA5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0" y="1069848"/>
            <a:ext cx="5029200" cy="1188720"/>
          </a:xfrm>
          <a:prstGeom prst="rect">
            <a:avLst/>
          </a:prstGeom>
          <a:noFill/>
        </p:spPr>
        <p:txBody>
          <a:bodyPr wrap="square" anchor="ctr" lIns="45720" rIns="45720" tIns="18288" bIns="18288"/>
          <a:lstStyle/>
          <a:p>
            <a:pPr algn="l"/>
            <a:r>
              <a:rPr sz="1500" b="0" i="0">
                <a:solidFill>
                  <a:srgbClr val="1A1A1A"/>
                </a:solidFill>
                <a:latin typeface="Calibri"/>
              </a:rPr>
              <a:t>Recall scenes (ages 5–20) where the behaviour became important. Q: When &amp; how was this learned?</a:t>
            </a:r>
          </a:p>
        </p:txBody>
      </p:sp>
      <p:sp>
        <p:nvSpPr>
          <p:cNvPr id="20" name="Rounded Rectangle 19"/>
          <p:cNvSpPr/>
          <p:nvPr/>
        </p:nvSpPr>
        <p:spPr>
          <a:xfrm>
            <a:off x="4343400" y="2423160"/>
            <a:ext cx="2377440" cy="1234440"/>
          </a:xfrm>
          <a:prstGeom prst="roundRect">
            <a:avLst>
              <a:gd name="adj" fmla="val 6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600" b="1" i="0">
                <a:solidFill>
                  <a:srgbClr val="FFFFFF"/>
                </a:solidFill>
                <a:latin typeface="Calibri"/>
              </a:rPr>
              <a:t>2 Identify the inner narrative</a:t>
            </a:r>
          </a:p>
        </p:txBody>
      </p:sp>
      <p:sp>
        <p:nvSpPr>
          <p:cNvPr id="21" name="Rounded Rectangle 20"/>
          <p:cNvSpPr/>
          <p:nvPr/>
        </p:nvSpPr>
        <p:spPr>
          <a:xfrm>
            <a:off x="6766560" y="2423160"/>
            <a:ext cx="5166360" cy="1234440"/>
          </a:xfrm>
          <a:prstGeom prst="roundRect">
            <a:avLst>
              <a:gd name="adj" fmla="val 6000"/>
            </a:avLst>
          </a:prstGeom>
          <a:solidFill>
            <a:srgbClr val="FFFFFF"/>
          </a:solidFill>
          <a:ln w="19050">
            <a:solidFill>
              <a:srgbClr val="8EBD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0" y="2441448"/>
            <a:ext cx="5029200" cy="1188720"/>
          </a:xfrm>
          <a:prstGeom prst="rect">
            <a:avLst/>
          </a:prstGeom>
          <a:noFill/>
        </p:spPr>
        <p:txBody>
          <a:bodyPr wrap="square" anchor="ctr" lIns="45720" rIns="45720" tIns="18288" bIns="18288"/>
          <a:lstStyle/>
          <a:p>
            <a:pPr algn="l"/>
            <a:r>
              <a:rPr sz="1500" b="0" i="0">
                <a:solidFill>
                  <a:srgbClr val="1A1A1A"/>
                </a:solidFill>
                <a:latin typeface="Calibri"/>
              </a:rPr>
              <a:t>Name the one-sentence belief/template formed then (can't rewrite what you can't name)</a:t>
            </a:r>
          </a:p>
        </p:txBody>
      </p:sp>
      <p:sp>
        <p:nvSpPr>
          <p:cNvPr id="23" name="Rounded Rectangle 22"/>
          <p:cNvSpPr/>
          <p:nvPr/>
        </p:nvSpPr>
        <p:spPr>
          <a:xfrm>
            <a:off x="4343400" y="3794760"/>
            <a:ext cx="2377440" cy="1234440"/>
          </a:xfrm>
          <a:prstGeom prst="roundRect">
            <a:avLst>
              <a:gd name="adj" fmla="val 6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600" b="1" i="0">
                <a:solidFill>
                  <a:srgbClr val="FFFFFF"/>
                </a:solidFill>
                <a:latin typeface="Calibri"/>
              </a:rPr>
              <a:t>3 Name the need it serves</a:t>
            </a:r>
          </a:p>
        </p:txBody>
      </p:sp>
      <p:sp>
        <p:nvSpPr>
          <p:cNvPr id="24" name="Rounded Rectangle 23"/>
          <p:cNvSpPr/>
          <p:nvPr/>
        </p:nvSpPr>
        <p:spPr>
          <a:xfrm>
            <a:off x="6766560" y="3794760"/>
            <a:ext cx="5166360" cy="1234440"/>
          </a:xfrm>
          <a:prstGeom prst="roundRect">
            <a:avLst>
              <a:gd name="adj" fmla="val 6000"/>
            </a:avLst>
          </a:prstGeom>
          <a:solidFill>
            <a:srgbClr val="FFFFFF"/>
          </a:solidFill>
          <a:ln w="19050">
            <a:solidFill>
              <a:srgbClr val="BD8F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0" y="3813048"/>
            <a:ext cx="5029200" cy="1188720"/>
          </a:xfrm>
          <a:prstGeom prst="rect">
            <a:avLst/>
          </a:prstGeom>
          <a:noFill/>
        </p:spPr>
        <p:txBody>
          <a:bodyPr wrap="square" anchor="ctr" lIns="45720" rIns="45720" tIns="18288" bIns="18288"/>
          <a:lstStyle/>
          <a:p>
            <a:pPr algn="l"/>
            <a:r>
              <a:rPr sz="1500" b="0" i="0">
                <a:solidFill>
                  <a:srgbClr val="1A1A1A"/>
                </a:solidFill>
                <a:latin typeface="Calibri"/>
              </a:rPr>
              <a:t>Andy: 'I want to feel like I belong just by being me' (behaviour buys acceptance)</a:t>
            </a:r>
          </a:p>
        </p:txBody>
      </p:sp>
      <p:sp>
        <p:nvSpPr>
          <p:cNvPr id="26" name="Rounded Rectangle 25"/>
          <p:cNvSpPr/>
          <p:nvPr/>
        </p:nvSpPr>
        <p:spPr>
          <a:xfrm>
            <a:off x="4343400" y="5166360"/>
            <a:ext cx="2377440" cy="123444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600" b="1" i="0">
                <a:solidFill>
                  <a:srgbClr val="FFFFFF"/>
                </a:solidFill>
                <a:latin typeface="Calibri"/>
              </a:rPr>
              <a:t>4 Choose a new narrative &amp; behaviours</a:t>
            </a:r>
          </a:p>
        </p:txBody>
      </p:sp>
      <p:sp>
        <p:nvSpPr>
          <p:cNvPr id="27" name="Rounded Rectangle 26"/>
          <p:cNvSpPr/>
          <p:nvPr/>
        </p:nvSpPr>
        <p:spPr>
          <a:xfrm>
            <a:off x="6766560" y="5166360"/>
            <a:ext cx="5166360" cy="1234440"/>
          </a:xfrm>
          <a:prstGeom prst="roundRect">
            <a:avLst>
              <a:gd name="adj" fmla="val 6000"/>
            </a:avLst>
          </a:prstGeom>
          <a:solidFill>
            <a:srgbClr val="FFFFFF"/>
          </a:solidFill>
          <a:ln w="19050">
            <a:solidFill>
              <a:srgbClr val="EBA4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0" y="5184648"/>
            <a:ext cx="5029200" cy="1188720"/>
          </a:xfrm>
          <a:prstGeom prst="rect">
            <a:avLst/>
          </a:prstGeom>
          <a:noFill/>
        </p:spPr>
        <p:txBody>
          <a:bodyPr wrap="square" anchor="ctr" lIns="45720" rIns="45720" tIns="18288" bIns="18288"/>
          <a:lstStyle/>
          <a:p>
            <a:pPr algn="l"/>
            <a:r>
              <a:rPr sz="1500" b="0" i="0">
                <a:solidFill>
                  <a:srgbClr val="1A1A1A"/>
                </a:solidFill>
                <a:latin typeface="Calibri"/>
              </a:rPr>
              <a:t>Andy: 'I am liked, smart, and safe even in silence.' Takes time; therapist may help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200" b="1" i="0">
                <a:solidFill>
                  <a:srgbClr val="FFFFFF"/>
                </a:solidFill>
                <a:latin typeface="Calibri"/>
              </a:rPr>
              <a:t>MODULE 2: Values &amp; Attitudes · Job satisfaction: reality or myth?</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C6DECC"/>
                </a:solidFill>
                <a:latin typeface="Calibri"/>
              </a:rPr>
              <a:t>MODULE 2 · VALUES &amp; ATTITUDES</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Ch 2 pp. 41–75</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17</a:t>
            </a:r>
          </a:p>
        </p:txBody>
      </p:sp>
      <p:sp>
        <p:nvSpPr>
          <p:cNvPr id="7" name="Rounded Rectangle 6"/>
          <p:cNvSpPr/>
          <p:nvPr/>
        </p:nvSpPr>
        <p:spPr>
          <a:xfrm>
            <a:off x="274320" y="1143000"/>
            <a:ext cx="1783080" cy="1371600"/>
          </a:xfrm>
          <a:prstGeom prst="roundRect">
            <a:avLst>
              <a:gd name="adj" fmla="val 6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700" b="1" i="0">
                <a:solidFill>
                  <a:srgbClr val="FFFFFF"/>
                </a:solidFill>
                <a:latin typeface="Calibri"/>
              </a:rPr>
              <a:t>VALUES</a:t>
            </a:r>
          </a:p>
          <a:p>
            <a:pPr algn="ctr"/>
            <a:r>
              <a:rPr sz="1400" b="0" i="0">
                <a:solidFill>
                  <a:srgbClr val="FFFFFF"/>
                </a:solidFill>
                <a:latin typeface="Calibri"/>
              </a:rPr>
              <a:t>(global, all situations)</a:t>
            </a:r>
          </a:p>
        </p:txBody>
      </p:sp>
      <p:sp>
        <p:nvSpPr>
          <p:cNvPr id="8" name="Right Arrow 7"/>
          <p:cNvSpPr/>
          <p:nvPr/>
        </p:nvSpPr>
        <p:spPr>
          <a:xfrm>
            <a:off x="2075688" y="1645920"/>
            <a:ext cx="164592" cy="365760"/>
          </a:xfrm>
          <a:prstGeom prst="rightArrow">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240279" y="1143000"/>
            <a:ext cx="1783080" cy="1371600"/>
          </a:xfrm>
          <a:prstGeom prst="roundRect">
            <a:avLst>
              <a:gd name="adj" fmla="val 6000"/>
            </a:avLst>
          </a:prstGeom>
          <a:solidFill>
            <a:srgbClr val="398A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700" b="1" i="0">
                <a:solidFill>
                  <a:srgbClr val="FFFFFF"/>
                </a:solidFill>
                <a:latin typeface="Calibri"/>
              </a:rPr>
              <a:t>PERCEPTION &amp;</a:t>
            </a:r>
          </a:p>
          <a:p>
            <a:pPr algn="ctr"/>
            <a:r>
              <a:rPr sz="1400" b="0" i="0">
                <a:solidFill>
                  <a:srgbClr val="FFFFFF"/>
                </a:solidFill>
                <a:latin typeface="Calibri"/>
              </a:rPr>
              <a:t>interpretation</a:t>
            </a:r>
          </a:p>
        </p:txBody>
      </p:sp>
      <p:sp>
        <p:nvSpPr>
          <p:cNvPr id="10" name="Right Arrow 9"/>
          <p:cNvSpPr/>
          <p:nvPr/>
        </p:nvSpPr>
        <p:spPr>
          <a:xfrm>
            <a:off x="4041648" y="1645920"/>
            <a:ext cx="164592" cy="365760"/>
          </a:xfrm>
          <a:prstGeom prst="rightArrow">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206240" y="1143000"/>
            <a:ext cx="1783080" cy="1371600"/>
          </a:xfrm>
          <a:prstGeom prst="roundRect">
            <a:avLst>
              <a:gd name="adj" fmla="val 6000"/>
            </a:avLst>
          </a:prstGeom>
          <a:solidFill>
            <a:srgbClr val="549A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700" b="1" i="0">
                <a:solidFill>
                  <a:srgbClr val="FFFFFF"/>
                </a:solidFill>
                <a:latin typeface="Calibri"/>
              </a:rPr>
              <a:t>ATTITUDES</a:t>
            </a:r>
          </a:p>
          <a:p>
            <a:pPr algn="ctr"/>
            <a:r>
              <a:rPr sz="1400" b="0" i="0">
                <a:solidFill>
                  <a:srgbClr val="FFFFFF"/>
                </a:solidFill>
                <a:latin typeface="Calibri"/>
              </a:rPr>
              <a:t>(specific targets)</a:t>
            </a:r>
          </a:p>
        </p:txBody>
      </p:sp>
      <p:sp>
        <p:nvSpPr>
          <p:cNvPr id="12" name="Right Arrow 11"/>
          <p:cNvSpPr/>
          <p:nvPr/>
        </p:nvSpPr>
        <p:spPr>
          <a:xfrm>
            <a:off x="6007608" y="1645920"/>
            <a:ext cx="164592" cy="365760"/>
          </a:xfrm>
          <a:prstGeom prst="rightArrow">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199" y="1143000"/>
            <a:ext cx="1783080" cy="1371600"/>
          </a:xfrm>
          <a:prstGeom prst="roundRect">
            <a:avLst>
              <a:gd name="adj" fmla="val 6000"/>
            </a:avLst>
          </a:prstGeom>
          <a:solidFill>
            <a:srgbClr val="6FA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700" b="1" i="0">
                <a:solidFill>
                  <a:srgbClr val="FFFFFF"/>
                </a:solidFill>
                <a:latin typeface="Calibri"/>
              </a:rPr>
              <a:t>INTENTIONS</a:t>
            </a:r>
          </a:p>
          <a:p>
            <a:pPr algn="ctr"/>
            <a:r>
              <a:rPr sz="1400" b="0" i="0">
                <a:solidFill>
                  <a:srgbClr val="FFFFFF"/>
                </a:solidFill>
                <a:latin typeface="Calibri"/>
              </a:rPr>
              <a:t>(Ajzen)</a:t>
            </a:r>
          </a:p>
        </p:txBody>
      </p:sp>
      <p:sp>
        <p:nvSpPr>
          <p:cNvPr id="14" name="Right Arrow 13"/>
          <p:cNvSpPr/>
          <p:nvPr/>
        </p:nvSpPr>
        <p:spPr>
          <a:xfrm>
            <a:off x="7973567" y="1645920"/>
            <a:ext cx="164592" cy="365760"/>
          </a:xfrm>
          <a:prstGeom prst="rightArrow">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38160" y="1143000"/>
            <a:ext cx="1783080" cy="1371600"/>
          </a:xfrm>
          <a:prstGeom prst="roundRect">
            <a:avLst>
              <a:gd name="adj" fmla="val 6000"/>
            </a:avLst>
          </a:prstGeom>
          <a:solidFill>
            <a:srgbClr val="8ABA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700" b="1" i="0">
                <a:solidFill>
                  <a:srgbClr val="1A1A1A"/>
                </a:solidFill>
                <a:latin typeface="Calibri"/>
              </a:rPr>
              <a:t>BEHAVIOUR</a:t>
            </a:r>
          </a:p>
        </p:txBody>
      </p:sp>
      <p:sp>
        <p:nvSpPr>
          <p:cNvPr id="16" name="Right Arrow 15"/>
          <p:cNvSpPr/>
          <p:nvPr/>
        </p:nvSpPr>
        <p:spPr>
          <a:xfrm>
            <a:off x="9939528" y="1645920"/>
            <a:ext cx="164592" cy="365760"/>
          </a:xfrm>
          <a:prstGeom prst="rightArrow">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0104120" y="1143000"/>
            <a:ext cx="1783080" cy="1371600"/>
          </a:xfrm>
          <a:prstGeom prst="roundRect">
            <a:avLst>
              <a:gd name="adj" fmla="val 6000"/>
            </a:avLst>
          </a:prstGeom>
          <a:solidFill>
            <a:srgbClr val="A5C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700" b="1" i="0">
                <a:solidFill>
                  <a:srgbClr val="1A1A1A"/>
                </a:solidFill>
                <a:latin typeface="Calibri"/>
              </a:rPr>
              <a:t>OUTCOMES</a:t>
            </a:r>
          </a:p>
          <a:p>
            <a:pPr algn="ctr"/>
            <a:r>
              <a:rPr sz="1400" b="0" i="0">
                <a:solidFill>
                  <a:srgbClr val="1A1A1A"/>
                </a:solidFill>
                <a:latin typeface="Calibri"/>
              </a:rPr>
              <a:t>performance · OCB · turnover</a:t>
            </a:r>
          </a:p>
        </p:txBody>
      </p:sp>
      <p:sp>
        <p:nvSpPr>
          <p:cNvPr id="18" name="Rounded Rectangle 17"/>
          <p:cNvSpPr/>
          <p:nvPr/>
        </p:nvSpPr>
        <p:spPr>
          <a:xfrm>
            <a:off x="274320" y="2743200"/>
            <a:ext cx="5760720" cy="3794760"/>
          </a:xfrm>
          <a:prstGeom prst="roundRect">
            <a:avLst>
              <a:gd name="adj" fmla="val 6000"/>
            </a:avLst>
          </a:prstGeom>
          <a:solidFill>
            <a:srgbClr val="FFFFFF"/>
          </a:solidFill>
          <a:ln w="19050">
            <a:solidFill>
              <a:srgbClr val="99C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74320" y="2743200"/>
            <a:ext cx="5760720" cy="457200"/>
          </a:xfrm>
          <a:prstGeom prst="roundRect">
            <a:avLst>
              <a:gd name="adj" fmla="val 6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74320" y="3063240"/>
            <a:ext cx="5760720" cy="137160"/>
          </a:xfrm>
          <a:prstGeom prst="rect">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2743200"/>
            <a:ext cx="5577840" cy="457200"/>
          </a:xfrm>
          <a:prstGeom prst="rect">
            <a:avLst/>
          </a:prstGeom>
          <a:noFill/>
        </p:spPr>
        <p:txBody>
          <a:bodyPr wrap="square" anchor="ctr" lIns="45720" rIns="45720" tIns="18288" bIns="18288"/>
          <a:lstStyle/>
          <a:p>
            <a:pPr algn="l"/>
            <a:r>
              <a:rPr sz="1900" b="1" i="0">
                <a:solidFill>
                  <a:srgbClr val="FFFFFF"/>
                </a:solidFill>
                <a:latin typeface="Calibri"/>
              </a:rPr>
              <a:t>Session 6: Personal values (2.1–2.3)</a:t>
            </a:r>
          </a:p>
        </p:txBody>
      </p:sp>
      <p:sp>
        <p:nvSpPr>
          <p:cNvPr id="22" name="TextBox 21"/>
          <p:cNvSpPr txBox="1"/>
          <p:nvPr/>
        </p:nvSpPr>
        <p:spPr>
          <a:xfrm>
            <a:off x="347472" y="3255264"/>
            <a:ext cx="5614416" cy="3246120"/>
          </a:xfrm>
          <a:prstGeom prst="rect">
            <a:avLst/>
          </a:prstGeom>
          <a:noFill/>
        </p:spPr>
        <p:txBody>
          <a:bodyPr wrap="square" anchor="t" lIns="54864" rIns="54864" tIns="27432" bIns="27432"/>
          <a:lstStyle/>
          <a:p>
            <a:pPr>
              <a:spcAft>
                <a:spcPts val="300"/>
              </a:spcAft>
            </a:pPr>
            <a:r>
              <a:rPr sz="2100" b="1" i="0">
                <a:solidFill>
                  <a:srgbClr val="1A1A1A"/>
                </a:solidFill>
                <a:latin typeface="Calibri"/>
              </a:rPr>
              <a:t>• </a:t>
            </a:r>
            <a:r>
              <a:rPr sz="2100" b="0" i="0">
                <a:solidFill>
                  <a:srgbClr val="1A1A1A"/>
                </a:solidFill>
                <a:latin typeface="Calibri"/>
              </a:rPr>
              <a:t>Values: definition, sources, Rokeach, value system</a:t>
            </a:r>
          </a:p>
          <a:p>
            <a:pPr>
              <a:spcAft>
                <a:spcPts val="300"/>
              </a:spcAft>
            </a:pPr>
            <a:r>
              <a:rPr sz="2100" b="1" i="0">
                <a:solidFill>
                  <a:srgbClr val="1A1A1A"/>
                </a:solidFill>
                <a:latin typeface="Calibri"/>
              </a:rPr>
              <a:t>• </a:t>
            </a:r>
            <a:r>
              <a:rPr sz="2100" b="1" i="0">
                <a:solidFill>
                  <a:srgbClr val="1A1A1A"/>
                </a:solidFill>
                <a:latin typeface="Calibri"/>
              </a:rPr>
              <a:t>Schwartz</a:t>
            </a:r>
            <a:r>
              <a:rPr sz="2100" b="0" i="0">
                <a:solidFill>
                  <a:srgbClr val="1A1A1A"/>
                </a:solidFill>
                <a:latin typeface="Calibri"/>
              </a:rPr>
              <a:t> 10 values &amp; 4 higher-order dimensions</a:t>
            </a:r>
          </a:p>
          <a:p>
            <a:pPr>
              <a:spcAft>
                <a:spcPts val="300"/>
              </a:spcAft>
            </a:pPr>
            <a:r>
              <a:rPr sz="2100" b="1" i="0">
                <a:solidFill>
                  <a:srgbClr val="1A1A1A"/>
                </a:solidFill>
                <a:latin typeface="Calibri"/>
              </a:rPr>
              <a:t>• </a:t>
            </a:r>
            <a:r>
              <a:rPr sz="2100" b="0" i="0">
                <a:solidFill>
                  <a:srgbClr val="1A1A1A"/>
                </a:solidFill>
                <a:latin typeface="Calibri"/>
              </a:rPr>
              <a:t>Hofstede 6 dimensions · GLOBE 9 + 6 (class PPT)</a:t>
            </a:r>
          </a:p>
          <a:p>
            <a:pPr>
              <a:spcAft>
                <a:spcPts val="300"/>
              </a:spcAft>
            </a:pPr>
            <a:r>
              <a:rPr sz="2100" b="1" i="0">
                <a:solidFill>
                  <a:srgbClr val="1A1A1A"/>
                </a:solidFill>
                <a:latin typeface="Calibri"/>
              </a:rPr>
              <a:t>• </a:t>
            </a:r>
            <a:r>
              <a:rPr sz="2100" b="0" i="0">
                <a:solidFill>
                  <a:srgbClr val="1A1A1A"/>
                </a:solidFill>
                <a:latin typeface="Calibri"/>
              </a:rPr>
              <a:t>Personal attitudes: ABC · cognitive dissonance · Ajzen</a:t>
            </a:r>
          </a:p>
          <a:p>
            <a:pPr>
              <a:spcAft>
                <a:spcPts val="300"/>
              </a:spcAft>
            </a:pPr>
            <a:r>
              <a:rPr sz="2100" b="1" i="0">
                <a:solidFill>
                  <a:srgbClr val="1A1A1A"/>
                </a:solidFill>
                <a:latin typeface="Calibri"/>
              </a:rPr>
              <a:t>• </a:t>
            </a:r>
            <a:r>
              <a:rPr sz="2100" b="0" i="0">
                <a:solidFill>
                  <a:srgbClr val="1A1A1A"/>
                </a:solidFill>
                <a:latin typeface="Calibri"/>
              </a:rPr>
              <a:t>4 key workplace attitudes: commitment, engagement, POS, job satisfaction</a:t>
            </a:r>
          </a:p>
        </p:txBody>
      </p:sp>
      <p:sp>
        <p:nvSpPr>
          <p:cNvPr id="23" name="Rounded Rectangle 22"/>
          <p:cNvSpPr/>
          <p:nvPr/>
        </p:nvSpPr>
        <p:spPr>
          <a:xfrm>
            <a:off x="6172200" y="2743200"/>
            <a:ext cx="5760720" cy="3794760"/>
          </a:xfrm>
          <a:prstGeom prst="roundRect">
            <a:avLst>
              <a:gd name="adj" fmla="val 6000"/>
            </a:avLst>
          </a:prstGeom>
          <a:solidFill>
            <a:srgbClr val="FFFFFF"/>
          </a:solidFill>
          <a:ln w="19050">
            <a:solidFill>
              <a:srgbClr val="99C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172200" y="2743200"/>
            <a:ext cx="5760720" cy="457200"/>
          </a:xfrm>
          <a:prstGeom prst="roundRect">
            <a:avLst>
              <a:gd name="adj" fmla="val 6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72200" y="3063240"/>
            <a:ext cx="5760720" cy="137160"/>
          </a:xfrm>
          <a:prstGeom prst="rect">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63640" y="2743200"/>
            <a:ext cx="5577840" cy="457200"/>
          </a:xfrm>
          <a:prstGeom prst="rect">
            <a:avLst/>
          </a:prstGeom>
          <a:noFill/>
        </p:spPr>
        <p:txBody>
          <a:bodyPr wrap="square" anchor="ctr" lIns="45720" rIns="45720" tIns="18288" bIns="18288"/>
          <a:lstStyle/>
          <a:p>
            <a:pPr algn="l"/>
            <a:r>
              <a:rPr sz="1900" b="1" i="0">
                <a:solidFill>
                  <a:srgbClr val="FFFFFF"/>
                </a:solidFill>
                <a:latin typeface="Calibri"/>
              </a:rPr>
              <a:t>Session 7: Job satisfaction (2.4–2.6)</a:t>
            </a:r>
          </a:p>
        </p:txBody>
      </p:sp>
      <p:sp>
        <p:nvSpPr>
          <p:cNvPr id="27" name="TextBox 26"/>
          <p:cNvSpPr txBox="1"/>
          <p:nvPr/>
        </p:nvSpPr>
        <p:spPr>
          <a:xfrm>
            <a:off x="6245352" y="3255264"/>
            <a:ext cx="5614416" cy="3246120"/>
          </a:xfrm>
          <a:prstGeom prst="rect">
            <a:avLst/>
          </a:prstGeom>
          <a:noFill/>
        </p:spPr>
        <p:txBody>
          <a:bodyPr wrap="square" anchor="t" lIns="54864" rIns="54864" tIns="27432" bIns="27432"/>
          <a:lstStyle/>
          <a:p>
            <a:pPr>
              <a:spcAft>
                <a:spcPts val="300"/>
              </a:spcAft>
            </a:pPr>
            <a:r>
              <a:rPr sz="2100" b="1" i="0">
                <a:solidFill>
                  <a:srgbClr val="1A1A1A"/>
                </a:solidFill>
                <a:latin typeface="Calibri"/>
              </a:rPr>
              <a:t>• </a:t>
            </a:r>
            <a:r>
              <a:rPr sz="2100" b="1" i="0">
                <a:solidFill>
                  <a:srgbClr val="1A1A1A"/>
                </a:solidFill>
                <a:latin typeface="Calibri"/>
              </a:rPr>
              <a:t>5 causes</a:t>
            </a:r>
            <a:r>
              <a:rPr sz="2100" b="0" i="0">
                <a:solidFill>
                  <a:srgbClr val="1A1A1A"/>
                </a:solidFill>
                <a:latin typeface="Calibri"/>
              </a:rPr>
              <a:t>: need fulfilment, met expectations, value attainment, equity, dispositional/genetic</a:t>
            </a:r>
          </a:p>
          <a:p>
            <a:pPr>
              <a:spcAft>
                <a:spcPts val="300"/>
              </a:spcAft>
            </a:pPr>
            <a:r>
              <a:rPr sz="2100" b="1" i="0">
                <a:solidFill>
                  <a:srgbClr val="1A1A1A"/>
                </a:solidFill>
                <a:latin typeface="Calibri"/>
              </a:rPr>
              <a:t>• </a:t>
            </a:r>
            <a:r>
              <a:rPr sz="2100" b="1" i="0">
                <a:solidFill>
                  <a:srgbClr val="1A1A1A"/>
                </a:solidFill>
                <a:latin typeface="Calibri"/>
              </a:rPr>
              <a:t>10 correlates</a:t>
            </a:r>
            <a:r>
              <a:rPr sz="2100" b="0" i="0">
                <a:solidFill>
                  <a:srgbClr val="1A1A1A"/>
                </a:solidFill>
                <a:latin typeface="Calibri"/>
              </a:rPr>
              <a:t>: 4 attitudinal, 4 behavioural, 2 organisational</a:t>
            </a:r>
          </a:p>
          <a:p>
            <a:pPr>
              <a:spcAft>
                <a:spcPts val="300"/>
              </a:spcAft>
            </a:pPr>
            <a:r>
              <a:rPr sz="2100" b="1" i="0">
                <a:solidFill>
                  <a:srgbClr val="1A1A1A"/>
                </a:solidFill>
                <a:latin typeface="Calibri"/>
              </a:rPr>
              <a:t>• </a:t>
            </a:r>
            <a:r>
              <a:rPr sz="2100" b="0" i="0">
                <a:solidFill>
                  <a:srgbClr val="1A1A1A"/>
                </a:solidFill>
                <a:latin typeface="Calibri"/>
              </a:rPr>
              <a:t>OCB vs CWB · turnover · spillover to customers</a:t>
            </a:r>
          </a:p>
          <a:p>
            <a:pPr>
              <a:spcAft>
                <a:spcPts val="300"/>
              </a:spcAft>
            </a:pPr>
            <a:r>
              <a:rPr sz="2100" b="1" i="0">
                <a:solidFill>
                  <a:srgbClr val="1A1A1A"/>
                </a:solidFill>
                <a:latin typeface="Calibri"/>
              </a:rPr>
              <a:t>• </a:t>
            </a:r>
            <a:r>
              <a:rPr sz="2100" b="0" i="0">
                <a:solidFill>
                  <a:srgbClr val="1A1A1A"/>
                </a:solidFill>
                <a:latin typeface="Calibri"/>
              </a:rPr>
              <a:t>Debate: is satisfaction a 'reality or workplace myth'? (McKinsey Great Attrition)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600" b="1" i="0">
                <a:solidFill>
                  <a:srgbClr val="FFFFFF"/>
                </a:solidFill>
                <a:latin typeface="Calibri"/>
              </a:rPr>
              <a:t>Values: what they are, where they come from, why they matter</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C6DECC"/>
                </a:solidFill>
                <a:latin typeface="Calibri"/>
              </a:rPr>
              <a:t>MODULE 2 · VALUES &amp; ATTITUDES</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Ch 2 p. 43 · PPT · Handout 6</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18</a:t>
            </a:r>
          </a:p>
        </p:txBody>
      </p:sp>
      <p:sp>
        <p:nvSpPr>
          <p:cNvPr id="7" name="Rounded Rectangle 6"/>
          <p:cNvSpPr/>
          <p:nvPr/>
        </p:nvSpPr>
        <p:spPr>
          <a:xfrm>
            <a:off x="274320" y="1051560"/>
            <a:ext cx="3931920" cy="2834640"/>
          </a:xfrm>
          <a:prstGeom prst="roundRect">
            <a:avLst>
              <a:gd name="adj" fmla="val 6000"/>
            </a:avLst>
          </a:prstGeom>
          <a:solidFill>
            <a:srgbClr val="FFFFFF"/>
          </a:solidFill>
          <a:ln w="19050">
            <a:solidFill>
              <a:srgbClr val="99C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74320" y="1051560"/>
            <a:ext cx="3931920" cy="457200"/>
          </a:xfrm>
          <a:prstGeom prst="roundRect">
            <a:avLst>
              <a:gd name="adj" fmla="val 6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371600"/>
            <a:ext cx="3931920" cy="137160"/>
          </a:xfrm>
          <a:prstGeom prst="rect">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051560"/>
            <a:ext cx="3749039" cy="457200"/>
          </a:xfrm>
          <a:prstGeom prst="rect">
            <a:avLst/>
          </a:prstGeom>
          <a:noFill/>
        </p:spPr>
        <p:txBody>
          <a:bodyPr wrap="square" anchor="ctr" lIns="45720" rIns="45720" tIns="18288" bIns="18288"/>
          <a:lstStyle/>
          <a:p>
            <a:pPr algn="l"/>
            <a:r>
              <a:rPr sz="1900" b="1" i="0">
                <a:solidFill>
                  <a:srgbClr val="FFFFFF"/>
                </a:solidFill>
                <a:latin typeface="Calibri"/>
              </a:rPr>
              <a:t>Definitions</a:t>
            </a:r>
          </a:p>
        </p:txBody>
      </p:sp>
      <p:sp>
        <p:nvSpPr>
          <p:cNvPr id="11" name="TextBox 10"/>
          <p:cNvSpPr txBox="1"/>
          <p:nvPr/>
        </p:nvSpPr>
        <p:spPr>
          <a:xfrm>
            <a:off x="347472" y="1563624"/>
            <a:ext cx="3785615" cy="2286000"/>
          </a:xfrm>
          <a:prstGeom prst="rect">
            <a:avLst/>
          </a:prstGeom>
          <a:noFill/>
        </p:spPr>
        <p:txBody>
          <a:bodyPr wrap="square" anchor="t" lIns="54864" rIns="54864" tIns="27432" bIns="27432"/>
          <a:lstStyle/>
          <a:p>
            <a:pPr>
              <a:spcAft>
                <a:spcPts val="300"/>
              </a:spcAft>
            </a:pPr>
            <a:r>
              <a:rPr sz="1500" b="1" i="0">
                <a:solidFill>
                  <a:srgbClr val="1A1A1A"/>
                </a:solidFill>
                <a:latin typeface="Calibri"/>
              </a:rPr>
              <a:t>• </a:t>
            </a:r>
            <a:r>
              <a:rPr sz="1500" b="1" i="0">
                <a:solidFill>
                  <a:srgbClr val="1A1A1A"/>
                </a:solidFill>
                <a:latin typeface="Calibri"/>
              </a:rPr>
              <a:t>Kinicki</a:t>
            </a:r>
            <a:r>
              <a:rPr sz="1500" b="0" i="0">
                <a:solidFill>
                  <a:srgbClr val="1A1A1A"/>
                </a:solidFill>
                <a:latin typeface="Calibri"/>
              </a:rPr>
              <a:t>: abstract ideals that guide thinking &amp; behaviour </a:t>
            </a:r>
            <a:r>
              <a:rPr sz="1500" b="1" i="0">
                <a:solidFill>
                  <a:srgbClr val="1A1A1A"/>
                </a:solidFill>
                <a:latin typeface="Calibri"/>
              </a:rPr>
              <a:t>across all situations</a:t>
            </a:r>
          </a:p>
          <a:p>
            <a:pPr>
              <a:spcAft>
                <a:spcPts val="300"/>
              </a:spcAft>
            </a:pPr>
            <a:r>
              <a:rPr sz="1500" b="1" i="0">
                <a:solidFill>
                  <a:srgbClr val="1A1A1A"/>
                </a:solidFill>
                <a:latin typeface="Calibri"/>
              </a:rPr>
              <a:t>• </a:t>
            </a:r>
            <a:r>
              <a:rPr sz="1500" b="1" i="0">
                <a:solidFill>
                  <a:srgbClr val="1A1A1A"/>
                </a:solidFill>
                <a:latin typeface="Calibri"/>
              </a:rPr>
              <a:t>Robbins</a:t>
            </a:r>
            <a:r>
              <a:rPr sz="1500" b="0" i="0">
                <a:solidFill>
                  <a:srgbClr val="1A1A1A"/>
                </a:solidFill>
                <a:latin typeface="Calibri"/>
              </a:rPr>
              <a:t>: basic conviction that a mode of conduct or end-state is personally/socially preferable to its opposite</a:t>
            </a:r>
          </a:p>
          <a:p>
            <a:pPr>
              <a:spcAft>
                <a:spcPts val="300"/>
              </a:spcAft>
            </a:pPr>
            <a:r>
              <a:rPr sz="1500" b="1" i="0">
                <a:solidFill>
                  <a:srgbClr val="1A1A1A"/>
                </a:solidFill>
                <a:latin typeface="Calibri"/>
              </a:rPr>
              <a:t>• </a:t>
            </a:r>
            <a:r>
              <a:rPr sz="1500" b="0" i="0">
                <a:solidFill>
                  <a:srgbClr val="1A1A1A"/>
                </a:solidFill>
                <a:latin typeface="Calibri"/>
              </a:rPr>
              <a:t>Stable, evaluative beliefs; define right/wrong · </a:t>
            </a:r>
            <a:r>
              <a:rPr sz="1500" b="1" i="0">
                <a:solidFill>
                  <a:srgbClr val="1A1A1A"/>
                </a:solidFill>
                <a:latin typeface="Calibri"/>
              </a:rPr>
              <a:t>Value system</a:t>
            </a:r>
            <a:r>
              <a:rPr sz="1500" b="0" i="0">
                <a:solidFill>
                  <a:srgbClr val="1A1A1A"/>
                </a:solidFill>
                <a:latin typeface="Calibri"/>
              </a:rPr>
              <a:t> = hierarchy of values</a:t>
            </a:r>
          </a:p>
        </p:txBody>
      </p:sp>
      <p:sp>
        <p:nvSpPr>
          <p:cNvPr id="12" name="Rounded Rectangle 11"/>
          <p:cNvSpPr/>
          <p:nvPr/>
        </p:nvSpPr>
        <p:spPr>
          <a:xfrm>
            <a:off x="274320" y="4023360"/>
            <a:ext cx="3931920" cy="2514600"/>
          </a:xfrm>
          <a:prstGeom prst="roundRect">
            <a:avLst>
              <a:gd name="adj" fmla="val 6000"/>
            </a:avLst>
          </a:prstGeom>
          <a:solidFill>
            <a:srgbClr val="FFFFFF"/>
          </a:solidFill>
          <a:ln w="19050">
            <a:solidFill>
              <a:srgbClr val="99C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74320" y="4023360"/>
            <a:ext cx="3931920" cy="457200"/>
          </a:xfrm>
          <a:prstGeom prst="roundRect">
            <a:avLst>
              <a:gd name="adj" fmla="val 6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4320" y="4343400"/>
            <a:ext cx="3931920" cy="137160"/>
          </a:xfrm>
          <a:prstGeom prst="rect">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4023360"/>
            <a:ext cx="3749039" cy="457200"/>
          </a:xfrm>
          <a:prstGeom prst="rect">
            <a:avLst/>
          </a:prstGeom>
          <a:noFill/>
        </p:spPr>
        <p:txBody>
          <a:bodyPr wrap="square" anchor="ctr" lIns="45720" rIns="45720" tIns="18288" bIns="18288"/>
          <a:lstStyle/>
          <a:p>
            <a:pPr algn="l"/>
            <a:r>
              <a:rPr sz="1900" b="1" i="0">
                <a:solidFill>
                  <a:srgbClr val="FFFFFF"/>
                </a:solidFill>
                <a:latin typeface="Calibri"/>
              </a:rPr>
              <a:t>Sources &amp; stability</a:t>
            </a:r>
          </a:p>
        </p:txBody>
      </p:sp>
      <p:sp>
        <p:nvSpPr>
          <p:cNvPr id="16" name="TextBox 15"/>
          <p:cNvSpPr txBox="1"/>
          <p:nvPr/>
        </p:nvSpPr>
        <p:spPr>
          <a:xfrm>
            <a:off x="347472" y="4535424"/>
            <a:ext cx="3785615" cy="1965960"/>
          </a:xfrm>
          <a:prstGeom prst="rect">
            <a:avLst/>
          </a:prstGeom>
          <a:noFill/>
        </p:spPr>
        <p:txBody>
          <a:bodyPr wrap="square" anchor="t" lIns="54864" rIns="54864" tIns="27432" bIns="27432"/>
          <a:lstStyle/>
          <a:p>
            <a:pPr>
              <a:spcAft>
                <a:spcPts val="300"/>
              </a:spcAft>
            </a:pPr>
            <a:r>
              <a:rPr sz="1500" b="1" i="0">
                <a:solidFill>
                  <a:srgbClr val="1A1A1A"/>
                </a:solidFill>
                <a:latin typeface="Calibri"/>
              </a:rPr>
              <a:t>• </a:t>
            </a:r>
            <a:r>
              <a:rPr sz="1500" b="0" i="0">
                <a:solidFill>
                  <a:srgbClr val="1A1A1A"/>
                </a:solidFill>
                <a:latin typeface="Calibri"/>
              </a:rPr>
              <a:t>Parents, childhood &amp; life experiences, religion/spirituality, education, culture</a:t>
            </a:r>
          </a:p>
          <a:p>
            <a:pPr>
              <a:spcAft>
                <a:spcPts val="300"/>
              </a:spcAft>
            </a:pPr>
            <a:r>
              <a:rPr sz="1500" b="1" i="0">
                <a:solidFill>
                  <a:srgbClr val="1A1A1A"/>
                </a:solidFill>
                <a:latin typeface="Calibri"/>
              </a:rPr>
              <a:t>• </a:t>
            </a:r>
            <a:r>
              <a:rPr sz="1500" b="1" i="0">
                <a:solidFill>
                  <a:srgbClr val="1A1A1A"/>
                </a:solidFill>
                <a:latin typeface="Calibri"/>
              </a:rPr>
              <a:t>Relatively stable</a:t>
            </a:r>
            <a:r>
              <a:rPr sz="1500" b="0" i="0">
                <a:solidFill>
                  <a:srgbClr val="1A1A1A"/>
                </a:solidFill>
                <a:latin typeface="Calibri"/>
              </a:rPr>
              <a:t>; can act outside awareness; change through major experiences &amp; socialisation</a:t>
            </a:r>
          </a:p>
          <a:p>
            <a:pPr>
              <a:spcAft>
                <a:spcPts val="300"/>
              </a:spcAft>
            </a:pPr>
            <a:r>
              <a:rPr sz="1500" b="1" i="0">
                <a:solidFill>
                  <a:srgbClr val="1A1A1A"/>
                </a:solidFill>
                <a:latin typeface="Calibri"/>
              </a:rPr>
              <a:t>• </a:t>
            </a:r>
            <a:r>
              <a:rPr sz="1500" b="0" i="0">
                <a:solidFill>
                  <a:srgbClr val="1A1A1A"/>
                </a:solidFill>
                <a:latin typeface="Calibri"/>
              </a:rPr>
              <a:t>Vary across generations &amp; cultures (p. 46)</a:t>
            </a:r>
          </a:p>
        </p:txBody>
      </p:sp>
      <p:sp>
        <p:nvSpPr>
          <p:cNvPr id="17" name="Rounded Rectangle 16"/>
          <p:cNvSpPr/>
          <p:nvPr/>
        </p:nvSpPr>
        <p:spPr>
          <a:xfrm>
            <a:off x="4343400" y="1051560"/>
            <a:ext cx="3749039" cy="2834640"/>
          </a:xfrm>
          <a:prstGeom prst="roundRect">
            <a:avLst>
              <a:gd name="adj" fmla="val 6000"/>
            </a:avLst>
          </a:prstGeom>
          <a:solidFill>
            <a:srgbClr val="FFFFFF"/>
          </a:solidFill>
          <a:ln w="19050">
            <a:solidFill>
              <a:srgbClr val="99C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343400" y="1051560"/>
            <a:ext cx="3749039" cy="457200"/>
          </a:xfrm>
          <a:prstGeom prst="roundRect">
            <a:avLst>
              <a:gd name="adj" fmla="val 6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43400" y="1371600"/>
            <a:ext cx="3749039" cy="137160"/>
          </a:xfrm>
          <a:prstGeom prst="rect">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34840" y="1051560"/>
            <a:ext cx="3566159" cy="457200"/>
          </a:xfrm>
          <a:prstGeom prst="rect">
            <a:avLst/>
          </a:prstGeom>
          <a:noFill/>
        </p:spPr>
        <p:txBody>
          <a:bodyPr wrap="square" anchor="ctr" lIns="45720" rIns="45720" tIns="18288" bIns="18288"/>
          <a:lstStyle/>
          <a:p>
            <a:pPr algn="l"/>
            <a:r>
              <a:rPr sz="1900" b="1" i="0">
                <a:solidFill>
                  <a:srgbClr val="FFFFFF"/>
                </a:solidFill>
                <a:latin typeface="Calibri"/>
              </a:rPr>
              <a:t>Rokeach Value Survey</a:t>
            </a:r>
          </a:p>
        </p:txBody>
      </p:sp>
      <p:sp>
        <p:nvSpPr>
          <p:cNvPr id="21" name="TextBox 20"/>
          <p:cNvSpPr txBox="1"/>
          <p:nvPr/>
        </p:nvSpPr>
        <p:spPr>
          <a:xfrm>
            <a:off x="4416552" y="1563624"/>
            <a:ext cx="3602735" cy="2286000"/>
          </a:xfrm>
          <a:prstGeom prst="rect">
            <a:avLst/>
          </a:prstGeom>
          <a:noFill/>
        </p:spPr>
        <p:txBody>
          <a:bodyPr wrap="square" anchor="t" lIns="54864" rIns="54864" tIns="27432" bIns="27432"/>
          <a:lstStyle/>
          <a:p>
            <a:pPr>
              <a:spcAft>
                <a:spcPts val="300"/>
              </a:spcAft>
            </a:pPr>
            <a:r>
              <a:rPr sz="1400" b="1" i="0">
                <a:solidFill>
                  <a:srgbClr val="1A1A1A"/>
                </a:solidFill>
                <a:latin typeface="Calibri"/>
              </a:rPr>
              <a:t>• </a:t>
            </a:r>
            <a:r>
              <a:rPr sz="1400" b="1" i="0">
                <a:solidFill>
                  <a:srgbClr val="1A1A1A"/>
                </a:solidFill>
                <a:latin typeface="Calibri"/>
              </a:rPr>
              <a:t>Terminal</a:t>
            </a:r>
            <a:r>
              <a:rPr sz="1400" b="0" i="0">
                <a:solidFill>
                  <a:srgbClr val="1A1A1A"/>
                </a:solidFill>
                <a:latin typeface="Calibri"/>
              </a:rPr>
              <a:t> values = desirable end-states (comfortable life, equality, family security, freedom, happiness, self-respect, wisdom)</a:t>
            </a:r>
          </a:p>
          <a:p>
            <a:pPr>
              <a:spcAft>
                <a:spcPts val="300"/>
              </a:spcAft>
            </a:pPr>
            <a:r>
              <a:rPr sz="1400" b="1" i="0">
                <a:solidFill>
                  <a:srgbClr val="1A1A1A"/>
                </a:solidFill>
                <a:latin typeface="Calibri"/>
              </a:rPr>
              <a:t>• </a:t>
            </a:r>
            <a:r>
              <a:rPr sz="1400" b="1" i="0">
                <a:solidFill>
                  <a:srgbClr val="1A1A1A"/>
                </a:solidFill>
                <a:latin typeface="Calibri"/>
              </a:rPr>
              <a:t>Instrumental</a:t>
            </a:r>
            <a:r>
              <a:rPr sz="1400" b="0" i="0">
                <a:solidFill>
                  <a:srgbClr val="1A1A1A"/>
                </a:solidFill>
                <a:latin typeface="Calibri"/>
              </a:rPr>
              <a:t> values = preferred means/behaviours (ambitious, honest, responsible, capable, courageous, helpful)</a:t>
            </a:r>
          </a:p>
          <a:p>
            <a:pPr>
              <a:spcAft>
                <a:spcPts val="300"/>
              </a:spcAft>
            </a:pPr>
            <a:r>
              <a:rPr sz="1400" b="1" i="0">
                <a:solidFill>
                  <a:srgbClr val="1A1A1A"/>
                </a:solidFill>
                <a:latin typeface="Calibri"/>
              </a:rPr>
              <a:t>• </a:t>
            </a:r>
            <a:r>
              <a:rPr sz="1400" b="0" i="0">
                <a:solidFill>
                  <a:srgbClr val="1A1A1A"/>
                </a:solidFill>
                <a:latin typeface="Calibri"/>
              </a:rPr>
              <a:t>Different groups (execs, unions, activists) rank them differently</a:t>
            </a:r>
          </a:p>
        </p:txBody>
      </p:sp>
      <p:sp>
        <p:nvSpPr>
          <p:cNvPr id="22" name="Rounded Rectangle 21"/>
          <p:cNvSpPr/>
          <p:nvPr/>
        </p:nvSpPr>
        <p:spPr>
          <a:xfrm>
            <a:off x="4343400" y="4023360"/>
            <a:ext cx="3749039" cy="2514600"/>
          </a:xfrm>
          <a:prstGeom prst="roundRect">
            <a:avLst>
              <a:gd name="adj" fmla="val 6000"/>
            </a:avLst>
          </a:prstGeom>
          <a:solidFill>
            <a:srgbClr val="FFFFFF"/>
          </a:solidFill>
          <a:ln w="19050">
            <a:solidFill>
              <a:srgbClr val="99C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343400" y="4023360"/>
            <a:ext cx="3749039" cy="457200"/>
          </a:xfrm>
          <a:prstGeom prst="roundRect">
            <a:avLst>
              <a:gd name="adj" fmla="val 6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43400" y="4343400"/>
            <a:ext cx="3749039" cy="137160"/>
          </a:xfrm>
          <a:prstGeom prst="rect">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34840" y="4023360"/>
            <a:ext cx="3566159" cy="457200"/>
          </a:xfrm>
          <a:prstGeom prst="rect">
            <a:avLst/>
          </a:prstGeom>
          <a:noFill/>
        </p:spPr>
        <p:txBody>
          <a:bodyPr wrap="square" anchor="ctr" lIns="45720" rIns="45720" tIns="18288" bIns="18288"/>
          <a:lstStyle/>
          <a:p>
            <a:pPr algn="l"/>
            <a:r>
              <a:rPr sz="1900" b="1" i="0">
                <a:solidFill>
                  <a:srgbClr val="FFFFFF"/>
                </a:solidFill>
                <a:latin typeface="Calibri"/>
              </a:rPr>
              <a:t>Values in the OB process</a:t>
            </a:r>
          </a:p>
        </p:txBody>
      </p:sp>
      <p:sp>
        <p:nvSpPr>
          <p:cNvPr id="26" name="TextBox 25"/>
          <p:cNvSpPr txBox="1"/>
          <p:nvPr/>
        </p:nvSpPr>
        <p:spPr>
          <a:xfrm>
            <a:off x="4416552" y="4535424"/>
            <a:ext cx="3602735" cy="1965960"/>
          </a:xfrm>
          <a:prstGeom prst="rect">
            <a:avLst/>
          </a:prstGeom>
          <a:noFill/>
        </p:spPr>
        <p:txBody>
          <a:bodyPr wrap="square" anchor="t" lIns="54864" rIns="54864" tIns="27432" bIns="27432"/>
          <a:lstStyle/>
          <a:p>
            <a:pPr>
              <a:spcAft>
                <a:spcPts val="300"/>
              </a:spcAft>
            </a:pPr>
            <a:r>
              <a:rPr sz="1600" b="1" i="0">
                <a:solidFill>
                  <a:srgbClr val="1A1A1A"/>
                </a:solidFill>
                <a:latin typeface="Calibri"/>
              </a:rPr>
              <a:t>• </a:t>
            </a:r>
            <a:r>
              <a:rPr sz="1600" b="0" i="0">
                <a:solidFill>
                  <a:srgbClr val="1A1A1A"/>
                </a:solidFill>
                <a:latin typeface="Calibri"/>
              </a:rPr>
              <a:t>Values → perception → attitudes &amp; motivation → decisions &amp; behaviour → performance, commitment, cooperation</a:t>
            </a:r>
          </a:p>
          <a:p>
            <a:pPr>
              <a:spcAft>
                <a:spcPts val="300"/>
              </a:spcAft>
            </a:pPr>
            <a:r>
              <a:rPr sz="1600" b="1" i="0">
                <a:solidFill>
                  <a:srgbClr val="1A1A1A"/>
                </a:solidFill>
                <a:latin typeface="Calibri"/>
              </a:rPr>
              <a:t>• </a:t>
            </a:r>
            <a:r>
              <a:rPr sz="1600" b="0" i="0">
                <a:solidFill>
                  <a:srgbClr val="1A1A1A"/>
                </a:solidFill>
                <a:latin typeface="Calibri"/>
              </a:rPr>
              <a:t>Ex: forced ranking system: Achievement-valuer welcomes it; Cooperation-valuer sees it as harmful</a:t>
            </a:r>
          </a:p>
        </p:txBody>
      </p:sp>
      <p:sp>
        <p:nvSpPr>
          <p:cNvPr id="27" name="Rounded Rectangle 26"/>
          <p:cNvSpPr/>
          <p:nvPr/>
        </p:nvSpPr>
        <p:spPr>
          <a:xfrm>
            <a:off x="8229600" y="1051560"/>
            <a:ext cx="3703320" cy="5486400"/>
          </a:xfrm>
          <a:prstGeom prst="roundRect">
            <a:avLst>
              <a:gd name="adj" fmla="val 6000"/>
            </a:avLst>
          </a:prstGeom>
          <a:solidFill>
            <a:srgbClr val="FFFFFF"/>
          </a:solidFill>
          <a:ln w="19050">
            <a:solidFill>
              <a:srgbClr val="99C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229600" y="1051560"/>
            <a:ext cx="3703320" cy="457200"/>
          </a:xfrm>
          <a:prstGeom prst="roundRect">
            <a:avLst>
              <a:gd name="adj" fmla="val 6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229600" y="1371600"/>
            <a:ext cx="3703320" cy="137160"/>
          </a:xfrm>
          <a:prstGeom prst="rect">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40" y="1051560"/>
            <a:ext cx="3520439" cy="457200"/>
          </a:xfrm>
          <a:prstGeom prst="rect">
            <a:avLst/>
          </a:prstGeom>
          <a:noFill/>
        </p:spPr>
        <p:txBody>
          <a:bodyPr wrap="square" anchor="ctr" lIns="45720" rIns="45720" tIns="18288" bIns="18288"/>
          <a:lstStyle/>
          <a:p>
            <a:pPr algn="l"/>
            <a:r>
              <a:rPr sz="1900" b="1" i="0">
                <a:solidFill>
                  <a:srgbClr val="FFFFFF"/>
                </a:solidFill>
                <a:latin typeface="Calibri"/>
              </a:rPr>
              <a:t>8 reasons to study values</a:t>
            </a:r>
          </a:p>
        </p:txBody>
      </p:sp>
      <p:sp>
        <p:nvSpPr>
          <p:cNvPr id="31" name="TextBox 30"/>
          <p:cNvSpPr txBox="1"/>
          <p:nvPr/>
        </p:nvSpPr>
        <p:spPr>
          <a:xfrm>
            <a:off x="8302752" y="1563624"/>
            <a:ext cx="3557015" cy="4937760"/>
          </a:xfrm>
          <a:prstGeom prst="rect">
            <a:avLst/>
          </a:prstGeom>
          <a:noFill/>
        </p:spPr>
        <p:txBody>
          <a:bodyPr wrap="square" anchor="t" lIns="54864" rIns="54864" tIns="27432" bIns="27432"/>
          <a:lstStyle/>
          <a:p>
            <a:pPr>
              <a:spcAft>
                <a:spcPts val="300"/>
              </a:spcAft>
            </a:pPr>
            <a:r>
              <a:rPr sz="1500" b="1" i="0">
                <a:solidFill>
                  <a:srgbClr val="1A1A1A"/>
                </a:solidFill>
                <a:latin typeface="Calibri"/>
              </a:rPr>
              <a:t>• </a:t>
            </a:r>
            <a:r>
              <a:rPr sz="1500" b="0" i="0">
                <a:solidFill>
                  <a:srgbClr val="1A1A1A"/>
                </a:solidFill>
                <a:latin typeface="Calibri"/>
              </a:rPr>
              <a:t>1 Influence behaviour (integrity → won't fake sales)</a:t>
            </a:r>
          </a:p>
          <a:p>
            <a:pPr>
              <a:spcAft>
                <a:spcPts val="300"/>
              </a:spcAft>
            </a:pPr>
            <a:r>
              <a:rPr sz="1500" b="1" i="0">
                <a:solidFill>
                  <a:srgbClr val="1A1A1A"/>
                </a:solidFill>
                <a:latin typeface="Calibri"/>
              </a:rPr>
              <a:t>• </a:t>
            </a:r>
            <a:r>
              <a:rPr sz="1500" b="0" i="0">
                <a:solidFill>
                  <a:srgbClr val="1A1A1A"/>
                </a:solidFill>
                <a:latin typeface="Calibri"/>
              </a:rPr>
              <a:t>2 Shape attitudes &amp; satisfaction (value fit)</a:t>
            </a:r>
          </a:p>
          <a:p>
            <a:pPr>
              <a:spcAft>
                <a:spcPts val="300"/>
              </a:spcAft>
            </a:pPr>
            <a:r>
              <a:rPr sz="1500" b="1" i="0">
                <a:solidFill>
                  <a:srgbClr val="1A1A1A"/>
                </a:solidFill>
                <a:latin typeface="Calibri"/>
              </a:rPr>
              <a:t>• </a:t>
            </a:r>
            <a:r>
              <a:rPr sz="1500" b="0" i="0">
                <a:solidFill>
                  <a:srgbClr val="1A1A1A"/>
                </a:solidFill>
                <a:latin typeface="Calibri"/>
              </a:rPr>
              <a:t>3 Drive motivation (achievement vs security)</a:t>
            </a:r>
          </a:p>
          <a:p>
            <a:pPr>
              <a:spcAft>
                <a:spcPts val="300"/>
              </a:spcAft>
            </a:pPr>
            <a:r>
              <a:rPr sz="1500" b="1" i="0">
                <a:solidFill>
                  <a:srgbClr val="1A1A1A"/>
                </a:solidFill>
                <a:latin typeface="Calibri"/>
              </a:rPr>
              <a:t>• </a:t>
            </a:r>
            <a:r>
              <a:rPr sz="1500" b="0" i="0">
                <a:solidFill>
                  <a:srgbClr val="1A1A1A"/>
                </a:solidFill>
                <a:latin typeface="Calibri"/>
              </a:rPr>
              <a:t>4 Guide ethical decisions; conflicts → dilemmas</a:t>
            </a:r>
          </a:p>
          <a:p>
            <a:pPr>
              <a:spcAft>
                <a:spcPts val="300"/>
              </a:spcAft>
            </a:pPr>
            <a:r>
              <a:rPr sz="1500" b="1" i="0">
                <a:solidFill>
                  <a:srgbClr val="1A1A1A"/>
                </a:solidFill>
                <a:latin typeface="Calibri"/>
              </a:rPr>
              <a:t>• </a:t>
            </a:r>
            <a:r>
              <a:rPr sz="1500" b="0" i="0">
                <a:solidFill>
                  <a:srgbClr val="1A1A1A"/>
                </a:solidFill>
                <a:latin typeface="Calibri"/>
              </a:rPr>
              <a:t>5 Explain individual differences: no one-size-fits-all</a:t>
            </a:r>
          </a:p>
          <a:p>
            <a:pPr>
              <a:spcAft>
                <a:spcPts val="300"/>
              </a:spcAft>
            </a:pPr>
            <a:r>
              <a:rPr sz="1500" b="1" i="0">
                <a:solidFill>
                  <a:srgbClr val="1A1A1A"/>
                </a:solidFill>
                <a:latin typeface="Calibri"/>
              </a:rPr>
              <a:t>• </a:t>
            </a:r>
            <a:r>
              <a:rPr sz="1500" b="0" i="0">
                <a:solidFill>
                  <a:srgbClr val="1A1A1A"/>
                </a:solidFill>
                <a:latin typeface="Calibri"/>
              </a:rPr>
              <a:t>6 Build culture: stated vs </a:t>
            </a:r>
            <a:r>
              <a:rPr sz="1500" b="1" i="0">
                <a:solidFill>
                  <a:srgbClr val="1A1A1A"/>
                </a:solidFill>
                <a:latin typeface="Calibri"/>
              </a:rPr>
              <a:t>enacted</a:t>
            </a:r>
            <a:r>
              <a:rPr sz="1500" b="0" i="0">
                <a:solidFill>
                  <a:srgbClr val="1A1A1A"/>
                </a:solidFill>
                <a:latin typeface="Calibri"/>
              </a:rPr>
              <a:t> values; gaps → cynicism</a:t>
            </a:r>
          </a:p>
          <a:p>
            <a:pPr>
              <a:spcAft>
                <a:spcPts val="300"/>
              </a:spcAft>
            </a:pPr>
            <a:r>
              <a:rPr sz="1500" b="1" i="0">
                <a:solidFill>
                  <a:srgbClr val="1A1A1A"/>
                </a:solidFill>
                <a:latin typeface="Calibri"/>
              </a:rPr>
              <a:t>• </a:t>
            </a:r>
            <a:r>
              <a:rPr sz="1500" b="0" i="0">
                <a:solidFill>
                  <a:srgbClr val="1A1A1A"/>
                </a:solidFill>
                <a:latin typeface="Calibri"/>
              </a:rPr>
              <a:t>7 Leadership &amp; relationships</a:t>
            </a:r>
          </a:p>
          <a:p>
            <a:pPr>
              <a:spcAft>
                <a:spcPts val="300"/>
              </a:spcAft>
            </a:pPr>
            <a:r>
              <a:rPr sz="1500" b="1" i="0">
                <a:solidFill>
                  <a:srgbClr val="1A1A1A"/>
                </a:solidFill>
                <a:latin typeface="Calibri"/>
              </a:rPr>
              <a:t>• </a:t>
            </a:r>
            <a:r>
              <a:rPr sz="1500" b="0" i="0">
                <a:solidFill>
                  <a:srgbClr val="1A1A1A"/>
                </a:solidFill>
                <a:latin typeface="Calibri"/>
              </a:rPr>
              <a:t>8 Manage diversity: dialogue, not stereotypes</a:t>
            </a:r>
          </a:p>
          <a:p>
            <a:pPr>
              <a:spcAft>
                <a:spcPts val="300"/>
              </a:spcAft>
            </a:pPr>
            <a:r>
              <a:rPr sz="1500" b="1" i="0">
                <a:solidFill>
                  <a:srgbClr val="1A1A1A"/>
                </a:solidFill>
                <a:latin typeface="Calibri"/>
              </a:rPr>
              <a:t>Person–Organisation fit</a:t>
            </a:r>
          </a:p>
          <a:p>
            <a:pPr>
              <a:spcAft>
                <a:spcPts val="300"/>
              </a:spcAft>
            </a:pPr>
            <a:r>
              <a:rPr sz="1500" b="1" i="0">
                <a:solidFill>
                  <a:srgbClr val="1A1A1A"/>
                </a:solidFill>
                <a:latin typeface="Calibri"/>
              </a:rPr>
              <a:t>• </a:t>
            </a:r>
            <a:r>
              <a:rPr sz="1500" b="0" i="0">
                <a:solidFill>
                  <a:srgbClr val="1A1A1A"/>
                </a:solidFill>
                <a:latin typeface="Calibri"/>
              </a:rPr>
              <a:t>High fit → satisfaction, commitment, retention; low fit → conflict, turnover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600" b="1" i="0">
                <a:solidFill>
                  <a:srgbClr val="FFFFFF"/>
                </a:solidFill>
                <a:latin typeface="Calibri"/>
              </a:rPr>
              <a:t>Schwartz's Value Theory: 10 values in a motivational circle</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C6DECC"/>
                </a:solidFill>
                <a:latin typeface="Calibri"/>
              </a:rPr>
              <a:t>MODULE 2 · VALUES &amp; ATTITUDES</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Ch 2 pp. 43–46 · Fig 2.2</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19</a:t>
            </a:r>
          </a:p>
        </p:txBody>
      </p:sp>
      <p:sp>
        <p:nvSpPr>
          <p:cNvPr id="7" name="Oval 6"/>
          <p:cNvSpPr/>
          <p:nvPr/>
        </p:nvSpPr>
        <p:spPr>
          <a:xfrm>
            <a:off x="2130552" y="1554480"/>
            <a:ext cx="1682496" cy="566928"/>
          </a:xfrm>
          <a:prstGeom prst="ellipse">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i="0">
                <a:solidFill>
                  <a:srgbClr val="FFFFFF"/>
                </a:solidFill>
                <a:latin typeface="Calibri"/>
              </a:rPr>
              <a:t>Self-Direction</a:t>
            </a:r>
          </a:p>
        </p:txBody>
      </p:sp>
      <p:sp>
        <p:nvSpPr>
          <p:cNvPr id="8" name="Oval 7"/>
          <p:cNvSpPr/>
          <p:nvPr/>
        </p:nvSpPr>
        <p:spPr>
          <a:xfrm>
            <a:off x="3393608" y="1929944"/>
            <a:ext cx="1682496" cy="566928"/>
          </a:xfrm>
          <a:prstGeom prst="ellipse">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i="0">
                <a:solidFill>
                  <a:srgbClr val="FFFFFF"/>
                </a:solidFill>
                <a:latin typeface="Calibri"/>
              </a:rPr>
              <a:t>Universalism</a:t>
            </a:r>
          </a:p>
        </p:txBody>
      </p:sp>
      <p:sp>
        <p:nvSpPr>
          <p:cNvPr id="9" name="Oval 8"/>
          <p:cNvSpPr/>
          <p:nvPr/>
        </p:nvSpPr>
        <p:spPr>
          <a:xfrm>
            <a:off x="4174220" y="2912924"/>
            <a:ext cx="1682496" cy="566928"/>
          </a:xfrm>
          <a:prstGeom prst="ellipse">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i="0">
                <a:solidFill>
                  <a:srgbClr val="FFFFFF"/>
                </a:solidFill>
                <a:latin typeface="Calibri"/>
              </a:rPr>
              <a:t>Benevolence</a:t>
            </a:r>
          </a:p>
        </p:txBody>
      </p:sp>
      <p:sp>
        <p:nvSpPr>
          <p:cNvPr id="10" name="Oval 9"/>
          <p:cNvSpPr/>
          <p:nvPr/>
        </p:nvSpPr>
        <p:spPr>
          <a:xfrm>
            <a:off x="4174220" y="4127955"/>
            <a:ext cx="1682496" cy="566928"/>
          </a:xfrm>
          <a:prstGeom prst="ellipse">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i="0">
                <a:solidFill>
                  <a:srgbClr val="FFFFFF"/>
                </a:solidFill>
                <a:latin typeface="Calibri"/>
              </a:rPr>
              <a:t>Tradition</a:t>
            </a:r>
          </a:p>
        </p:txBody>
      </p:sp>
      <p:sp>
        <p:nvSpPr>
          <p:cNvPr id="11" name="Oval 10"/>
          <p:cNvSpPr/>
          <p:nvPr/>
        </p:nvSpPr>
        <p:spPr>
          <a:xfrm>
            <a:off x="3393608" y="5110935"/>
            <a:ext cx="1682496" cy="566928"/>
          </a:xfrm>
          <a:prstGeom prst="ellipse">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i="0">
                <a:solidFill>
                  <a:srgbClr val="FFFFFF"/>
                </a:solidFill>
                <a:latin typeface="Calibri"/>
              </a:rPr>
              <a:t>Conformity</a:t>
            </a:r>
          </a:p>
        </p:txBody>
      </p:sp>
      <p:sp>
        <p:nvSpPr>
          <p:cNvPr id="12" name="Oval 11"/>
          <p:cNvSpPr/>
          <p:nvPr/>
        </p:nvSpPr>
        <p:spPr>
          <a:xfrm>
            <a:off x="2130552" y="5486400"/>
            <a:ext cx="1682496" cy="566928"/>
          </a:xfrm>
          <a:prstGeom prst="ellipse">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i="0">
                <a:solidFill>
                  <a:srgbClr val="FFFFFF"/>
                </a:solidFill>
                <a:latin typeface="Calibri"/>
              </a:rPr>
              <a:t>Security</a:t>
            </a:r>
          </a:p>
        </p:txBody>
      </p:sp>
      <p:sp>
        <p:nvSpPr>
          <p:cNvPr id="13" name="Oval 12"/>
          <p:cNvSpPr/>
          <p:nvPr/>
        </p:nvSpPr>
        <p:spPr>
          <a:xfrm>
            <a:off x="867495" y="5110935"/>
            <a:ext cx="1682496" cy="566928"/>
          </a:xfrm>
          <a:prstGeom prst="ellipse">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i="0">
                <a:solidFill>
                  <a:srgbClr val="FFFFFF"/>
                </a:solidFill>
                <a:latin typeface="Calibri"/>
              </a:rPr>
              <a:t>Power</a:t>
            </a:r>
          </a:p>
        </p:txBody>
      </p:sp>
      <p:sp>
        <p:nvSpPr>
          <p:cNvPr id="14" name="Oval 13"/>
          <p:cNvSpPr/>
          <p:nvPr/>
        </p:nvSpPr>
        <p:spPr>
          <a:xfrm>
            <a:off x="86883" y="4127955"/>
            <a:ext cx="1682496" cy="566928"/>
          </a:xfrm>
          <a:prstGeom prst="ellipse">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i="0">
                <a:solidFill>
                  <a:srgbClr val="FFFFFF"/>
                </a:solidFill>
                <a:latin typeface="Calibri"/>
              </a:rPr>
              <a:t>Achievement</a:t>
            </a:r>
          </a:p>
        </p:txBody>
      </p:sp>
      <p:sp>
        <p:nvSpPr>
          <p:cNvPr id="15" name="Oval 14"/>
          <p:cNvSpPr/>
          <p:nvPr/>
        </p:nvSpPr>
        <p:spPr>
          <a:xfrm>
            <a:off x="86883" y="2912924"/>
            <a:ext cx="1682496" cy="566928"/>
          </a:xfrm>
          <a:prstGeom prst="ellipse">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i="0">
                <a:solidFill>
                  <a:srgbClr val="FFFFFF"/>
                </a:solidFill>
                <a:latin typeface="Calibri"/>
              </a:rPr>
              <a:t>Hedonism</a:t>
            </a:r>
          </a:p>
        </p:txBody>
      </p:sp>
      <p:sp>
        <p:nvSpPr>
          <p:cNvPr id="16" name="Oval 15"/>
          <p:cNvSpPr/>
          <p:nvPr/>
        </p:nvSpPr>
        <p:spPr>
          <a:xfrm>
            <a:off x="867495" y="1929944"/>
            <a:ext cx="1682496" cy="566928"/>
          </a:xfrm>
          <a:prstGeom prst="ellipse">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i="0">
                <a:solidFill>
                  <a:srgbClr val="FFFFFF"/>
                </a:solidFill>
                <a:latin typeface="Calibri"/>
              </a:rPr>
              <a:t>Stimulation</a:t>
            </a:r>
          </a:p>
        </p:txBody>
      </p:sp>
      <p:sp>
        <p:nvSpPr>
          <p:cNvPr id="17" name="Rounded Rectangle 16"/>
          <p:cNvSpPr/>
          <p:nvPr/>
        </p:nvSpPr>
        <p:spPr>
          <a:xfrm>
            <a:off x="2011680" y="3200400"/>
            <a:ext cx="1920240" cy="1188720"/>
          </a:xfrm>
          <a:prstGeom prst="roundRect">
            <a:avLst>
              <a:gd name="adj" fmla="val 6000"/>
            </a:avLst>
          </a:prstGeom>
          <a:solidFill>
            <a:srgbClr val="3747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500" b="1" i="0">
                <a:solidFill>
                  <a:srgbClr val="FFFFFF"/>
                </a:solidFill>
                <a:latin typeface="Calibri"/>
              </a:rPr>
              <a:t>Adjacent =</a:t>
            </a:r>
          </a:p>
          <a:p>
            <a:pPr algn="ctr"/>
            <a:r>
              <a:rPr sz="1200" b="0" i="0">
                <a:solidFill>
                  <a:srgbClr val="FFFFFF"/>
                </a:solidFill>
                <a:latin typeface="Calibri"/>
              </a:rPr>
              <a:t>compatible
Opposite = conflict</a:t>
            </a:r>
          </a:p>
        </p:txBody>
      </p:sp>
      <p:sp>
        <p:nvSpPr>
          <p:cNvPr id="18" name="TextBox 17"/>
          <p:cNvSpPr txBox="1"/>
          <p:nvPr/>
        </p:nvSpPr>
        <p:spPr>
          <a:xfrm>
            <a:off x="274320" y="1005840"/>
            <a:ext cx="2377440" cy="457200"/>
          </a:xfrm>
          <a:prstGeom prst="rect">
            <a:avLst/>
          </a:prstGeom>
          <a:noFill/>
        </p:spPr>
        <p:txBody>
          <a:bodyPr wrap="square" anchor="t" lIns="45720" rIns="45720" tIns="18288" bIns="18288"/>
          <a:lstStyle/>
          <a:p>
            <a:pPr algn="l"/>
            <a:r>
              <a:rPr sz="1400" b="1" i="0">
                <a:solidFill>
                  <a:srgbClr val="7B1FA2"/>
                </a:solidFill>
                <a:latin typeface="Calibri"/>
              </a:rPr>
              <a:t>OPENNESS TO CHANGE</a:t>
            </a:r>
          </a:p>
        </p:txBody>
      </p:sp>
      <p:sp>
        <p:nvSpPr>
          <p:cNvPr id="19" name="TextBox 18"/>
          <p:cNvSpPr txBox="1"/>
          <p:nvPr/>
        </p:nvSpPr>
        <p:spPr>
          <a:xfrm>
            <a:off x="3657600" y="1005840"/>
            <a:ext cx="2286000" cy="457200"/>
          </a:xfrm>
          <a:prstGeom prst="rect">
            <a:avLst/>
          </a:prstGeom>
          <a:noFill/>
        </p:spPr>
        <p:txBody>
          <a:bodyPr wrap="square" anchor="t" lIns="45720" rIns="45720" tIns="18288" bIns="18288"/>
          <a:lstStyle/>
          <a:p>
            <a:pPr algn="r"/>
            <a:r>
              <a:rPr sz="1400" b="1" i="0">
                <a:solidFill>
                  <a:srgbClr val="1E7B34"/>
                </a:solidFill>
                <a:latin typeface="Calibri"/>
              </a:rPr>
              <a:t>SELF-TRANSCENDENCE</a:t>
            </a:r>
          </a:p>
        </p:txBody>
      </p:sp>
      <p:sp>
        <p:nvSpPr>
          <p:cNvPr id="20" name="TextBox 19"/>
          <p:cNvSpPr txBox="1"/>
          <p:nvPr/>
        </p:nvSpPr>
        <p:spPr>
          <a:xfrm>
            <a:off x="274320" y="6126480"/>
            <a:ext cx="2377440" cy="457200"/>
          </a:xfrm>
          <a:prstGeom prst="rect">
            <a:avLst/>
          </a:prstGeom>
          <a:noFill/>
        </p:spPr>
        <p:txBody>
          <a:bodyPr wrap="square" anchor="t" lIns="45720" rIns="45720" tIns="18288" bIns="18288"/>
          <a:lstStyle/>
          <a:p>
            <a:pPr algn="l"/>
            <a:r>
              <a:rPr sz="1400" b="1" i="0">
                <a:solidFill>
                  <a:srgbClr val="D84A05"/>
                </a:solidFill>
                <a:latin typeface="Calibri"/>
              </a:rPr>
              <a:t>SELF-ENHANCEMENT</a:t>
            </a:r>
          </a:p>
        </p:txBody>
      </p:sp>
      <p:sp>
        <p:nvSpPr>
          <p:cNvPr id="21" name="TextBox 20"/>
          <p:cNvSpPr txBox="1"/>
          <p:nvPr/>
        </p:nvSpPr>
        <p:spPr>
          <a:xfrm>
            <a:off x="3657600" y="6126480"/>
            <a:ext cx="2286000" cy="457200"/>
          </a:xfrm>
          <a:prstGeom prst="rect">
            <a:avLst/>
          </a:prstGeom>
          <a:noFill/>
        </p:spPr>
        <p:txBody>
          <a:bodyPr wrap="square" anchor="t" lIns="45720" rIns="45720" tIns="18288" bIns="18288"/>
          <a:lstStyle/>
          <a:p>
            <a:pPr algn="r"/>
            <a:r>
              <a:rPr sz="1400" b="1" i="0">
                <a:solidFill>
                  <a:srgbClr val="154C9E"/>
                </a:solidFill>
                <a:latin typeface="Calibri"/>
              </a:rPr>
              <a:t>CONSERVATION</a:t>
            </a:r>
          </a:p>
        </p:txBody>
      </p:sp>
      <p:graphicFrame>
        <p:nvGraphicFramePr>
          <p:cNvPr id="22" name="Table 21"/>
          <p:cNvGraphicFramePr>
            <a:graphicFrameLocks noGrp="1"/>
          </p:cNvGraphicFramePr>
          <p:nvPr/>
        </p:nvGraphicFramePr>
        <p:xfrm>
          <a:off x="6126480" y="1051560"/>
          <a:ext cx="5806439" cy="3108960"/>
        </p:xfrm>
        <a:graphic>
          <a:graphicData uri="http://schemas.openxmlformats.org/drawingml/2006/table">
            <a:tbl>
              <a:tblPr firstRow="1" bandRow="1">
                <a:tableStyleId>{5C22544A-7EE6-4342-B048-85BDC9FD1C3A}</a:tableStyleId>
              </a:tblPr>
              <a:tblGrid>
                <a:gridCol w="2143916"/>
                <a:gridCol w="2590565"/>
                <a:gridCol w="1071958"/>
              </a:tblGrid>
              <a:tr h="621792">
                <a:tc>
                  <a:txBody>
                    <a:bodyPr wrap="square"/>
                    <a:lstStyle/>
                    <a:p>
                      <a:r>
                        <a:rPr sz="1300" b="1" i="0">
                          <a:solidFill>
                            <a:srgbClr val="FFFFFF"/>
                          </a:solidFill>
                          <a:latin typeface="Calibri"/>
                        </a:rPr>
                        <a:t>Higher-order dimension</a:t>
                      </a:r>
                    </a:p>
                  </a:txBody>
                  <a:tcPr marL="54864" marR="54864" marT="27432" marB="27432" anchor="ctr">
                    <a:solidFill>
                      <a:srgbClr val="1E7B34"/>
                    </a:solidFill>
                  </a:tcPr>
                </a:tc>
                <a:tc>
                  <a:txBody>
                    <a:bodyPr wrap="square"/>
                    <a:lstStyle/>
                    <a:p>
                      <a:r>
                        <a:rPr sz="1300" b="1" i="0">
                          <a:solidFill>
                            <a:srgbClr val="FFFFFF"/>
                          </a:solidFill>
                          <a:latin typeface="Calibri"/>
                        </a:rPr>
                        <a:t>Values</a:t>
                      </a:r>
                    </a:p>
                  </a:txBody>
                  <a:tcPr marL="54864" marR="54864" marT="27432" marB="27432" anchor="ctr">
                    <a:solidFill>
                      <a:srgbClr val="1E7B34"/>
                    </a:solidFill>
                  </a:tcPr>
                </a:tc>
                <a:tc>
                  <a:txBody>
                    <a:bodyPr wrap="square"/>
                    <a:lstStyle/>
                    <a:p>
                      <a:r>
                        <a:rPr sz="1300" b="1" i="0">
                          <a:solidFill>
                            <a:srgbClr val="FFFFFF"/>
                          </a:solidFill>
                          <a:latin typeface="Calibri"/>
                        </a:rPr>
                        <a:t>Opposes</a:t>
                      </a:r>
                    </a:p>
                  </a:txBody>
                  <a:tcPr marL="54864" marR="54864" marT="27432" marB="27432" anchor="ctr">
                    <a:solidFill>
                      <a:srgbClr val="1E7B34"/>
                    </a:solidFill>
                  </a:tcPr>
                </a:tc>
              </a:tr>
              <a:tr h="621792">
                <a:tc>
                  <a:txBody>
                    <a:bodyPr wrap="square"/>
                    <a:lstStyle/>
                    <a:p>
                      <a:r>
                        <a:rPr sz="1300" b="1" i="0">
                          <a:solidFill>
                            <a:srgbClr val="1A1A1A"/>
                          </a:solidFill>
                          <a:latin typeface="Calibri"/>
                        </a:rPr>
                        <a:t>Self-Transcendence: concern for others' welfare</a:t>
                      </a:r>
                    </a:p>
                  </a:txBody>
                  <a:tcPr marL="54864" marR="54864" marT="27432" marB="27432" anchor="ctr">
                    <a:solidFill>
                      <a:srgbClr val="FFFFFF"/>
                    </a:solidFill>
                  </a:tcPr>
                </a:tc>
                <a:tc>
                  <a:txBody>
                    <a:bodyPr wrap="square"/>
                    <a:lstStyle/>
                    <a:p>
                      <a:r>
                        <a:rPr sz="1300" b="0" i="0">
                          <a:solidFill>
                            <a:srgbClr val="1A1A1A"/>
                          </a:solidFill>
                          <a:latin typeface="Calibri"/>
                        </a:rPr>
                        <a:t>Universalism (all people &amp; nature), Benevolence (close others)</a:t>
                      </a:r>
                    </a:p>
                  </a:txBody>
                  <a:tcPr marL="54864" marR="54864" marT="27432" marB="27432" anchor="ctr">
                    <a:solidFill>
                      <a:srgbClr val="FFFFFF"/>
                    </a:solidFill>
                  </a:tcPr>
                </a:tc>
                <a:tc>
                  <a:txBody>
                    <a:bodyPr wrap="square"/>
                    <a:lstStyle/>
                    <a:p>
                      <a:r>
                        <a:rPr sz="1300" b="0" i="0">
                          <a:solidFill>
                            <a:srgbClr val="1A1A1A"/>
                          </a:solidFill>
                          <a:latin typeface="Calibri"/>
                        </a:rPr>
                        <a:t>Self-Enhancement</a:t>
                      </a:r>
                    </a:p>
                  </a:txBody>
                  <a:tcPr marL="54864" marR="54864" marT="27432" marB="27432" anchor="ctr">
                    <a:solidFill>
                      <a:srgbClr val="FFFFFF"/>
                    </a:solidFill>
                  </a:tcPr>
                </a:tc>
              </a:tr>
              <a:tr h="621792">
                <a:tc>
                  <a:txBody>
                    <a:bodyPr wrap="square"/>
                    <a:lstStyle/>
                    <a:p>
                      <a:r>
                        <a:rPr sz="1300" b="1" i="0">
                          <a:solidFill>
                            <a:srgbClr val="1A1A1A"/>
                          </a:solidFill>
                          <a:latin typeface="Calibri"/>
                        </a:rPr>
                        <a:t>Self-Enhancement: own success, dominance</a:t>
                      </a:r>
                    </a:p>
                  </a:txBody>
                  <a:tcPr marL="54864" marR="54864" marT="27432" marB="27432" anchor="ctr">
                    <a:solidFill>
                      <a:srgbClr val="E8F1EA"/>
                    </a:solidFill>
                  </a:tcPr>
                </a:tc>
                <a:tc>
                  <a:txBody>
                    <a:bodyPr wrap="square"/>
                    <a:lstStyle/>
                    <a:p>
                      <a:r>
                        <a:rPr sz="1300" b="0" i="0">
                          <a:solidFill>
                            <a:srgbClr val="1A1A1A"/>
                          </a:solidFill>
                          <a:latin typeface="Calibri"/>
                        </a:rPr>
                        <a:t>Power (status, control), Achievement (competence by social standards)</a:t>
                      </a:r>
                    </a:p>
                  </a:txBody>
                  <a:tcPr marL="54864" marR="54864" marT="27432" marB="27432" anchor="ctr">
                    <a:solidFill>
                      <a:srgbClr val="E8F1EA"/>
                    </a:solidFill>
                  </a:tcPr>
                </a:tc>
                <a:tc>
                  <a:txBody>
                    <a:bodyPr wrap="square"/>
                    <a:lstStyle/>
                    <a:p>
                      <a:r>
                        <a:rPr sz="1300" b="0" i="0">
                          <a:solidFill>
                            <a:srgbClr val="1A1A1A"/>
                          </a:solidFill>
                          <a:latin typeface="Calibri"/>
                        </a:rPr>
                        <a:t>Self-Transcendence</a:t>
                      </a:r>
                    </a:p>
                  </a:txBody>
                  <a:tcPr marL="54864" marR="54864" marT="27432" marB="27432" anchor="ctr">
                    <a:solidFill>
                      <a:srgbClr val="E8F1EA"/>
                    </a:solidFill>
                  </a:tcPr>
                </a:tc>
              </a:tr>
              <a:tr h="621792">
                <a:tc>
                  <a:txBody>
                    <a:bodyPr wrap="square"/>
                    <a:lstStyle/>
                    <a:p>
                      <a:r>
                        <a:rPr sz="1300" b="1" i="0">
                          <a:solidFill>
                            <a:srgbClr val="1A1A1A"/>
                          </a:solidFill>
                          <a:latin typeface="Calibri"/>
                        </a:rPr>
                        <a:t>Openness to Change: independence, novelty</a:t>
                      </a:r>
                    </a:p>
                  </a:txBody>
                  <a:tcPr marL="54864" marR="54864" marT="27432" marB="27432" anchor="ctr">
                    <a:solidFill>
                      <a:srgbClr val="FFFFFF"/>
                    </a:solidFill>
                  </a:tcPr>
                </a:tc>
                <a:tc>
                  <a:txBody>
                    <a:bodyPr wrap="square"/>
                    <a:lstStyle/>
                    <a:p>
                      <a:r>
                        <a:rPr sz="1300" b="0" i="0">
                          <a:solidFill>
                            <a:srgbClr val="1A1A1A"/>
                          </a:solidFill>
                          <a:latin typeface="Calibri"/>
                        </a:rPr>
                        <a:t>Self-direction, Stimulation (+ Hedonism shared)</a:t>
                      </a:r>
                    </a:p>
                  </a:txBody>
                  <a:tcPr marL="54864" marR="54864" marT="27432" marB="27432" anchor="ctr">
                    <a:solidFill>
                      <a:srgbClr val="FFFFFF"/>
                    </a:solidFill>
                  </a:tcPr>
                </a:tc>
                <a:tc>
                  <a:txBody>
                    <a:bodyPr wrap="square"/>
                    <a:lstStyle/>
                    <a:p>
                      <a:r>
                        <a:rPr sz="1300" b="0" i="0">
                          <a:solidFill>
                            <a:srgbClr val="1A1A1A"/>
                          </a:solidFill>
                          <a:latin typeface="Calibri"/>
                        </a:rPr>
                        <a:t>Conservation</a:t>
                      </a:r>
                    </a:p>
                  </a:txBody>
                  <a:tcPr marL="54864" marR="54864" marT="27432" marB="27432" anchor="ctr">
                    <a:solidFill>
                      <a:srgbClr val="FFFFFF"/>
                    </a:solidFill>
                  </a:tcPr>
                </a:tc>
              </a:tr>
              <a:tr h="621792">
                <a:tc>
                  <a:txBody>
                    <a:bodyPr wrap="square"/>
                    <a:lstStyle/>
                    <a:p>
                      <a:r>
                        <a:rPr sz="1300" b="1" i="0">
                          <a:solidFill>
                            <a:srgbClr val="1A1A1A"/>
                          </a:solidFill>
                          <a:latin typeface="Calibri"/>
                        </a:rPr>
                        <a:t>Conservation: order, preserve past</a:t>
                      </a:r>
                    </a:p>
                  </a:txBody>
                  <a:tcPr marL="54864" marR="54864" marT="27432" marB="27432" anchor="ctr">
                    <a:solidFill>
                      <a:srgbClr val="E8F1EA"/>
                    </a:solidFill>
                  </a:tcPr>
                </a:tc>
                <a:tc>
                  <a:txBody>
                    <a:bodyPr wrap="square"/>
                    <a:lstStyle/>
                    <a:p>
                      <a:r>
                        <a:rPr sz="1300" b="0" i="0">
                          <a:solidFill>
                            <a:srgbClr val="1A1A1A"/>
                          </a:solidFill>
                          <a:latin typeface="Calibri"/>
                        </a:rPr>
                        <a:t>Security, Conformity, Tradition (share a wedge)</a:t>
                      </a:r>
                    </a:p>
                  </a:txBody>
                  <a:tcPr marL="54864" marR="54864" marT="27432" marB="27432" anchor="ctr">
                    <a:solidFill>
                      <a:srgbClr val="E8F1EA"/>
                    </a:solidFill>
                  </a:tcPr>
                </a:tc>
                <a:tc>
                  <a:txBody>
                    <a:bodyPr wrap="square"/>
                    <a:lstStyle/>
                    <a:p>
                      <a:r>
                        <a:rPr sz="1300" b="0" i="0">
                          <a:solidFill>
                            <a:srgbClr val="1A1A1A"/>
                          </a:solidFill>
                          <a:latin typeface="Calibri"/>
                        </a:rPr>
                        <a:t>Openness</a:t>
                      </a:r>
                    </a:p>
                  </a:txBody>
                  <a:tcPr marL="54864" marR="54864" marT="27432" marB="27432" anchor="ctr">
                    <a:solidFill>
                      <a:srgbClr val="E8F1EA"/>
                    </a:solidFill>
                  </a:tcPr>
                </a:tc>
              </a:tr>
            </a:tbl>
          </a:graphicData>
        </a:graphic>
      </p:graphicFrame>
      <p:sp>
        <p:nvSpPr>
          <p:cNvPr id="23" name="Rounded Rectangle 22"/>
          <p:cNvSpPr/>
          <p:nvPr/>
        </p:nvSpPr>
        <p:spPr>
          <a:xfrm>
            <a:off x="6126480" y="4297680"/>
            <a:ext cx="2834640" cy="2240280"/>
          </a:xfrm>
          <a:prstGeom prst="roundRect">
            <a:avLst>
              <a:gd name="adj" fmla="val 6000"/>
            </a:avLst>
          </a:prstGeom>
          <a:solidFill>
            <a:srgbClr val="FFFFFF"/>
          </a:solidFill>
          <a:ln w="19050">
            <a:solidFill>
              <a:srgbClr val="99C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126480" y="4297680"/>
            <a:ext cx="2834640" cy="457200"/>
          </a:xfrm>
          <a:prstGeom prst="roundRect">
            <a:avLst>
              <a:gd name="adj" fmla="val 6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26480" y="4617720"/>
            <a:ext cx="2834640" cy="137160"/>
          </a:xfrm>
          <a:prstGeom prst="rect">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0" y="4297680"/>
            <a:ext cx="2651760" cy="457200"/>
          </a:xfrm>
          <a:prstGeom prst="rect">
            <a:avLst/>
          </a:prstGeom>
          <a:noFill/>
        </p:spPr>
        <p:txBody>
          <a:bodyPr wrap="square" anchor="ctr" lIns="45720" rIns="45720" tIns="18288" bIns="18288"/>
          <a:lstStyle/>
          <a:p>
            <a:pPr algn="l"/>
            <a:r>
              <a:rPr sz="1900" b="1" i="0">
                <a:solidFill>
                  <a:srgbClr val="FFFFFF"/>
                </a:solidFill>
                <a:latin typeface="Calibri"/>
              </a:rPr>
              <a:t>Key points</a:t>
            </a:r>
          </a:p>
        </p:txBody>
      </p:sp>
      <p:sp>
        <p:nvSpPr>
          <p:cNvPr id="27" name="TextBox 26"/>
          <p:cNvSpPr txBox="1"/>
          <p:nvPr/>
        </p:nvSpPr>
        <p:spPr>
          <a:xfrm>
            <a:off x="6199632" y="4809744"/>
            <a:ext cx="2688336" cy="1691640"/>
          </a:xfrm>
          <a:prstGeom prst="rect">
            <a:avLst/>
          </a:prstGeom>
          <a:noFill/>
        </p:spPr>
        <p:txBody>
          <a:bodyPr wrap="square" anchor="t" lIns="54864" rIns="54864" tIns="27432" bIns="27432"/>
          <a:lstStyle/>
          <a:p>
            <a:pPr>
              <a:spcAft>
                <a:spcPts val="300"/>
              </a:spcAft>
            </a:pPr>
            <a:r>
              <a:rPr sz="1500" b="1" i="0">
                <a:solidFill>
                  <a:srgbClr val="1A1A1A"/>
                </a:solidFill>
                <a:latin typeface="Calibri"/>
              </a:rPr>
              <a:t>• </a:t>
            </a:r>
            <a:r>
              <a:rPr sz="1500" b="1" i="0">
                <a:solidFill>
                  <a:srgbClr val="1A1A1A"/>
                </a:solidFill>
                <a:latin typeface="Calibri"/>
              </a:rPr>
              <a:t>Relative importance</a:t>
            </a:r>
            <a:r>
              <a:rPr sz="1500" b="0" i="0">
                <a:solidFill>
                  <a:srgbClr val="1A1A1A"/>
                </a:solidFill>
                <a:latin typeface="Calibri"/>
              </a:rPr>
              <a:t> of opposing values drives behaviour (study for A vs climate meeting)</a:t>
            </a:r>
          </a:p>
          <a:p>
            <a:pPr>
              <a:spcAft>
                <a:spcPts val="300"/>
              </a:spcAft>
            </a:pPr>
            <a:r>
              <a:rPr sz="1500" b="1" i="0">
                <a:solidFill>
                  <a:srgbClr val="1A1A1A"/>
                </a:solidFill>
                <a:latin typeface="Calibri"/>
              </a:rPr>
              <a:t>• </a:t>
            </a:r>
            <a:r>
              <a:rPr sz="1500" b="0" i="0">
                <a:solidFill>
                  <a:srgbClr val="1A1A1A"/>
                </a:solidFill>
                <a:latin typeface="Calibri"/>
              </a:rPr>
              <a:t>Supported across cultures, children &amp; adults</a:t>
            </a:r>
          </a:p>
        </p:txBody>
      </p:sp>
      <p:sp>
        <p:nvSpPr>
          <p:cNvPr id="28" name="Rounded Rectangle 27"/>
          <p:cNvSpPr/>
          <p:nvPr/>
        </p:nvSpPr>
        <p:spPr>
          <a:xfrm>
            <a:off x="9098280" y="4297680"/>
            <a:ext cx="2834640" cy="2240280"/>
          </a:xfrm>
          <a:prstGeom prst="roundRect">
            <a:avLst>
              <a:gd name="adj" fmla="val 6000"/>
            </a:avLst>
          </a:prstGeom>
          <a:solidFill>
            <a:srgbClr val="FFFFFF"/>
          </a:solidFill>
          <a:ln w="19050">
            <a:solidFill>
              <a:srgbClr val="99C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098280" y="4297680"/>
            <a:ext cx="2834640" cy="457200"/>
          </a:xfrm>
          <a:prstGeom prst="roundRect">
            <a:avLst>
              <a:gd name="adj" fmla="val 6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098280" y="4617720"/>
            <a:ext cx="2834640" cy="137160"/>
          </a:xfrm>
          <a:prstGeom prst="rect">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89719" y="4297680"/>
            <a:ext cx="2651760" cy="457200"/>
          </a:xfrm>
          <a:prstGeom prst="rect">
            <a:avLst/>
          </a:prstGeom>
          <a:noFill/>
        </p:spPr>
        <p:txBody>
          <a:bodyPr wrap="square" anchor="ctr" lIns="45720" rIns="45720" tIns="18288" bIns="18288"/>
          <a:lstStyle/>
          <a:p>
            <a:pPr algn="l"/>
            <a:r>
              <a:rPr sz="1900" b="1" i="0">
                <a:solidFill>
                  <a:srgbClr val="FFFFFF"/>
                </a:solidFill>
                <a:latin typeface="Calibri"/>
              </a:rPr>
              <a:t>Workplace use</a:t>
            </a:r>
          </a:p>
        </p:txBody>
      </p:sp>
      <p:sp>
        <p:nvSpPr>
          <p:cNvPr id="32" name="TextBox 31"/>
          <p:cNvSpPr txBox="1"/>
          <p:nvPr/>
        </p:nvSpPr>
        <p:spPr>
          <a:xfrm>
            <a:off x="9171432" y="4809744"/>
            <a:ext cx="2688336" cy="1691640"/>
          </a:xfrm>
          <a:prstGeom prst="rect">
            <a:avLst/>
          </a:prstGeom>
          <a:noFill/>
        </p:spPr>
        <p:txBody>
          <a:bodyPr wrap="square" anchor="t" lIns="54864" rIns="54864" tIns="27432" bIns="27432"/>
          <a:lstStyle/>
          <a:p>
            <a:pPr>
              <a:spcAft>
                <a:spcPts val="300"/>
              </a:spcAft>
            </a:pPr>
            <a:r>
              <a:rPr sz="1200" b="1" i="0">
                <a:solidFill>
                  <a:srgbClr val="1A1A1A"/>
                </a:solidFill>
                <a:latin typeface="Calibri"/>
              </a:rPr>
              <a:t>• </a:t>
            </a:r>
            <a:r>
              <a:rPr sz="1200" b="0" i="0">
                <a:solidFill>
                  <a:srgbClr val="1A1A1A"/>
                </a:solidFill>
                <a:latin typeface="Calibri"/>
              </a:rPr>
              <a:t>Assign tasks to fit values: Paul (achievement) writes final report, not eco-ideas</a:t>
            </a:r>
          </a:p>
          <a:p>
            <a:pPr>
              <a:spcAft>
                <a:spcPts val="300"/>
              </a:spcAft>
            </a:pPr>
            <a:r>
              <a:rPr sz="1200" b="1" i="0">
                <a:solidFill>
                  <a:srgbClr val="1A1A1A"/>
                </a:solidFill>
                <a:latin typeface="Calibri"/>
              </a:rPr>
              <a:t>• </a:t>
            </a:r>
            <a:r>
              <a:rPr sz="1200" b="0" i="0">
                <a:solidFill>
                  <a:srgbClr val="1A1A1A"/>
                </a:solidFill>
                <a:latin typeface="Calibri"/>
              </a:rPr>
              <a:t>Universalism/benevolence → social-value projects</a:t>
            </a:r>
          </a:p>
          <a:p>
            <a:pPr>
              <a:spcAft>
                <a:spcPts val="300"/>
              </a:spcAft>
            </a:pPr>
            <a:r>
              <a:rPr sz="1200" b="1" i="0">
                <a:solidFill>
                  <a:srgbClr val="1A1A1A"/>
                </a:solidFill>
                <a:latin typeface="Calibri"/>
              </a:rPr>
              <a:t>• </a:t>
            </a:r>
            <a:r>
              <a:rPr sz="1200" b="0" i="0">
                <a:solidFill>
                  <a:srgbClr val="1A1A1A"/>
                </a:solidFill>
                <a:latin typeface="Calibri"/>
              </a:rPr>
              <a:t>Tradition &gt; achievement → won't miss child's play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3000" b="1" i="0">
                <a:solidFill>
                  <a:srgbClr val="FFFFFF"/>
                </a:solidFill>
                <a:latin typeface="Calibri"/>
              </a:rPr>
              <a:t>Hofstede's 6 cultural dimensions (national level)</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C6DECC"/>
                </a:solidFill>
                <a:latin typeface="Calibri"/>
              </a:rPr>
              <a:t>MODULE 2 · VALUES &amp; ATTITUDES</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Class PPT · Schwartz &amp; Hofstede</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20</a:t>
            </a:r>
          </a:p>
        </p:txBody>
      </p:sp>
      <p:sp>
        <p:nvSpPr>
          <p:cNvPr id="7" name="Rounded Rectangle 6"/>
          <p:cNvSpPr/>
          <p:nvPr/>
        </p:nvSpPr>
        <p:spPr>
          <a:xfrm>
            <a:off x="274320" y="1051560"/>
            <a:ext cx="3749039" cy="1691640"/>
          </a:xfrm>
          <a:prstGeom prst="roundRect">
            <a:avLst>
              <a:gd name="adj" fmla="val 6000"/>
            </a:avLst>
          </a:prstGeom>
          <a:solidFill>
            <a:srgbClr val="FFFFFF"/>
          </a:solidFill>
          <a:ln w="19050">
            <a:solidFill>
              <a:srgbClr val="95A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74320" y="1051560"/>
            <a:ext cx="3749039" cy="457200"/>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371600"/>
            <a:ext cx="3749039" cy="137160"/>
          </a:xfrm>
          <a:prstGeom prst="rect">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051560"/>
            <a:ext cx="3566159" cy="457200"/>
          </a:xfrm>
          <a:prstGeom prst="rect">
            <a:avLst/>
          </a:prstGeom>
          <a:noFill/>
        </p:spPr>
        <p:txBody>
          <a:bodyPr wrap="square" anchor="ctr" lIns="45720" rIns="45720" tIns="18288" bIns="18288"/>
          <a:lstStyle/>
          <a:p>
            <a:pPr algn="l"/>
            <a:r>
              <a:rPr sz="1900" b="1" i="0">
                <a:solidFill>
                  <a:srgbClr val="FFFFFF"/>
                </a:solidFill>
                <a:latin typeface="Calibri"/>
              </a:rPr>
              <a:t>1 Power Distance</a:t>
            </a:r>
          </a:p>
        </p:txBody>
      </p:sp>
      <p:sp>
        <p:nvSpPr>
          <p:cNvPr id="11" name="TextBox 10"/>
          <p:cNvSpPr txBox="1"/>
          <p:nvPr/>
        </p:nvSpPr>
        <p:spPr>
          <a:xfrm>
            <a:off x="347472" y="1563624"/>
            <a:ext cx="3602735" cy="1143000"/>
          </a:xfrm>
          <a:prstGeom prst="rect">
            <a:avLst/>
          </a:prstGeom>
          <a:noFill/>
        </p:spPr>
        <p:txBody>
          <a:bodyPr wrap="square" anchor="t" lIns="54864" rIns="54864" tIns="27432" bIns="27432"/>
          <a:lstStyle/>
          <a:p>
            <a:pPr>
              <a:spcAft>
                <a:spcPts val="300"/>
              </a:spcAft>
            </a:pPr>
            <a:r>
              <a:rPr sz="1600" b="1" i="0">
                <a:solidFill>
                  <a:srgbClr val="1A1A1A"/>
                </a:solidFill>
                <a:latin typeface="Calibri"/>
              </a:rPr>
              <a:t>• </a:t>
            </a:r>
            <a:r>
              <a:rPr sz="1600" b="0" i="0">
                <a:solidFill>
                  <a:srgbClr val="1A1A1A"/>
                </a:solidFill>
                <a:latin typeface="Calibri"/>
              </a:rPr>
              <a:t>Acceptance of unequal distribution of power</a:t>
            </a:r>
          </a:p>
          <a:p>
            <a:pPr>
              <a:spcAft>
                <a:spcPts val="300"/>
              </a:spcAft>
            </a:pPr>
            <a:r>
              <a:rPr sz="1600" b="1" i="0">
                <a:solidFill>
                  <a:srgbClr val="1A1A1A"/>
                </a:solidFill>
                <a:latin typeface="Calibri"/>
              </a:rPr>
              <a:t>• </a:t>
            </a:r>
            <a:r>
              <a:rPr sz="1600" b="1" i="0">
                <a:solidFill>
                  <a:srgbClr val="1A1A1A"/>
                </a:solidFill>
                <a:latin typeface="Calibri"/>
              </a:rPr>
              <a:t>e.g.</a:t>
            </a:r>
            <a:r>
              <a:rPr sz="1600" b="0" i="0">
                <a:solidFill>
                  <a:srgbClr val="1A1A1A"/>
                </a:solidFill>
                <a:latin typeface="Calibri"/>
              </a:rPr>
              <a:t> High: India, Malaysia · Low: Denmark, Austria</a:t>
            </a:r>
          </a:p>
        </p:txBody>
      </p:sp>
      <p:sp>
        <p:nvSpPr>
          <p:cNvPr id="12" name="Rounded Rectangle 11"/>
          <p:cNvSpPr/>
          <p:nvPr/>
        </p:nvSpPr>
        <p:spPr>
          <a:xfrm>
            <a:off x="4160520" y="1051560"/>
            <a:ext cx="3749039" cy="1691640"/>
          </a:xfrm>
          <a:prstGeom prst="roundRect">
            <a:avLst>
              <a:gd name="adj" fmla="val 6000"/>
            </a:avLst>
          </a:prstGeom>
          <a:solidFill>
            <a:srgbClr val="FFFFFF"/>
          </a:solidFill>
          <a:ln w="19050">
            <a:solidFill>
              <a:srgbClr val="99C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60520" y="1051560"/>
            <a:ext cx="3749039" cy="457200"/>
          </a:xfrm>
          <a:prstGeom prst="roundRect">
            <a:avLst>
              <a:gd name="adj" fmla="val 6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60520" y="1371600"/>
            <a:ext cx="3749039" cy="137160"/>
          </a:xfrm>
          <a:prstGeom prst="rect">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51959" y="1051560"/>
            <a:ext cx="3566159" cy="457200"/>
          </a:xfrm>
          <a:prstGeom prst="rect">
            <a:avLst/>
          </a:prstGeom>
          <a:noFill/>
        </p:spPr>
        <p:txBody>
          <a:bodyPr wrap="square" anchor="ctr" lIns="45720" rIns="45720" tIns="18288" bIns="18288"/>
          <a:lstStyle/>
          <a:p>
            <a:pPr algn="l"/>
            <a:r>
              <a:rPr sz="1600" b="1" i="0">
                <a:solidFill>
                  <a:srgbClr val="FFFFFF"/>
                </a:solidFill>
                <a:latin typeface="Calibri"/>
              </a:rPr>
              <a:t>2 Individualism vs Collectivism</a:t>
            </a:r>
          </a:p>
        </p:txBody>
      </p:sp>
      <p:sp>
        <p:nvSpPr>
          <p:cNvPr id="16" name="TextBox 15"/>
          <p:cNvSpPr txBox="1"/>
          <p:nvPr/>
        </p:nvSpPr>
        <p:spPr>
          <a:xfrm>
            <a:off x="4233672" y="1563624"/>
            <a:ext cx="3602735" cy="1143000"/>
          </a:xfrm>
          <a:prstGeom prst="rect">
            <a:avLst/>
          </a:prstGeom>
          <a:noFill/>
        </p:spPr>
        <p:txBody>
          <a:bodyPr wrap="square" anchor="t" lIns="54864" rIns="54864" tIns="27432" bIns="27432"/>
          <a:lstStyle/>
          <a:p>
            <a:pPr>
              <a:spcAft>
                <a:spcPts val="300"/>
              </a:spcAft>
            </a:pPr>
            <a:r>
              <a:rPr sz="1700" b="1" i="0">
                <a:solidFill>
                  <a:srgbClr val="1A1A1A"/>
                </a:solidFill>
                <a:latin typeface="Calibri"/>
              </a:rPr>
              <a:t>• </a:t>
            </a:r>
            <a:r>
              <a:rPr sz="1700" b="0" i="0">
                <a:solidFill>
                  <a:srgbClr val="1A1A1A"/>
                </a:solidFill>
                <a:latin typeface="Calibri"/>
              </a:rPr>
              <a:t>Individual autonomy vs tight group ties</a:t>
            </a:r>
          </a:p>
          <a:p>
            <a:pPr>
              <a:spcAft>
                <a:spcPts val="300"/>
              </a:spcAft>
            </a:pPr>
            <a:r>
              <a:rPr sz="1700" b="1" i="0">
                <a:solidFill>
                  <a:srgbClr val="1A1A1A"/>
                </a:solidFill>
                <a:latin typeface="Calibri"/>
              </a:rPr>
              <a:t>• </a:t>
            </a:r>
            <a:r>
              <a:rPr sz="1700" b="1" i="0">
                <a:solidFill>
                  <a:srgbClr val="1A1A1A"/>
                </a:solidFill>
                <a:latin typeface="Calibri"/>
              </a:rPr>
              <a:t>e.g.</a:t>
            </a:r>
            <a:r>
              <a:rPr sz="1700" b="0" i="0">
                <a:solidFill>
                  <a:srgbClr val="1A1A1A"/>
                </a:solidFill>
                <a:latin typeface="Calibri"/>
              </a:rPr>
              <a:t> Indiv: USA, UK · Coll: China, Indonesia</a:t>
            </a:r>
          </a:p>
        </p:txBody>
      </p:sp>
      <p:sp>
        <p:nvSpPr>
          <p:cNvPr id="17" name="Rounded Rectangle 16"/>
          <p:cNvSpPr/>
          <p:nvPr/>
        </p:nvSpPr>
        <p:spPr>
          <a:xfrm>
            <a:off x="8046720" y="1051560"/>
            <a:ext cx="3749039" cy="1691640"/>
          </a:xfrm>
          <a:prstGeom prst="roundRect">
            <a:avLst>
              <a:gd name="adj" fmla="val 6000"/>
            </a:avLst>
          </a:prstGeom>
          <a:solidFill>
            <a:srgbClr val="FFFFFF"/>
          </a:solidFill>
          <a:ln w="19050">
            <a:solidFill>
              <a:srgbClr val="C39A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046720" y="1051560"/>
            <a:ext cx="3749039" cy="457200"/>
          </a:xfrm>
          <a:prstGeom prst="roundRect">
            <a:avLst>
              <a:gd name="adj" fmla="val 6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1371600"/>
            <a:ext cx="3749039" cy="137160"/>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38160" y="1051560"/>
            <a:ext cx="3566159" cy="457200"/>
          </a:xfrm>
          <a:prstGeom prst="rect">
            <a:avLst/>
          </a:prstGeom>
          <a:noFill/>
        </p:spPr>
        <p:txBody>
          <a:bodyPr wrap="square" anchor="ctr" lIns="45720" rIns="45720" tIns="18288" bIns="18288"/>
          <a:lstStyle/>
          <a:p>
            <a:pPr algn="l"/>
            <a:r>
              <a:rPr sz="1900" b="1" i="0">
                <a:solidFill>
                  <a:srgbClr val="FFFFFF"/>
                </a:solidFill>
                <a:latin typeface="Calibri"/>
              </a:rPr>
              <a:t>3 Uncertainty Avoidance</a:t>
            </a:r>
          </a:p>
        </p:txBody>
      </p:sp>
      <p:sp>
        <p:nvSpPr>
          <p:cNvPr id="21" name="TextBox 20"/>
          <p:cNvSpPr txBox="1"/>
          <p:nvPr/>
        </p:nvSpPr>
        <p:spPr>
          <a:xfrm>
            <a:off x="8119872" y="1563624"/>
            <a:ext cx="3602735" cy="1143000"/>
          </a:xfrm>
          <a:prstGeom prst="rect">
            <a:avLst/>
          </a:prstGeom>
          <a:noFill/>
        </p:spPr>
        <p:txBody>
          <a:bodyPr wrap="square" anchor="t" lIns="54864" rIns="54864" tIns="27432" bIns="27432"/>
          <a:lstStyle/>
          <a:p>
            <a:pPr>
              <a:spcAft>
                <a:spcPts val="300"/>
              </a:spcAft>
            </a:pPr>
            <a:r>
              <a:rPr sz="1600" b="1" i="0">
                <a:solidFill>
                  <a:srgbClr val="1A1A1A"/>
                </a:solidFill>
                <a:latin typeface="Calibri"/>
              </a:rPr>
              <a:t>• </a:t>
            </a:r>
            <a:r>
              <a:rPr sz="1600" b="0" i="0">
                <a:solidFill>
                  <a:srgbClr val="1A1A1A"/>
                </a:solidFill>
                <a:latin typeface="Calibri"/>
              </a:rPr>
              <a:t>Preference for rules, predictability, structure</a:t>
            </a:r>
          </a:p>
          <a:p>
            <a:pPr>
              <a:spcAft>
                <a:spcPts val="300"/>
              </a:spcAft>
            </a:pPr>
            <a:r>
              <a:rPr sz="1600" b="1" i="0">
                <a:solidFill>
                  <a:srgbClr val="1A1A1A"/>
                </a:solidFill>
                <a:latin typeface="Calibri"/>
              </a:rPr>
              <a:t>• </a:t>
            </a:r>
            <a:r>
              <a:rPr sz="1600" b="1" i="0">
                <a:solidFill>
                  <a:srgbClr val="1A1A1A"/>
                </a:solidFill>
                <a:latin typeface="Calibri"/>
              </a:rPr>
              <a:t>e.g.</a:t>
            </a:r>
            <a:r>
              <a:rPr sz="1600" b="0" i="0">
                <a:solidFill>
                  <a:srgbClr val="1A1A1A"/>
                </a:solidFill>
                <a:latin typeface="Calibri"/>
              </a:rPr>
              <a:t> High: Japan, Greece · Low: Singapore, Denmark</a:t>
            </a:r>
          </a:p>
        </p:txBody>
      </p:sp>
      <p:sp>
        <p:nvSpPr>
          <p:cNvPr id="22" name="Rounded Rectangle 21"/>
          <p:cNvSpPr/>
          <p:nvPr/>
        </p:nvSpPr>
        <p:spPr>
          <a:xfrm>
            <a:off x="274320" y="2880360"/>
            <a:ext cx="3749039" cy="1691640"/>
          </a:xfrm>
          <a:prstGeom prst="roundRect">
            <a:avLst>
              <a:gd name="adj" fmla="val 6000"/>
            </a:avLst>
          </a:prstGeom>
          <a:solidFill>
            <a:srgbClr val="FFFFFF"/>
          </a:solidFill>
          <a:ln w="19050">
            <a:solidFill>
              <a:srgbClr val="EDA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274320" y="2880360"/>
            <a:ext cx="3749039" cy="45720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74320" y="3200400"/>
            <a:ext cx="3749039" cy="137160"/>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2880360"/>
            <a:ext cx="3566159" cy="457200"/>
          </a:xfrm>
          <a:prstGeom prst="rect">
            <a:avLst/>
          </a:prstGeom>
          <a:noFill/>
        </p:spPr>
        <p:txBody>
          <a:bodyPr wrap="square" anchor="ctr" lIns="45720" rIns="45720" tIns="18288" bIns="18288"/>
          <a:lstStyle/>
          <a:p>
            <a:pPr algn="l"/>
            <a:r>
              <a:rPr sz="1900" b="1" i="0">
                <a:solidFill>
                  <a:srgbClr val="FFFFFF"/>
                </a:solidFill>
                <a:latin typeface="Calibri"/>
              </a:rPr>
              <a:t>4 Masculinity vs Femininity</a:t>
            </a:r>
          </a:p>
        </p:txBody>
      </p:sp>
      <p:sp>
        <p:nvSpPr>
          <p:cNvPr id="26" name="TextBox 25"/>
          <p:cNvSpPr txBox="1"/>
          <p:nvPr/>
        </p:nvSpPr>
        <p:spPr>
          <a:xfrm>
            <a:off x="347472" y="3392424"/>
            <a:ext cx="3602735" cy="1143000"/>
          </a:xfrm>
          <a:prstGeom prst="rect">
            <a:avLst/>
          </a:prstGeom>
          <a:noFill/>
        </p:spPr>
        <p:txBody>
          <a:bodyPr wrap="square" anchor="t" lIns="54864" rIns="54864" tIns="27432" bIns="27432"/>
          <a:lstStyle/>
          <a:p>
            <a:pPr>
              <a:spcAft>
                <a:spcPts val="300"/>
              </a:spcAft>
            </a:pPr>
            <a:r>
              <a:rPr sz="1500" b="1" i="0">
                <a:solidFill>
                  <a:srgbClr val="1A1A1A"/>
                </a:solidFill>
                <a:latin typeface="Calibri"/>
              </a:rPr>
              <a:t>• </a:t>
            </a:r>
            <a:r>
              <a:rPr sz="1500" b="0" i="0">
                <a:solidFill>
                  <a:srgbClr val="1A1A1A"/>
                </a:solidFill>
                <a:latin typeface="Calibri"/>
              </a:rPr>
              <a:t>Competition, achievement, assertiveness vs cooperation, quality of life</a:t>
            </a:r>
          </a:p>
          <a:p>
            <a:pPr>
              <a:spcAft>
                <a:spcPts val="300"/>
              </a:spcAft>
            </a:pPr>
            <a:r>
              <a:rPr sz="1500" b="1" i="0">
                <a:solidFill>
                  <a:srgbClr val="1A1A1A"/>
                </a:solidFill>
                <a:latin typeface="Calibri"/>
              </a:rPr>
              <a:t>• </a:t>
            </a:r>
            <a:r>
              <a:rPr sz="1500" b="1" i="0">
                <a:solidFill>
                  <a:srgbClr val="1A1A1A"/>
                </a:solidFill>
                <a:latin typeface="Calibri"/>
              </a:rPr>
              <a:t>e.g.</a:t>
            </a:r>
            <a:r>
              <a:rPr sz="1500" b="0" i="0">
                <a:solidFill>
                  <a:srgbClr val="1A1A1A"/>
                </a:solidFill>
                <a:latin typeface="Calibri"/>
              </a:rPr>
              <a:t> Masc: Japan · Fem: Sweden, Norway</a:t>
            </a:r>
          </a:p>
        </p:txBody>
      </p:sp>
      <p:sp>
        <p:nvSpPr>
          <p:cNvPr id="27" name="Rounded Rectangle 26"/>
          <p:cNvSpPr/>
          <p:nvPr/>
        </p:nvSpPr>
        <p:spPr>
          <a:xfrm>
            <a:off x="4160520" y="2880360"/>
            <a:ext cx="3749039" cy="1691640"/>
          </a:xfrm>
          <a:prstGeom prst="roundRect">
            <a:avLst>
              <a:gd name="adj" fmla="val 6000"/>
            </a:avLst>
          </a:prstGeom>
          <a:solidFill>
            <a:srgbClr val="FFFFFF"/>
          </a:solidFill>
          <a:ln w="19050">
            <a:solidFill>
              <a:srgbClr val="8CC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4160520" y="2880360"/>
            <a:ext cx="3749039" cy="457200"/>
          </a:xfrm>
          <a:prstGeom prst="roundRect">
            <a:avLst>
              <a:gd name="adj" fmla="val 6000"/>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160520" y="3200400"/>
            <a:ext cx="3749039" cy="137160"/>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51959" y="2880360"/>
            <a:ext cx="3566159" cy="457200"/>
          </a:xfrm>
          <a:prstGeom prst="rect">
            <a:avLst/>
          </a:prstGeom>
          <a:noFill/>
        </p:spPr>
        <p:txBody>
          <a:bodyPr wrap="square" anchor="ctr" lIns="45720" rIns="45720" tIns="18288" bIns="18288"/>
          <a:lstStyle/>
          <a:p>
            <a:pPr algn="l"/>
            <a:r>
              <a:rPr sz="1900" b="1" i="0">
                <a:solidFill>
                  <a:srgbClr val="FFFFFF"/>
                </a:solidFill>
                <a:latin typeface="Calibri"/>
              </a:rPr>
              <a:t>5 Long-Term Orientation</a:t>
            </a:r>
          </a:p>
        </p:txBody>
      </p:sp>
      <p:sp>
        <p:nvSpPr>
          <p:cNvPr id="31" name="TextBox 30"/>
          <p:cNvSpPr txBox="1"/>
          <p:nvPr/>
        </p:nvSpPr>
        <p:spPr>
          <a:xfrm>
            <a:off x="4233672" y="3392424"/>
            <a:ext cx="3602735" cy="1143000"/>
          </a:xfrm>
          <a:prstGeom prst="rect">
            <a:avLst/>
          </a:prstGeom>
          <a:noFill/>
        </p:spPr>
        <p:txBody>
          <a:bodyPr wrap="square" anchor="t" lIns="54864" rIns="54864" tIns="27432" bIns="27432"/>
          <a:lstStyle/>
          <a:p>
            <a:pPr>
              <a:spcAft>
                <a:spcPts val="300"/>
              </a:spcAft>
            </a:pPr>
            <a:r>
              <a:rPr sz="1600" b="1" i="0">
                <a:solidFill>
                  <a:srgbClr val="1A1A1A"/>
                </a:solidFill>
                <a:latin typeface="Calibri"/>
              </a:rPr>
              <a:t>• </a:t>
            </a:r>
            <a:r>
              <a:rPr sz="1600" b="0" i="0">
                <a:solidFill>
                  <a:srgbClr val="1A1A1A"/>
                </a:solidFill>
                <a:latin typeface="Calibri"/>
              </a:rPr>
              <a:t>Pragmatic, future persistence vs short-term normative</a:t>
            </a:r>
          </a:p>
          <a:p>
            <a:pPr>
              <a:spcAft>
                <a:spcPts val="300"/>
              </a:spcAft>
            </a:pPr>
            <a:r>
              <a:rPr sz="1600" b="1" i="0">
                <a:solidFill>
                  <a:srgbClr val="1A1A1A"/>
                </a:solidFill>
                <a:latin typeface="Calibri"/>
              </a:rPr>
              <a:t>• </a:t>
            </a:r>
            <a:r>
              <a:rPr sz="1600" b="1" i="0">
                <a:solidFill>
                  <a:srgbClr val="1A1A1A"/>
                </a:solidFill>
                <a:latin typeface="Calibri"/>
              </a:rPr>
              <a:t>e.g.</a:t>
            </a:r>
            <a:r>
              <a:rPr sz="1600" b="0" i="0">
                <a:solidFill>
                  <a:srgbClr val="1A1A1A"/>
                </a:solidFill>
                <a:latin typeface="Calibri"/>
              </a:rPr>
              <a:t> LTO: China, Singapore · STO: USA</a:t>
            </a:r>
          </a:p>
        </p:txBody>
      </p:sp>
      <p:sp>
        <p:nvSpPr>
          <p:cNvPr id="32" name="Rounded Rectangle 31"/>
          <p:cNvSpPr/>
          <p:nvPr/>
        </p:nvSpPr>
        <p:spPr>
          <a:xfrm>
            <a:off x="8046720" y="2880360"/>
            <a:ext cx="3749039" cy="1691640"/>
          </a:xfrm>
          <a:prstGeom prst="roundRect">
            <a:avLst>
              <a:gd name="adj" fmla="val 6000"/>
            </a:avLst>
          </a:prstGeom>
          <a:solidFill>
            <a:srgbClr val="FFFFFF"/>
          </a:solidFill>
          <a:ln w="19050">
            <a:solidFill>
              <a:srgbClr val="DE989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8046720" y="2880360"/>
            <a:ext cx="3749039" cy="457200"/>
          </a:xfrm>
          <a:prstGeom prst="roundRect">
            <a:avLst>
              <a:gd name="adj" fmla="val 6000"/>
            </a:avLst>
          </a:prstGeom>
          <a:solidFill>
            <a:srgbClr val="B7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046720" y="3200400"/>
            <a:ext cx="3749039" cy="137160"/>
          </a:xfrm>
          <a:prstGeom prst="rect">
            <a:avLst/>
          </a:prstGeom>
          <a:solidFill>
            <a:srgbClr val="B7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138160" y="2880360"/>
            <a:ext cx="3566159" cy="457200"/>
          </a:xfrm>
          <a:prstGeom prst="rect">
            <a:avLst/>
          </a:prstGeom>
          <a:noFill/>
        </p:spPr>
        <p:txBody>
          <a:bodyPr wrap="square" anchor="ctr" lIns="45720" rIns="45720" tIns="18288" bIns="18288"/>
          <a:lstStyle/>
          <a:p>
            <a:pPr algn="l"/>
            <a:r>
              <a:rPr sz="1900" b="1" i="0">
                <a:solidFill>
                  <a:srgbClr val="FFFFFF"/>
                </a:solidFill>
                <a:latin typeface="Calibri"/>
              </a:rPr>
              <a:t>6 Indulgence vs Restraint</a:t>
            </a:r>
          </a:p>
        </p:txBody>
      </p:sp>
      <p:sp>
        <p:nvSpPr>
          <p:cNvPr id="36" name="TextBox 35"/>
          <p:cNvSpPr txBox="1"/>
          <p:nvPr/>
        </p:nvSpPr>
        <p:spPr>
          <a:xfrm>
            <a:off x="8119872" y="3392424"/>
            <a:ext cx="3602735" cy="1143000"/>
          </a:xfrm>
          <a:prstGeom prst="rect">
            <a:avLst/>
          </a:prstGeom>
          <a:noFill/>
        </p:spPr>
        <p:txBody>
          <a:bodyPr wrap="square" anchor="t" lIns="54864" rIns="54864" tIns="27432" bIns="27432"/>
          <a:lstStyle/>
          <a:p>
            <a:pPr>
              <a:spcAft>
                <a:spcPts val="300"/>
              </a:spcAft>
            </a:pPr>
            <a:r>
              <a:rPr sz="1600" b="1" i="0">
                <a:solidFill>
                  <a:srgbClr val="1A1A1A"/>
                </a:solidFill>
                <a:latin typeface="Calibri"/>
              </a:rPr>
              <a:t>• </a:t>
            </a:r>
            <a:r>
              <a:rPr sz="1600" b="0" i="0">
                <a:solidFill>
                  <a:srgbClr val="1A1A1A"/>
                </a:solidFill>
                <a:latin typeface="Calibri"/>
              </a:rPr>
              <a:t>Free gratification vs strict social regulation</a:t>
            </a:r>
          </a:p>
          <a:p>
            <a:pPr>
              <a:spcAft>
                <a:spcPts val="300"/>
              </a:spcAft>
            </a:pPr>
            <a:r>
              <a:rPr sz="1600" b="1" i="0">
                <a:solidFill>
                  <a:srgbClr val="1A1A1A"/>
                </a:solidFill>
                <a:latin typeface="Calibri"/>
              </a:rPr>
              <a:t>• </a:t>
            </a:r>
            <a:r>
              <a:rPr sz="1600" b="1" i="0">
                <a:solidFill>
                  <a:srgbClr val="1A1A1A"/>
                </a:solidFill>
                <a:latin typeface="Calibri"/>
              </a:rPr>
              <a:t>e.g.</a:t>
            </a:r>
            <a:r>
              <a:rPr sz="1600" b="0" i="0">
                <a:solidFill>
                  <a:srgbClr val="1A1A1A"/>
                </a:solidFill>
                <a:latin typeface="Calibri"/>
              </a:rPr>
              <a:t> Indulgent: Mexico · Restrained: Russia, India</a:t>
            </a:r>
          </a:p>
        </p:txBody>
      </p:sp>
      <p:sp>
        <p:nvSpPr>
          <p:cNvPr id="37" name="Rounded Rectangle 36"/>
          <p:cNvSpPr/>
          <p:nvPr/>
        </p:nvSpPr>
        <p:spPr>
          <a:xfrm>
            <a:off x="274320" y="4754880"/>
            <a:ext cx="4754880" cy="1783080"/>
          </a:xfrm>
          <a:prstGeom prst="roundRect">
            <a:avLst>
              <a:gd name="adj" fmla="val 6000"/>
            </a:avLst>
          </a:prstGeom>
          <a:solidFill>
            <a:srgbClr val="FFFFFF"/>
          </a:solidFill>
          <a:ln w="19050">
            <a:solidFill>
              <a:srgbClr val="99C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274320" y="4754880"/>
            <a:ext cx="4754880" cy="457200"/>
          </a:xfrm>
          <a:prstGeom prst="roundRect">
            <a:avLst>
              <a:gd name="adj" fmla="val 6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274320" y="5074920"/>
            <a:ext cx="4754880" cy="137160"/>
          </a:xfrm>
          <a:prstGeom prst="rect">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4754880"/>
            <a:ext cx="4572000" cy="457200"/>
          </a:xfrm>
          <a:prstGeom prst="rect">
            <a:avLst/>
          </a:prstGeom>
          <a:noFill/>
        </p:spPr>
        <p:txBody>
          <a:bodyPr wrap="square" anchor="ctr" lIns="45720" rIns="45720" tIns="18288" bIns="18288"/>
          <a:lstStyle/>
          <a:p>
            <a:pPr algn="l"/>
            <a:r>
              <a:rPr sz="1900" b="1" i="0">
                <a:solidFill>
                  <a:srgbClr val="FFFFFF"/>
                </a:solidFill>
                <a:latin typeface="Calibri"/>
              </a:rPr>
              <a:t>Class example: Singapore</a:t>
            </a:r>
          </a:p>
        </p:txBody>
      </p:sp>
      <p:sp>
        <p:nvSpPr>
          <p:cNvPr id="41" name="TextBox 40"/>
          <p:cNvSpPr txBox="1"/>
          <p:nvPr/>
        </p:nvSpPr>
        <p:spPr>
          <a:xfrm>
            <a:off x="347472" y="5266944"/>
            <a:ext cx="4608576" cy="1234439"/>
          </a:xfrm>
          <a:prstGeom prst="rect">
            <a:avLst/>
          </a:prstGeom>
          <a:noFill/>
        </p:spPr>
        <p:txBody>
          <a:bodyPr wrap="square" anchor="t" lIns="54864" rIns="54864" tIns="27432" bIns="27432"/>
          <a:lstStyle/>
          <a:p>
            <a:pPr>
              <a:spcAft>
                <a:spcPts val="300"/>
              </a:spcAft>
            </a:pPr>
            <a:r>
              <a:rPr sz="1300" b="1" i="0">
                <a:solidFill>
                  <a:srgbClr val="1A1A1A"/>
                </a:solidFill>
                <a:latin typeface="Calibri"/>
              </a:rPr>
              <a:t>• </a:t>
            </a:r>
            <a:r>
              <a:rPr sz="1300" b="0" i="0">
                <a:solidFill>
                  <a:srgbClr val="1A1A1A"/>
                </a:solidFill>
                <a:latin typeface="Calibri"/>
              </a:rPr>
              <a:t>Low power distance per class PPT (Hofstede score is 74, so mention both) · Collectivist · Masculine (achievement)</a:t>
            </a:r>
          </a:p>
          <a:p>
            <a:pPr>
              <a:spcAft>
                <a:spcPts val="300"/>
              </a:spcAft>
            </a:pPr>
            <a:r>
              <a:rPr sz="1300" b="1" i="0">
                <a:solidFill>
                  <a:srgbClr val="1A1A1A"/>
                </a:solidFill>
                <a:latin typeface="Calibri"/>
              </a:rPr>
              <a:t>• </a:t>
            </a:r>
            <a:r>
              <a:rPr sz="1300" b="0" i="0">
                <a:solidFill>
                  <a:srgbClr val="1A1A1A"/>
                </a:solidFill>
                <a:latin typeface="Calibri"/>
              </a:rPr>
              <a:t>Low uncertainty avoidance (entrepreneurial) · Long-term (planning, sustainability) · Restraint</a:t>
            </a:r>
          </a:p>
        </p:txBody>
      </p:sp>
      <p:sp>
        <p:nvSpPr>
          <p:cNvPr id="42" name="Rounded Rectangle 41"/>
          <p:cNvSpPr/>
          <p:nvPr/>
        </p:nvSpPr>
        <p:spPr>
          <a:xfrm>
            <a:off x="5166360" y="4754880"/>
            <a:ext cx="3291840" cy="1783080"/>
          </a:xfrm>
          <a:prstGeom prst="roundRect">
            <a:avLst>
              <a:gd name="adj" fmla="val 6000"/>
            </a:avLst>
          </a:prstGeom>
          <a:solidFill>
            <a:srgbClr val="FFFFFF"/>
          </a:solidFill>
          <a:ln w="19050">
            <a:solidFill>
              <a:srgbClr val="99C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5166360" y="4754880"/>
            <a:ext cx="3291840" cy="457200"/>
          </a:xfrm>
          <a:prstGeom prst="roundRect">
            <a:avLst>
              <a:gd name="adj" fmla="val 6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166360" y="5074920"/>
            <a:ext cx="3291840" cy="137160"/>
          </a:xfrm>
          <a:prstGeom prst="rect">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257800" y="4754880"/>
            <a:ext cx="3108960" cy="457200"/>
          </a:xfrm>
          <a:prstGeom prst="rect">
            <a:avLst/>
          </a:prstGeom>
          <a:noFill/>
        </p:spPr>
        <p:txBody>
          <a:bodyPr wrap="square" anchor="ctr" lIns="45720" rIns="45720" tIns="18288" bIns="18288"/>
          <a:lstStyle/>
          <a:p>
            <a:pPr algn="l"/>
            <a:r>
              <a:rPr sz="1900" b="1" i="0">
                <a:solidFill>
                  <a:srgbClr val="FFFFFF"/>
                </a:solidFill>
                <a:latin typeface="Calibri"/>
              </a:rPr>
              <a:t>Limitations (CAUTION)</a:t>
            </a:r>
          </a:p>
        </p:txBody>
      </p:sp>
      <p:sp>
        <p:nvSpPr>
          <p:cNvPr id="46" name="TextBox 45"/>
          <p:cNvSpPr txBox="1"/>
          <p:nvPr/>
        </p:nvSpPr>
        <p:spPr>
          <a:xfrm>
            <a:off x="5239512" y="5266944"/>
            <a:ext cx="3145536" cy="1234439"/>
          </a:xfrm>
          <a:prstGeom prst="rect">
            <a:avLst/>
          </a:prstGeom>
          <a:noFill/>
        </p:spPr>
        <p:txBody>
          <a:bodyPr wrap="square" anchor="t" lIns="54864" rIns="54864" tIns="27432" bIns="27432"/>
          <a:lstStyle/>
          <a:p>
            <a:pPr>
              <a:spcAft>
                <a:spcPts val="300"/>
              </a:spcAft>
            </a:pPr>
            <a:r>
              <a:rPr sz="1400" b="1" i="0">
                <a:solidFill>
                  <a:srgbClr val="1A1A1A"/>
                </a:solidFill>
                <a:latin typeface="Calibri"/>
              </a:rPr>
              <a:t>• </a:t>
            </a:r>
            <a:r>
              <a:rPr sz="1400" b="0" i="0">
                <a:solidFill>
                  <a:srgbClr val="1A1A1A"/>
                </a:solidFill>
                <a:latin typeface="Calibri"/>
              </a:rPr>
              <a:t>Country averages ≠ every individual</a:t>
            </a:r>
          </a:p>
          <a:p>
            <a:pPr>
              <a:spcAft>
                <a:spcPts val="300"/>
              </a:spcAft>
            </a:pPr>
            <a:r>
              <a:rPr sz="1400" b="1" i="0">
                <a:solidFill>
                  <a:srgbClr val="1A1A1A"/>
                </a:solidFill>
                <a:latin typeface="Calibri"/>
              </a:rPr>
              <a:t>• </a:t>
            </a:r>
            <a:r>
              <a:rPr sz="1400" b="0" i="0">
                <a:solidFill>
                  <a:srgbClr val="1A1A1A"/>
                </a:solidFill>
                <a:latin typeface="Calibri"/>
              </a:rPr>
              <a:t>Cultures are dynamic &amp; diverse</a:t>
            </a:r>
          </a:p>
          <a:p>
            <a:pPr>
              <a:spcAft>
                <a:spcPts val="300"/>
              </a:spcAft>
            </a:pPr>
            <a:r>
              <a:rPr sz="1400" b="1" i="0">
                <a:solidFill>
                  <a:srgbClr val="1A1A1A"/>
                </a:solidFill>
                <a:latin typeface="Calibri"/>
              </a:rPr>
              <a:t>• </a:t>
            </a:r>
            <a:r>
              <a:rPr sz="1400" b="0" i="0">
                <a:solidFill>
                  <a:srgbClr val="1A1A1A"/>
                </a:solidFill>
                <a:latin typeface="Calibri"/>
              </a:rPr>
              <a:t>Use as hypotheses, NOT stereotypes</a:t>
            </a:r>
          </a:p>
        </p:txBody>
      </p:sp>
      <p:sp>
        <p:nvSpPr>
          <p:cNvPr id="47" name="Rounded Rectangle 46"/>
          <p:cNvSpPr/>
          <p:nvPr/>
        </p:nvSpPr>
        <p:spPr>
          <a:xfrm>
            <a:off x="8595360" y="4754880"/>
            <a:ext cx="3337560" cy="1783080"/>
          </a:xfrm>
          <a:prstGeom prst="roundRect">
            <a:avLst>
              <a:gd name="adj" fmla="val 6000"/>
            </a:avLst>
          </a:prstGeom>
          <a:solidFill>
            <a:srgbClr val="FFFFFF"/>
          </a:solidFill>
          <a:ln w="19050">
            <a:solidFill>
              <a:srgbClr val="99C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8595360" y="4754880"/>
            <a:ext cx="3337560" cy="457200"/>
          </a:xfrm>
          <a:prstGeom prst="roundRect">
            <a:avLst>
              <a:gd name="adj" fmla="val 6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595360" y="5074920"/>
            <a:ext cx="3337560" cy="137160"/>
          </a:xfrm>
          <a:prstGeom prst="rect">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686800" y="4754880"/>
            <a:ext cx="3154679" cy="457200"/>
          </a:xfrm>
          <a:prstGeom prst="rect">
            <a:avLst/>
          </a:prstGeom>
          <a:noFill/>
        </p:spPr>
        <p:txBody>
          <a:bodyPr wrap="square" anchor="ctr" lIns="45720" rIns="45720" tIns="18288" bIns="18288"/>
          <a:lstStyle/>
          <a:p>
            <a:pPr algn="l"/>
            <a:r>
              <a:rPr sz="1500" b="1" i="0">
                <a:solidFill>
                  <a:srgbClr val="FFFFFF"/>
                </a:solidFill>
                <a:latin typeface="Calibri"/>
              </a:rPr>
              <a:t>Mini-case: multicultural team</a:t>
            </a:r>
          </a:p>
        </p:txBody>
      </p:sp>
      <p:sp>
        <p:nvSpPr>
          <p:cNvPr id="51" name="TextBox 50"/>
          <p:cNvSpPr txBox="1"/>
          <p:nvPr/>
        </p:nvSpPr>
        <p:spPr>
          <a:xfrm>
            <a:off x="8668512" y="5266944"/>
            <a:ext cx="3191256" cy="1234439"/>
          </a:xfrm>
          <a:prstGeom prst="rect">
            <a:avLst/>
          </a:prstGeom>
          <a:noFill/>
        </p:spPr>
        <p:txBody>
          <a:bodyPr wrap="square" anchor="t" lIns="54864" rIns="54864" tIns="27432" bIns="27432"/>
          <a:lstStyle/>
          <a:p>
            <a:pPr>
              <a:spcAft>
                <a:spcPts val="300"/>
              </a:spcAft>
            </a:pPr>
            <a:r>
              <a:rPr sz="1500" b="1" i="0">
                <a:solidFill>
                  <a:srgbClr val="1A1A1A"/>
                </a:solidFill>
                <a:latin typeface="Calibri"/>
              </a:rPr>
              <a:t>• </a:t>
            </a:r>
            <a:r>
              <a:rPr sz="1500" b="0" i="0">
                <a:solidFill>
                  <a:srgbClr val="1A1A1A"/>
                </a:solidFill>
                <a:latin typeface="Calibri"/>
              </a:rPr>
              <a:t>Disputes on decision speed, hierarchy, risk</a:t>
            </a:r>
          </a:p>
          <a:p>
            <a:pPr>
              <a:spcAft>
                <a:spcPts val="300"/>
              </a:spcAft>
            </a:pPr>
            <a:r>
              <a:rPr sz="1500" b="1" i="0">
                <a:solidFill>
                  <a:srgbClr val="1A1A1A"/>
                </a:solidFill>
                <a:latin typeface="Calibri"/>
              </a:rPr>
              <a:t>• </a:t>
            </a:r>
            <a:r>
              <a:rPr sz="1500" b="0" i="0">
                <a:solidFill>
                  <a:srgbClr val="1A1A1A"/>
                </a:solidFill>
                <a:latin typeface="Calibri"/>
              </a:rPr>
              <a:t>Fix: clarify decision rights, escalation rules, risk thresholds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600" b="1" i="0">
                <a:solidFill>
                  <a:srgbClr val="FFFFFF"/>
                </a:solidFill>
                <a:latin typeface="Calibri"/>
              </a:rPr>
              <a:t>GLOBE: culture &amp; leadership · Schwartz vs Hofstede vs GLOBE</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C6DECC"/>
                </a:solidFill>
                <a:latin typeface="Calibri"/>
              </a:rPr>
              <a:t>MODULE 2 · VALUES &amp; ATTITUDES</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Class PPT · GLOBE Framework</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21</a:t>
            </a:r>
          </a:p>
        </p:txBody>
      </p:sp>
      <p:sp>
        <p:nvSpPr>
          <p:cNvPr id="7" name="Rounded Rectangle 6"/>
          <p:cNvSpPr/>
          <p:nvPr/>
        </p:nvSpPr>
        <p:spPr>
          <a:xfrm>
            <a:off x="274320" y="1051560"/>
            <a:ext cx="3840480" cy="3566160"/>
          </a:xfrm>
          <a:prstGeom prst="roundRect">
            <a:avLst>
              <a:gd name="adj" fmla="val 6000"/>
            </a:avLst>
          </a:prstGeom>
          <a:solidFill>
            <a:srgbClr val="FFFFFF"/>
          </a:solidFill>
          <a:ln w="19050">
            <a:solidFill>
              <a:srgbClr val="99C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74320" y="1051560"/>
            <a:ext cx="3840480" cy="457200"/>
          </a:xfrm>
          <a:prstGeom prst="roundRect">
            <a:avLst>
              <a:gd name="adj" fmla="val 6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371600"/>
            <a:ext cx="3840480" cy="137160"/>
          </a:xfrm>
          <a:prstGeom prst="rect">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051560"/>
            <a:ext cx="3657600" cy="457200"/>
          </a:xfrm>
          <a:prstGeom prst="rect">
            <a:avLst/>
          </a:prstGeom>
          <a:noFill/>
        </p:spPr>
        <p:txBody>
          <a:bodyPr wrap="square" anchor="ctr" lIns="45720" rIns="45720" tIns="18288" bIns="18288"/>
          <a:lstStyle/>
          <a:p>
            <a:pPr algn="l"/>
            <a:r>
              <a:rPr sz="1900" b="1" i="0">
                <a:solidFill>
                  <a:srgbClr val="FFFFFF"/>
                </a:solidFill>
                <a:latin typeface="Calibri"/>
              </a:rPr>
              <a:t>GLOBE 9 cultural dimensions</a:t>
            </a:r>
          </a:p>
        </p:txBody>
      </p:sp>
      <p:sp>
        <p:nvSpPr>
          <p:cNvPr id="11" name="TextBox 10"/>
          <p:cNvSpPr txBox="1"/>
          <p:nvPr/>
        </p:nvSpPr>
        <p:spPr>
          <a:xfrm>
            <a:off x="347472" y="1563624"/>
            <a:ext cx="3694176" cy="3017520"/>
          </a:xfrm>
          <a:prstGeom prst="rect">
            <a:avLst/>
          </a:prstGeom>
          <a:noFill/>
        </p:spPr>
        <p:txBody>
          <a:bodyPr wrap="square" anchor="t" lIns="54864" rIns="54864" tIns="27432" bIns="27432"/>
          <a:lstStyle/>
          <a:p>
            <a:pPr>
              <a:spcAft>
                <a:spcPts val="300"/>
              </a:spcAft>
            </a:pPr>
            <a:r>
              <a:rPr sz="1500" b="1" i="0">
                <a:solidFill>
                  <a:srgbClr val="1A1A1A"/>
                </a:solidFill>
                <a:latin typeface="Calibri"/>
              </a:rPr>
              <a:t>• </a:t>
            </a:r>
            <a:r>
              <a:rPr sz="1500" b="0" i="0">
                <a:solidFill>
                  <a:srgbClr val="1A1A1A"/>
                </a:solidFill>
                <a:latin typeface="Calibri"/>
              </a:rPr>
              <a:t>1 Power distance</a:t>
            </a:r>
          </a:p>
          <a:p>
            <a:pPr>
              <a:spcAft>
                <a:spcPts val="300"/>
              </a:spcAft>
            </a:pPr>
            <a:r>
              <a:rPr sz="1500" b="1" i="0">
                <a:solidFill>
                  <a:srgbClr val="1A1A1A"/>
                </a:solidFill>
                <a:latin typeface="Calibri"/>
              </a:rPr>
              <a:t>• </a:t>
            </a:r>
            <a:r>
              <a:rPr sz="1500" b="0" i="0">
                <a:solidFill>
                  <a:srgbClr val="1A1A1A"/>
                </a:solidFill>
                <a:latin typeface="Calibri"/>
              </a:rPr>
              <a:t>2 Uncertainty avoidance</a:t>
            </a:r>
          </a:p>
          <a:p>
            <a:pPr>
              <a:spcAft>
                <a:spcPts val="300"/>
              </a:spcAft>
            </a:pPr>
            <a:r>
              <a:rPr sz="1500" b="1" i="0">
                <a:solidFill>
                  <a:srgbClr val="1A1A1A"/>
                </a:solidFill>
                <a:latin typeface="Calibri"/>
              </a:rPr>
              <a:t>• </a:t>
            </a:r>
            <a:r>
              <a:rPr sz="1500" b="0" i="0">
                <a:solidFill>
                  <a:srgbClr val="1A1A1A"/>
                </a:solidFill>
                <a:latin typeface="Calibri"/>
              </a:rPr>
              <a:t>3 Institutional collectivism</a:t>
            </a:r>
          </a:p>
          <a:p>
            <a:pPr>
              <a:spcAft>
                <a:spcPts val="300"/>
              </a:spcAft>
            </a:pPr>
            <a:r>
              <a:rPr sz="1500" b="1" i="0">
                <a:solidFill>
                  <a:srgbClr val="1A1A1A"/>
                </a:solidFill>
                <a:latin typeface="Calibri"/>
              </a:rPr>
              <a:t>• </a:t>
            </a:r>
            <a:r>
              <a:rPr sz="1500" b="0" i="0">
                <a:solidFill>
                  <a:srgbClr val="1A1A1A"/>
                </a:solidFill>
                <a:latin typeface="Calibri"/>
              </a:rPr>
              <a:t>4 In-group collectivism (family pride/loyalty)</a:t>
            </a:r>
          </a:p>
          <a:p>
            <a:pPr>
              <a:spcAft>
                <a:spcPts val="300"/>
              </a:spcAft>
            </a:pPr>
            <a:r>
              <a:rPr sz="1500" b="1" i="0">
                <a:solidFill>
                  <a:srgbClr val="1A1A1A"/>
                </a:solidFill>
                <a:latin typeface="Calibri"/>
              </a:rPr>
              <a:t>• </a:t>
            </a:r>
            <a:r>
              <a:rPr sz="1500" b="0" i="0">
                <a:solidFill>
                  <a:srgbClr val="1A1A1A"/>
                </a:solidFill>
                <a:latin typeface="Calibri"/>
              </a:rPr>
              <a:t>5 Gender egalitarianism</a:t>
            </a:r>
          </a:p>
          <a:p>
            <a:pPr>
              <a:spcAft>
                <a:spcPts val="300"/>
              </a:spcAft>
            </a:pPr>
            <a:r>
              <a:rPr sz="1500" b="1" i="0">
                <a:solidFill>
                  <a:srgbClr val="1A1A1A"/>
                </a:solidFill>
                <a:latin typeface="Calibri"/>
              </a:rPr>
              <a:t>• </a:t>
            </a:r>
            <a:r>
              <a:rPr sz="1500" b="0" i="0">
                <a:solidFill>
                  <a:srgbClr val="1A1A1A"/>
                </a:solidFill>
                <a:latin typeface="Calibri"/>
              </a:rPr>
              <a:t>6 Assertiveness</a:t>
            </a:r>
          </a:p>
          <a:p>
            <a:pPr>
              <a:spcAft>
                <a:spcPts val="300"/>
              </a:spcAft>
            </a:pPr>
            <a:r>
              <a:rPr sz="1500" b="1" i="0">
                <a:solidFill>
                  <a:srgbClr val="1A1A1A"/>
                </a:solidFill>
                <a:latin typeface="Calibri"/>
              </a:rPr>
              <a:t>• </a:t>
            </a:r>
            <a:r>
              <a:rPr sz="1500" b="0" i="0">
                <a:solidFill>
                  <a:srgbClr val="1A1A1A"/>
                </a:solidFill>
                <a:latin typeface="Calibri"/>
              </a:rPr>
              <a:t>7 Future orientation</a:t>
            </a:r>
          </a:p>
          <a:p>
            <a:pPr>
              <a:spcAft>
                <a:spcPts val="300"/>
              </a:spcAft>
            </a:pPr>
            <a:r>
              <a:rPr sz="1500" b="1" i="0">
                <a:solidFill>
                  <a:srgbClr val="1A1A1A"/>
                </a:solidFill>
                <a:latin typeface="Calibri"/>
              </a:rPr>
              <a:t>• </a:t>
            </a:r>
            <a:r>
              <a:rPr sz="1500" b="0" i="0">
                <a:solidFill>
                  <a:srgbClr val="1A1A1A"/>
                </a:solidFill>
                <a:latin typeface="Calibri"/>
              </a:rPr>
              <a:t>8 Performance orientation</a:t>
            </a:r>
          </a:p>
          <a:p>
            <a:pPr>
              <a:spcAft>
                <a:spcPts val="300"/>
              </a:spcAft>
            </a:pPr>
            <a:r>
              <a:rPr sz="1500" b="1" i="0">
                <a:solidFill>
                  <a:srgbClr val="1A1A1A"/>
                </a:solidFill>
                <a:latin typeface="Calibri"/>
              </a:rPr>
              <a:t>• </a:t>
            </a:r>
            <a:r>
              <a:rPr sz="1500" b="0" i="0">
                <a:solidFill>
                  <a:srgbClr val="1A1A1A"/>
                </a:solidFill>
                <a:latin typeface="Calibri"/>
              </a:rPr>
              <a:t>9 Humane orientation</a:t>
            </a:r>
          </a:p>
        </p:txBody>
      </p:sp>
      <p:sp>
        <p:nvSpPr>
          <p:cNvPr id="12" name="Rounded Rectangle 11"/>
          <p:cNvSpPr/>
          <p:nvPr/>
        </p:nvSpPr>
        <p:spPr>
          <a:xfrm>
            <a:off x="4251960" y="1051560"/>
            <a:ext cx="3840480" cy="3566160"/>
          </a:xfrm>
          <a:prstGeom prst="roundRect">
            <a:avLst>
              <a:gd name="adj" fmla="val 6000"/>
            </a:avLst>
          </a:prstGeom>
          <a:solidFill>
            <a:srgbClr val="FFFFFF"/>
          </a:solidFill>
          <a:ln w="19050">
            <a:solidFill>
              <a:srgbClr val="99C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251960" y="1051560"/>
            <a:ext cx="3840480" cy="457200"/>
          </a:xfrm>
          <a:prstGeom prst="roundRect">
            <a:avLst>
              <a:gd name="adj" fmla="val 6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51960" y="1371600"/>
            <a:ext cx="3840480" cy="137160"/>
          </a:xfrm>
          <a:prstGeom prst="rect">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43400" y="1051560"/>
            <a:ext cx="3657600" cy="457200"/>
          </a:xfrm>
          <a:prstGeom prst="rect">
            <a:avLst/>
          </a:prstGeom>
          <a:noFill/>
        </p:spPr>
        <p:txBody>
          <a:bodyPr wrap="square" anchor="ctr" lIns="45720" rIns="45720" tIns="18288" bIns="18288"/>
          <a:lstStyle/>
          <a:p>
            <a:pPr algn="l"/>
            <a:r>
              <a:rPr sz="1300" b="1" i="0">
                <a:solidFill>
                  <a:srgbClr val="FFFFFF"/>
                </a:solidFill>
                <a:latin typeface="Calibri"/>
              </a:rPr>
              <a:t>6 culturally endorsed leadership styles</a:t>
            </a:r>
          </a:p>
        </p:txBody>
      </p:sp>
      <p:sp>
        <p:nvSpPr>
          <p:cNvPr id="16" name="TextBox 15"/>
          <p:cNvSpPr txBox="1"/>
          <p:nvPr/>
        </p:nvSpPr>
        <p:spPr>
          <a:xfrm>
            <a:off x="4325112" y="1563624"/>
            <a:ext cx="3694176" cy="3017520"/>
          </a:xfrm>
          <a:prstGeom prst="rect">
            <a:avLst/>
          </a:prstGeom>
          <a:noFill/>
        </p:spPr>
        <p:txBody>
          <a:bodyPr wrap="square" anchor="t" lIns="54864" rIns="54864" tIns="27432" bIns="27432"/>
          <a:lstStyle/>
          <a:p>
            <a:pPr>
              <a:spcAft>
                <a:spcPts val="300"/>
              </a:spcAft>
            </a:pPr>
            <a:r>
              <a:rPr sz="1500" b="1" i="0">
                <a:solidFill>
                  <a:srgbClr val="1A1A1A"/>
                </a:solidFill>
                <a:latin typeface="Calibri"/>
              </a:rPr>
              <a:t>• </a:t>
            </a:r>
            <a:r>
              <a:rPr sz="1500" b="1" i="0">
                <a:solidFill>
                  <a:srgbClr val="1A1A1A"/>
                </a:solidFill>
                <a:latin typeface="Calibri"/>
              </a:rPr>
              <a:t>Charismatic/value-based</a:t>
            </a:r>
            <a:r>
              <a:rPr sz="1500" b="0" i="0">
                <a:solidFill>
                  <a:srgbClr val="1A1A1A"/>
                </a:solidFill>
                <a:latin typeface="Calibri"/>
              </a:rPr>
              <a:t>: vision, integrity</a:t>
            </a:r>
          </a:p>
          <a:p>
            <a:pPr>
              <a:spcAft>
                <a:spcPts val="300"/>
              </a:spcAft>
            </a:pPr>
            <a:r>
              <a:rPr sz="1500" b="1" i="0">
                <a:solidFill>
                  <a:srgbClr val="1A1A1A"/>
                </a:solidFill>
                <a:latin typeface="Calibri"/>
              </a:rPr>
              <a:t>• </a:t>
            </a:r>
            <a:r>
              <a:rPr sz="1500" b="1" i="0">
                <a:solidFill>
                  <a:srgbClr val="1A1A1A"/>
                </a:solidFill>
                <a:latin typeface="Calibri"/>
              </a:rPr>
              <a:t>Team-oriented</a:t>
            </a:r>
          </a:p>
          <a:p>
            <a:pPr>
              <a:spcAft>
                <a:spcPts val="300"/>
              </a:spcAft>
            </a:pPr>
            <a:r>
              <a:rPr sz="1500" b="1" i="0">
                <a:solidFill>
                  <a:srgbClr val="1A1A1A"/>
                </a:solidFill>
                <a:latin typeface="Calibri"/>
              </a:rPr>
              <a:t>• </a:t>
            </a:r>
            <a:r>
              <a:rPr sz="1500" b="1" i="0">
                <a:solidFill>
                  <a:srgbClr val="1A1A1A"/>
                </a:solidFill>
                <a:latin typeface="Calibri"/>
              </a:rPr>
              <a:t>Participative</a:t>
            </a:r>
          </a:p>
          <a:p>
            <a:pPr>
              <a:spcAft>
                <a:spcPts val="300"/>
              </a:spcAft>
            </a:pPr>
            <a:r>
              <a:rPr sz="1500" b="1" i="0">
                <a:solidFill>
                  <a:srgbClr val="1A1A1A"/>
                </a:solidFill>
                <a:latin typeface="Calibri"/>
              </a:rPr>
              <a:t>• </a:t>
            </a:r>
            <a:r>
              <a:rPr sz="1500" b="1" i="0">
                <a:solidFill>
                  <a:srgbClr val="1A1A1A"/>
                </a:solidFill>
                <a:latin typeface="Calibri"/>
              </a:rPr>
              <a:t>Humane-oriented</a:t>
            </a:r>
            <a:r>
              <a:rPr sz="1500" b="0" i="0">
                <a:solidFill>
                  <a:srgbClr val="1A1A1A"/>
                </a:solidFill>
                <a:latin typeface="Calibri"/>
              </a:rPr>
              <a:t>: compassionate</a:t>
            </a:r>
          </a:p>
          <a:p>
            <a:pPr>
              <a:spcAft>
                <a:spcPts val="300"/>
              </a:spcAft>
            </a:pPr>
            <a:r>
              <a:rPr sz="1500" b="1" i="0">
                <a:solidFill>
                  <a:srgbClr val="1A1A1A"/>
                </a:solidFill>
                <a:latin typeface="Calibri"/>
              </a:rPr>
              <a:t>• </a:t>
            </a:r>
            <a:r>
              <a:rPr sz="1500" b="1" i="0">
                <a:solidFill>
                  <a:srgbClr val="1A1A1A"/>
                </a:solidFill>
                <a:latin typeface="Calibri"/>
              </a:rPr>
              <a:t>Autonomous</a:t>
            </a:r>
            <a:r>
              <a:rPr sz="1500" b="0" i="0">
                <a:solidFill>
                  <a:srgbClr val="1A1A1A"/>
                </a:solidFill>
                <a:latin typeface="Calibri"/>
              </a:rPr>
              <a:t>: independent</a:t>
            </a:r>
          </a:p>
          <a:p>
            <a:pPr>
              <a:spcAft>
                <a:spcPts val="300"/>
              </a:spcAft>
            </a:pPr>
            <a:r>
              <a:rPr sz="1500" b="1" i="0">
                <a:solidFill>
                  <a:srgbClr val="1A1A1A"/>
                </a:solidFill>
                <a:latin typeface="Calibri"/>
              </a:rPr>
              <a:t>• </a:t>
            </a:r>
            <a:r>
              <a:rPr sz="1500" b="1" i="0">
                <a:solidFill>
                  <a:srgbClr val="1A1A1A"/>
                </a:solidFill>
                <a:latin typeface="Calibri"/>
              </a:rPr>
              <a:t>Self-protective</a:t>
            </a:r>
            <a:r>
              <a:rPr sz="1500" b="0" i="0">
                <a:solidFill>
                  <a:srgbClr val="1A1A1A"/>
                </a:solidFill>
                <a:latin typeface="Calibri"/>
              </a:rPr>
              <a:t>: status, procedure, security</a:t>
            </a:r>
          </a:p>
          <a:p>
            <a:pPr>
              <a:spcAft>
                <a:spcPts val="300"/>
              </a:spcAft>
            </a:pPr>
            <a:r>
              <a:rPr sz="1500" b="1" i="0">
                <a:solidFill>
                  <a:srgbClr val="1A1A1A"/>
                </a:solidFill>
                <a:latin typeface="Calibri"/>
              </a:rPr>
              <a:t>• </a:t>
            </a:r>
            <a:r>
              <a:rPr sz="1500" b="1" i="0">
                <a:solidFill>
                  <a:srgbClr val="1A1A1A"/>
                </a:solidFill>
                <a:latin typeface="Calibri"/>
              </a:rPr>
              <a:t>Practices ('As Is') vs Values ('Should Be')</a:t>
            </a:r>
            <a:r>
              <a:rPr sz="1500" b="0" i="0">
                <a:solidFill>
                  <a:srgbClr val="1A1A1A"/>
                </a:solidFill>
                <a:latin typeface="Calibri"/>
              </a:rPr>
              <a:t>: e.g., high PD now, egalitarian desired</a:t>
            </a:r>
          </a:p>
        </p:txBody>
      </p:sp>
      <p:graphicFrame>
        <p:nvGraphicFramePr>
          <p:cNvPr id="17" name="Table 16"/>
          <p:cNvGraphicFramePr>
            <a:graphicFrameLocks noGrp="1"/>
          </p:cNvGraphicFramePr>
          <p:nvPr/>
        </p:nvGraphicFramePr>
        <p:xfrm>
          <a:off x="8229600" y="1051560"/>
          <a:ext cx="3703317" cy="3566160"/>
        </p:xfrm>
        <a:graphic>
          <a:graphicData uri="http://schemas.openxmlformats.org/drawingml/2006/table">
            <a:tbl>
              <a:tblPr firstRow="1" bandRow="1">
                <a:tableStyleId>{5C22544A-7EE6-4342-B048-85BDC9FD1C3A}</a:tableStyleId>
              </a:tblPr>
              <a:tblGrid>
                <a:gridCol w="812923"/>
                <a:gridCol w="993573"/>
                <a:gridCol w="903248"/>
                <a:gridCol w="993573"/>
              </a:tblGrid>
              <a:tr h="713232">
                <a:tc>
                  <a:txBody>
                    <a:bodyPr wrap="square"/>
                    <a:lstStyle/>
                    <a:p/>
                  </a:txBody>
                  <a:tcPr marL="54864" marR="54864" marT="27432" marB="27432" anchor="ctr">
                    <a:solidFill>
                      <a:srgbClr val="1E7B34"/>
                    </a:solidFill>
                  </a:tcPr>
                </a:tc>
                <a:tc>
                  <a:txBody>
                    <a:bodyPr wrap="square"/>
                    <a:lstStyle/>
                    <a:p>
                      <a:r>
                        <a:rPr sz="1200" b="1" i="0">
                          <a:solidFill>
                            <a:srgbClr val="FFFFFF"/>
                          </a:solidFill>
                          <a:latin typeface="Calibri"/>
                        </a:rPr>
                        <a:t>Schwartz</a:t>
                      </a:r>
                    </a:p>
                  </a:txBody>
                  <a:tcPr marL="54864" marR="54864" marT="27432" marB="27432" anchor="ctr">
                    <a:solidFill>
                      <a:srgbClr val="1E7B34"/>
                    </a:solidFill>
                  </a:tcPr>
                </a:tc>
                <a:tc>
                  <a:txBody>
                    <a:bodyPr wrap="square"/>
                    <a:lstStyle/>
                    <a:p>
                      <a:r>
                        <a:rPr sz="1200" b="1" i="0">
                          <a:solidFill>
                            <a:srgbClr val="FFFFFF"/>
                          </a:solidFill>
                          <a:latin typeface="Calibri"/>
                        </a:rPr>
                        <a:t>Hofstede</a:t>
                      </a:r>
                    </a:p>
                  </a:txBody>
                  <a:tcPr marL="54864" marR="54864" marT="27432" marB="27432" anchor="ctr">
                    <a:solidFill>
                      <a:srgbClr val="1E7B34"/>
                    </a:solidFill>
                  </a:tcPr>
                </a:tc>
                <a:tc>
                  <a:txBody>
                    <a:bodyPr wrap="square"/>
                    <a:lstStyle/>
                    <a:p>
                      <a:r>
                        <a:rPr sz="1200" b="1" i="0">
                          <a:solidFill>
                            <a:srgbClr val="FFFFFF"/>
                          </a:solidFill>
                          <a:latin typeface="Calibri"/>
                        </a:rPr>
                        <a:t>GLOBE</a:t>
                      </a:r>
                    </a:p>
                  </a:txBody>
                  <a:tcPr marL="54864" marR="54864" marT="27432" marB="27432" anchor="ctr">
                    <a:solidFill>
                      <a:srgbClr val="1E7B34"/>
                    </a:solidFill>
                  </a:tcPr>
                </a:tc>
              </a:tr>
              <a:tr h="713232">
                <a:tc>
                  <a:txBody>
                    <a:bodyPr wrap="square"/>
                    <a:lstStyle/>
                    <a:p>
                      <a:r>
                        <a:rPr sz="1200" b="1" i="0">
                          <a:solidFill>
                            <a:srgbClr val="1A1A1A"/>
                          </a:solidFill>
                          <a:latin typeface="Calibri"/>
                        </a:rPr>
                        <a:t>Focus</a:t>
                      </a:r>
                    </a:p>
                  </a:txBody>
                  <a:tcPr marL="54864" marR="54864" marT="27432" marB="27432" anchor="ctr">
                    <a:solidFill>
                      <a:srgbClr val="FFFFFF"/>
                    </a:solidFill>
                  </a:tcPr>
                </a:tc>
                <a:tc>
                  <a:txBody>
                    <a:bodyPr wrap="square"/>
                    <a:lstStyle/>
                    <a:p>
                      <a:r>
                        <a:rPr sz="1200" b="0" i="0">
                          <a:solidFill>
                            <a:srgbClr val="1A1A1A"/>
                          </a:solidFill>
                          <a:latin typeface="Calibri"/>
                        </a:rPr>
                        <a:t>Individual value priorities &amp; motives</a:t>
                      </a:r>
                    </a:p>
                  </a:txBody>
                  <a:tcPr marL="54864" marR="54864" marT="27432" marB="27432" anchor="ctr">
                    <a:solidFill>
                      <a:srgbClr val="FFFFFF"/>
                    </a:solidFill>
                  </a:tcPr>
                </a:tc>
                <a:tc>
                  <a:txBody>
                    <a:bodyPr wrap="square"/>
                    <a:lstStyle/>
                    <a:p>
                      <a:r>
                        <a:rPr sz="1200" b="0" i="0">
                          <a:solidFill>
                            <a:srgbClr val="1A1A1A"/>
                          </a:solidFill>
                          <a:latin typeface="Calibri"/>
                        </a:rPr>
                        <a:t>National culture patterns</a:t>
                      </a:r>
                    </a:p>
                  </a:txBody>
                  <a:tcPr marL="54864" marR="54864" marT="27432" marB="27432" anchor="ctr">
                    <a:solidFill>
                      <a:srgbClr val="FFFFFF"/>
                    </a:solidFill>
                  </a:tcPr>
                </a:tc>
                <a:tc>
                  <a:txBody>
                    <a:bodyPr wrap="square"/>
                    <a:lstStyle/>
                    <a:p>
                      <a:r>
                        <a:rPr sz="1200" b="0" i="0">
                          <a:solidFill>
                            <a:srgbClr val="1A1A1A"/>
                          </a:solidFill>
                          <a:latin typeface="Calibri"/>
                        </a:rPr>
                        <a:t>Culture ↔ leadership effectiveness</a:t>
                      </a:r>
                    </a:p>
                  </a:txBody>
                  <a:tcPr marL="54864" marR="54864" marT="27432" marB="27432" anchor="ctr">
                    <a:solidFill>
                      <a:srgbClr val="FFFFFF"/>
                    </a:solidFill>
                  </a:tcPr>
                </a:tc>
              </a:tr>
              <a:tr h="713232">
                <a:tc>
                  <a:txBody>
                    <a:bodyPr wrap="square"/>
                    <a:lstStyle/>
                    <a:p>
                      <a:r>
                        <a:rPr sz="1200" b="1" i="0">
                          <a:solidFill>
                            <a:srgbClr val="1A1A1A"/>
                          </a:solidFill>
                          <a:latin typeface="Calibri"/>
                        </a:rPr>
                        <a:t>Level</a:t>
                      </a:r>
                    </a:p>
                  </a:txBody>
                  <a:tcPr marL="54864" marR="54864" marT="27432" marB="27432" anchor="ctr">
                    <a:solidFill>
                      <a:srgbClr val="E8F1EA"/>
                    </a:solidFill>
                  </a:tcPr>
                </a:tc>
                <a:tc>
                  <a:txBody>
                    <a:bodyPr wrap="square"/>
                    <a:lstStyle/>
                    <a:p>
                      <a:r>
                        <a:rPr sz="1200" b="0" i="0">
                          <a:solidFill>
                            <a:srgbClr val="1A1A1A"/>
                          </a:solidFill>
                          <a:latin typeface="Calibri"/>
                        </a:rPr>
                        <a:t>Individual + cultural</a:t>
                      </a:r>
                    </a:p>
                  </a:txBody>
                  <a:tcPr marL="54864" marR="54864" marT="27432" marB="27432" anchor="ctr">
                    <a:solidFill>
                      <a:srgbClr val="E8F1EA"/>
                    </a:solidFill>
                  </a:tcPr>
                </a:tc>
                <a:tc>
                  <a:txBody>
                    <a:bodyPr wrap="square"/>
                    <a:lstStyle/>
                    <a:p>
                      <a:r>
                        <a:rPr sz="1200" b="0" i="0">
                          <a:solidFill>
                            <a:srgbClr val="1A1A1A"/>
                          </a:solidFill>
                          <a:latin typeface="Calibri"/>
                        </a:rPr>
                        <a:t>Country</a:t>
                      </a:r>
                    </a:p>
                  </a:txBody>
                  <a:tcPr marL="54864" marR="54864" marT="27432" marB="27432" anchor="ctr">
                    <a:solidFill>
                      <a:srgbClr val="E8F1EA"/>
                    </a:solidFill>
                  </a:tcPr>
                </a:tc>
                <a:tc>
                  <a:txBody>
                    <a:bodyPr wrap="square"/>
                    <a:lstStyle/>
                    <a:p>
                      <a:r>
                        <a:rPr sz="1200" b="0" i="0">
                          <a:solidFill>
                            <a:srgbClr val="1A1A1A"/>
                          </a:solidFill>
                          <a:latin typeface="Calibri"/>
                        </a:rPr>
                        <a:t>Society/organisation</a:t>
                      </a:r>
                    </a:p>
                  </a:txBody>
                  <a:tcPr marL="54864" marR="54864" marT="27432" marB="27432" anchor="ctr">
                    <a:solidFill>
                      <a:srgbClr val="E8F1EA"/>
                    </a:solidFill>
                  </a:tcPr>
                </a:tc>
              </a:tr>
              <a:tr h="713232">
                <a:tc>
                  <a:txBody>
                    <a:bodyPr wrap="square"/>
                    <a:lstStyle/>
                    <a:p>
                      <a:r>
                        <a:rPr sz="1200" b="1" i="0">
                          <a:solidFill>
                            <a:srgbClr val="1A1A1A"/>
                          </a:solidFill>
                          <a:latin typeface="Calibri"/>
                        </a:rPr>
                        <a:t>Count</a:t>
                      </a:r>
                    </a:p>
                  </a:txBody>
                  <a:tcPr marL="54864" marR="54864" marT="27432" marB="27432" anchor="ctr">
                    <a:solidFill>
                      <a:srgbClr val="FFFFFF"/>
                    </a:solidFill>
                  </a:tcPr>
                </a:tc>
                <a:tc>
                  <a:txBody>
                    <a:bodyPr wrap="square"/>
                    <a:lstStyle/>
                    <a:p>
                      <a:r>
                        <a:rPr sz="1200" b="0" i="0">
                          <a:solidFill>
                            <a:srgbClr val="1A1A1A"/>
                          </a:solidFill>
                          <a:latin typeface="Calibri"/>
                        </a:rPr>
                        <a:t>10 values, 4 dimensions</a:t>
                      </a:r>
                    </a:p>
                  </a:txBody>
                  <a:tcPr marL="54864" marR="54864" marT="27432" marB="27432" anchor="ctr">
                    <a:solidFill>
                      <a:srgbClr val="FFFFFF"/>
                    </a:solidFill>
                  </a:tcPr>
                </a:tc>
                <a:tc>
                  <a:txBody>
                    <a:bodyPr wrap="square"/>
                    <a:lstStyle/>
                    <a:p>
                      <a:r>
                        <a:rPr sz="1200" b="0" i="0">
                          <a:solidFill>
                            <a:srgbClr val="1A1A1A"/>
                          </a:solidFill>
                          <a:latin typeface="Calibri"/>
                        </a:rPr>
                        <a:t>6 dimensions</a:t>
                      </a:r>
                    </a:p>
                  </a:txBody>
                  <a:tcPr marL="54864" marR="54864" marT="27432" marB="27432" anchor="ctr">
                    <a:solidFill>
                      <a:srgbClr val="FFFFFF"/>
                    </a:solidFill>
                  </a:tcPr>
                </a:tc>
                <a:tc>
                  <a:txBody>
                    <a:bodyPr wrap="square"/>
                    <a:lstStyle/>
                    <a:p>
                      <a:r>
                        <a:rPr sz="1200" b="0" i="0">
                          <a:solidFill>
                            <a:srgbClr val="1A1A1A"/>
                          </a:solidFill>
                          <a:latin typeface="Calibri"/>
                        </a:rPr>
                        <a:t>9 culture + 6 leadership</a:t>
                      </a:r>
                    </a:p>
                  </a:txBody>
                  <a:tcPr marL="54864" marR="54864" marT="27432" marB="27432" anchor="ctr">
                    <a:solidFill>
                      <a:srgbClr val="FFFFFF"/>
                    </a:solidFill>
                  </a:tcPr>
                </a:tc>
              </a:tr>
              <a:tr h="713232">
                <a:tc>
                  <a:txBody>
                    <a:bodyPr wrap="square"/>
                    <a:lstStyle/>
                    <a:p>
                      <a:r>
                        <a:rPr sz="1200" b="1" i="0">
                          <a:solidFill>
                            <a:srgbClr val="1A1A1A"/>
                          </a:solidFill>
                          <a:latin typeface="Calibri"/>
                        </a:rPr>
                        <a:t>Best for</a:t>
                      </a:r>
                    </a:p>
                  </a:txBody>
                  <a:tcPr marL="54864" marR="54864" marT="27432" marB="27432" anchor="ctr">
                    <a:solidFill>
                      <a:srgbClr val="E8F1EA"/>
                    </a:solidFill>
                  </a:tcPr>
                </a:tc>
                <a:tc>
                  <a:txBody>
                    <a:bodyPr wrap="square"/>
                    <a:lstStyle/>
                    <a:p>
                      <a:r>
                        <a:rPr sz="1200" b="0" i="0">
                          <a:solidFill>
                            <a:srgbClr val="1A1A1A"/>
                          </a:solidFill>
                          <a:latin typeface="Calibri"/>
                        </a:rPr>
                        <a:t>Value congruence, individual differences</a:t>
                      </a:r>
                    </a:p>
                  </a:txBody>
                  <a:tcPr marL="54864" marR="54864" marT="27432" marB="27432" anchor="ctr">
                    <a:solidFill>
                      <a:srgbClr val="E8F1EA"/>
                    </a:solidFill>
                  </a:tcPr>
                </a:tc>
                <a:tc>
                  <a:txBody>
                    <a:bodyPr wrap="square"/>
                    <a:lstStyle/>
                    <a:p>
                      <a:r>
                        <a:rPr sz="1200" b="0" i="0">
                          <a:solidFill>
                            <a:srgbClr val="1A1A1A"/>
                          </a:solidFill>
                          <a:latin typeface="Calibri"/>
                        </a:rPr>
                        <a:t>Comparing mgmt across countries</a:t>
                      </a:r>
                    </a:p>
                  </a:txBody>
                  <a:tcPr marL="54864" marR="54864" marT="27432" marB="27432" anchor="ctr">
                    <a:solidFill>
                      <a:srgbClr val="E8F1EA"/>
                    </a:solidFill>
                  </a:tcPr>
                </a:tc>
                <a:tc>
                  <a:txBody>
                    <a:bodyPr wrap="square"/>
                    <a:lstStyle/>
                    <a:p>
                      <a:r>
                        <a:rPr sz="1200" b="0" i="0">
                          <a:solidFill>
                            <a:srgbClr val="1A1A1A"/>
                          </a:solidFill>
                          <a:latin typeface="Calibri"/>
                        </a:rPr>
                        <a:t>Global leadership, HR adaptation</a:t>
                      </a:r>
                    </a:p>
                  </a:txBody>
                  <a:tcPr marL="54864" marR="54864" marT="27432" marB="27432" anchor="ctr">
                    <a:solidFill>
                      <a:srgbClr val="E8F1EA"/>
                    </a:solidFill>
                  </a:tcPr>
                </a:tc>
              </a:tr>
            </a:tbl>
          </a:graphicData>
        </a:graphic>
      </p:graphicFrame>
      <p:sp>
        <p:nvSpPr>
          <p:cNvPr id="18" name="Rounded Rectangle 17"/>
          <p:cNvSpPr/>
          <p:nvPr/>
        </p:nvSpPr>
        <p:spPr>
          <a:xfrm>
            <a:off x="274320" y="4754880"/>
            <a:ext cx="7818120" cy="1783080"/>
          </a:xfrm>
          <a:prstGeom prst="roundRect">
            <a:avLst>
              <a:gd name="adj" fmla="val 6000"/>
            </a:avLst>
          </a:prstGeom>
          <a:solidFill>
            <a:srgbClr val="FFFFFF"/>
          </a:solidFill>
          <a:ln w="19050">
            <a:solidFill>
              <a:srgbClr val="99C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74320" y="4754880"/>
            <a:ext cx="7818120" cy="457200"/>
          </a:xfrm>
          <a:prstGeom prst="roundRect">
            <a:avLst>
              <a:gd name="adj" fmla="val 6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74320" y="5074920"/>
            <a:ext cx="7818120" cy="137160"/>
          </a:xfrm>
          <a:prstGeom prst="rect">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4754880"/>
            <a:ext cx="7635240" cy="457200"/>
          </a:xfrm>
          <a:prstGeom prst="rect">
            <a:avLst/>
          </a:prstGeom>
          <a:noFill/>
        </p:spPr>
        <p:txBody>
          <a:bodyPr wrap="square" anchor="ctr" lIns="45720" rIns="45720" tIns="18288" bIns="18288"/>
          <a:lstStyle/>
          <a:p>
            <a:pPr algn="l"/>
            <a:r>
              <a:rPr sz="1700" b="1" i="0">
                <a:solidFill>
                  <a:srgbClr val="FFFFFF"/>
                </a:solidFill>
                <a:latin typeface="Calibri"/>
              </a:rPr>
              <a:t>Classroom scenario: Indian manager, team from India, Germany, USA</a:t>
            </a:r>
          </a:p>
        </p:txBody>
      </p:sp>
      <p:sp>
        <p:nvSpPr>
          <p:cNvPr id="22" name="TextBox 21"/>
          <p:cNvSpPr txBox="1"/>
          <p:nvPr/>
        </p:nvSpPr>
        <p:spPr>
          <a:xfrm>
            <a:off x="347472" y="5266944"/>
            <a:ext cx="7671816" cy="1234439"/>
          </a:xfrm>
          <a:prstGeom prst="rect">
            <a:avLst/>
          </a:prstGeom>
          <a:noFill/>
        </p:spPr>
        <p:txBody>
          <a:bodyPr wrap="square" anchor="t" lIns="54864" rIns="54864" tIns="27432" bIns="27432"/>
          <a:lstStyle/>
          <a:p>
            <a:pPr>
              <a:spcAft>
                <a:spcPts val="300"/>
              </a:spcAft>
            </a:pPr>
            <a:r>
              <a:rPr sz="1400" b="1" i="0">
                <a:solidFill>
                  <a:srgbClr val="1A1A1A"/>
                </a:solidFill>
                <a:latin typeface="Calibri"/>
              </a:rPr>
              <a:t>• </a:t>
            </a:r>
            <a:r>
              <a:rPr sz="1400" b="0" i="0">
                <a:solidFill>
                  <a:srgbClr val="1A1A1A"/>
                </a:solidFill>
                <a:latin typeface="Calibri"/>
              </a:rPr>
              <a:t>Power distance → Indians may wait for direction; Americans/Germans expect participation</a:t>
            </a:r>
          </a:p>
          <a:p>
            <a:pPr>
              <a:spcAft>
                <a:spcPts val="300"/>
              </a:spcAft>
            </a:pPr>
            <a:r>
              <a:rPr sz="1400" b="1" i="0">
                <a:solidFill>
                  <a:srgbClr val="1A1A1A"/>
                </a:solidFill>
                <a:latin typeface="Calibri"/>
              </a:rPr>
              <a:t>• </a:t>
            </a:r>
            <a:r>
              <a:rPr sz="1400" b="0" i="0">
                <a:solidFill>
                  <a:srgbClr val="1A1A1A"/>
                </a:solidFill>
                <a:latin typeface="Calibri"/>
              </a:rPr>
              <a:t>Collectivism → balance team rewards with individual recognition; set explicit norms for decisions &amp; conflict</a:t>
            </a:r>
          </a:p>
          <a:p>
            <a:pPr>
              <a:spcAft>
                <a:spcPts val="300"/>
              </a:spcAft>
            </a:pPr>
            <a:r>
              <a:rPr sz="1400" b="1" i="0">
                <a:solidFill>
                  <a:srgbClr val="1A1A1A"/>
                </a:solidFill>
                <a:latin typeface="Calibri"/>
              </a:rPr>
              <a:t>• </a:t>
            </a:r>
            <a:r>
              <a:rPr sz="1400" b="0" i="0">
                <a:solidFill>
                  <a:srgbClr val="1A1A1A"/>
                </a:solidFill>
                <a:latin typeface="Calibri"/>
              </a:rPr>
              <a:t>Leadership: adapt participation &amp; feedback; use </a:t>
            </a:r>
            <a:r>
              <a:rPr sz="1400" b="1" i="0">
                <a:solidFill>
                  <a:srgbClr val="1A1A1A"/>
                </a:solidFill>
                <a:latin typeface="Calibri"/>
              </a:rPr>
              <a:t>cultural intelligence, not stereotypes</a:t>
            </a:r>
          </a:p>
        </p:txBody>
      </p:sp>
      <p:sp>
        <p:nvSpPr>
          <p:cNvPr id="23" name="Rounded Rectangle 22"/>
          <p:cNvSpPr/>
          <p:nvPr/>
        </p:nvSpPr>
        <p:spPr>
          <a:xfrm>
            <a:off x="8229600" y="4754880"/>
            <a:ext cx="3703320" cy="1783080"/>
          </a:xfrm>
          <a:prstGeom prst="roundRect">
            <a:avLst>
              <a:gd name="adj" fmla="val 6000"/>
            </a:avLst>
          </a:prstGeom>
          <a:solidFill>
            <a:srgbClr val="FFF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1040" y="4773168"/>
            <a:ext cx="3520439" cy="1746504"/>
          </a:xfrm>
          <a:prstGeom prst="rect">
            <a:avLst/>
          </a:prstGeom>
          <a:noFill/>
        </p:spPr>
        <p:txBody>
          <a:bodyPr wrap="square" anchor="ctr" lIns="45720" rIns="45720" tIns="18288" bIns="18288"/>
          <a:lstStyle/>
          <a:p>
            <a:pPr algn="l"/>
            <a:r>
              <a:rPr sz="1500" b="1" i="0">
                <a:solidFill>
                  <a:srgbClr val="1A1A1A"/>
                </a:solidFill>
                <a:latin typeface="Calibri"/>
              </a:rPr>
              <a:t>Take-home: Schwartz = WHAT people value; Hofstede/GLOBE = broad cultural expectations. Combine theory + observation + dialogue.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3000" b="1" i="0">
                <a:solidFill>
                  <a:srgbClr val="FFFFFF"/>
                </a:solidFill>
                <a:latin typeface="Calibri"/>
              </a:rPr>
              <a:t>Values in action: generations, companies, leaders</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C6DECC"/>
                </a:solidFill>
                <a:latin typeface="Calibri"/>
              </a:rPr>
              <a:t>MODULE 2 · VALUES &amp; ATTITUDES</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Ch 2 p. 46 · Handouts 2 &amp; 3</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22</a:t>
            </a:r>
          </a:p>
        </p:txBody>
      </p:sp>
      <p:graphicFrame>
        <p:nvGraphicFramePr>
          <p:cNvPr id="7" name="Table 6"/>
          <p:cNvGraphicFramePr>
            <a:graphicFrameLocks noGrp="1"/>
          </p:cNvGraphicFramePr>
          <p:nvPr/>
        </p:nvGraphicFramePr>
        <p:xfrm>
          <a:off x="274320" y="1051560"/>
          <a:ext cx="5852160" cy="2743200"/>
        </p:xfrm>
        <a:graphic>
          <a:graphicData uri="http://schemas.openxmlformats.org/drawingml/2006/table">
            <a:tbl>
              <a:tblPr firstRow="1" bandRow="1">
                <a:tableStyleId>{5C22544A-7EE6-4342-B048-85BDC9FD1C3A}</a:tableStyleId>
              </a:tblPr>
              <a:tblGrid>
                <a:gridCol w="1188720"/>
                <a:gridCol w="1737360"/>
                <a:gridCol w="2926080"/>
              </a:tblGrid>
              <a:tr h="548640">
                <a:tc>
                  <a:txBody>
                    <a:bodyPr wrap="square"/>
                    <a:lstStyle/>
                    <a:p>
                      <a:r>
                        <a:rPr sz="1300" b="1" i="0">
                          <a:solidFill>
                            <a:srgbClr val="FFFFFF"/>
                          </a:solidFill>
                          <a:latin typeface="Calibri"/>
                        </a:rPr>
                        <a:t>Cohort</a:t>
                      </a:r>
                    </a:p>
                  </a:txBody>
                  <a:tcPr marL="54864" marR="54864" marT="27432" marB="27432" anchor="ctr">
                    <a:solidFill>
                      <a:srgbClr val="1E7B34"/>
                    </a:solidFill>
                  </a:tcPr>
                </a:tc>
                <a:tc>
                  <a:txBody>
                    <a:bodyPr wrap="square"/>
                    <a:lstStyle/>
                    <a:p>
                      <a:r>
                        <a:rPr sz="1300" b="1" i="0">
                          <a:solidFill>
                            <a:srgbClr val="FFFFFF"/>
                          </a:solidFill>
                          <a:latin typeface="Calibri"/>
                        </a:rPr>
                        <a:t>Born / entered</a:t>
                      </a:r>
                    </a:p>
                  </a:txBody>
                  <a:tcPr marL="54864" marR="54864" marT="27432" marB="27432" anchor="ctr">
                    <a:solidFill>
                      <a:srgbClr val="1E7B34"/>
                    </a:solidFill>
                  </a:tcPr>
                </a:tc>
                <a:tc>
                  <a:txBody>
                    <a:bodyPr wrap="square"/>
                    <a:lstStyle/>
                    <a:p>
                      <a:r>
                        <a:rPr sz="1300" b="1" i="0">
                          <a:solidFill>
                            <a:srgbClr val="FFFFFF"/>
                          </a:solidFill>
                          <a:latin typeface="Calibri"/>
                        </a:rPr>
                        <a:t>Dominant work values</a:t>
                      </a:r>
                    </a:p>
                  </a:txBody>
                  <a:tcPr marL="54864" marR="54864" marT="27432" marB="27432" anchor="ctr">
                    <a:solidFill>
                      <a:srgbClr val="1E7B34"/>
                    </a:solidFill>
                  </a:tcPr>
                </a:tc>
              </a:tr>
              <a:tr h="548640">
                <a:tc>
                  <a:txBody>
                    <a:bodyPr wrap="square"/>
                    <a:lstStyle/>
                    <a:p>
                      <a:r>
                        <a:rPr sz="1300" b="1" i="0">
                          <a:solidFill>
                            <a:srgbClr val="1A1A1A"/>
                          </a:solidFill>
                          <a:latin typeface="Calibri"/>
                        </a:rPr>
                        <a:t>Boomers</a:t>
                      </a:r>
                    </a:p>
                  </a:txBody>
                  <a:tcPr marL="54864" marR="54864" marT="27432" marB="27432" anchor="ctr">
                    <a:solidFill>
                      <a:srgbClr val="FFFFFF"/>
                    </a:solidFill>
                  </a:tcPr>
                </a:tc>
                <a:tc>
                  <a:txBody>
                    <a:bodyPr wrap="square"/>
                    <a:lstStyle/>
                    <a:p>
                      <a:r>
                        <a:rPr sz="1300" b="0" i="0">
                          <a:solidFill>
                            <a:srgbClr val="1A1A1A"/>
                          </a:solidFill>
                          <a:latin typeface="Calibri"/>
                        </a:rPr>
                        <a:t>1946–64 · entered 1965–85</a:t>
                      </a:r>
                    </a:p>
                  </a:txBody>
                  <a:tcPr marL="54864" marR="54864" marT="27432" marB="27432" anchor="ctr">
                    <a:solidFill>
                      <a:srgbClr val="FFFFFF"/>
                    </a:solidFill>
                  </a:tcPr>
                </a:tc>
                <a:tc>
                  <a:txBody>
                    <a:bodyPr wrap="square"/>
                    <a:lstStyle/>
                    <a:p>
                      <a:r>
                        <a:rPr sz="1300" b="0" i="0">
                          <a:solidFill>
                            <a:srgbClr val="1A1A1A"/>
                          </a:solidFill>
                          <a:latin typeface="Calibri"/>
                        </a:rPr>
                        <a:t>Success, achievement, ambition, dislike authority, loyal to career</a:t>
                      </a:r>
                    </a:p>
                  </a:txBody>
                  <a:tcPr marL="54864" marR="54864" marT="27432" marB="27432" anchor="ctr">
                    <a:solidFill>
                      <a:srgbClr val="FFFFFF"/>
                    </a:solidFill>
                  </a:tcPr>
                </a:tc>
              </a:tr>
              <a:tr h="548640">
                <a:tc>
                  <a:txBody>
                    <a:bodyPr wrap="square"/>
                    <a:lstStyle/>
                    <a:p>
                      <a:r>
                        <a:rPr sz="1300" b="1" i="0">
                          <a:solidFill>
                            <a:srgbClr val="1A1A1A"/>
                          </a:solidFill>
                          <a:latin typeface="Calibri"/>
                        </a:rPr>
                        <a:t>Gen X</a:t>
                      </a:r>
                    </a:p>
                  </a:txBody>
                  <a:tcPr marL="54864" marR="54864" marT="27432" marB="27432" anchor="ctr">
                    <a:solidFill>
                      <a:srgbClr val="E8F1EA"/>
                    </a:solidFill>
                  </a:tcPr>
                </a:tc>
                <a:tc>
                  <a:txBody>
                    <a:bodyPr wrap="square"/>
                    <a:lstStyle/>
                    <a:p>
                      <a:r>
                        <a:rPr sz="1300" b="0" i="0">
                          <a:solidFill>
                            <a:srgbClr val="1A1A1A"/>
                          </a:solidFill>
                          <a:latin typeface="Calibri"/>
                        </a:rPr>
                        <a:t>entered 1985–2000</a:t>
                      </a:r>
                    </a:p>
                  </a:txBody>
                  <a:tcPr marL="54864" marR="54864" marT="27432" marB="27432" anchor="ctr">
                    <a:solidFill>
                      <a:srgbClr val="E8F1EA"/>
                    </a:solidFill>
                  </a:tcPr>
                </a:tc>
                <a:tc>
                  <a:txBody>
                    <a:bodyPr wrap="square"/>
                    <a:lstStyle/>
                    <a:p>
                      <a:r>
                        <a:rPr sz="1300" b="0" i="0">
                          <a:solidFill>
                            <a:srgbClr val="1A1A1A"/>
                          </a:solidFill>
                          <a:latin typeface="Calibri"/>
                        </a:rPr>
                        <a:t>Work-life balance, team-oriented, dislike rules, loyal to relationships</a:t>
                      </a:r>
                    </a:p>
                  </a:txBody>
                  <a:tcPr marL="54864" marR="54864" marT="27432" marB="27432" anchor="ctr">
                    <a:solidFill>
                      <a:srgbClr val="E8F1EA"/>
                    </a:solidFill>
                  </a:tcPr>
                </a:tc>
              </a:tr>
              <a:tr h="548640">
                <a:tc>
                  <a:txBody>
                    <a:bodyPr wrap="square"/>
                    <a:lstStyle/>
                    <a:p>
                      <a:r>
                        <a:rPr sz="1300" b="1" i="0">
                          <a:solidFill>
                            <a:srgbClr val="1A1A1A"/>
                          </a:solidFill>
                          <a:latin typeface="Calibri"/>
                        </a:rPr>
                        <a:t>Millennials</a:t>
                      </a:r>
                    </a:p>
                  </a:txBody>
                  <a:tcPr marL="54864" marR="54864" marT="27432" marB="27432" anchor="ctr">
                    <a:solidFill>
                      <a:srgbClr val="FFFFFF"/>
                    </a:solidFill>
                  </a:tcPr>
                </a:tc>
                <a:tc>
                  <a:txBody>
                    <a:bodyPr wrap="square"/>
                    <a:lstStyle/>
                    <a:p>
                      <a:r>
                        <a:rPr sz="1300" b="0" i="0">
                          <a:solidFill>
                            <a:srgbClr val="1A1A1A"/>
                          </a:solidFill>
                          <a:latin typeface="Calibri"/>
                        </a:rPr>
                        <a:t>1980–2001</a:t>
                      </a:r>
                    </a:p>
                  </a:txBody>
                  <a:tcPr marL="54864" marR="54864" marT="27432" marB="27432" anchor="ctr">
                    <a:solidFill>
                      <a:srgbClr val="FFFFFF"/>
                    </a:solidFill>
                  </a:tcPr>
                </a:tc>
                <a:tc>
                  <a:txBody>
                    <a:bodyPr wrap="square"/>
                    <a:lstStyle/>
                    <a:p>
                      <a:r>
                        <a:rPr sz="1300" b="0" i="0">
                          <a:solidFill>
                            <a:srgbClr val="1A1A1A"/>
                          </a:solidFill>
                          <a:latin typeface="Calibri"/>
                        </a:rPr>
                        <a:t>Confident, financial success, self-reliant but team-oriented; 9/11, Google, social media</a:t>
                      </a:r>
                    </a:p>
                  </a:txBody>
                  <a:tcPr marL="54864" marR="54864" marT="27432" marB="27432" anchor="ctr">
                    <a:solidFill>
                      <a:srgbClr val="FFFFFF"/>
                    </a:solidFill>
                  </a:tcPr>
                </a:tc>
              </a:tr>
              <a:tr h="548640">
                <a:tc>
                  <a:txBody>
                    <a:bodyPr wrap="square"/>
                    <a:lstStyle/>
                    <a:p>
                      <a:r>
                        <a:rPr sz="1300" b="1" i="0">
                          <a:solidFill>
                            <a:srgbClr val="1A1A1A"/>
                          </a:solidFill>
                          <a:latin typeface="Calibri"/>
                        </a:rPr>
                        <a:t>Gen Z</a:t>
                      </a:r>
                    </a:p>
                  </a:txBody>
                  <a:tcPr marL="54864" marR="54864" marT="27432" marB="27432" anchor="ctr">
                    <a:solidFill>
                      <a:srgbClr val="E8F1EA"/>
                    </a:solidFill>
                  </a:tcPr>
                </a:tc>
                <a:tc>
                  <a:txBody>
                    <a:bodyPr wrap="square"/>
                    <a:lstStyle/>
                    <a:p>
                      <a:r>
                        <a:rPr sz="1300" b="0" i="0">
                          <a:solidFill>
                            <a:srgbClr val="1A1A1A"/>
                          </a:solidFill>
                          <a:latin typeface="Calibri"/>
                        </a:rPr>
                        <a:t>1997–2012</a:t>
                      </a:r>
                    </a:p>
                  </a:txBody>
                  <a:tcPr marL="54864" marR="54864" marT="27432" marB="27432" anchor="ctr">
                    <a:solidFill>
                      <a:srgbClr val="E8F1EA"/>
                    </a:solidFill>
                  </a:tcPr>
                </a:tc>
                <a:tc>
                  <a:txBody>
                    <a:bodyPr wrap="square"/>
                    <a:lstStyle/>
                    <a:p>
                      <a:r>
                        <a:rPr sz="1300" b="0" i="0">
                          <a:solidFill>
                            <a:srgbClr val="1A1A1A"/>
                          </a:solidFill>
                          <a:latin typeface="Calibri"/>
                        </a:rPr>
                        <a:t>Grew up in recession (saving), 10+ hrs on mobile, racial equality &amp; inclusion</a:t>
                      </a:r>
                    </a:p>
                  </a:txBody>
                  <a:tcPr marL="54864" marR="54864" marT="27432" marB="27432" anchor="ctr">
                    <a:solidFill>
                      <a:srgbClr val="E8F1EA"/>
                    </a:solidFill>
                  </a:tcPr>
                </a:tc>
              </a:tr>
            </a:tbl>
          </a:graphicData>
        </a:graphic>
      </p:graphicFrame>
      <p:sp>
        <p:nvSpPr>
          <p:cNvPr id="8" name="Rounded Rectangle 7"/>
          <p:cNvSpPr/>
          <p:nvPr/>
        </p:nvSpPr>
        <p:spPr>
          <a:xfrm>
            <a:off x="274320" y="3931920"/>
            <a:ext cx="5852160" cy="2606040"/>
          </a:xfrm>
          <a:prstGeom prst="roundRect">
            <a:avLst>
              <a:gd name="adj" fmla="val 6000"/>
            </a:avLst>
          </a:prstGeom>
          <a:solidFill>
            <a:srgbClr val="FFFFFF"/>
          </a:solidFill>
          <a:ln w="19050">
            <a:solidFill>
              <a:srgbClr val="99C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74320" y="3931920"/>
            <a:ext cx="5852160" cy="457200"/>
          </a:xfrm>
          <a:prstGeom prst="roundRect">
            <a:avLst>
              <a:gd name="adj" fmla="val 6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4251959"/>
            <a:ext cx="5852160" cy="137160"/>
          </a:xfrm>
          <a:prstGeom prst="rect">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3931920"/>
            <a:ext cx="5669280" cy="457200"/>
          </a:xfrm>
          <a:prstGeom prst="rect">
            <a:avLst/>
          </a:prstGeom>
          <a:noFill/>
        </p:spPr>
        <p:txBody>
          <a:bodyPr wrap="square" anchor="ctr" lIns="45720" rIns="45720" tIns="18288" bIns="18288"/>
          <a:lstStyle/>
          <a:p>
            <a:pPr algn="l"/>
            <a:r>
              <a:rPr sz="1900" b="1" i="0">
                <a:solidFill>
                  <a:srgbClr val="FFFFFF"/>
                </a:solidFill>
                <a:latin typeface="Calibri"/>
              </a:rPr>
              <a:t>Dynamics of values (p. 46)</a:t>
            </a:r>
          </a:p>
        </p:txBody>
      </p:sp>
      <p:sp>
        <p:nvSpPr>
          <p:cNvPr id="12" name="TextBox 11"/>
          <p:cNvSpPr txBox="1"/>
          <p:nvPr/>
        </p:nvSpPr>
        <p:spPr>
          <a:xfrm>
            <a:off x="347472" y="4443983"/>
            <a:ext cx="5705856" cy="2057400"/>
          </a:xfrm>
          <a:prstGeom prst="rect">
            <a:avLst/>
          </a:prstGeom>
          <a:noFill/>
        </p:spPr>
        <p:txBody>
          <a:bodyPr wrap="square" anchor="t" lIns="54864" rIns="54864" tIns="27432" bIns="27432"/>
          <a:lstStyle/>
          <a:p>
            <a:pPr>
              <a:spcAft>
                <a:spcPts val="300"/>
              </a:spcAft>
            </a:pPr>
            <a:r>
              <a:rPr sz="1700" b="1" i="0">
                <a:solidFill>
                  <a:srgbClr val="1A1A1A"/>
                </a:solidFill>
                <a:latin typeface="Calibri"/>
              </a:rPr>
              <a:t>• </a:t>
            </a:r>
            <a:r>
              <a:rPr sz="1700" b="0" i="0">
                <a:solidFill>
                  <a:srgbClr val="1A1A1A"/>
                </a:solidFill>
                <a:latin typeface="Calibri"/>
              </a:rPr>
              <a:t>Positive attitudes &amp; motivation greatest when work environment matches values</a:t>
            </a:r>
          </a:p>
          <a:p>
            <a:pPr>
              <a:spcAft>
                <a:spcPts val="300"/>
              </a:spcAft>
            </a:pPr>
            <a:r>
              <a:rPr sz="1700" b="1" i="0">
                <a:solidFill>
                  <a:srgbClr val="1A1A1A"/>
                </a:solidFill>
                <a:latin typeface="Calibri"/>
              </a:rPr>
              <a:t>• </a:t>
            </a:r>
            <a:r>
              <a:rPr sz="1700" b="1" i="0">
                <a:solidFill>
                  <a:srgbClr val="1A1A1A"/>
                </a:solidFill>
                <a:latin typeface="Calibri"/>
              </a:rPr>
              <a:t>Airbnb</a:t>
            </a:r>
            <a:r>
              <a:rPr sz="1700" b="0" i="0">
                <a:solidFill>
                  <a:srgbClr val="1A1A1A"/>
                </a:solidFill>
                <a:latin typeface="Calibri"/>
              </a:rPr>
              <a:t>: $2,000 annual travel credit because employees value 'embrace the adventure'</a:t>
            </a:r>
          </a:p>
          <a:p>
            <a:pPr>
              <a:spcAft>
                <a:spcPts val="300"/>
              </a:spcAft>
            </a:pPr>
            <a:r>
              <a:rPr sz="1700" b="1" i="0">
                <a:solidFill>
                  <a:srgbClr val="1A1A1A"/>
                </a:solidFill>
                <a:latin typeface="Calibri"/>
              </a:rPr>
              <a:t>• </a:t>
            </a:r>
            <a:r>
              <a:rPr sz="1700" b="0" i="0">
                <a:solidFill>
                  <a:srgbClr val="1A1A1A"/>
                </a:solidFill>
                <a:latin typeface="Calibri"/>
              </a:rPr>
              <a:t>Values attract talent: aligned hiring → lower turnover, higher engagement &amp; customer satisfaction</a:t>
            </a:r>
          </a:p>
        </p:txBody>
      </p:sp>
      <p:graphicFrame>
        <p:nvGraphicFramePr>
          <p:cNvPr id="13" name="Table 12"/>
          <p:cNvGraphicFramePr>
            <a:graphicFrameLocks noGrp="1"/>
          </p:cNvGraphicFramePr>
          <p:nvPr/>
        </p:nvGraphicFramePr>
        <p:xfrm>
          <a:off x="6263640" y="1051560"/>
          <a:ext cx="5669280" cy="3108960"/>
        </p:xfrm>
        <a:graphic>
          <a:graphicData uri="http://schemas.openxmlformats.org/drawingml/2006/table">
            <a:tbl>
              <a:tblPr firstRow="1" bandRow="1">
                <a:tableStyleId>{5C22544A-7EE6-4342-B048-85BDC9FD1C3A}</a:tableStyleId>
              </a:tblPr>
              <a:tblGrid>
                <a:gridCol w="1371600"/>
                <a:gridCol w="4297680"/>
              </a:tblGrid>
              <a:tr h="518160">
                <a:tc>
                  <a:txBody>
                    <a:bodyPr wrap="square"/>
                    <a:lstStyle/>
                    <a:p>
                      <a:r>
                        <a:rPr sz="1300" b="1" i="0">
                          <a:solidFill>
                            <a:srgbClr val="FFFFFF"/>
                          </a:solidFill>
                          <a:latin typeface="Calibri"/>
                        </a:rPr>
                        <a:t>Company</a:t>
                      </a:r>
                    </a:p>
                  </a:txBody>
                  <a:tcPr marL="54864" marR="54864" marT="27432" marB="27432" anchor="ctr">
                    <a:solidFill>
                      <a:srgbClr val="1E7B34"/>
                    </a:solidFill>
                  </a:tcPr>
                </a:tc>
                <a:tc>
                  <a:txBody>
                    <a:bodyPr wrap="square"/>
                    <a:lstStyle/>
                    <a:p>
                      <a:r>
                        <a:rPr sz="1300" b="1" i="0">
                          <a:solidFill>
                            <a:srgbClr val="FFFFFF"/>
                          </a:solidFill>
                          <a:latin typeface="Calibri"/>
                        </a:rPr>
                        <a:t>Core values</a:t>
                      </a:r>
                    </a:p>
                  </a:txBody>
                  <a:tcPr marL="54864" marR="54864" marT="27432" marB="27432" anchor="ctr">
                    <a:solidFill>
                      <a:srgbClr val="1E7B34"/>
                    </a:solidFill>
                  </a:tcPr>
                </a:tc>
              </a:tr>
              <a:tr h="518160">
                <a:tc>
                  <a:txBody>
                    <a:bodyPr wrap="square"/>
                    <a:lstStyle/>
                    <a:p>
                      <a:r>
                        <a:rPr sz="1300" b="1" i="0">
                          <a:solidFill>
                            <a:srgbClr val="1A1A1A"/>
                          </a:solidFill>
                          <a:latin typeface="Calibri"/>
                        </a:rPr>
                        <a:t>Tata</a:t>
                      </a:r>
                    </a:p>
                  </a:txBody>
                  <a:tcPr marL="54864" marR="54864" marT="27432" marB="27432" anchor="ctr">
                    <a:solidFill>
                      <a:srgbClr val="FFFFFF"/>
                    </a:solidFill>
                  </a:tcPr>
                </a:tc>
                <a:tc>
                  <a:txBody>
                    <a:bodyPr wrap="square"/>
                    <a:lstStyle/>
                    <a:p>
                      <a:r>
                        <a:rPr sz="1300" b="0" i="0">
                          <a:solidFill>
                            <a:srgbClr val="1A1A1A"/>
                          </a:solidFill>
                          <a:latin typeface="Calibri"/>
                        </a:rPr>
                        <a:t>Integrity, Responsibility, Excellence, Pioneering, Unity</a:t>
                      </a:r>
                    </a:p>
                  </a:txBody>
                  <a:tcPr marL="54864" marR="54864" marT="27432" marB="27432" anchor="ctr">
                    <a:solidFill>
                      <a:srgbClr val="FFFFFF"/>
                    </a:solidFill>
                  </a:tcPr>
                </a:tc>
              </a:tr>
              <a:tr h="518160">
                <a:tc>
                  <a:txBody>
                    <a:bodyPr wrap="square"/>
                    <a:lstStyle/>
                    <a:p>
                      <a:r>
                        <a:rPr sz="1300" b="1" i="0">
                          <a:solidFill>
                            <a:srgbClr val="1A1A1A"/>
                          </a:solidFill>
                          <a:latin typeface="Calibri"/>
                        </a:rPr>
                        <a:t>Infosys (C-LIFE)</a:t>
                      </a:r>
                    </a:p>
                  </a:txBody>
                  <a:tcPr marL="54864" marR="54864" marT="27432" marB="27432" anchor="ctr">
                    <a:solidFill>
                      <a:srgbClr val="E8F1EA"/>
                    </a:solidFill>
                  </a:tcPr>
                </a:tc>
                <a:tc>
                  <a:txBody>
                    <a:bodyPr wrap="square"/>
                    <a:lstStyle/>
                    <a:p>
                      <a:r>
                        <a:rPr sz="1300" b="0" i="0">
                          <a:solidFill>
                            <a:srgbClr val="1A1A1A"/>
                          </a:solidFill>
                          <a:latin typeface="Calibri"/>
                        </a:rPr>
                        <a:t>Client value, Leadership by example, Integrity &amp; transparency, Fairness, Excellence</a:t>
                      </a:r>
                    </a:p>
                  </a:txBody>
                  <a:tcPr marL="54864" marR="54864" marT="27432" marB="27432" anchor="ctr">
                    <a:solidFill>
                      <a:srgbClr val="E8F1EA"/>
                    </a:solidFill>
                  </a:tcPr>
                </a:tc>
              </a:tr>
              <a:tr h="518160">
                <a:tc>
                  <a:txBody>
                    <a:bodyPr wrap="square"/>
                    <a:lstStyle/>
                    <a:p>
                      <a:r>
                        <a:rPr sz="1300" b="1" i="0">
                          <a:solidFill>
                            <a:srgbClr val="1A1A1A"/>
                          </a:solidFill>
                          <a:latin typeface="Calibri"/>
                        </a:rPr>
                        <a:t>Amazon</a:t>
                      </a:r>
                    </a:p>
                  </a:txBody>
                  <a:tcPr marL="54864" marR="54864" marT="27432" marB="27432" anchor="ctr">
                    <a:solidFill>
                      <a:srgbClr val="FFFFFF"/>
                    </a:solidFill>
                  </a:tcPr>
                </a:tc>
                <a:tc>
                  <a:txBody>
                    <a:bodyPr wrap="square"/>
                    <a:lstStyle/>
                    <a:p>
                      <a:r>
                        <a:rPr sz="1300" b="0" i="0">
                          <a:solidFill>
                            <a:srgbClr val="1A1A1A"/>
                          </a:solidFill>
                          <a:latin typeface="Calibri"/>
                        </a:rPr>
                        <a:t>Customer obsession, Ownership, Invent &amp; simplify, Bias for action, Frugality, Deliver results</a:t>
                      </a:r>
                    </a:p>
                  </a:txBody>
                  <a:tcPr marL="54864" marR="54864" marT="27432" marB="27432" anchor="ctr">
                    <a:solidFill>
                      <a:srgbClr val="FFFFFF"/>
                    </a:solidFill>
                  </a:tcPr>
                </a:tc>
              </a:tr>
              <a:tr h="518160">
                <a:tc>
                  <a:txBody>
                    <a:bodyPr wrap="square"/>
                    <a:lstStyle/>
                    <a:p>
                      <a:r>
                        <a:rPr sz="1300" b="1" i="0">
                          <a:solidFill>
                            <a:srgbClr val="1A1A1A"/>
                          </a:solidFill>
                          <a:latin typeface="Calibri"/>
                        </a:rPr>
                        <a:t>Google</a:t>
                      </a:r>
                    </a:p>
                  </a:txBody>
                  <a:tcPr marL="54864" marR="54864" marT="27432" marB="27432" anchor="ctr">
                    <a:solidFill>
                      <a:srgbClr val="E8F1EA"/>
                    </a:solidFill>
                  </a:tcPr>
                </a:tc>
                <a:tc>
                  <a:txBody>
                    <a:bodyPr wrap="square"/>
                    <a:lstStyle/>
                    <a:p>
                      <a:r>
                        <a:rPr sz="1300" b="0" i="0">
                          <a:solidFill>
                            <a:srgbClr val="1A1A1A"/>
                          </a:solidFill>
                          <a:latin typeface="Calibri"/>
                        </a:rPr>
                        <a:t>Respect the user, the opportunity, each other</a:t>
                      </a:r>
                    </a:p>
                  </a:txBody>
                  <a:tcPr marL="54864" marR="54864" marT="27432" marB="27432" anchor="ctr">
                    <a:solidFill>
                      <a:srgbClr val="E8F1EA"/>
                    </a:solidFill>
                  </a:tcPr>
                </a:tc>
              </a:tr>
              <a:tr h="518160">
                <a:tc>
                  <a:txBody>
                    <a:bodyPr wrap="square"/>
                    <a:lstStyle/>
                    <a:p>
                      <a:r>
                        <a:rPr sz="1300" b="1" i="0">
                          <a:solidFill>
                            <a:srgbClr val="1A1A1A"/>
                          </a:solidFill>
                          <a:latin typeface="Calibri"/>
                        </a:rPr>
                        <a:t>PwC / EY</a:t>
                      </a:r>
                    </a:p>
                  </a:txBody>
                  <a:tcPr marL="54864" marR="54864" marT="27432" marB="27432" anchor="ctr">
                    <a:solidFill>
                      <a:srgbClr val="FFFFFF"/>
                    </a:solidFill>
                  </a:tcPr>
                </a:tc>
                <a:tc>
                  <a:txBody>
                    <a:bodyPr wrap="square"/>
                    <a:lstStyle/>
                    <a:p>
                      <a:r>
                        <a:rPr sz="1300" b="0" i="0">
                          <a:solidFill>
                            <a:srgbClr val="1A1A1A"/>
                          </a:solidFill>
                          <a:latin typeface="Calibri"/>
                        </a:rPr>
                        <a:t>Integrity, make a difference, care, work together / courage to lead</a:t>
                      </a:r>
                    </a:p>
                  </a:txBody>
                  <a:tcPr marL="54864" marR="54864" marT="27432" marB="27432" anchor="ctr">
                    <a:solidFill>
                      <a:srgbClr val="FFFFFF"/>
                    </a:solidFill>
                  </a:tcPr>
                </a:tc>
              </a:tr>
            </a:tbl>
          </a:graphicData>
        </a:graphic>
      </p:graphicFrame>
      <p:sp>
        <p:nvSpPr>
          <p:cNvPr id="14" name="Rounded Rectangle 13"/>
          <p:cNvSpPr/>
          <p:nvPr/>
        </p:nvSpPr>
        <p:spPr>
          <a:xfrm>
            <a:off x="6263640" y="4297680"/>
            <a:ext cx="5669280" cy="2240280"/>
          </a:xfrm>
          <a:prstGeom prst="roundRect">
            <a:avLst>
              <a:gd name="adj" fmla="val 6000"/>
            </a:avLst>
          </a:prstGeom>
          <a:solidFill>
            <a:srgbClr val="FFFFFF"/>
          </a:solidFill>
          <a:ln w="19050">
            <a:solidFill>
              <a:srgbClr val="99C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297680"/>
            <a:ext cx="5669280" cy="457200"/>
          </a:xfrm>
          <a:prstGeom prst="roundRect">
            <a:avLst>
              <a:gd name="adj" fmla="val 6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63640" y="4617720"/>
            <a:ext cx="5669280" cy="137160"/>
          </a:xfrm>
          <a:prstGeom prst="rect">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79" y="4297680"/>
            <a:ext cx="5486400" cy="457200"/>
          </a:xfrm>
          <a:prstGeom prst="rect">
            <a:avLst/>
          </a:prstGeom>
          <a:noFill/>
        </p:spPr>
        <p:txBody>
          <a:bodyPr wrap="square" anchor="ctr" lIns="45720" rIns="45720" tIns="18288" bIns="18288"/>
          <a:lstStyle/>
          <a:p>
            <a:pPr algn="l"/>
            <a:r>
              <a:rPr sz="1900" b="1" i="0">
                <a:solidFill>
                  <a:srgbClr val="FFFFFF"/>
                </a:solidFill>
                <a:latin typeface="Calibri"/>
              </a:rPr>
              <a:t>Leaders' values (handout 3)</a:t>
            </a:r>
          </a:p>
        </p:txBody>
      </p:sp>
      <p:sp>
        <p:nvSpPr>
          <p:cNvPr id="18" name="TextBox 17"/>
          <p:cNvSpPr txBox="1"/>
          <p:nvPr/>
        </p:nvSpPr>
        <p:spPr>
          <a:xfrm>
            <a:off x="6336792" y="4809744"/>
            <a:ext cx="5522976" cy="1691640"/>
          </a:xfrm>
          <a:prstGeom prst="rect">
            <a:avLst/>
          </a:prstGeom>
          <a:noFill/>
        </p:spPr>
        <p:txBody>
          <a:bodyPr wrap="square" anchor="t" lIns="54864" rIns="54864" tIns="27432" bIns="27432"/>
          <a:lstStyle/>
          <a:p>
            <a:pPr>
              <a:spcAft>
                <a:spcPts val="300"/>
              </a:spcAft>
            </a:pPr>
            <a:r>
              <a:rPr sz="1500" b="1" i="0">
                <a:solidFill>
                  <a:srgbClr val="1A1A1A"/>
                </a:solidFill>
                <a:latin typeface="Calibri"/>
              </a:rPr>
              <a:t>• </a:t>
            </a:r>
            <a:r>
              <a:rPr sz="1500" b="0" i="0">
                <a:solidFill>
                  <a:srgbClr val="1A1A1A"/>
                </a:solidFill>
                <a:latin typeface="Calibri"/>
              </a:rPr>
              <a:t>Gandhi: Ahimsa, Satya · Mandela: reconciliation, Ubuntu · Ratan Tata: trusteeship · Premji: integrity, frugality</a:t>
            </a:r>
          </a:p>
          <a:p>
            <a:pPr>
              <a:spcAft>
                <a:spcPts val="300"/>
              </a:spcAft>
            </a:pPr>
            <a:r>
              <a:rPr sz="1500" b="1" i="0">
                <a:solidFill>
                  <a:srgbClr val="1A1A1A"/>
                </a:solidFill>
                <a:latin typeface="Calibri"/>
              </a:rPr>
              <a:t>• </a:t>
            </a:r>
            <a:r>
              <a:rPr sz="1500" b="0" i="0">
                <a:solidFill>
                  <a:srgbClr val="1A1A1A"/>
                </a:solidFill>
                <a:latin typeface="Calibri"/>
              </a:rPr>
              <a:t>Nadella: growth mindset ('learn-it-all'), radical empathy · Pichai: empowerment, composed resilience</a:t>
            </a:r>
          </a:p>
          <a:p>
            <a:pPr>
              <a:spcAft>
                <a:spcPts val="300"/>
              </a:spcAft>
            </a:pPr>
            <a:r>
              <a:rPr sz="1500" b="1" i="0">
                <a:solidFill>
                  <a:srgbClr val="1A1A1A"/>
                </a:solidFill>
                <a:latin typeface="Calibri"/>
              </a:rPr>
              <a:t>• </a:t>
            </a:r>
            <a:r>
              <a:rPr sz="1500" b="0" i="0">
                <a:solidFill>
                  <a:srgbClr val="1A1A1A"/>
                </a:solidFill>
                <a:latin typeface="Calibri"/>
              </a:rPr>
              <a:t>Contrast: Hitler, Kim Jong Un → values drive destructive ends too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200" b="1" i="0">
                <a:solidFill>
                  <a:srgbClr val="FFFFFF"/>
                </a:solidFill>
                <a:latin typeface="Calibri"/>
              </a:rPr>
              <a:t>Personal attitudes: ABC model, cognitive dissonance, Ajzen's TPB</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C6DECC"/>
                </a:solidFill>
                <a:latin typeface="Calibri"/>
              </a:rPr>
              <a:t>MODULE 2 · VALUES &amp; ATTITUDES</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Ch 2 pp. 47–52</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23</a:t>
            </a:r>
          </a:p>
        </p:txBody>
      </p:sp>
      <p:graphicFrame>
        <p:nvGraphicFramePr>
          <p:cNvPr id="7" name="Table 6"/>
          <p:cNvGraphicFramePr>
            <a:graphicFrameLocks noGrp="1"/>
          </p:cNvGraphicFramePr>
          <p:nvPr/>
        </p:nvGraphicFramePr>
        <p:xfrm>
          <a:off x="274320" y="1051560"/>
          <a:ext cx="3931920" cy="1463040"/>
        </p:xfrm>
        <a:graphic>
          <a:graphicData uri="http://schemas.openxmlformats.org/drawingml/2006/table">
            <a:tbl>
              <a:tblPr firstRow="1" bandRow="1">
                <a:tableStyleId>{5C22544A-7EE6-4342-B048-85BDC9FD1C3A}</a:tableStyleId>
              </a:tblPr>
              <a:tblGrid>
                <a:gridCol w="1188720"/>
                <a:gridCol w="1371600"/>
                <a:gridCol w="1371600"/>
              </a:tblGrid>
              <a:tr h="487680">
                <a:tc>
                  <a:txBody>
                    <a:bodyPr wrap="square"/>
                    <a:lstStyle/>
                    <a:p/>
                  </a:txBody>
                  <a:tcPr marL="54864" marR="54864" marT="27432" marB="27432" anchor="ctr">
                    <a:solidFill>
                      <a:srgbClr val="1E7B34"/>
                    </a:solidFill>
                  </a:tcPr>
                </a:tc>
                <a:tc>
                  <a:txBody>
                    <a:bodyPr wrap="square"/>
                    <a:lstStyle/>
                    <a:p>
                      <a:r>
                        <a:rPr sz="1300" b="1" i="0">
                          <a:solidFill>
                            <a:srgbClr val="FFFFFF"/>
                          </a:solidFill>
                          <a:latin typeface="Calibri"/>
                        </a:rPr>
                        <a:t>Values</a:t>
                      </a:r>
                    </a:p>
                  </a:txBody>
                  <a:tcPr marL="54864" marR="54864" marT="27432" marB="27432" anchor="ctr">
                    <a:solidFill>
                      <a:srgbClr val="1E7B34"/>
                    </a:solidFill>
                  </a:tcPr>
                </a:tc>
                <a:tc>
                  <a:txBody>
                    <a:bodyPr wrap="square"/>
                    <a:lstStyle/>
                    <a:p>
                      <a:r>
                        <a:rPr sz="1300" b="1" i="0">
                          <a:solidFill>
                            <a:srgbClr val="FFFFFF"/>
                          </a:solidFill>
                          <a:latin typeface="Calibri"/>
                        </a:rPr>
                        <a:t>Attitudes</a:t>
                      </a:r>
                    </a:p>
                  </a:txBody>
                  <a:tcPr marL="54864" marR="54864" marT="27432" marB="27432" anchor="ctr">
                    <a:solidFill>
                      <a:srgbClr val="1E7B34"/>
                    </a:solidFill>
                  </a:tcPr>
                </a:tc>
              </a:tr>
              <a:tr h="487680">
                <a:tc>
                  <a:txBody>
                    <a:bodyPr wrap="square"/>
                    <a:lstStyle/>
                    <a:p>
                      <a:r>
                        <a:rPr sz="1300" b="1" i="0">
                          <a:solidFill>
                            <a:srgbClr val="1A1A1A"/>
                          </a:solidFill>
                          <a:latin typeface="Calibri"/>
                        </a:rPr>
                        <a:t>Scope</a:t>
                      </a:r>
                    </a:p>
                  </a:txBody>
                  <a:tcPr marL="54864" marR="54864" marT="27432" marB="27432" anchor="ctr">
                    <a:solidFill>
                      <a:srgbClr val="FFFFFF"/>
                    </a:solidFill>
                  </a:tcPr>
                </a:tc>
                <a:tc>
                  <a:txBody>
                    <a:bodyPr wrap="square"/>
                    <a:lstStyle/>
                    <a:p>
                      <a:r>
                        <a:rPr sz="1300" b="0" i="0">
                          <a:solidFill>
                            <a:srgbClr val="1A1A1A"/>
                          </a:solidFill>
                          <a:latin typeface="Calibri"/>
                        </a:rPr>
                        <a:t>Global, all situations</a:t>
                      </a:r>
                    </a:p>
                  </a:txBody>
                  <a:tcPr marL="54864" marR="54864" marT="27432" marB="27432" anchor="ctr">
                    <a:solidFill>
                      <a:srgbClr val="FFFFFF"/>
                    </a:solidFill>
                  </a:tcPr>
                </a:tc>
                <a:tc>
                  <a:txBody>
                    <a:bodyPr wrap="square"/>
                    <a:lstStyle/>
                    <a:p>
                      <a:r>
                        <a:rPr sz="1300" b="0" i="0">
                          <a:solidFill>
                            <a:srgbClr val="1A1A1A"/>
                          </a:solidFill>
                          <a:latin typeface="Calibri"/>
                        </a:rPr>
                        <a:t>Specific objects/people</a:t>
                      </a:r>
                    </a:p>
                  </a:txBody>
                  <a:tcPr marL="54864" marR="54864" marT="27432" marB="27432" anchor="ctr">
                    <a:solidFill>
                      <a:srgbClr val="FFFFFF"/>
                    </a:solidFill>
                  </a:tcPr>
                </a:tc>
              </a:tr>
              <a:tr h="487680">
                <a:tc>
                  <a:txBody>
                    <a:bodyPr wrap="square"/>
                    <a:lstStyle/>
                    <a:p>
                      <a:r>
                        <a:rPr sz="1300" b="1" i="0">
                          <a:solidFill>
                            <a:srgbClr val="1A1A1A"/>
                          </a:solidFill>
                          <a:latin typeface="Calibri"/>
                        </a:rPr>
                        <a:t>Affects behaviour</a:t>
                      </a:r>
                    </a:p>
                  </a:txBody>
                  <a:tcPr marL="54864" marR="54864" marT="27432" marB="27432" anchor="ctr">
                    <a:solidFill>
                      <a:srgbClr val="E8F1EA"/>
                    </a:solidFill>
                  </a:tcPr>
                </a:tc>
                <a:tc>
                  <a:txBody>
                    <a:bodyPr wrap="square"/>
                    <a:lstStyle/>
                    <a:p>
                      <a:r>
                        <a:rPr sz="1300" b="0" i="0">
                          <a:solidFill>
                            <a:srgbClr val="1A1A1A"/>
                          </a:solidFill>
                          <a:latin typeface="Calibri"/>
                        </a:rPr>
                        <a:t>Variously</a:t>
                      </a:r>
                    </a:p>
                  </a:txBody>
                  <a:tcPr marL="54864" marR="54864" marT="27432" marB="27432" anchor="ctr">
                    <a:solidFill>
                      <a:srgbClr val="E8F1EA"/>
                    </a:solidFill>
                  </a:tcPr>
                </a:tc>
                <a:tc>
                  <a:txBody>
                    <a:bodyPr wrap="square"/>
                    <a:lstStyle/>
                    <a:p>
                      <a:r>
                        <a:rPr sz="1300" b="0" i="0">
                          <a:solidFill>
                            <a:srgbClr val="1A1A1A"/>
                          </a:solidFill>
                          <a:latin typeface="Calibri"/>
                        </a:rPr>
                        <a:t>Via intentions</a:t>
                      </a:r>
                    </a:p>
                  </a:txBody>
                  <a:tcPr marL="54864" marR="54864" marT="27432" marB="27432" anchor="ctr">
                    <a:solidFill>
                      <a:srgbClr val="E8F1EA"/>
                    </a:solidFill>
                  </a:tcPr>
                </a:tc>
              </a:tr>
            </a:tbl>
          </a:graphicData>
        </a:graphic>
      </p:graphicFrame>
      <p:sp>
        <p:nvSpPr>
          <p:cNvPr id="8" name="Rounded Rectangle 7"/>
          <p:cNvSpPr/>
          <p:nvPr/>
        </p:nvSpPr>
        <p:spPr>
          <a:xfrm>
            <a:off x="274320" y="2651760"/>
            <a:ext cx="3931920" cy="3886200"/>
          </a:xfrm>
          <a:prstGeom prst="roundRect">
            <a:avLst>
              <a:gd name="adj" fmla="val 6000"/>
            </a:avLst>
          </a:prstGeom>
          <a:solidFill>
            <a:srgbClr val="FFFFFF"/>
          </a:solidFill>
          <a:ln w="19050">
            <a:solidFill>
              <a:srgbClr val="99C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74320" y="2651760"/>
            <a:ext cx="3931920" cy="457200"/>
          </a:xfrm>
          <a:prstGeom prst="roundRect">
            <a:avLst>
              <a:gd name="adj" fmla="val 6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2971800"/>
            <a:ext cx="3931920" cy="137160"/>
          </a:xfrm>
          <a:prstGeom prst="rect">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2651760"/>
            <a:ext cx="3749039" cy="457200"/>
          </a:xfrm>
          <a:prstGeom prst="rect">
            <a:avLst/>
          </a:prstGeom>
          <a:noFill/>
        </p:spPr>
        <p:txBody>
          <a:bodyPr wrap="square" anchor="ctr" lIns="45720" rIns="45720" tIns="18288" bIns="18288"/>
          <a:lstStyle/>
          <a:p>
            <a:pPr algn="l"/>
            <a:r>
              <a:rPr sz="1900" b="1" i="0">
                <a:solidFill>
                  <a:srgbClr val="FFFFFF"/>
                </a:solidFill>
                <a:latin typeface="Calibri"/>
              </a:rPr>
              <a:t>3 components (p. 49)</a:t>
            </a:r>
          </a:p>
        </p:txBody>
      </p:sp>
      <p:sp>
        <p:nvSpPr>
          <p:cNvPr id="12" name="TextBox 11"/>
          <p:cNvSpPr txBox="1"/>
          <p:nvPr/>
        </p:nvSpPr>
        <p:spPr>
          <a:xfrm>
            <a:off x="347472" y="3163824"/>
            <a:ext cx="3785615" cy="3337560"/>
          </a:xfrm>
          <a:prstGeom prst="rect">
            <a:avLst/>
          </a:prstGeom>
          <a:noFill/>
        </p:spPr>
        <p:txBody>
          <a:bodyPr wrap="square" anchor="t" lIns="54864" rIns="54864" tIns="27432" bIns="27432"/>
          <a:lstStyle/>
          <a:p>
            <a:pPr>
              <a:spcAft>
                <a:spcPts val="300"/>
              </a:spcAft>
            </a:pPr>
            <a:r>
              <a:rPr sz="1700" b="1" i="0">
                <a:solidFill>
                  <a:srgbClr val="1A1A1A"/>
                </a:solidFill>
                <a:latin typeface="Calibri"/>
              </a:rPr>
              <a:t>• </a:t>
            </a:r>
            <a:r>
              <a:rPr sz="1700" b="1" i="0">
                <a:solidFill>
                  <a:srgbClr val="1A1A1A"/>
                </a:solidFill>
                <a:latin typeface="Calibri"/>
              </a:rPr>
              <a:t>Affective</a:t>
            </a:r>
            <a:r>
              <a:rPr sz="1700" b="0" i="0">
                <a:solidFill>
                  <a:srgbClr val="1A1A1A"/>
                </a:solidFill>
                <a:latin typeface="Calibri"/>
              </a:rPr>
              <a:t>: 'I feel' (emotion: annoyed at phone-talkers)</a:t>
            </a:r>
          </a:p>
          <a:p>
            <a:pPr>
              <a:spcAft>
                <a:spcPts val="300"/>
              </a:spcAft>
            </a:pPr>
            <a:r>
              <a:rPr sz="1700" b="1" i="0">
                <a:solidFill>
                  <a:srgbClr val="1A1A1A"/>
                </a:solidFill>
                <a:latin typeface="Calibri"/>
              </a:rPr>
              <a:t>• </a:t>
            </a:r>
            <a:r>
              <a:rPr sz="1700" b="1" i="0">
                <a:solidFill>
                  <a:srgbClr val="1A1A1A"/>
                </a:solidFill>
                <a:latin typeface="Calibri"/>
              </a:rPr>
              <a:t>Cognitive</a:t>
            </a:r>
            <a:r>
              <a:rPr sz="1700" b="0" i="0">
                <a:solidFill>
                  <a:srgbClr val="1A1A1A"/>
                </a:solidFill>
                <a:latin typeface="Calibri"/>
              </a:rPr>
              <a:t>: 'I believe' (it's rude)</a:t>
            </a:r>
          </a:p>
          <a:p>
            <a:pPr>
              <a:spcAft>
                <a:spcPts val="300"/>
              </a:spcAft>
            </a:pPr>
            <a:r>
              <a:rPr sz="1700" b="1" i="0">
                <a:solidFill>
                  <a:srgbClr val="1A1A1A"/>
                </a:solidFill>
                <a:latin typeface="Calibri"/>
              </a:rPr>
              <a:t>• </a:t>
            </a:r>
            <a:r>
              <a:rPr sz="1700" b="1" i="0">
                <a:solidFill>
                  <a:srgbClr val="1A1A1A"/>
                </a:solidFill>
                <a:latin typeface="Calibri"/>
              </a:rPr>
              <a:t>Behavioural</a:t>
            </a:r>
            <a:r>
              <a:rPr sz="1700" b="0" i="0">
                <a:solidFill>
                  <a:srgbClr val="1A1A1A"/>
                </a:solidFill>
                <a:latin typeface="Calibri"/>
              </a:rPr>
              <a:t>: 'I intend' (I'll ask them to stop)</a:t>
            </a:r>
          </a:p>
          <a:p>
            <a:pPr>
              <a:spcAft>
                <a:spcPts val="300"/>
              </a:spcAft>
            </a:pPr>
            <a:r>
              <a:rPr sz="1700" b="1" i="0">
                <a:solidFill>
                  <a:srgbClr val="1A1A1A"/>
                </a:solidFill>
                <a:latin typeface="Calibri"/>
              </a:rPr>
              <a:t>• </a:t>
            </a:r>
            <a:r>
              <a:rPr sz="1700" b="0" i="0">
                <a:solidFill>
                  <a:srgbClr val="1A1A1A"/>
                </a:solidFill>
                <a:latin typeface="Calibri"/>
              </a:rPr>
              <a:t>Attitude = feelings/opinions about people, places, objects; positive ↔ negative</a:t>
            </a:r>
          </a:p>
          <a:p>
            <a:pPr>
              <a:spcAft>
                <a:spcPts val="300"/>
              </a:spcAft>
            </a:pPr>
            <a:r>
              <a:rPr sz="1700" b="1" i="0">
                <a:solidFill>
                  <a:srgbClr val="1A1A1A"/>
                </a:solidFill>
                <a:latin typeface="Calibri"/>
              </a:rPr>
              <a:t>• </a:t>
            </a:r>
            <a:r>
              <a:rPr sz="1700" b="0" i="0">
                <a:solidFill>
                  <a:srgbClr val="1A1A1A"/>
                </a:solidFill>
                <a:latin typeface="Calibri"/>
              </a:rPr>
              <a:t>Personal attitudes = INPUTS; workplace attitudes = OUTCOMES</a:t>
            </a:r>
          </a:p>
        </p:txBody>
      </p:sp>
      <p:sp>
        <p:nvSpPr>
          <p:cNvPr id="13" name="Rounded Rectangle 12"/>
          <p:cNvSpPr/>
          <p:nvPr/>
        </p:nvSpPr>
        <p:spPr>
          <a:xfrm>
            <a:off x="4343400" y="1051560"/>
            <a:ext cx="3749039" cy="5486400"/>
          </a:xfrm>
          <a:prstGeom prst="roundRect">
            <a:avLst>
              <a:gd name="adj" fmla="val 6000"/>
            </a:avLst>
          </a:prstGeom>
          <a:solidFill>
            <a:srgbClr val="FFFFFF"/>
          </a:solidFill>
          <a:ln w="19050">
            <a:solidFill>
              <a:srgbClr val="99C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343400" y="1051560"/>
            <a:ext cx="3749039" cy="457200"/>
          </a:xfrm>
          <a:prstGeom prst="roundRect">
            <a:avLst>
              <a:gd name="adj" fmla="val 6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43400" y="1371600"/>
            <a:ext cx="3749039" cy="137160"/>
          </a:xfrm>
          <a:prstGeom prst="rect">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34840" y="1051560"/>
            <a:ext cx="3566159" cy="457200"/>
          </a:xfrm>
          <a:prstGeom prst="rect">
            <a:avLst/>
          </a:prstGeom>
          <a:noFill/>
        </p:spPr>
        <p:txBody>
          <a:bodyPr wrap="square" anchor="ctr" lIns="45720" rIns="45720" tIns="18288" bIns="18288"/>
          <a:lstStyle/>
          <a:p>
            <a:pPr algn="l"/>
            <a:r>
              <a:rPr sz="1300" b="1" i="0">
                <a:solidFill>
                  <a:srgbClr val="FFFFFF"/>
                </a:solidFill>
                <a:latin typeface="Calibri"/>
              </a:rPr>
              <a:t>Cognitive dissonance (Festinger, p. 50)</a:t>
            </a:r>
          </a:p>
        </p:txBody>
      </p:sp>
      <p:sp>
        <p:nvSpPr>
          <p:cNvPr id="17" name="TextBox 16"/>
          <p:cNvSpPr txBox="1"/>
          <p:nvPr/>
        </p:nvSpPr>
        <p:spPr>
          <a:xfrm>
            <a:off x="4416552" y="1563624"/>
            <a:ext cx="3602735" cy="4937760"/>
          </a:xfrm>
          <a:prstGeom prst="rect">
            <a:avLst/>
          </a:prstGeom>
          <a:noFill/>
        </p:spPr>
        <p:txBody>
          <a:bodyPr wrap="square" anchor="t" lIns="54864" rIns="54864" tIns="27432" bIns="27432"/>
          <a:lstStyle/>
          <a:p>
            <a:pPr>
              <a:spcAft>
                <a:spcPts val="300"/>
              </a:spcAft>
            </a:pPr>
            <a:r>
              <a:rPr sz="1600" b="1" i="0">
                <a:solidFill>
                  <a:srgbClr val="1A1A1A"/>
                </a:solidFill>
                <a:latin typeface="Calibri"/>
              </a:rPr>
              <a:t>• </a:t>
            </a:r>
            <a:r>
              <a:rPr sz="1600" b="0" i="0">
                <a:solidFill>
                  <a:srgbClr val="1A1A1A"/>
                </a:solidFill>
                <a:latin typeface="Calibri"/>
              </a:rPr>
              <a:t>Psychological discomfort from holding </a:t>
            </a:r>
            <a:r>
              <a:rPr sz="1600" b="1" i="0">
                <a:solidFill>
                  <a:srgbClr val="1A1A1A"/>
                </a:solidFill>
                <a:latin typeface="Calibri"/>
              </a:rPr>
              <a:t>conflicting cognitions</a:t>
            </a:r>
            <a:r>
              <a:rPr sz="1600" b="0" i="0">
                <a:solidFill>
                  <a:srgbClr val="1A1A1A"/>
                </a:solidFill>
                <a:latin typeface="Calibri"/>
              </a:rPr>
              <a:t> (ideas, beliefs, values, emotions)</a:t>
            </a:r>
          </a:p>
          <a:p>
            <a:pPr>
              <a:spcAft>
                <a:spcPts val="300"/>
              </a:spcAft>
            </a:pPr>
            <a:r>
              <a:rPr sz="1600" b="1" i="0">
                <a:solidFill>
                  <a:srgbClr val="1A1A1A"/>
                </a:solidFill>
                <a:latin typeface="Calibri"/>
              </a:rPr>
              <a:t>• </a:t>
            </a:r>
            <a:r>
              <a:rPr sz="1600" b="0" i="0">
                <a:solidFill>
                  <a:srgbClr val="1A1A1A"/>
                </a:solidFill>
                <a:latin typeface="Calibri"/>
              </a:rPr>
              <a:t>Megan values helping, but helping Rob costs her the $500 contest</a:t>
            </a:r>
          </a:p>
          <a:p>
            <a:pPr>
              <a:spcAft>
                <a:spcPts val="300"/>
              </a:spcAft>
            </a:pPr>
            <a:r>
              <a:rPr sz="1600" b="1" i="0">
                <a:solidFill>
                  <a:srgbClr val="1A1A1A"/>
                </a:solidFill>
                <a:latin typeface="Calibri"/>
              </a:rPr>
              <a:t>3 ways to reduce it</a:t>
            </a:r>
          </a:p>
          <a:p>
            <a:pPr>
              <a:spcAft>
                <a:spcPts val="300"/>
              </a:spcAft>
            </a:pPr>
            <a:r>
              <a:rPr sz="1600" b="1" i="0">
                <a:solidFill>
                  <a:srgbClr val="1A1A1A"/>
                </a:solidFill>
                <a:latin typeface="Calibri"/>
              </a:rPr>
              <a:t>• </a:t>
            </a:r>
            <a:r>
              <a:rPr sz="1600" b="0" i="0">
                <a:solidFill>
                  <a:srgbClr val="1A1A1A"/>
                </a:solidFill>
                <a:latin typeface="Calibri"/>
              </a:rPr>
              <a:t>1 </a:t>
            </a:r>
            <a:r>
              <a:rPr sz="1600" b="1" i="0">
                <a:solidFill>
                  <a:srgbClr val="1A1A1A"/>
                </a:solidFill>
                <a:latin typeface="Calibri"/>
              </a:rPr>
              <a:t>Change</a:t>
            </a:r>
            <a:r>
              <a:rPr sz="1600" b="0" i="0">
                <a:solidFill>
                  <a:srgbClr val="1A1A1A"/>
                </a:solidFill>
                <a:latin typeface="Calibri"/>
              </a:rPr>
              <a:t> attitude or behaviour (or both)</a:t>
            </a:r>
          </a:p>
          <a:p>
            <a:pPr>
              <a:spcAft>
                <a:spcPts val="300"/>
              </a:spcAft>
            </a:pPr>
            <a:r>
              <a:rPr sz="1600" b="1" i="0">
                <a:solidFill>
                  <a:srgbClr val="1A1A1A"/>
                </a:solidFill>
                <a:latin typeface="Calibri"/>
              </a:rPr>
              <a:t>• </a:t>
            </a:r>
            <a:r>
              <a:rPr sz="1600" b="0" i="0">
                <a:solidFill>
                  <a:srgbClr val="1A1A1A"/>
                </a:solidFill>
                <a:latin typeface="Calibri"/>
              </a:rPr>
              <a:t>2 </a:t>
            </a:r>
            <a:r>
              <a:rPr sz="1600" b="1" i="0">
                <a:solidFill>
                  <a:srgbClr val="1A1A1A"/>
                </a:solidFill>
                <a:latin typeface="Calibri"/>
              </a:rPr>
              <a:t>Belittle</a:t>
            </a:r>
            <a:r>
              <a:rPr sz="1600" b="0" i="0">
                <a:solidFill>
                  <a:srgbClr val="1A1A1A"/>
                </a:solidFill>
                <a:latin typeface="Calibri"/>
              </a:rPr>
              <a:t> the importance of the inconsistent behaviour</a:t>
            </a:r>
          </a:p>
          <a:p>
            <a:pPr>
              <a:spcAft>
                <a:spcPts val="300"/>
              </a:spcAft>
            </a:pPr>
            <a:r>
              <a:rPr sz="1600" b="1" i="0">
                <a:solidFill>
                  <a:srgbClr val="1A1A1A"/>
                </a:solidFill>
                <a:latin typeface="Calibri"/>
              </a:rPr>
              <a:t>• </a:t>
            </a:r>
            <a:r>
              <a:rPr sz="1600" b="0" i="0">
                <a:solidFill>
                  <a:srgbClr val="1A1A1A"/>
                </a:solidFill>
                <a:latin typeface="Calibri"/>
              </a:rPr>
              <a:t>3 </a:t>
            </a:r>
            <a:r>
              <a:rPr sz="1600" b="1" i="0">
                <a:solidFill>
                  <a:srgbClr val="1A1A1A"/>
                </a:solidFill>
                <a:latin typeface="Calibri"/>
              </a:rPr>
              <a:t>Find consonant elements</a:t>
            </a:r>
            <a:r>
              <a:rPr sz="1600" b="0" i="0">
                <a:solidFill>
                  <a:srgbClr val="1A1A1A"/>
                </a:solidFill>
                <a:latin typeface="Calibri"/>
              </a:rPr>
              <a:t> that outweigh dissonant ones ('I need the laptop')</a:t>
            </a:r>
          </a:p>
          <a:p>
            <a:pPr>
              <a:spcAft>
                <a:spcPts val="300"/>
              </a:spcAft>
            </a:pPr>
            <a:r>
              <a:rPr sz="1600" b="1" i="0">
                <a:solidFill>
                  <a:srgbClr val="1A1A1A"/>
                </a:solidFill>
                <a:latin typeface="Calibri"/>
              </a:rPr>
              <a:t>Exam use</a:t>
            </a:r>
          </a:p>
          <a:p>
            <a:pPr>
              <a:spcAft>
                <a:spcPts val="300"/>
              </a:spcAft>
            </a:pPr>
            <a:r>
              <a:rPr sz="1600" b="1" i="0">
                <a:solidFill>
                  <a:srgbClr val="1A1A1A"/>
                </a:solidFill>
                <a:latin typeface="Calibri"/>
              </a:rPr>
              <a:t>• </a:t>
            </a:r>
            <a:r>
              <a:rPr sz="1600" b="0" i="0">
                <a:solidFill>
                  <a:srgbClr val="1A1A1A"/>
                </a:solidFill>
                <a:latin typeface="Calibri"/>
              </a:rPr>
              <a:t>Employees asked to act against values (Bank of Baroda targets) → dissonance → rationalise or quit</a:t>
            </a:r>
          </a:p>
        </p:txBody>
      </p:sp>
      <p:sp>
        <p:nvSpPr>
          <p:cNvPr id="18" name="TextBox 17"/>
          <p:cNvSpPr txBox="1"/>
          <p:nvPr/>
        </p:nvSpPr>
        <p:spPr>
          <a:xfrm>
            <a:off x="8229600" y="1024128"/>
            <a:ext cx="3703320" cy="365760"/>
          </a:xfrm>
          <a:prstGeom prst="rect">
            <a:avLst/>
          </a:prstGeom>
          <a:noFill/>
        </p:spPr>
        <p:txBody>
          <a:bodyPr wrap="square" anchor="t" lIns="45720" rIns="45720" tIns="18288" bIns="18288"/>
          <a:lstStyle/>
          <a:p>
            <a:pPr algn="l"/>
            <a:r>
              <a:rPr sz="1400" b="1" i="0">
                <a:solidFill>
                  <a:srgbClr val="1E7B34"/>
                </a:solidFill>
                <a:latin typeface="Calibri"/>
              </a:rPr>
              <a:t>Ajzen's Theory of Planned Behaviour (Fig 2.3)</a:t>
            </a:r>
          </a:p>
        </p:txBody>
      </p:sp>
      <p:sp>
        <p:nvSpPr>
          <p:cNvPr id="19" name="Oval 18"/>
          <p:cNvSpPr/>
          <p:nvPr/>
        </p:nvSpPr>
        <p:spPr>
          <a:xfrm>
            <a:off x="8229600" y="1417320"/>
            <a:ext cx="1828800" cy="685800"/>
          </a:xfrm>
          <a:prstGeom prst="ellipse">
            <a:avLst/>
          </a:prstGeom>
          <a:solidFill>
            <a:srgbClr val="C98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FFFFFF"/>
                </a:solidFill>
                <a:latin typeface="Calibri"/>
              </a:rPr>
              <a:t>Attitude toward behaviour</a:t>
            </a:r>
          </a:p>
        </p:txBody>
      </p:sp>
      <p:sp>
        <p:nvSpPr>
          <p:cNvPr id="20" name="Oval 19"/>
          <p:cNvSpPr/>
          <p:nvPr/>
        </p:nvSpPr>
        <p:spPr>
          <a:xfrm>
            <a:off x="8229600" y="2194560"/>
            <a:ext cx="1828800" cy="685800"/>
          </a:xfrm>
          <a:prstGeom prst="ellipse">
            <a:avLst/>
          </a:prstGeom>
          <a:solidFill>
            <a:srgbClr val="C98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FFFFFF"/>
                </a:solidFill>
                <a:latin typeface="Calibri"/>
              </a:rPr>
              <a:t>Subjective norm (social pressure)</a:t>
            </a:r>
          </a:p>
        </p:txBody>
      </p:sp>
      <p:sp>
        <p:nvSpPr>
          <p:cNvPr id="21" name="Oval 20"/>
          <p:cNvSpPr/>
          <p:nvPr/>
        </p:nvSpPr>
        <p:spPr>
          <a:xfrm>
            <a:off x="8229600" y="2971800"/>
            <a:ext cx="1828800" cy="685800"/>
          </a:xfrm>
          <a:prstGeom prst="ellipse">
            <a:avLst/>
          </a:prstGeom>
          <a:solidFill>
            <a:srgbClr val="C98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FFFFFF"/>
                </a:solidFill>
                <a:latin typeface="Calibri"/>
              </a:rPr>
              <a:t>Perceived behavioural control</a:t>
            </a:r>
          </a:p>
        </p:txBody>
      </p:sp>
      <p:sp>
        <p:nvSpPr>
          <p:cNvPr id="22" name="Right Arrow 21"/>
          <p:cNvSpPr/>
          <p:nvPr/>
        </p:nvSpPr>
        <p:spPr>
          <a:xfrm>
            <a:off x="10104120" y="2057400"/>
            <a:ext cx="320040" cy="411480"/>
          </a:xfrm>
          <a:prstGeom prst="rightArrow">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0469880" y="1828800"/>
            <a:ext cx="731520" cy="822960"/>
          </a:xfrm>
          <a:prstGeom prst="roundRect">
            <a:avLst>
              <a:gd name="adj" fmla="val 6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FFFFFF"/>
                </a:solidFill>
                <a:latin typeface="Calibri"/>
              </a:rPr>
              <a:t>Intention</a:t>
            </a:r>
          </a:p>
        </p:txBody>
      </p:sp>
      <p:sp>
        <p:nvSpPr>
          <p:cNvPr id="24" name="Right Arrow 23"/>
          <p:cNvSpPr/>
          <p:nvPr/>
        </p:nvSpPr>
        <p:spPr>
          <a:xfrm>
            <a:off x="11219688" y="2057400"/>
            <a:ext cx="182880" cy="411480"/>
          </a:xfrm>
          <a:prstGeom prst="rightArrow">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1402568" y="1828800"/>
            <a:ext cx="548640" cy="822960"/>
          </a:xfrm>
          <a:prstGeom prst="roundRect">
            <a:avLst>
              <a:gd name="adj" fmla="val 6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FFFFFF"/>
                </a:solidFill>
                <a:latin typeface="Calibri"/>
              </a:rPr>
              <a:t>Beh.</a:t>
            </a:r>
          </a:p>
        </p:txBody>
      </p:sp>
      <p:sp>
        <p:nvSpPr>
          <p:cNvPr id="26" name="Rounded Rectangle 25"/>
          <p:cNvSpPr/>
          <p:nvPr/>
        </p:nvSpPr>
        <p:spPr>
          <a:xfrm>
            <a:off x="8229600" y="3840480"/>
            <a:ext cx="3703320" cy="2697480"/>
          </a:xfrm>
          <a:prstGeom prst="roundRect">
            <a:avLst>
              <a:gd name="adj" fmla="val 6000"/>
            </a:avLst>
          </a:prstGeom>
          <a:solidFill>
            <a:srgbClr val="FFFFFF"/>
          </a:solidFill>
          <a:ln w="19050">
            <a:solidFill>
              <a:srgbClr val="99C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229600" y="3840480"/>
            <a:ext cx="3703320" cy="457200"/>
          </a:xfrm>
          <a:prstGeom prst="roundRect">
            <a:avLst>
              <a:gd name="adj" fmla="val 6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229600" y="4160520"/>
            <a:ext cx="3703320" cy="137160"/>
          </a:xfrm>
          <a:prstGeom prst="rect">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21040" y="3840480"/>
            <a:ext cx="3520439" cy="457200"/>
          </a:xfrm>
          <a:prstGeom prst="rect">
            <a:avLst/>
          </a:prstGeom>
          <a:noFill/>
        </p:spPr>
        <p:txBody>
          <a:bodyPr wrap="square" anchor="ctr" lIns="45720" rIns="45720" tIns="18288" bIns="18288"/>
          <a:lstStyle/>
          <a:p>
            <a:pPr algn="l"/>
            <a:r>
              <a:rPr sz="1900" b="1" i="0">
                <a:solidFill>
                  <a:srgbClr val="FFFFFF"/>
                </a:solidFill>
                <a:latin typeface="Calibri"/>
              </a:rPr>
              <a:t>Use it</a:t>
            </a:r>
          </a:p>
        </p:txBody>
      </p:sp>
      <p:sp>
        <p:nvSpPr>
          <p:cNvPr id="30" name="TextBox 29"/>
          <p:cNvSpPr txBox="1"/>
          <p:nvPr/>
        </p:nvSpPr>
        <p:spPr>
          <a:xfrm>
            <a:off x="8302752" y="4352544"/>
            <a:ext cx="3557015" cy="2148840"/>
          </a:xfrm>
          <a:prstGeom prst="rect">
            <a:avLst/>
          </a:prstGeom>
          <a:noFill/>
        </p:spPr>
        <p:txBody>
          <a:bodyPr wrap="square" anchor="t" lIns="54864" rIns="54864" tIns="27432" bIns="27432"/>
          <a:lstStyle/>
          <a:p>
            <a:pPr>
              <a:spcAft>
                <a:spcPts val="300"/>
              </a:spcAft>
            </a:pPr>
            <a:r>
              <a:rPr sz="1500" b="1" i="0">
                <a:solidFill>
                  <a:srgbClr val="1A1A1A"/>
                </a:solidFill>
                <a:latin typeface="Calibri"/>
              </a:rPr>
              <a:t>• </a:t>
            </a:r>
            <a:r>
              <a:rPr sz="1500" b="0" i="0">
                <a:solidFill>
                  <a:srgbClr val="1A1A1A"/>
                </a:solidFill>
                <a:latin typeface="Calibri"/>
              </a:rPr>
              <a:t>Intention = best predictor of behaviour (ask a 3rd party to ask if they'll quit)</a:t>
            </a:r>
          </a:p>
          <a:p>
            <a:pPr>
              <a:spcAft>
                <a:spcPts val="300"/>
              </a:spcAft>
            </a:pPr>
            <a:r>
              <a:rPr sz="1500" b="1" i="0">
                <a:solidFill>
                  <a:srgbClr val="1A1A1A"/>
                </a:solidFill>
                <a:latin typeface="Calibri"/>
              </a:rPr>
              <a:t>• </a:t>
            </a:r>
            <a:r>
              <a:rPr sz="1500" b="0" i="0">
                <a:solidFill>
                  <a:srgbClr val="1A1A1A"/>
                </a:solidFill>
                <a:latin typeface="Calibri"/>
              </a:rPr>
              <a:t>Change behaviour by working on the 3 motives (classmate's poor work: show benefit, model norm, remove obstacles)</a:t>
            </a:r>
          </a:p>
          <a:p>
            <a:pPr>
              <a:spcAft>
                <a:spcPts val="300"/>
              </a:spcAft>
            </a:pPr>
            <a:r>
              <a:rPr sz="1500" b="1" i="0">
                <a:solidFill>
                  <a:srgbClr val="1A1A1A"/>
                </a:solidFill>
                <a:latin typeface="Calibri"/>
              </a:rPr>
              <a:t>• </a:t>
            </a:r>
            <a:r>
              <a:rPr sz="1500" b="1" i="0">
                <a:solidFill>
                  <a:srgbClr val="1A1A1A"/>
                </a:solidFill>
                <a:latin typeface="Calibri"/>
              </a:rPr>
              <a:t>McDonald's harassment strikes</a:t>
            </a:r>
            <a:r>
              <a:rPr sz="1500" b="0" i="0">
                <a:solidFill>
                  <a:srgbClr val="1A1A1A"/>
                </a:solidFill>
                <a:latin typeface="Calibri"/>
              </a:rPr>
              <a:t> (p. 51)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600" b="1" i="0">
                <a:solidFill>
                  <a:srgbClr val="FFFFFF"/>
                </a:solidFill>
                <a:latin typeface="Calibri"/>
              </a:rPr>
              <a:t>2.3 Four key workplace attitudes managers must track</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C6DECC"/>
                </a:solidFill>
                <a:latin typeface="Calibri"/>
              </a:rPr>
              <a:t>MODULE 2 · VALUES &amp; ATTITUDES</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Ch 2 pp. 53–58</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24</a:t>
            </a:r>
          </a:p>
        </p:txBody>
      </p:sp>
      <p:sp>
        <p:nvSpPr>
          <p:cNvPr id="7" name="Rounded Rectangle 6"/>
          <p:cNvSpPr/>
          <p:nvPr/>
        </p:nvSpPr>
        <p:spPr>
          <a:xfrm>
            <a:off x="274320" y="1051560"/>
            <a:ext cx="3840480" cy="5486400"/>
          </a:xfrm>
          <a:prstGeom prst="roundRect">
            <a:avLst>
              <a:gd name="adj" fmla="val 6000"/>
            </a:avLst>
          </a:prstGeom>
          <a:solidFill>
            <a:srgbClr val="FFFFFF"/>
          </a:solidFill>
          <a:ln w="19050">
            <a:solidFill>
              <a:srgbClr val="99C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74320" y="1051560"/>
            <a:ext cx="3840480" cy="457200"/>
          </a:xfrm>
          <a:prstGeom prst="roundRect">
            <a:avLst>
              <a:gd name="adj" fmla="val 6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371600"/>
            <a:ext cx="3840480" cy="137160"/>
          </a:xfrm>
          <a:prstGeom prst="rect">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051560"/>
            <a:ext cx="3657600" cy="457200"/>
          </a:xfrm>
          <a:prstGeom prst="rect">
            <a:avLst/>
          </a:prstGeom>
          <a:noFill/>
        </p:spPr>
        <p:txBody>
          <a:bodyPr wrap="square" anchor="ctr" lIns="45720" rIns="45720" tIns="18288" bIns="18288"/>
          <a:lstStyle/>
          <a:p>
            <a:pPr algn="l"/>
            <a:r>
              <a:rPr sz="1900" b="1" i="0">
                <a:solidFill>
                  <a:srgbClr val="FFFFFF"/>
                </a:solidFill>
                <a:latin typeface="Calibri"/>
              </a:rPr>
              <a:t>1 Organisational commitment</a:t>
            </a:r>
          </a:p>
        </p:txBody>
      </p:sp>
      <p:sp>
        <p:nvSpPr>
          <p:cNvPr id="11" name="TextBox 10"/>
          <p:cNvSpPr txBox="1"/>
          <p:nvPr/>
        </p:nvSpPr>
        <p:spPr>
          <a:xfrm>
            <a:off x="347472" y="1563624"/>
            <a:ext cx="3694176" cy="4937760"/>
          </a:xfrm>
          <a:prstGeom prst="rect">
            <a:avLst/>
          </a:prstGeom>
          <a:noFill/>
        </p:spPr>
        <p:txBody>
          <a:bodyPr wrap="square" anchor="t" lIns="54864" rIns="54864" tIns="27432" bIns="27432"/>
          <a:lstStyle/>
          <a:p>
            <a:pPr>
              <a:spcAft>
                <a:spcPts val="300"/>
              </a:spcAft>
            </a:pPr>
            <a:r>
              <a:rPr sz="1700" b="1" i="0">
                <a:solidFill>
                  <a:srgbClr val="1A1A1A"/>
                </a:solidFill>
                <a:latin typeface="Calibri"/>
              </a:rPr>
              <a:t>• </a:t>
            </a:r>
            <a:r>
              <a:rPr sz="1700" b="0" i="0">
                <a:solidFill>
                  <a:srgbClr val="1A1A1A"/>
                </a:solidFill>
                <a:latin typeface="Calibri"/>
              </a:rPr>
              <a:t>Extent an individual </a:t>
            </a:r>
            <a:r>
              <a:rPr sz="1700" b="1" i="0">
                <a:solidFill>
                  <a:srgbClr val="1A1A1A"/>
                </a:solidFill>
                <a:latin typeface="Calibri"/>
              </a:rPr>
              <a:t>identifies with org &amp; commits to its goals</a:t>
            </a:r>
            <a:r>
              <a:rPr sz="1700" b="0" i="0">
                <a:solidFill>
                  <a:srgbClr val="1A1A1A"/>
                </a:solidFill>
                <a:latin typeface="Calibri"/>
              </a:rPr>
              <a:t> → stays + pursues goals</a:t>
            </a:r>
          </a:p>
          <a:p>
            <a:pPr>
              <a:spcAft>
                <a:spcPts val="300"/>
              </a:spcAft>
            </a:pPr>
            <a:r>
              <a:rPr sz="1700" b="1" i="0">
                <a:solidFill>
                  <a:srgbClr val="1A1A1A"/>
                </a:solidFill>
                <a:latin typeface="Calibri"/>
              </a:rPr>
              <a:t>• </a:t>
            </a:r>
            <a:r>
              <a:rPr sz="1700" b="0" i="0">
                <a:solidFill>
                  <a:srgbClr val="1A1A1A"/>
                </a:solidFill>
                <a:latin typeface="Calibri"/>
              </a:rPr>
              <a:t>Drivers: </a:t>
            </a:r>
            <a:r>
              <a:rPr sz="1700" b="1" i="0">
                <a:solidFill>
                  <a:srgbClr val="1A1A1A"/>
                </a:solidFill>
                <a:latin typeface="Calibri"/>
              </a:rPr>
              <a:t>person-culture fit</a:t>
            </a:r>
            <a:r>
              <a:rPr sz="1700" b="0" i="0">
                <a:solidFill>
                  <a:srgbClr val="1A1A1A"/>
                </a:solidFill>
                <a:latin typeface="Calibri"/>
              </a:rPr>
              <a:t>, personality, meaningful work, climate, leader, culture</a:t>
            </a:r>
          </a:p>
          <a:p>
            <a:pPr>
              <a:spcAft>
                <a:spcPts val="300"/>
              </a:spcAft>
            </a:pPr>
            <a:r>
              <a:rPr sz="1700" b="1" i="0">
                <a:solidFill>
                  <a:srgbClr val="1A1A1A"/>
                </a:solidFill>
                <a:latin typeface="Calibri"/>
              </a:rPr>
              <a:t>• </a:t>
            </a:r>
            <a:r>
              <a:rPr sz="1700" b="1" i="0">
                <a:solidFill>
                  <a:srgbClr val="1A1A1A"/>
                </a:solidFill>
                <a:latin typeface="Calibri"/>
              </a:rPr>
              <a:t>Psychological contract</a:t>
            </a:r>
            <a:r>
              <a:rPr sz="1700" b="0" i="0">
                <a:solidFill>
                  <a:srgbClr val="1A1A1A"/>
                </a:solidFill>
                <a:latin typeface="Calibri"/>
              </a:rPr>
              <a:t> = perceived reciprocal exchange; </a:t>
            </a:r>
            <a:r>
              <a:rPr sz="1700" b="1" i="0">
                <a:solidFill>
                  <a:srgbClr val="1A1A1A"/>
                </a:solidFill>
                <a:latin typeface="Calibri"/>
              </a:rPr>
              <a:t>breach</a:t>
            </a:r>
            <a:r>
              <a:rPr sz="1700" b="0" i="0">
                <a:solidFill>
                  <a:srgbClr val="1A1A1A"/>
                </a:solidFill>
                <a:latin typeface="Calibri"/>
              </a:rPr>
              <a:t> → ↓ commitment, satisfaction, performance, ↑ quit</a:t>
            </a:r>
          </a:p>
          <a:p>
            <a:pPr>
              <a:spcAft>
                <a:spcPts val="300"/>
              </a:spcAft>
            </a:pPr>
            <a:r>
              <a:rPr sz="1700" b="1" i="0">
                <a:solidFill>
                  <a:srgbClr val="1A1A1A"/>
                </a:solidFill>
                <a:latin typeface="Calibri"/>
              </a:rPr>
              <a:t>• </a:t>
            </a:r>
            <a:r>
              <a:rPr sz="1700" b="0" i="0">
                <a:solidFill>
                  <a:srgbClr val="1A1A1A"/>
                </a:solidFill>
                <a:latin typeface="Calibri"/>
              </a:rPr>
              <a:t>Best practices: hire value-aligned, don't breach contracts, fairness &amp; trust</a:t>
            </a:r>
          </a:p>
          <a:p>
            <a:pPr>
              <a:spcAft>
                <a:spcPts val="300"/>
              </a:spcAft>
            </a:pPr>
            <a:r>
              <a:rPr sz="1700" b="1" i="0">
                <a:solidFill>
                  <a:srgbClr val="1A1A1A"/>
                </a:solidFill>
                <a:latin typeface="Calibri"/>
              </a:rPr>
              <a:t>• </a:t>
            </a:r>
            <a:r>
              <a:rPr sz="1700" b="0" i="0">
                <a:solidFill>
                  <a:srgbClr val="1A1A1A"/>
                </a:solidFill>
                <a:latin typeface="Calibri"/>
              </a:rPr>
              <a:t>Hilton (#1 2019): execs spend a week on front lines · Salesforce: 'Ohana', $9M pay equity · Cisco: 'Our People Deal', flextime</a:t>
            </a:r>
          </a:p>
        </p:txBody>
      </p:sp>
      <p:sp>
        <p:nvSpPr>
          <p:cNvPr id="12" name="Rounded Rectangle 11"/>
          <p:cNvSpPr/>
          <p:nvPr/>
        </p:nvSpPr>
        <p:spPr>
          <a:xfrm>
            <a:off x="4251960" y="1051560"/>
            <a:ext cx="3840480" cy="5486400"/>
          </a:xfrm>
          <a:prstGeom prst="roundRect">
            <a:avLst>
              <a:gd name="adj" fmla="val 6000"/>
            </a:avLst>
          </a:prstGeom>
          <a:solidFill>
            <a:srgbClr val="FFFFFF"/>
          </a:solidFill>
          <a:ln w="19050">
            <a:solidFill>
              <a:srgbClr val="99C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251960" y="1051560"/>
            <a:ext cx="3840480" cy="457200"/>
          </a:xfrm>
          <a:prstGeom prst="roundRect">
            <a:avLst>
              <a:gd name="adj" fmla="val 6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51960" y="1371600"/>
            <a:ext cx="3840480" cy="137160"/>
          </a:xfrm>
          <a:prstGeom prst="rect">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43400" y="1051560"/>
            <a:ext cx="3657600" cy="457200"/>
          </a:xfrm>
          <a:prstGeom prst="rect">
            <a:avLst/>
          </a:prstGeom>
          <a:noFill/>
        </p:spPr>
        <p:txBody>
          <a:bodyPr wrap="square" anchor="ctr" lIns="45720" rIns="45720" tIns="18288" bIns="18288"/>
          <a:lstStyle/>
          <a:p>
            <a:pPr algn="l"/>
            <a:r>
              <a:rPr sz="1900" b="1" i="0">
                <a:solidFill>
                  <a:srgbClr val="FFFFFF"/>
                </a:solidFill>
                <a:latin typeface="Calibri"/>
              </a:rPr>
              <a:t>2 Employee engagement</a:t>
            </a:r>
          </a:p>
        </p:txBody>
      </p:sp>
      <p:sp>
        <p:nvSpPr>
          <p:cNvPr id="16" name="TextBox 15"/>
          <p:cNvSpPr txBox="1"/>
          <p:nvPr/>
        </p:nvSpPr>
        <p:spPr>
          <a:xfrm>
            <a:off x="4325112" y="1563624"/>
            <a:ext cx="3694176" cy="4937760"/>
          </a:xfrm>
          <a:prstGeom prst="rect">
            <a:avLst/>
          </a:prstGeom>
          <a:noFill/>
        </p:spPr>
        <p:txBody>
          <a:bodyPr wrap="square" anchor="t" lIns="54864" rIns="54864" tIns="27432" bIns="27432"/>
          <a:lstStyle/>
          <a:p>
            <a:pPr>
              <a:spcAft>
                <a:spcPts val="300"/>
              </a:spcAft>
            </a:pPr>
            <a:r>
              <a:rPr sz="1600" b="1" i="0">
                <a:solidFill>
                  <a:srgbClr val="1A1A1A"/>
                </a:solidFill>
                <a:latin typeface="Calibri"/>
              </a:rPr>
              <a:t>• </a:t>
            </a:r>
            <a:r>
              <a:rPr sz="1600" b="1" i="0">
                <a:solidFill>
                  <a:srgbClr val="1A1A1A"/>
                </a:solidFill>
                <a:latin typeface="Calibri"/>
              </a:rPr>
              <a:t>Kahn (1990)</a:t>
            </a:r>
            <a:r>
              <a:rPr sz="1600" b="0" i="0">
                <a:solidFill>
                  <a:srgbClr val="1A1A1A"/>
                </a:solidFill>
                <a:latin typeface="Calibri"/>
              </a:rPr>
              <a:t>: harnessing of self to work roles: physically, cognitively, emotionally; 'give their all'</a:t>
            </a:r>
          </a:p>
          <a:p>
            <a:pPr>
              <a:spcAft>
                <a:spcPts val="300"/>
              </a:spcAft>
            </a:pPr>
            <a:r>
              <a:rPr sz="1600" b="1" i="0">
                <a:solidFill>
                  <a:srgbClr val="1A1A1A"/>
                </a:solidFill>
                <a:latin typeface="Calibri"/>
              </a:rPr>
              <a:t>• </a:t>
            </a:r>
            <a:r>
              <a:rPr sz="1600" b="0" i="0">
                <a:solidFill>
                  <a:srgbClr val="1A1A1A"/>
                </a:solidFill>
                <a:latin typeface="Calibri"/>
              </a:rPr>
              <a:t>4 feelings: </a:t>
            </a:r>
            <a:r>
              <a:rPr sz="1600" b="1" i="0">
                <a:solidFill>
                  <a:srgbClr val="1A1A1A"/>
                </a:solidFill>
                <a:latin typeface="Calibri"/>
              </a:rPr>
              <a:t>Urgency · Focus · Intensity · Enthusiasm</a:t>
            </a:r>
          </a:p>
          <a:p>
            <a:pPr>
              <a:spcAft>
                <a:spcPts val="300"/>
              </a:spcAft>
            </a:pPr>
            <a:r>
              <a:rPr sz="1600" b="1" i="0">
                <a:solidFill>
                  <a:srgbClr val="1A1A1A"/>
                </a:solidFill>
                <a:latin typeface="Calibri"/>
              </a:rPr>
              <a:t>• </a:t>
            </a:r>
            <a:r>
              <a:rPr sz="1600" b="0" i="0">
                <a:solidFill>
                  <a:srgbClr val="1A1A1A"/>
                </a:solidFill>
                <a:latin typeface="Calibri"/>
              </a:rPr>
              <a:t>Drivers: Person (personality, PsyCap, human &amp; social capital) + Situation (job characteristics, supportive leader, positive climate, few stressors)</a:t>
            </a:r>
          </a:p>
          <a:p>
            <a:pPr>
              <a:spcAft>
                <a:spcPts val="300"/>
              </a:spcAft>
            </a:pPr>
            <a:r>
              <a:rPr sz="1600" b="1" i="0">
                <a:solidFill>
                  <a:srgbClr val="1A1A1A"/>
                </a:solidFill>
                <a:latin typeface="Calibri"/>
              </a:rPr>
              <a:t>• </a:t>
            </a:r>
            <a:r>
              <a:rPr sz="1600" b="0" i="0">
                <a:solidFill>
                  <a:srgbClr val="1A1A1A"/>
                </a:solidFill>
                <a:latin typeface="Calibri"/>
              </a:rPr>
              <a:t>Gallup: engaged orgs → +10% loyalty, +20% productivity, +21% profit</a:t>
            </a:r>
          </a:p>
          <a:p>
            <a:pPr>
              <a:spcAft>
                <a:spcPts val="300"/>
              </a:spcAft>
            </a:pPr>
            <a:r>
              <a:rPr sz="1600" b="1" i="0">
                <a:solidFill>
                  <a:srgbClr val="1A1A1A"/>
                </a:solidFill>
                <a:latin typeface="Calibri"/>
              </a:rPr>
              <a:t>• </a:t>
            </a:r>
            <a:r>
              <a:rPr sz="1600" b="0" i="0">
                <a:solidFill>
                  <a:srgbClr val="1A1A1A"/>
                </a:solidFill>
                <a:latin typeface="Calibri"/>
              </a:rPr>
              <a:t>Ritz-Carlton hires on 12 values → turnover 28% vs 55%</a:t>
            </a:r>
          </a:p>
          <a:p>
            <a:pPr>
              <a:spcAft>
                <a:spcPts val="300"/>
              </a:spcAft>
            </a:pPr>
            <a:r>
              <a:rPr sz="1600" b="1" i="0">
                <a:solidFill>
                  <a:srgbClr val="1A1A1A"/>
                </a:solidFill>
                <a:latin typeface="Calibri"/>
              </a:rPr>
              <a:t>• </a:t>
            </a:r>
            <a:r>
              <a:rPr sz="1600" b="1" i="0">
                <a:solidFill>
                  <a:srgbClr val="1A1A1A"/>
                </a:solidFill>
                <a:latin typeface="Calibri"/>
              </a:rPr>
              <a:t>India (p. 57)</a:t>
            </a:r>
            <a:r>
              <a:rPr sz="1600" b="0" i="0">
                <a:solidFill>
                  <a:srgbClr val="1A1A1A"/>
                </a:solidFill>
                <a:latin typeface="Calibri"/>
              </a:rPr>
              <a:t>: TCS upskilling &amp; raises; Tata Motors 59%→71%; Hindalco 'Bhoomika' recognition</a:t>
            </a:r>
          </a:p>
        </p:txBody>
      </p:sp>
      <p:sp>
        <p:nvSpPr>
          <p:cNvPr id="17" name="Rounded Rectangle 16"/>
          <p:cNvSpPr/>
          <p:nvPr/>
        </p:nvSpPr>
        <p:spPr>
          <a:xfrm>
            <a:off x="8229600" y="1051560"/>
            <a:ext cx="3703320" cy="5486400"/>
          </a:xfrm>
          <a:prstGeom prst="roundRect">
            <a:avLst>
              <a:gd name="adj" fmla="val 6000"/>
            </a:avLst>
          </a:prstGeom>
          <a:solidFill>
            <a:srgbClr val="FFFFFF"/>
          </a:solidFill>
          <a:ln w="19050">
            <a:solidFill>
              <a:srgbClr val="99C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29600" y="1051560"/>
            <a:ext cx="3703320" cy="457200"/>
          </a:xfrm>
          <a:prstGeom prst="roundRect">
            <a:avLst>
              <a:gd name="adj" fmla="val 6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29600" y="1371600"/>
            <a:ext cx="3703320" cy="137160"/>
          </a:xfrm>
          <a:prstGeom prst="rect">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0" y="1051560"/>
            <a:ext cx="3520439" cy="457200"/>
          </a:xfrm>
          <a:prstGeom prst="rect">
            <a:avLst/>
          </a:prstGeom>
          <a:noFill/>
        </p:spPr>
        <p:txBody>
          <a:bodyPr wrap="square" anchor="ctr" lIns="45720" rIns="45720" tIns="18288" bIns="18288"/>
          <a:lstStyle/>
          <a:p>
            <a:pPr algn="l"/>
            <a:r>
              <a:rPr sz="1200" b="1" i="0">
                <a:solidFill>
                  <a:srgbClr val="FFFFFF"/>
                </a:solidFill>
                <a:latin typeface="Calibri"/>
              </a:rPr>
              <a:t>3 Perceived org support (POS) + 4 Job satisfaction</a:t>
            </a:r>
          </a:p>
        </p:txBody>
      </p:sp>
      <p:sp>
        <p:nvSpPr>
          <p:cNvPr id="21" name="TextBox 20"/>
          <p:cNvSpPr txBox="1"/>
          <p:nvPr/>
        </p:nvSpPr>
        <p:spPr>
          <a:xfrm>
            <a:off x="8302752" y="1563624"/>
            <a:ext cx="3557015" cy="4937760"/>
          </a:xfrm>
          <a:prstGeom prst="rect">
            <a:avLst/>
          </a:prstGeom>
          <a:noFill/>
        </p:spPr>
        <p:txBody>
          <a:bodyPr wrap="square" anchor="t" lIns="54864" rIns="54864" tIns="27432" bIns="27432"/>
          <a:lstStyle/>
          <a:p>
            <a:pPr>
              <a:spcAft>
                <a:spcPts val="300"/>
              </a:spcAft>
            </a:pPr>
            <a:r>
              <a:rPr sz="1800" b="1" i="0">
                <a:solidFill>
                  <a:srgbClr val="1A1A1A"/>
                </a:solidFill>
                <a:latin typeface="Calibri"/>
              </a:rPr>
              <a:t>• </a:t>
            </a:r>
            <a:r>
              <a:rPr sz="1800" b="1" i="0">
                <a:solidFill>
                  <a:srgbClr val="1A1A1A"/>
                </a:solidFill>
                <a:latin typeface="Calibri"/>
              </a:rPr>
              <a:t>POS</a:t>
            </a:r>
            <a:r>
              <a:rPr sz="1800" b="0" i="0">
                <a:solidFill>
                  <a:srgbClr val="1A1A1A"/>
                </a:solidFill>
                <a:latin typeface="Calibri"/>
              </a:rPr>
              <a:t> = belief org values contributions &amp; cares about well-being</a:t>
            </a:r>
          </a:p>
          <a:p>
            <a:pPr>
              <a:spcAft>
                <a:spcPts val="300"/>
              </a:spcAft>
            </a:pPr>
            <a:r>
              <a:rPr sz="1800" b="1" i="0">
                <a:solidFill>
                  <a:srgbClr val="1A1A1A"/>
                </a:solidFill>
                <a:latin typeface="Calibri"/>
              </a:rPr>
              <a:t>• </a:t>
            </a:r>
            <a:r>
              <a:rPr sz="1800" b="0" i="0">
                <a:solidFill>
                  <a:srgbClr val="1A1A1A"/>
                </a:solidFill>
                <a:latin typeface="Calibri"/>
              </a:rPr>
              <a:t>Works via </a:t>
            </a:r>
            <a:r>
              <a:rPr sz="1800" b="1" i="0">
                <a:solidFill>
                  <a:srgbClr val="1A1A1A"/>
                </a:solidFill>
                <a:latin typeface="Calibri"/>
              </a:rPr>
              <a:t>norm of reciprocity</a:t>
            </a:r>
            <a:r>
              <a:rPr sz="1800" b="0" i="0">
                <a:solidFill>
                  <a:srgbClr val="1A1A1A"/>
                </a:solidFill>
                <a:latin typeface="Calibri"/>
              </a:rPr>
              <a:t>; support must be </a:t>
            </a:r>
            <a:r>
              <a:rPr sz="1800" b="1" i="0">
                <a:solidFill>
                  <a:srgbClr val="1A1A1A"/>
                </a:solidFill>
                <a:latin typeface="Calibri"/>
              </a:rPr>
              <a:t>voluntary</a:t>
            </a:r>
            <a:r>
              <a:rPr sz="1800" b="0" i="0">
                <a:solidFill>
                  <a:srgbClr val="1A1A1A"/>
                </a:solidFill>
                <a:latin typeface="Calibri"/>
              </a:rPr>
              <a:t>, not forced by law/union</a:t>
            </a:r>
          </a:p>
          <a:p>
            <a:pPr>
              <a:spcAft>
                <a:spcPts val="300"/>
              </a:spcAft>
            </a:pPr>
            <a:r>
              <a:rPr sz="1800" b="1" i="0">
                <a:solidFill>
                  <a:srgbClr val="1A1A1A"/>
                </a:solidFill>
                <a:latin typeface="Calibri"/>
              </a:rPr>
              <a:t>• </a:t>
            </a:r>
            <a:r>
              <a:rPr sz="1800" b="0" i="0">
                <a:solidFill>
                  <a:srgbClr val="1A1A1A"/>
                </a:solidFill>
                <a:latin typeface="Calibri"/>
              </a:rPr>
              <a:t>REI: profit-sharing, subsidised medical, 30–50% discounts</a:t>
            </a:r>
          </a:p>
          <a:p>
            <a:pPr>
              <a:spcAft>
                <a:spcPts val="300"/>
              </a:spcAft>
            </a:pPr>
            <a:r>
              <a:rPr sz="1800" b="1" i="0">
                <a:solidFill>
                  <a:srgbClr val="1A1A1A"/>
                </a:solidFill>
                <a:latin typeface="Calibri"/>
              </a:rPr>
              <a:t>• </a:t>
            </a:r>
            <a:r>
              <a:rPr sz="1800" b="0" i="0">
                <a:solidFill>
                  <a:srgbClr val="1A1A1A"/>
                </a:solidFill>
                <a:latin typeface="Calibri"/>
              </a:rPr>
              <a:t>Benefits: ↑ performance, commitment, OCB, trust, innovation; ↓ quitting</a:t>
            </a:r>
          </a:p>
          <a:p>
            <a:pPr>
              <a:spcAft>
                <a:spcPts val="300"/>
              </a:spcAft>
            </a:pPr>
            <a:r>
              <a:rPr sz="1800" b="1" i="0">
                <a:solidFill>
                  <a:srgbClr val="1A1A1A"/>
                </a:solidFill>
                <a:latin typeface="Calibri"/>
              </a:rPr>
              <a:t>• </a:t>
            </a:r>
            <a:r>
              <a:rPr sz="1800" b="0" i="0">
                <a:solidFill>
                  <a:srgbClr val="1A1A1A"/>
                </a:solidFill>
                <a:latin typeface="Calibri"/>
              </a:rPr>
              <a:t>Foster: fairness, no politics, job security, no abusive supervision, fulfil psych contract</a:t>
            </a:r>
          </a:p>
          <a:p>
            <a:pPr>
              <a:spcAft>
                <a:spcPts val="300"/>
              </a:spcAft>
            </a:pPr>
            <a:r>
              <a:rPr sz="1800" b="1" i="0">
                <a:solidFill>
                  <a:srgbClr val="1A1A1A"/>
                </a:solidFill>
                <a:latin typeface="Calibri"/>
              </a:rPr>
              <a:t>• </a:t>
            </a:r>
            <a:r>
              <a:rPr sz="1800" b="1" i="0">
                <a:solidFill>
                  <a:srgbClr val="1A1A1A"/>
                </a:solidFill>
                <a:latin typeface="Calibri"/>
              </a:rPr>
              <a:t>Job satisfaction</a:t>
            </a:r>
            <a:r>
              <a:rPr sz="1800" b="0" i="0">
                <a:solidFill>
                  <a:srgbClr val="1A1A1A"/>
                </a:solidFill>
                <a:latin typeface="Calibri"/>
              </a:rPr>
              <a:t> → next slide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3000" b="1" i="0">
                <a:solidFill>
                  <a:srgbClr val="FFFFFF"/>
                </a:solidFill>
                <a:latin typeface="Calibri"/>
              </a:rPr>
              <a:t>2.4 Job satisfaction &amp; its 5 causes</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C6DECC"/>
                </a:solidFill>
                <a:latin typeface="Calibri"/>
              </a:rPr>
              <a:t>MODULE 2 · VALUES &amp; ATTITUDES</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Ch 2 pp. 59–62 · Table 2.4</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25</a:t>
            </a:r>
          </a:p>
        </p:txBody>
      </p:sp>
      <p:sp>
        <p:nvSpPr>
          <p:cNvPr id="7" name="Rounded Rectangle 6"/>
          <p:cNvSpPr/>
          <p:nvPr/>
        </p:nvSpPr>
        <p:spPr>
          <a:xfrm>
            <a:off x="274320" y="1051560"/>
            <a:ext cx="3840480" cy="2377440"/>
          </a:xfrm>
          <a:prstGeom prst="roundRect">
            <a:avLst>
              <a:gd name="adj" fmla="val 6000"/>
            </a:avLst>
          </a:prstGeom>
          <a:solidFill>
            <a:srgbClr val="FFFFFF"/>
          </a:solidFill>
          <a:ln w="19050">
            <a:solidFill>
              <a:srgbClr val="99C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74320" y="1051560"/>
            <a:ext cx="3840480" cy="457200"/>
          </a:xfrm>
          <a:prstGeom prst="roundRect">
            <a:avLst>
              <a:gd name="adj" fmla="val 6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371600"/>
            <a:ext cx="3840480" cy="137160"/>
          </a:xfrm>
          <a:prstGeom prst="rect">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051560"/>
            <a:ext cx="3657600" cy="457200"/>
          </a:xfrm>
          <a:prstGeom prst="rect">
            <a:avLst/>
          </a:prstGeom>
          <a:noFill/>
        </p:spPr>
        <p:txBody>
          <a:bodyPr wrap="square" anchor="ctr" lIns="45720" rIns="45720" tIns="18288" bIns="18288"/>
          <a:lstStyle/>
          <a:p>
            <a:pPr algn="l"/>
            <a:r>
              <a:rPr sz="1900" b="1" i="0">
                <a:solidFill>
                  <a:srgbClr val="FFFFFF"/>
                </a:solidFill>
                <a:latin typeface="Calibri"/>
              </a:rPr>
              <a:t>Definition &amp; measurement</a:t>
            </a:r>
          </a:p>
        </p:txBody>
      </p:sp>
      <p:sp>
        <p:nvSpPr>
          <p:cNvPr id="11" name="TextBox 10"/>
          <p:cNvSpPr txBox="1"/>
          <p:nvPr/>
        </p:nvSpPr>
        <p:spPr>
          <a:xfrm>
            <a:off x="347472" y="1563624"/>
            <a:ext cx="3694176" cy="1828800"/>
          </a:xfrm>
          <a:prstGeom prst="rect">
            <a:avLst/>
          </a:prstGeom>
          <a:noFill/>
        </p:spPr>
        <p:txBody>
          <a:bodyPr wrap="square" anchor="t" lIns="54864" rIns="54864" tIns="27432" bIns="27432"/>
          <a:lstStyle/>
          <a:p>
            <a:pPr>
              <a:spcAft>
                <a:spcPts val="300"/>
              </a:spcAft>
            </a:pPr>
            <a:r>
              <a:rPr sz="1500" b="1" i="0">
                <a:solidFill>
                  <a:srgbClr val="1A1A1A"/>
                </a:solidFill>
                <a:latin typeface="Calibri"/>
              </a:rPr>
              <a:t>• </a:t>
            </a:r>
            <a:r>
              <a:rPr sz="1500" b="1" i="0">
                <a:solidFill>
                  <a:srgbClr val="1A1A1A"/>
                </a:solidFill>
                <a:latin typeface="Calibri"/>
              </a:rPr>
              <a:t>Affective/emotional response toward facets of your job</a:t>
            </a:r>
            <a:r>
              <a:rPr sz="1500" b="0" i="0">
                <a:solidFill>
                  <a:srgbClr val="1A1A1A"/>
                </a:solidFill>
                <a:latin typeface="Calibri"/>
              </a:rPr>
              <a:t>; not monolithic</a:t>
            </a:r>
          </a:p>
          <a:p>
            <a:pPr>
              <a:spcAft>
                <a:spcPts val="300"/>
              </a:spcAft>
            </a:pPr>
            <a:r>
              <a:rPr sz="1500" b="1" i="0">
                <a:solidFill>
                  <a:srgbClr val="1A1A1A"/>
                </a:solidFill>
                <a:latin typeface="Calibri"/>
              </a:rPr>
              <a:t>• </a:t>
            </a:r>
            <a:r>
              <a:rPr sz="1500" b="0" i="0">
                <a:solidFill>
                  <a:srgbClr val="1A1A1A"/>
                </a:solidFill>
                <a:latin typeface="Calibri"/>
              </a:rPr>
              <a:t>Single global rating OR facets: </a:t>
            </a:r>
            <a:r>
              <a:rPr sz="1500" b="1" i="0">
                <a:solidFill>
                  <a:srgbClr val="1A1A1A"/>
                </a:solidFill>
                <a:latin typeface="Calibri"/>
              </a:rPr>
              <a:t>JDI</a:t>
            </a:r>
            <a:r>
              <a:rPr sz="1500" b="0" i="0">
                <a:solidFill>
                  <a:srgbClr val="1A1A1A"/>
                </a:solidFill>
                <a:latin typeface="Calibri"/>
              </a:rPr>
              <a:t> (work, pay, promotions, coworkers, supervision); MSQ</a:t>
            </a:r>
          </a:p>
          <a:p>
            <a:pPr>
              <a:spcAft>
                <a:spcPts val="300"/>
              </a:spcAft>
            </a:pPr>
            <a:r>
              <a:rPr sz="1500" b="1" i="0">
                <a:solidFill>
                  <a:srgbClr val="1A1A1A"/>
                </a:solidFill>
                <a:latin typeface="Calibri"/>
              </a:rPr>
              <a:t>• </a:t>
            </a:r>
            <a:r>
              <a:rPr sz="1500" b="0" i="0">
                <a:solidFill>
                  <a:srgbClr val="1A1A1A"/>
                </a:solidFill>
                <a:latin typeface="Calibri"/>
              </a:rPr>
              <a:t>US: 51% satisfied (2018), 7th straight rise</a:t>
            </a:r>
          </a:p>
        </p:txBody>
      </p:sp>
      <p:graphicFrame>
        <p:nvGraphicFramePr>
          <p:cNvPr id="12" name="Table 11"/>
          <p:cNvGraphicFramePr>
            <a:graphicFrameLocks noGrp="1"/>
          </p:cNvGraphicFramePr>
          <p:nvPr/>
        </p:nvGraphicFramePr>
        <p:xfrm>
          <a:off x="4251960" y="1051560"/>
          <a:ext cx="7680960" cy="3566160"/>
        </p:xfrm>
        <a:graphic>
          <a:graphicData uri="http://schemas.openxmlformats.org/drawingml/2006/table">
            <a:tbl>
              <a:tblPr firstRow="1" bandRow="1">
                <a:tableStyleId>{5C22544A-7EE6-4342-B048-85BDC9FD1C3A}</a:tableStyleId>
              </a:tblPr>
              <a:tblGrid>
                <a:gridCol w="1737360"/>
                <a:gridCol w="2743200"/>
                <a:gridCol w="3200400"/>
              </a:tblGrid>
              <a:tr h="594360">
                <a:tc>
                  <a:txBody>
                    <a:bodyPr wrap="square"/>
                    <a:lstStyle/>
                    <a:p>
                      <a:r>
                        <a:rPr sz="1400" b="1" i="0">
                          <a:solidFill>
                            <a:srgbClr val="FFFFFF"/>
                          </a:solidFill>
                          <a:latin typeface="Calibri"/>
                        </a:rPr>
                        <a:t>Model</a:t>
                      </a:r>
                    </a:p>
                  </a:txBody>
                  <a:tcPr marL="54864" marR="54864" marT="27432" marB="27432" anchor="ctr">
                    <a:solidFill>
                      <a:srgbClr val="1E7B34"/>
                    </a:solidFill>
                  </a:tcPr>
                </a:tc>
                <a:tc>
                  <a:txBody>
                    <a:bodyPr wrap="square"/>
                    <a:lstStyle/>
                    <a:p>
                      <a:r>
                        <a:rPr sz="1400" b="1" i="0">
                          <a:solidFill>
                            <a:srgbClr val="FFFFFF"/>
                          </a:solidFill>
                          <a:latin typeface="Calibri"/>
                        </a:rPr>
                        <a:t>Idea</a:t>
                      </a:r>
                    </a:p>
                  </a:txBody>
                  <a:tcPr marL="54864" marR="54864" marT="27432" marB="27432" anchor="ctr">
                    <a:solidFill>
                      <a:srgbClr val="1E7B34"/>
                    </a:solidFill>
                  </a:tcPr>
                </a:tc>
                <a:tc>
                  <a:txBody>
                    <a:bodyPr wrap="square"/>
                    <a:lstStyle/>
                    <a:p>
                      <a:r>
                        <a:rPr sz="1400" b="1" i="0">
                          <a:solidFill>
                            <a:srgbClr val="FFFFFF"/>
                          </a:solidFill>
                          <a:latin typeface="Calibri"/>
                        </a:rPr>
                        <a:t>Manager action</a:t>
                      </a:r>
                    </a:p>
                  </a:txBody>
                  <a:tcPr marL="54864" marR="54864" marT="27432" marB="27432" anchor="ctr">
                    <a:solidFill>
                      <a:srgbClr val="1E7B34"/>
                    </a:solidFill>
                  </a:tcPr>
                </a:tc>
              </a:tr>
              <a:tr h="594360">
                <a:tc>
                  <a:txBody>
                    <a:bodyPr wrap="square"/>
                    <a:lstStyle/>
                    <a:p>
                      <a:r>
                        <a:rPr sz="1400" b="1" i="0">
                          <a:solidFill>
                            <a:srgbClr val="1A1A1A"/>
                          </a:solidFill>
                          <a:latin typeface="Calibri"/>
                        </a:rPr>
                        <a:t>1 Need fulfilment</a:t>
                      </a:r>
                    </a:p>
                  </a:txBody>
                  <a:tcPr marL="54864" marR="54864" marT="27432" marB="27432" anchor="ctr">
                    <a:solidFill>
                      <a:srgbClr val="FFFFFF"/>
                    </a:solidFill>
                  </a:tcPr>
                </a:tc>
                <a:tc>
                  <a:txBody>
                    <a:bodyPr wrap="square"/>
                    <a:lstStyle/>
                    <a:p>
                      <a:r>
                        <a:rPr sz="1400" b="0" i="0">
                          <a:solidFill>
                            <a:srgbClr val="1A1A1A"/>
                          </a:solidFill>
                          <a:latin typeface="Calibri"/>
                        </a:rPr>
                        <a:t>Job lets you meet your needs</a:t>
                      </a:r>
                    </a:p>
                  </a:txBody>
                  <a:tcPr marL="54864" marR="54864" marT="27432" marB="27432" anchor="ctr">
                    <a:solidFill>
                      <a:srgbClr val="FFFFFF"/>
                    </a:solidFill>
                  </a:tcPr>
                </a:tc>
                <a:tc>
                  <a:txBody>
                    <a:bodyPr wrap="square"/>
                    <a:lstStyle/>
                    <a:p>
                      <a:r>
                        <a:rPr sz="1400" b="0" i="0">
                          <a:solidFill>
                            <a:srgbClr val="1A1A1A"/>
                          </a:solidFill>
                          <a:latin typeface="Calibri"/>
                        </a:rPr>
                        <a:t>Learn &amp; meet needs (SHRM #1: respectful treatment)</a:t>
                      </a:r>
                    </a:p>
                  </a:txBody>
                  <a:tcPr marL="54864" marR="54864" marT="27432" marB="27432" anchor="ctr">
                    <a:solidFill>
                      <a:srgbClr val="FFFFFF"/>
                    </a:solidFill>
                  </a:tcPr>
                </a:tc>
              </a:tr>
              <a:tr h="594360">
                <a:tc>
                  <a:txBody>
                    <a:bodyPr wrap="square"/>
                    <a:lstStyle/>
                    <a:p>
                      <a:r>
                        <a:rPr sz="1400" b="1" i="0">
                          <a:solidFill>
                            <a:srgbClr val="1A1A1A"/>
                          </a:solidFill>
                          <a:latin typeface="Calibri"/>
                        </a:rPr>
                        <a:t>2 Met expectations</a:t>
                      </a:r>
                    </a:p>
                  </a:txBody>
                  <a:tcPr marL="54864" marR="54864" marT="27432" marB="27432" anchor="ctr">
                    <a:solidFill>
                      <a:srgbClr val="E8F1EA"/>
                    </a:solidFill>
                  </a:tcPr>
                </a:tc>
                <a:tc>
                  <a:txBody>
                    <a:bodyPr wrap="square"/>
                    <a:lstStyle/>
                    <a:p>
                      <a:r>
                        <a:rPr sz="1400" b="0" i="0">
                          <a:solidFill>
                            <a:srgbClr val="1A1A1A"/>
                          </a:solidFill>
                          <a:latin typeface="Calibri"/>
                        </a:rPr>
                        <a:t>Expectations vs what you actually get</a:t>
                      </a:r>
                    </a:p>
                  </a:txBody>
                  <a:tcPr marL="54864" marR="54864" marT="27432" marB="27432" anchor="ctr">
                    <a:solidFill>
                      <a:srgbClr val="E8F1EA"/>
                    </a:solidFill>
                  </a:tcPr>
                </a:tc>
                <a:tc>
                  <a:txBody>
                    <a:bodyPr wrap="square"/>
                    <a:lstStyle/>
                    <a:p>
                      <a:r>
                        <a:rPr sz="1400" b="0" i="0">
                          <a:solidFill>
                            <a:srgbClr val="1A1A1A"/>
                          </a:solidFill>
                          <a:latin typeface="Calibri"/>
                        </a:rPr>
                        <a:t>Realistic job previews; meet promises</a:t>
                      </a:r>
                    </a:p>
                  </a:txBody>
                  <a:tcPr marL="54864" marR="54864" marT="27432" marB="27432" anchor="ctr">
                    <a:solidFill>
                      <a:srgbClr val="E8F1EA"/>
                    </a:solidFill>
                  </a:tcPr>
                </a:tc>
              </a:tr>
              <a:tr h="594360">
                <a:tc>
                  <a:txBody>
                    <a:bodyPr wrap="square"/>
                    <a:lstStyle/>
                    <a:p>
                      <a:r>
                        <a:rPr sz="1400" b="1" i="0">
                          <a:solidFill>
                            <a:srgbClr val="1A1A1A"/>
                          </a:solidFill>
                          <a:latin typeface="Calibri"/>
                        </a:rPr>
                        <a:t>3 Value attainment</a:t>
                      </a:r>
                    </a:p>
                  </a:txBody>
                  <a:tcPr marL="54864" marR="54864" marT="27432" marB="27432" anchor="ctr">
                    <a:solidFill>
                      <a:srgbClr val="FFFFFF"/>
                    </a:solidFill>
                  </a:tcPr>
                </a:tc>
                <a:tc>
                  <a:txBody>
                    <a:bodyPr wrap="square"/>
                    <a:lstStyle/>
                    <a:p>
                      <a:r>
                        <a:rPr sz="1400" b="0" i="0">
                          <a:solidFill>
                            <a:srgbClr val="1A1A1A"/>
                          </a:solidFill>
                          <a:latin typeface="Calibri"/>
                        </a:rPr>
                        <a:t>Job fulfils your important values</a:t>
                      </a:r>
                    </a:p>
                  </a:txBody>
                  <a:tcPr marL="54864" marR="54864" marT="27432" marB="27432" anchor="ctr">
                    <a:solidFill>
                      <a:srgbClr val="FFFFFF"/>
                    </a:solidFill>
                  </a:tcPr>
                </a:tc>
                <a:tc>
                  <a:txBody>
                    <a:bodyPr wrap="square"/>
                    <a:lstStyle/>
                    <a:p>
                      <a:r>
                        <a:rPr sz="1400" b="0" i="0">
                          <a:solidFill>
                            <a:srgbClr val="1A1A1A"/>
                          </a:solidFill>
                          <a:latin typeface="Calibri"/>
                        </a:rPr>
                        <a:t>Assignments &amp; rewards that fit values</a:t>
                      </a:r>
                    </a:p>
                  </a:txBody>
                  <a:tcPr marL="54864" marR="54864" marT="27432" marB="27432" anchor="ctr">
                    <a:solidFill>
                      <a:srgbClr val="FFFFFF"/>
                    </a:solidFill>
                  </a:tcPr>
                </a:tc>
              </a:tr>
              <a:tr h="594360">
                <a:tc>
                  <a:txBody>
                    <a:bodyPr wrap="square"/>
                    <a:lstStyle/>
                    <a:p>
                      <a:r>
                        <a:rPr sz="1400" b="1" i="0">
                          <a:solidFill>
                            <a:srgbClr val="1A1A1A"/>
                          </a:solidFill>
                          <a:latin typeface="Calibri"/>
                        </a:rPr>
                        <a:t>4 Equity</a:t>
                      </a:r>
                    </a:p>
                  </a:txBody>
                  <a:tcPr marL="54864" marR="54864" marT="27432" marB="27432" anchor="ctr">
                    <a:solidFill>
                      <a:srgbClr val="E8F1EA"/>
                    </a:solidFill>
                  </a:tcPr>
                </a:tc>
                <a:tc>
                  <a:txBody>
                    <a:bodyPr wrap="square"/>
                    <a:lstStyle/>
                    <a:p>
                      <a:r>
                        <a:rPr sz="1400" b="0" i="0">
                          <a:solidFill>
                            <a:srgbClr val="1A1A1A"/>
                          </a:solidFill>
                          <a:latin typeface="Calibri"/>
                        </a:rPr>
                        <a:t>Fair outputs/inputs vs others</a:t>
                      </a:r>
                    </a:p>
                  </a:txBody>
                  <a:tcPr marL="54864" marR="54864" marT="27432" marB="27432" anchor="ctr">
                    <a:solidFill>
                      <a:srgbClr val="E8F1EA"/>
                    </a:solidFill>
                  </a:tcPr>
                </a:tc>
                <a:tc>
                  <a:txBody>
                    <a:bodyPr wrap="square"/>
                    <a:lstStyle/>
                    <a:p>
                      <a:r>
                        <a:rPr sz="1400" b="0" i="0">
                          <a:solidFill>
                            <a:srgbClr val="1A1A1A"/>
                          </a:solidFill>
                          <a:latin typeface="Calibri"/>
                        </a:rPr>
                        <a:t>Monitor &amp; manage fairness perceptions</a:t>
                      </a:r>
                    </a:p>
                  </a:txBody>
                  <a:tcPr marL="54864" marR="54864" marT="27432" marB="27432" anchor="ctr">
                    <a:solidFill>
                      <a:srgbClr val="E8F1EA"/>
                    </a:solidFill>
                  </a:tcPr>
                </a:tc>
              </a:tr>
              <a:tr h="594360">
                <a:tc>
                  <a:txBody>
                    <a:bodyPr wrap="square"/>
                    <a:lstStyle/>
                    <a:p>
                      <a:r>
                        <a:rPr sz="1400" b="1" i="0">
                          <a:solidFill>
                            <a:srgbClr val="1A1A1A"/>
                          </a:solidFill>
                          <a:latin typeface="Calibri"/>
                        </a:rPr>
                        <a:t>5 Dispositional / genetic</a:t>
                      </a:r>
                    </a:p>
                  </a:txBody>
                  <a:tcPr marL="54864" marR="54864" marT="27432" marB="27432" anchor="ctr">
                    <a:solidFill>
                      <a:srgbClr val="FFFFFF"/>
                    </a:solidFill>
                  </a:tcPr>
                </a:tc>
                <a:tc>
                  <a:txBody>
                    <a:bodyPr wrap="square"/>
                    <a:lstStyle/>
                    <a:p>
                      <a:r>
                        <a:rPr sz="1400" b="0" i="0">
                          <a:solidFill>
                            <a:srgbClr val="1A1A1A"/>
                          </a:solidFill>
                          <a:latin typeface="Calibri"/>
                        </a:rPr>
                        <a:t>Traits &amp; genes: ~</a:t>
                      </a:r>
                      <a:r>
                        <a:rPr sz="1400" b="1" i="0">
                          <a:solidFill>
                            <a:srgbClr val="1A1A1A"/>
                          </a:solidFill>
                          <a:latin typeface="Calibri"/>
                        </a:rPr>
                        <a:t>30%</a:t>
                      </a:r>
                      <a:r>
                        <a:rPr sz="1400" b="0" i="0">
                          <a:solidFill>
                            <a:srgbClr val="1A1A1A"/>
                          </a:solidFill>
                          <a:latin typeface="Calibri"/>
                        </a:rPr>
                        <a:t> of satisfaction</a:t>
                      </a:r>
                    </a:p>
                  </a:txBody>
                  <a:tcPr marL="54864" marR="54864" marT="27432" marB="27432" anchor="ctr">
                    <a:solidFill>
                      <a:srgbClr val="FFFFFF"/>
                    </a:solidFill>
                  </a:tcPr>
                </a:tc>
                <a:tc>
                  <a:txBody>
                    <a:bodyPr wrap="square"/>
                    <a:lstStyle/>
                    <a:p>
                      <a:r>
                        <a:rPr sz="1400" b="0" i="0">
                          <a:solidFill>
                            <a:srgbClr val="1A1A1A"/>
                          </a:solidFill>
                          <a:latin typeface="Calibri"/>
                        </a:rPr>
                        <a:t>Hire for disposition (stronger for intrinsic facets)</a:t>
                      </a:r>
                    </a:p>
                  </a:txBody>
                  <a:tcPr marL="54864" marR="54864" marT="27432" marB="27432" anchor="ctr">
                    <a:solidFill>
                      <a:srgbClr val="FFFFFF"/>
                    </a:solidFill>
                  </a:tcPr>
                </a:tc>
              </a:tr>
            </a:tbl>
          </a:graphicData>
        </a:graphic>
      </p:graphicFrame>
      <p:sp>
        <p:nvSpPr>
          <p:cNvPr id="13" name="Rounded Rectangle 12"/>
          <p:cNvSpPr/>
          <p:nvPr/>
        </p:nvSpPr>
        <p:spPr>
          <a:xfrm>
            <a:off x="274320" y="3566160"/>
            <a:ext cx="3840480" cy="2971800"/>
          </a:xfrm>
          <a:prstGeom prst="roundRect">
            <a:avLst>
              <a:gd name="adj" fmla="val 6000"/>
            </a:avLst>
          </a:prstGeom>
          <a:solidFill>
            <a:srgbClr val="FFFFFF"/>
          </a:solidFill>
          <a:ln w="19050">
            <a:solidFill>
              <a:srgbClr val="99C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74320" y="3566160"/>
            <a:ext cx="3840480" cy="457200"/>
          </a:xfrm>
          <a:prstGeom prst="roundRect">
            <a:avLst>
              <a:gd name="adj" fmla="val 6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4320" y="3886200"/>
            <a:ext cx="3840480" cy="137160"/>
          </a:xfrm>
          <a:prstGeom prst="rect">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3566160"/>
            <a:ext cx="3657600" cy="457200"/>
          </a:xfrm>
          <a:prstGeom prst="rect">
            <a:avLst/>
          </a:prstGeom>
          <a:noFill/>
        </p:spPr>
        <p:txBody>
          <a:bodyPr wrap="square" anchor="ctr" lIns="45720" rIns="45720" tIns="18288" bIns="18288"/>
          <a:lstStyle/>
          <a:p>
            <a:pPr algn="l"/>
            <a:r>
              <a:rPr sz="1300" b="1" i="0">
                <a:solidFill>
                  <a:srgbClr val="FFFFFF"/>
                </a:solidFill>
                <a:latin typeface="Calibri"/>
              </a:rPr>
              <a:t>Telecommuting: 'A Shorter Walk to Work'</a:t>
            </a:r>
          </a:p>
        </p:txBody>
      </p:sp>
      <p:sp>
        <p:nvSpPr>
          <p:cNvPr id="17" name="TextBox 16"/>
          <p:cNvSpPr txBox="1"/>
          <p:nvPr/>
        </p:nvSpPr>
        <p:spPr>
          <a:xfrm>
            <a:off x="347472" y="4078224"/>
            <a:ext cx="3694176" cy="2423160"/>
          </a:xfrm>
          <a:prstGeom prst="rect">
            <a:avLst/>
          </a:prstGeom>
          <a:noFill/>
        </p:spPr>
        <p:txBody>
          <a:bodyPr wrap="square" anchor="t" lIns="54864" rIns="54864" tIns="27432" bIns="27432"/>
          <a:lstStyle/>
          <a:p>
            <a:pPr>
              <a:spcAft>
                <a:spcPts val="300"/>
              </a:spcAft>
            </a:pPr>
            <a:r>
              <a:rPr sz="1600" b="1" i="0">
                <a:solidFill>
                  <a:srgbClr val="1A1A1A"/>
                </a:solidFill>
                <a:latin typeface="Calibri"/>
              </a:rPr>
              <a:t>• </a:t>
            </a:r>
            <a:r>
              <a:rPr sz="1600" b="0" i="0">
                <a:solidFill>
                  <a:srgbClr val="1A1A1A"/>
                </a:solidFill>
                <a:latin typeface="Calibri"/>
              </a:rPr>
              <a:t>~50% of US workforce teleworks part-time; +140% (2005–16)</a:t>
            </a:r>
          </a:p>
          <a:p>
            <a:pPr>
              <a:spcAft>
                <a:spcPts val="300"/>
              </a:spcAft>
            </a:pPr>
            <a:r>
              <a:rPr sz="1600" b="1" i="0">
                <a:solidFill>
                  <a:srgbClr val="1A1A1A"/>
                </a:solidFill>
                <a:latin typeface="Calibri"/>
              </a:rPr>
              <a:t>• </a:t>
            </a:r>
            <a:r>
              <a:rPr sz="1600" b="0" i="0">
                <a:solidFill>
                  <a:srgbClr val="1A1A1A"/>
                </a:solidFill>
                <a:latin typeface="Calibri"/>
              </a:rPr>
              <a:t>↑ productivity, retention; ↓ absenteeism</a:t>
            </a:r>
          </a:p>
          <a:p>
            <a:pPr>
              <a:spcAft>
                <a:spcPts val="300"/>
              </a:spcAft>
            </a:pPr>
            <a:r>
              <a:rPr sz="1600" b="1" i="0">
                <a:solidFill>
                  <a:srgbClr val="1A1A1A"/>
                </a:solidFill>
                <a:latin typeface="Calibri"/>
              </a:rPr>
              <a:t>• </a:t>
            </a:r>
            <a:r>
              <a:rPr sz="1600" b="0" i="0">
                <a:solidFill>
                  <a:srgbClr val="1A1A1A"/>
                </a:solidFill>
                <a:latin typeface="Calibri"/>
              </a:rPr>
              <a:t>India best practice (p. 62): hybrid (NatWest 40% office), flexible start (Philips, SAP Labs), outcome metrics, unlimited/wellness leave (Adobe India), stipends</a:t>
            </a:r>
          </a:p>
        </p:txBody>
      </p:sp>
      <p:sp>
        <p:nvSpPr>
          <p:cNvPr id="18" name="Rounded Rectangle 17"/>
          <p:cNvSpPr/>
          <p:nvPr/>
        </p:nvSpPr>
        <p:spPr>
          <a:xfrm>
            <a:off x="4251960" y="4754880"/>
            <a:ext cx="7680960" cy="1783080"/>
          </a:xfrm>
          <a:prstGeom prst="roundRect">
            <a:avLst>
              <a:gd name="adj" fmla="val 6000"/>
            </a:avLst>
          </a:prstGeom>
          <a:solidFill>
            <a:srgbClr val="FFF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43400" y="4773168"/>
            <a:ext cx="7498080" cy="1746504"/>
          </a:xfrm>
          <a:prstGeom prst="rect">
            <a:avLst/>
          </a:prstGeom>
          <a:noFill/>
        </p:spPr>
        <p:txBody>
          <a:bodyPr wrap="square" anchor="ctr" lIns="45720" rIns="45720" tIns="18288" bIns="18288"/>
          <a:lstStyle/>
          <a:p>
            <a:pPr algn="l"/>
            <a:r>
              <a:rPr sz="1500" b="1" i="0">
                <a:solidFill>
                  <a:srgbClr val="1A1A1A"/>
                </a:solidFill>
                <a:latin typeface="Calibri"/>
              </a:rPr>
              <a:t>Exam trick: diagnose dissatisfaction in a case by testing ALL FIVE causes. Orix: met expectations (employees expected raises) + equity (customised pay). DOR: value attainment + need fulfilment via fun &amp; recognition despite low pay. Southwest: need fulfilment + met expectations.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600" b="1" i="0">
                <a:solidFill>
                  <a:srgbClr val="FFFFFF"/>
                </a:solidFill>
                <a:latin typeface="Calibri"/>
              </a:rPr>
              <a:t>2.5 Consequences of job satisfaction (10 correlates)</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C6DECC"/>
                </a:solidFill>
                <a:latin typeface="Calibri"/>
              </a:rPr>
              <a:t>MODULE 2 · VALUES &amp; ATTITUDES</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Ch 2 pp. 63–68</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26</a:t>
            </a:r>
          </a:p>
        </p:txBody>
      </p:sp>
      <p:sp>
        <p:nvSpPr>
          <p:cNvPr id="7" name="Rounded Rectangle 6"/>
          <p:cNvSpPr/>
          <p:nvPr/>
        </p:nvSpPr>
        <p:spPr>
          <a:xfrm>
            <a:off x="274320" y="1051560"/>
            <a:ext cx="3749039" cy="914400"/>
          </a:xfrm>
          <a:prstGeom prst="roundRect">
            <a:avLst>
              <a:gd name="adj" fmla="val 6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600" b="1" i="0">
                <a:solidFill>
                  <a:srgbClr val="FFFFFF"/>
                </a:solidFill>
                <a:latin typeface="Calibri"/>
              </a:rPr>
              <a:t>ATTITUDINAL (4)</a:t>
            </a:r>
          </a:p>
          <a:p>
            <a:pPr algn="ctr"/>
            <a:r>
              <a:rPr sz="1300" b="0" i="0">
                <a:solidFill>
                  <a:srgbClr val="FFFFFF"/>
                </a:solidFill>
                <a:latin typeface="Calibri"/>
              </a:rPr>
              <a:t>Motivation (+) · Job involvement (+) · Withdrawal cognitions (−) · Perceived stress (−)</a:t>
            </a:r>
          </a:p>
        </p:txBody>
      </p:sp>
      <p:sp>
        <p:nvSpPr>
          <p:cNvPr id="8" name="Rounded Rectangle 7"/>
          <p:cNvSpPr/>
          <p:nvPr/>
        </p:nvSpPr>
        <p:spPr>
          <a:xfrm>
            <a:off x="4206240" y="1051560"/>
            <a:ext cx="3749039" cy="914400"/>
          </a:xfrm>
          <a:prstGeom prst="roundRect">
            <a:avLst>
              <a:gd name="adj" fmla="val 6000"/>
            </a:avLst>
          </a:prstGeom>
          <a:solidFill>
            <a:srgbClr val="4B95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600" b="1" i="0">
                <a:solidFill>
                  <a:srgbClr val="FFFFFF"/>
                </a:solidFill>
                <a:latin typeface="Calibri"/>
              </a:rPr>
              <a:t>BEHAVIOURAL (4)</a:t>
            </a:r>
          </a:p>
          <a:p>
            <a:pPr algn="ctr"/>
            <a:r>
              <a:rPr sz="1300" b="0" i="0">
                <a:solidFill>
                  <a:srgbClr val="FFFFFF"/>
                </a:solidFill>
                <a:latin typeface="Calibri"/>
              </a:rPr>
              <a:t>Job performance (+, moderate) · OCB (+) · CWB (−, strong) · Turnover (−)</a:t>
            </a:r>
          </a:p>
        </p:txBody>
      </p:sp>
      <p:sp>
        <p:nvSpPr>
          <p:cNvPr id="9" name="Rounded Rectangle 8"/>
          <p:cNvSpPr/>
          <p:nvPr/>
        </p:nvSpPr>
        <p:spPr>
          <a:xfrm>
            <a:off x="8138160" y="1051560"/>
            <a:ext cx="3794760" cy="914400"/>
          </a:xfrm>
          <a:prstGeom prst="roundRect">
            <a:avLst>
              <a:gd name="adj" fmla="val 6000"/>
            </a:avLst>
          </a:prstGeom>
          <a:solidFill>
            <a:srgbClr val="78AF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600" b="1" i="0">
                <a:solidFill>
                  <a:srgbClr val="FFFFFF"/>
                </a:solidFill>
                <a:latin typeface="Calibri"/>
              </a:rPr>
              <a:t>ORGANISATIONAL (2)</a:t>
            </a:r>
          </a:p>
          <a:p>
            <a:pPr algn="ctr"/>
            <a:r>
              <a:rPr sz="1300" b="0" i="0">
                <a:solidFill>
                  <a:srgbClr val="FFFFFF"/>
                </a:solidFill>
                <a:latin typeface="Calibri"/>
              </a:rPr>
              <a:t>Financial performance (+, weaker) · Customer satisfaction (+, spillover)</a:t>
            </a:r>
          </a:p>
        </p:txBody>
      </p:sp>
      <p:sp>
        <p:nvSpPr>
          <p:cNvPr id="10" name="Rounded Rectangle 9"/>
          <p:cNvSpPr/>
          <p:nvPr/>
        </p:nvSpPr>
        <p:spPr>
          <a:xfrm>
            <a:off x="274320" y="2103120"/>
            <a:ext cx="3749039" cy="4434840"/>
          </a:xfrm>
          <a:prstGeom prst="roundRect">
            <a:avLst>
              <a:gd name="adj" fmla="val 6000"/>
            </a:avLst>
          </a:prstGeom>
          <a:solidFill>
            <a:srgbClr val="FFFFFF"/>
          </a:solidFill>
          <a:ln w="19050">
            <a:solidFill>
              <a:srgbClr val="99C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74320" y="2103120"/>
            <a:ext cx="3749039" cy="457200"/>
          </a:xfrm>
          <a:prstGeom prst="roundRect">
            <a:avLst>
              <a:gd name="adj" fmla="val 6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2423160"/>
            <a:ext cx="3749039" cy="137160"/>
          </a:xfrm>
          <a:prstGeom prst="rect">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2103120"/>
            <a:ext cx="3566159" cy="457200"/>
          </a:xfrm>
          <a:prstGeom prst="rect">
            <a:avLst/>
          </a:prstGeom>
          <a:noFill/>
        </p:spPr>
        <p:txBody>
          <a:bodyPr wrap="square" anchor="ctr" lIns="45720" rIns="45720" tIns="18288" bIns="18288"/>
          <a:lstStyle/>
          <a:p>
            <a:pPr algn="l"/>
            <a:r>
              <a:rPr sz="1900" b="1" i="0">
                <a:solidFill>
                  <a:srgbClr val="FFFFFF"/>
                </a:solidFill>
                <a:latin typeface="Calibri"/>
              </a:rPr>
              <a:t>Performance &amp; OCB</a:t>
            </a:r>
          </a:p>
        </p:txBody>
      </p:sp>
      <p:sp>
        <p:nvSpPr>
          <p:cNvPr id="14" name="TextBox 13"/>
          <p:cNvSpPr txBox="1"/>
          <p:nvPr/>
        </p:nvSpPr>
        <p:spPr>
          <a:xfrm>
            <a:off x="347472" y="2615184"/>
            <a:ext cx="3602735" cy="3886200"/>
          </a:xfrm>
          <a:prstGeom prst="rect">
            <a:avLst/>
          </a:prstGeom>
          <a:noFill/>
        </p:spPr>
        <p:txBody>
          <a:bodyPr wrap="square" anchor="t" lIns="54864" rIns="54864" tIns="27432" bIns="27432"/>
          <a:lstStyle/>
          <a:p>
            <a:pPr>
              <a:spcAft>
                <a:spcPts val="300"/>
              </a:spcAft>
            </a:pPr>
            <a:r>
              <a:rPr sz="1600" b="1" i="0">
                <a:solidFill>
                  <a:srgbClr val="1A1A1A"/>
                </a:solidFill>
                <a:latin typeface="Calibri"/>
              </a:rPr>
              <a:t>• </a:t>
            </a:r>
            <a:r>
              <a:rPr sz="1600" b="0" i="0">
                <a:solidFill>
                  <a:srgbClr val="1A1A1A"/>
                </a:solidFill>
                <a:latin typeface="Calibri"/>
              </a:rPr>
              <a:t>Satisfaction–performance: </a:t>
            </a:r>
            <a:r>
              <a:rPr sz="1600" b="1" i="0">
                <a:solidFill>
                  <a:srgbClr val="1A1A1A"/>
                </a:solidFill>
                <a:latin typeface="Calibri"/>
              </a:rPr>
              <a:t>moderate &amp; complex</a:t>
            </a:r>
            <a:r>
              <a:rPr sz="1600" b="0" i="0">
                <a:solidFill>
                  <a:srgbClr val="1A1A1A"/>
                </a:solidFill>
                <a:latin typeface="Calibri"/>
              </a:rPr>
              <a:t>; each influences the other indirectly (7,000 people, 3 yrs)</a:t>
            </a:r>
          </a:p>
          <a:p>
            <a:pPr>
              <a:spcAft>
                <a:spcPts val="300"/>
              </a:spcAft>
            </a:pPr>
            <a:r>
              <a:rPr sz="1600" b="1" i="0">
                <a:solidFill>
                  <a:srgbClr val="1A1A1A"/>
                </a:solidFill>
                <a:latin typeface="Calibri"/>
              </a:rPr>
              <a:t>• </a:t>
            </a:r>
            <a:r>
              <a:rPr sz="1600" b="1" i="0">
                <a:solidFill>
                  <a:srgbClr val="1A1A1A"/>
                </a:solidFill>
                <a:latin typeface="Calibri"/>
              </a:rPr>
              <a:t>OCB</a:t>
            </a:r>
            <a:r>
              <a:rPr sz="1600" b="0" i="0">
                <a:solidFill>
                  <a:srgbClr val="1A1A1A"/>
                </a:solidFill>
                <a:latin typeface="Calibri"/>
              </a:rPr>
              <a:t> = discretionary behaviour, not formally rewarded, aggregate improves functioning (Organ)</a:t>
            </a:r>
          </a:p>
          <a:p>
            <a:pPr>
              <a:spcAft>
                <a:spcPts val="300"/>
              </a:spcAft>
            </a:pPr>
            <a:r>
              <a:rPr sz="1600" b="1" i="0">
                <a:solidFill>
                  <a:srgbClr val="1A1A1A"/>
                </a:solidFill>
                <a:latin typeface="Calibri"/>
              </a:rPr>
              <a:t>• </a:t>
            </a:r>
            <a:r>
              <a:rPr sz="1600" b="0" i="0">
                <a:solidFill>
                  <a:srgbClr val="1A1A1A"/>
                </a:solidFill>
                <a:latin typeface="Calibri"/>
              </a:rPr>
              <a:t>Examples: constructive statements, interest in others' work, suggestions, training newcomers, caring for property, punctuality</a:t>
            </a:r>
          </a:p>
          <a:p>
            <a:pPr>
              <a:spcAft>
                <a:spcPts val="300"/>
              </a:spcAft>
            </a:pPr>
            <a:r>
              <a:rPr sz="1600" b="1" i="0">
                <a:solidFill>
                  <a:srgbClr val="1A1A1A"/>
                </a:solidFill>
                <a:latin typeface="Calibri"/>
              </a:rPr>
              <a:t>• </a:t>
            </a:r>
            <a:r>
              <a:rPr sz="1600" b="0" i="0">
                <a:solidFill>
                  <a:srgbClr val="1A1A1A"/>
                </a:solidFill>
                <a:latin typeface="Calibri"/>
              </a:rPr>
              <a:t>OCB → better appraisals, ↓ quits; org: productivity, efficiency, customer satisfaction</a:t>
            </a:r>
          </a:p>
        </p:txBody>
      </p:sp>
      <p:sp>
        <p:nvSpPr>
          <p:cNvPr id="15" name="Rounded Rectangle 14"/>
          <p:cNvSpPr/>
          <p:nvPr/>
        </p:nvSpPr>
        <p:spPr>
          <a:xfrm>
            <a:off x="4206240" y="2103120"/>
            <a:ext cx="3749039" cy="4434840"/>
          </a:xfrm>
          <a:prstGeom prst="roundRect">
            <a:avLst>
              <a:gd name="adj" fmla="val 6000"/>
            </a:avLst>
          </a:prstGeom>
          <a:solidFill>
            <a:srgbClr val="FFFFFF"/>
          </a:solidFill>
          <a:ln w="19050">
            <a:solidFill>
              <a:srgbClr val="99C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206240" y="2103120"/>
            <a:ext cx="3749039" cy="457200"/>
          </a:xfrm>
          <a:prstGeom prst="roundRect">
            <a:avLst>
              <a:gd name="adj" fmla="val 6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06240" y="2423160"/>
            <a:ext cx="3749039" cy="137160"/>
          </a:xfrm>
          <a:prstGeom prst="rect">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97679" y="2103120"/>
            <a:ext cx="3566159" cy="457200"/>
          </a:xfrm>
          <a:prstGeom prst="rect">
            <a:avLst/>
          </a:prstGeom>
          <a:noFill/>
        </p:spPr>
        <p:txBody>
          <a:bodyPr wrap="square" anchor="ctr" lIns="45720" rIns="45720" tIns="18288" bIns="18288"/>
          <a:lstStyle/>
          <a:p>
            <a:pPr algn="l"/>
            <a:r>
              <a:rPr sz="1600" b="1" i="0">
                <a:solidFill>
                  <a:srgbClr val="FFFFFF"/>
                </a:solidFill>
                <a:latin typeface="Calibri"/>
              </a:rPr>
              <a:t>Counterproductive work behaviour</a:t>
            </a:r>
          </a:p>
        </p:txBody>
      </p:sp>
      <p:sp>
        <p:nvSpPr>
          <p:cNvPr id="19" name="TextBox 18"/>
          <p:cNvSpPr txBox="1"/>
          <p:nvPr/>
        </p:nvSpPr>
        <p:spPr>
          <a:xfrm>
            <a:off x="4279392" y="2615184"/>
            <a:ext cx="3602735" cy="3886200"/>
          </a:xfrm>
          <a:prstGeom prst="rect">
            <a:avLst/>
          </a:prstGeom>
          <a:noFill/>
        </p:spPr>
        <p:txBody>
          <a:bodyPr wrap="square" anchor="t" lIns="54864" rIns="54864" tIns="27432" bIns="27432"/>
          <a:lstStyle/>
          <a:p>
            <a:pPr>
              <a:spcAft>
                <a:spcPts val="300"/>
              </a:spcAft>
            </a:pPr>
            <a:r>
              <a:rPr sz="1600" b="1" i="0">
                <a:solidFill>
                  <a:srgbClr val="1A1A1A"/>
                </a:solidFill>
                <a:latin typeface="Calibri"/>
              </a:rPr>
              <a:t>• </a:t>
            </a:r>
            <a:r>
              <a:rPr sz="1600" b="0" i="0">
                <a:solidFill>
                  <a:srgbClr val="1A1A1A"/>
                </a:solidFill>
                <a:latin typeface="Calibri"/>
              </a:rPr>
              <a:t>Harms employees, org or stakeholders: bullying, theft, gossip, sabotage, tardiness, harassment, cyberloafing</a:t>
            </a:r>
          </a:p>
          <a:p>
            <a:pPr>
              <a:spcAft>
                <a:spcPts val="300"/>
              </a:spcAft>
            </a:pPr>
            <a:r>
              <a:rPr sz="1600" b="1" i="0">
                <a:solidFill>
                  <a:srgbClr val="1A1A1A"/>
                </a:solidFill>
                <a:latin typeface="Calibri"/>
              </a:rPr>
              <a:t>• </a:t>
            </a:r>
            <a:r>
              <a:rPr sz="1600" b="0" i="0">
                <a:solidFill>
                  <a:srgbClr val="1A1A1A"/>
                </a:solidFill>
                <a:latin typeface="Calibri"/>
              </a:rPr>
              <a:t>IKEA worker's $400K refunds; fake invoices $1.2M</a:t>
            </a:r>
          </a:p>
          <a:p>
            <a:pPr>
              <a:spcAft>
                <a:spcPts val="300"/>
              </a:spcAft>
            </a:pPr>
            <a:r>
              <a:rPr sz="1600" b="1" i="0">
                <a:solidFill>
                  <a:srgbClr val="1A1A1A"/>
                </a:solidFill>
                <a:latin typeface="Calibri"/>
              </a:rPr>
              <a:t>• </a:t>
            </a:r>
            <a:r>
              <a:rPr sz="1600" b="1" i="0">
                <a:solidFill>
                  <a:srgbClr val="1A1A1A"/>
                </a:solidFill>
                <a:latin typeface="Calibri"/>
              </a:rPr>
              <a:t>India (p. 67)</a:t>
            </a:r>
            <a:r>
              <a:rPr sz="1600" b="0" i="0">
                <a:solidFill>
                  <a:srgbClr val="1A1A1A"/>
                </a:solidFill>
                <a:latin typeface="Calibri"/>
              </a:rPr>
              <a:t>: absenteeism (up to 20%), time theft, payroll fraud, bribery, nepotism, caste discrimination, credit stealing, insider trading</a:t>
            </a:r>
          </a:p>
          <a:p>
            <a:pPr>
              <a:spcAft>
                <a:spcPts val="300"/>
              </a:spcAft>
            </a:pPr>
            <a:r>
              <a:rPr sz="1600" b="1" i="0">
                <a:solidFill>
                  <a:srgbClr val="1A1A1A"/>
                </a:solidFill>
                <a:latin typeface="Calibri"/>
              </a:rPr>
              <a:t>• </a:t>
            </a:r>
            <a:r>
              <a:rPr sz="1600" b="0" i="0">
                <a:solidFill>
                  <a:srgbClr val="1A1A1A"/>
                </a:solidFill>
                <a:latin typeface="Calibri"/>
              </a:rPr>
              <a:t>Reduce: hire carefully (cognitive ability, personality) · design satisfying jobs, remove abusive bosses · respond quickly</a:t>
            </a:r>
          </a:p>
        </p:txBody>
      </p:sp>
      <p:sp>
        <p:nvSpPr>
          <p:cNvPr id="20" name="Rounded Rectangle 19"/>
          <p:cNvSpPr/>
          <p:nvPr/>
        </p:nvSpPr>
        <p:spPr>
          <a:xfrm>
            <a:off x="8138160" y="2103120"/>
            <a:ext cx="3794760" cy="4434840"/>
          </a:xfrm>
          <a:prstGeom prst="roundRect">
            <a:avLst>
              <a:gd name="adj" fmla="val 6000"/>
            </a:avLst>
          </a:prstGeom>
          <a:solidFill>
            <a:srgbClr val="FFFFFF"/>
          </a:solidFill>
          <a:ln w="19050">
            <a:solidFill>
              <a:srgbClr val="99C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38160" y="2103120"/>
            <a:ext cx="3794760" cy="457200"/>
          </a:xfrm>
          <a:prstGeom prst="roundRect">
            <a:avLst>
              <a:gd name="adj" fmla="val 6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38160" y="2423160"/>
            <a:ext cx="3794760" cy="137160"/>
          </a:xfrm>
          <a:prstGeom prst="rect">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0" y="2103120"/>
            <a:ext cx="3611880" cy="457200"/>
          </a:xfrm>
          <a:prstGeom prst="rect">
            <a:avLst/>
          </a:prstGeom>
          <a:noFill/>
        </p:spPr>
        <p:txBody>
          <a:bodyPr wrap="square" anchor="ctr" lIns="45720" rIns="45720" tIns="18288" bIns="18288"/>
          <a:lstStyle/>
          <a:p>
            <a:pPr algn="l"/>
            <a:r>
              <a:rPr sz="1900" b="1" i="0">
                <a:solidFill>
                  <a:srgbClr val="FFFFFF"/>
                </a:solidFill>
                <a:latin typeface="Calibri"/>
              </a:rPr>
              <a:t>Turnover &amp; withdrawal</a:t>
            </a:r>
          </a:p>
        </p:txBody>
      </p:sp>
      <p:sp>
        <p:nvSpPr>
          <p:cNvPr id="24" name="TextBox 23"/>
          <p:cNvSpPr txBox="1"/>
          <p:nvPr/>
        </p:nvSpPr>
        <p:spPr>
          <a:xfrm>
            <a:off x="8211312" y="2615184"/>
            <a:ext cx="3648456" cy="3886200"/>
          </a:xfrm>
          <a:prstGeom prst="rect">
            <a:avLst/>
          </a:prstGeom>
          <a:noFill/>
        </p:spPr>
        <p:txBody>
          <a:bodyPr wrap="square" anchor="t" lIns="54864" rIns="54864" tIns="27432" bIns="27432"/>
          <a:lstStyle/>
          <a:p>
            <a:pPr>
              <a:spcAft>
                <a:spcPts val="300"/>
              </a:spcAft>
            </a:pPr>
            <a:r>
              <a:rPr sz="1700" b="1" i="0">
                <a:solidFill>
                  <a:srgbClr val="1A1A1A"/>
                </a:solidFill>
                <a:latin typeface="Calibri"/>
              </a:rPr>
              <a:t>• </a:t>
            </a:r>
            <a:r>
              <a:rPr sz="1700" b="0" i="0">
                <a:solidFill>
                  <a:srgbClr val="1A1A1A"/>
                </a:solidFill>
                <a:latin typeface="Calibri"/>
              </a:rPr>
              <a:t>Withdrawal cognitions precede quitting; 31% leave within 6 months (bad boss, job ≠ interview)</a:t>
            </a:r>
          </a:p>
          <a:p>
            <a:pPr>
              <a:spcAft>
                <a:spcPts val="300"/>
              </a:spcAft>
            </a:pPr>
            <a:r>
              <a:rPr sz="1700" b="1" i="0">
                <a:solidFill>
                  <a:srgbClr val="1A1A1A"/>
                </a:solidFill>
                <a:latin typeface="Calibri"/>
              </a:rPr>
              <a:t>• </a:t>
            </a:r>
            <a:r>
              <a:rPr sz="1700" b="0" i="0">
                <a:solidFill>
                  <a:srgbClr val="1A1A1A"/>
                </a:solidFill>
                <a:latin typeface="Calibri"/>
              </a:rPr>
              <a:t>Cost ≈ 20% of salary (hourly); more for specialists</a:t>
            </a:r>
          </a:p>
          <a:p>
            <a:pPr>
              <a:spcAft>
                <a:spcPts val="300"/>
              </a:spcAft>
            </a:pPr>
            <a:r>
              <a:rPr sz="1700" b="1" i="0">
                <a:solidFill>
                  <a:srgbClr val="1A1A1A"/>
                </a:solidFill>
                <a:latin typeface="Calibri"/>
              </a:rPr>
              <a:t>• </a:t>
            </a:r>
            <a:r>
              <a:rPr sz="1700" b="0" i="0">
                <a:solidFill>
                  <a:srgbClr val="1A1A1A"/>
                </a:solidFill>
                <a:latin typeface="Calibri"/>
              </a:rPr>
              <a:t>Reduce: hire for culture fit · foster engagement · selective hiring with analytics · onboarding · reward high performers</a:t>
            </a:r>
          </a:p>
          <a:p>
            <a:pPr>
              <a:spcAft>
                <a:spcPts val="300"/>
              </a:spcAft>
            </a:pPr>
            <a:r>
              <a:rPr sz="1700" b="1" i="0">
                <a:solidFill>
                  <a:srgbClr val="1A1A1A"/>
                </a:solidFill>
                <a:latin typeface="Calibri"/>
              </a:rPr>
              <a:t>• </a:t>
            </a:r>
            <a:r>
              <a:rPr sz="1700" b="1" i="0">
                <a:solidFill>
                  <a:srgbClr val="1A1A1A"/>
                </a:solidFill>
                <a:latin typeface="Calibri"/>
              </a:rPr>
              <a:t>Spillover</a:t>
            </a:r>
            <a:r>
              <a:rPr sz="1700" b="0" i="0">
                <a:solidFill>
                  <a:srgbClr val="1A1A1A"/>
                </a:solidFill>
                <a:latin typeface="Calibri"/>
              </a:rPr>
              <a:t>: satisfied employees → satisfied customers (Southwest!)</a:t>
            </a:r>
          </a:p>
          <a:p>
            <a:pPr>
              <a:spcAft>
                <a:spcPts val="300"/>
              </a:spcAft>
            </a:pPr>
            <a:r>
              <a:rPr sz="1700" b="1" i="0">
                <a:solidFill>
                  <a:srgbClr val="1A1A1A"/>
                </a:solidFill>
                <a:latin typeface="Calibri"/>
              </a:rPr>
              <a:t>• </a:t>
            </a:r>
            <a:r>
              <a:rPr sz="1700" b="0" i="0">
                <a:solidFill>
                  <a:srgbClr val="1A1A1A"/>
                </a:solidFill>
                <a:latin typeface="Calibri"/>
              </a:rPr>
              <a:t>Stress: detach from work off-hours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200" b="1" i="0">
                <a:solidFill>
                  <a:srgbClr val="FFFFFF"/>
                </a:solidFill>
                <a:latin typeface="Calibri"/>
              </a:rPr>
              <a:t>Job satisfaction: reality or myth? McKinsey 'Great Attrition' (2021)</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C6DECC"/>
                </a:solidFill>
                <a:latin typeface="Calibri"/>
              </a:rPr>
              <a:t>MODULE 2 · VALUES &amp; ATTITUDES</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Handout 4 · Ch 2.6 p. 69</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27</a:t>
            </a:r>
          </a:p>
        </p:txBody>
      </p:sp>
      <p:sp>
        <p:nvSpPr>
          <p:cNvPr id="7" name="Rounded Rectangle 6"/>
          <p:cNvSpPr/>
          <p:nvPr/>
        </p:nvSpPr>
        <p:spPr>
          <a:xfrm>
            <a:off x="274320" y="1051560"/>
            <a:ext cx="3840480" cy="2743200"/>
          </a:xfrm>
          <a:prstGeom prst="roundRect">
            <a:avLst>
              <a:gd name="adj" fmla="val 6000"/>
            </a:avLst>
          </a:prstGeom>
          <a:solidFill>
            <a:srgbClr val="FFFFFF"/>
          </a:solidFill>
          <a:ln w="19050">
            <a:solidFill>
              <a:srgbClr val="99C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74320" y="1051560"/>
            <a:ext cx="3840480" cy="457200"/>
          </a:xfrm>
          <a:prstGeom prst="roundRect">
            <a:avLst>
              <a:gd name="adj" fmla="val 6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371600"/>
            <a:ext cx="3840480" cy="137160"/>
          </a:xfrm>
          <a:prstGeom prst="rect">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051560"/>
            <a:ext cx="3657600" cy="457200"/>
          </a:xfrm>
          <a:prstGeom prst="rect">
            <a:avLst/>
          </a:prstGeom>
          <a:noFill/>
        </p:spPr>
        <p:txBody>
          <a:bodyPr wrap="square" anchor="ctr" lIns="45720" rIns="45720" tIns="18288" bIns="18288"/>
          <a:lstStyle/>
          <a:p>
            <a:pPr algn="l"/>
            <a:r>
              <a:rPr sz="1900" b="1" i="0">
                <a:solidFill>
                  <a:srgbClr val="FFFFFF"/>
                </a:solidFill>
                <a:latin typeface="Calibri"/>
              </a:rPr>
              <a:t>The evidence</a:t>
            </a:r>
          </a:p>
        </p:txBody>
      </p:sp>
      <p:sp>
        <p:nvSpPr>
          <p:cNvPr id="11" name="TextBox 10"/>
          <p:cNvSpPr txBox="1"/>
          <p:nvPr/>
        </p:nvSpPr>
        <p:spPr>
          <a:xfrm>
            <a:off x="347472" y="1563624"/>
            <a:ext cx="3694176" cy="2194560"/>
          </a:xfrm>
          <a:prstGeom prst="rect">
            <a:avLst/>
          </a:prstGeom>
          <a:noFill/>
        </p:spPr>
        <p:txBody>
          <a:bodyPr wrap="square" anchor="t" lIns="54864" rIns="54864" tIns="27432" bIns="27432"/>
          <a:lstStyle/>
          <a:p>
            <a:pPr>
              <a:spcAft>
                <a:spcPts val="300"/>
              </a:spcAft>
            </a:pPr>
            <a:r>
              <a:rPr sz="1800" b="1" i="0">
                <a:solidFill>
                  <a:srgbClr val="1A1A1A"/>
                </a:solidFill>
                <a:latin typeface="Calibri"/>
              </a:rPr>
              <a:t>• </a:t>
            </a:r>
            <a:r>
              <a:rPr sz="1800" b="0" i="0">
                <a:solidFill>
                  <a:srgbClr val="1A1A1A"/>
                </a:solidFill>
                <a:latin typeface="Calibri"/>
              </a:rPr>
              <a:t>19M+ US quits since April 2021; 40% likely to quit; 64% expect turnover to persist</a:t>
            </a:r>
          </a:p>
          <a:p>
            <a:pPr>
              <a:spcAft>
                <a:spcPts val="300"/>
              </a:spcAft>
            </a:pPr>
            <a:r>
              <a:rPr sz="1800" b="1" i="0">
                <a:solidFill>
                  <a:srgbClr val="1A1A1A"/>
                </a:solidFill>
                <a:latin typeface="Calibri"/>
              </a:rPr>
              <a:t>• </a:t>
            </a:r>
            <a:r>
              <a:rPr sz="1800" b="0" i="0">
                <a:solidFill>
                  <a:srgbClr val="1A1A1A"/>
                </a:solidFill>
                <a:latin typeface="Calibri"/>
              </a:rPr>
              <a:t>36% quit with NO job in hand; 45% cited family-care needs</a:t>
            </a:r>
          </a:p>
          <a:p>
            <a:pPr>
              <a:spcAft>
                <a:spcPts val="300"/>
              </a:spcAft>
            </a:pPr>
            <a:r>
              <a:rPr sz="1800" b="1" i="0">
                <a:solidFill>
                  <a:srgbClr val="1A1A1A"/>
                </a:solidFill>
                <a:latin typeface="Calibri"/>
              </a:rPr>
              <a:t>• </a:t>
            </a:r>
            <a:r>
              <a:rPr sz="1800" b="0" i="0">
                <a:solidFill>
                  <a:srgbClr val="1A1A1A"/>
                </a:solidFill>
                <a:latin typeface="Calibri"/>
              </a:rPr>
              <a:t>Hospitality 47% likely to leave</a:t>
            </a:r>
          </a:p>
        </p:txBody>
      </p:sp>
      <p:graphicFrame>
        <p:nvGraphicFramePr>
          <p:cNvPr id="12" name="Table 11"/>
          <p:cNvGraphicFramePr>
            <a:graphicFrameLocks noGrp="1"/>
          </p:cNvGraphicFramePr>
          <p:nvPr/>
        </p:nvGraphicFramePr>
        <p:xfrm>
          <a:off x="4251960" y="1051560"/>
          <a:ext cx="3840479" cy="2743200"/>
        </p:xfrm>
        <a:graphic>
          <a:graphicData uri="http://schemas.openxmlformats.org/drawingml/2006/table">
            <a:tbl>
              <a:tblPr firstRow="1" bandRow="1">
                <a:tableStyleId>{5C22544A-7EE6-4342-B048-85BDC9FD1C3A}</a:tableStyleId>
              </a:tblPr>
              <a:tblGrid>
                <a:gridCol w="2170706"/>
                <a:gridCol w="1669773"/>
              </a:tblGrid>
              <a:tr h="685800">
                <a:tc>
                  <a:txBody>
                    <a:bodyPr wrap="square"/>
                    <a:lstStyle/>
                    <a:p>
                      <a:r>
                        <a:rPr sz="1300" b="1" i="0">
                          <a:solidFill>
                            <a:srgbClr val="FFFFFF"/>
                          </a:solidFill>
                          <a:latin typeface="Calibri"/>
                        </a:rPr>
                        <a:t>Employees said they left because…</a:t>
                      </a:r>
                    </a:p>
                  </a:txBody>
                  <a:tcPr marL="54864" marR="54864" marT="27432" marB="27432" anchor="ctr">
                    <a:solidFill>
                      <a:srgbClr val="1E7B34"/>
                    </a:solidFill>
                  </a:tcPr>
                </a:tc>
                <a:tc>
                  <a:txBody>
                    <a:bodyPr wrap="square"/>
                    <a:lstStyle/>
                    <a:p>
                      <a:r>
                        <a:rPr sz="1300" b="1" i="0">
                          <a:solidFill>
                            <a:srgbClr val="FFFFFF"/>
                          </a:solidFill>
                          <a:latin typeface="Calibri"/>
                        </a:rPr>
                        <a:t>Employers thought…</a:t>
                      </a:r>
                    </a:p>
                  </a:txBody>
                  <a:tcPr marL="54864" marR="54864" marT="27432" marB="27432" anchor="ctr">
                    <a:solidFill>
                      <a:srgbClr val="1E7B34"/>
                    </a:solidFill>
                  </a:tcPr>
                </a:tc>
              </a:tr>
              <a:tr h="685800">
                <a:tc>
                  <a:txBody>
                    <a:bodyPr wrap="square"/>
                    <a:lstStyle/>
                    <a:p>
                      <a:r>
                        <a:rPr sz="1300" b="0" i="0">
                          <a:solidFill>
                            <a:srgbClr val="1A1A1A"/>
                          </a:solidFill>
                          <a:latin typeface="Calibri"/>
                        </a:rPr>
                        <a:t>Not valued by org (54%)</a:t>
                      </a:r>
                    </a:p>
                  </a:txBody>
                  <a:tcPr marL="54864" marR="54864" marT="27432" marB="27432" anchor="ctr">
                    <a:solidFill>
                      <a:srgbClr val="FFFFFF"/>
                    </a:solidFill>
                  </a:tcPr>
                </a:tc>
                <a:tc>
                  <a:txBody>
                    <a:bodyPr wrap="square"/>
                    <a:lstStyle/>
                    <a:p>
                      <a:r>
                        <a:rPr sz="1300" b="0" i="0">
                          <a:solidFill>
                            <a:srgbClr val="1A1A1A"/>
                          </a:solidFill>
                          <a:latin typeface="Calibri"/>
                        </a:rPr>
                        <a:t>Compensation</a:t>
                      </a:r>
                    </a:p>
                  </a:txBody>
                  <a:tcPr marL="54864" marR="54864" marT="27432" marB="27432" anchor="ctr">
                    <a:solidFill>
                      <a:srgbClr val="FFFFFF"/>
                    </a:solidFill>
                  </a:tcPr>
                </a:tc>
              </a:tr>
              <a:tr h="685800">
                <a:tc>
                  <a:txBody>
                    <a:bodyPr wrap="square"/>
                    <a:lstStyle/>
                    <a:p>
                      <a:r>
                        <a:rPr sz="1300" b="0" i="0">
                          <a:solidFill>
                            <a:srgbClr val="1A1A1A"/>
                          </a:solidFill>
                          <a:latin typeface="Calibri"/>
                        </a:rPr>
                        <a:t>Not valued by manager (52%)</a:t>
                      </a:r>
                    </a:p>
                  </a:txBody>
                  <a:tcPr marL="54864" marR="54864" marT="27432" marB="27432" anchor="ctr">
                    <a:solidFill>
                      <a:srgbClr val="E8F1EA"/>
                    </a:solidFill>
                  </a:tcPr>
                </a:tc>
                <a:tc>
                  <a:txBody>
                    <a:bodyPr wrap="square"/>
                    <a:lstStyle/>
                    <a:p>
                      <a:r>
                        <a:rPr sz="1300" b="0" i="0">
                          <a:solidFill>
                            <a:srgbClr val="1A1A1A"/>
                          </a:solidFill>
                          <a:latin typeface="Calibri"/>
                        </a:rPr>
                        <a:t>Work-life balance</a:t>
                      </a:r>
                    </a:p>
                  </a:txBody>
                  <a:tcPr marL="54864" marR="54864" marT="27432" marB="27432" anchor="ctr">
                    <a:solidFill>
                      <a:srgbClr val="E8F1EA"/>
                    </a:solidFill>
                  </a:tcPr>
                </a:tc>
              </a:tr>
              <a:tr h="685800">
                <a:tc>
                  <a:txBody>
                    <a:bodyPr wrap="square"/>
                    <a:lstStyle/>
                    <a:p>
                      <a:r>
                        <a:rPr sz="1300" b="0" i="0">
                          <a:solidFill>
                            <a:srgbClr val="1A1A1A"/>
                          </a:solidFill>
                          <a:latin typeface="Calibri"/>
                        </a:rPr>
                        <a:t>No sense of belonging (51%)</a:t>
                      </a:r>
                    </a:p>
                  </a:txBody>
                  <a:tcPr marL="54864" marR="54864" marT="27432" marB="27432" anchor="ctr">
                    <a:solidFill>
                      <a:srgbClr val="FFFFFF"/>
                    </a:solidFill>
                  </a:tcPr>
                </a:tc>
                <a:tc>
                  <a:txBody>
                    <a:bodyPr wrap="square"/>
                    <a:lstStyle/>
                    <a:p>
                      <a:r>
                        <a:rPr sz="1300" b="0" i="0">
                          <a:solidFill>
                            <a:srgbClr val="1A1A1A"/>
                          </a:solidFill>
                          <a:latin typeface="Calibri"/>
                        </a:rPr>
                        <a:t>Poor health</a:t>
                      </a:r>
                    </a:p>
                  </a:txBody>
                  <a:tcPr marL="54864" marR="54864" marT="27432" marB="27432" anchor="ctr">
                    <a:solidFill>
                      <a:srgbClr val="FFFFFF"/>
                    </a:solidFill>
                  </a:tcPr>
                </a:tc>
              </a:tr>
            </a:tbl>
          </a:graphicData>
        </a:graphic>
      </p:graphicFrame>
      <p:sp>
        <p:nvSpPr>
          <p:cNvPr id="13" name="Rounded Rectangle 12"/>
          <p:cNvSpPr/>
          <p:nvPr/>
        </p:nvSpPr>
        <p:spPr>
          <a:xfrm>
            <a:off x="8229600" y="1051560"/>
            <a:ext cx="3703320" cy="2743200"/>
          </a:xfrm>
          <a:prstGeom prst="roundRect">
            <a:avLst>
              <a:gd name="adj" fmla="val 6000"/>
            </a:avLst>
          </a:prstGeom>
          <a:solidFill>
            <a:srgbClr val="FFFFFF"/>
          </a:solidFill>
          <a:ln w="19050">
            <a:solidFill>
              <a:srgbClr val="99C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229600" y="1051560"/>
            <a:ext cx="3703320" cy="457200"/>
          </a:xfrm>
          <a:prstGeom prst="roundRect">
            <a:avLst>
              <a:gd name="adj" fmla="val 6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0" y="1371600"/>
            <a:ext cx="3703320" cy="137160"/>
          </a:xfrm>
          <a:prstGeom prst="rect">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0" y="1051560"/>
            <a:ext cx="3520439" cy="457200"/>
          </a:xfrm>
          <a:prstGeom prst="rect">
            <a:avLst/>
          </a:prstGeom>
          <a:noFill/>
        </p:spPr>
        <p:txBody>
          <a:bodyPr wrap="square" anchor="ctr" lIns="45720" rIns="45720" tIns="18288" bIns="18288"/>
          <a:lstStyle/>
          <a:p>
            <a:pPr algn="l"/>
            <a:r>
              <a:rPr sz="1900" b="1" i="0">
                <a:solidFill>
                  <a:srgbClr val="FFFFFF"/>
                </a:solidFill>
                <a:latin typeface="Calibri"/>
              </a:rPr>
              <a:t>Core insight</a:t>
            </a:r>
          </a:p>
        </p:txBody>
      </p:sp>
      <p:sp>
        <p:nvSpPr>
          <p:cNvPr id="17" name="TextBox 16"/>
          <p:cNvSpPr txBox="1"/>
          <p:nvPr/>
        </p:nvSpPr>
        <p:spPr>
          <a:xfrm>
            <a:off x="8302752" y="1563624"/>
            <a:ext cx="3557015" cy="2194560"/>
          </a:xfrm>
          <a:prstGeom prst="rect">
            <a:avLst/>
          </a:prstGeom>
          <a:noFill/>
        </p:spPr>
        <p:txBody>
          <a:bodyPr wrap="square" anchor="t" lIns="54864" rIns="54864" tIns="27432" bIns="27432"/>
          <a:lstStyle/>
          <a:p>
            <a:pPr>
              <a:spcAft>
                <a:spcPts val="300"/>
              </a:spcAft>
            </a:pPr>
            <a:r>
              <a:rPr sz="1800" b="1" i="0">
                <a:solidFill>
                  <a:srgbClr val="1A1A1A"/>
                </a:solidFill>
                <a:latin typeface="Calibri"/>
              </a:rPr>
              <a:t>• </a:t>
            </a:r>
            <a:r>
              <a:rPr sz="1800" b="1" i="0">
                <a:solidFill>
                  <a:srgbClr val="1A1A1A"/>
                </a:solidFill>
                <a:latin typeface="Calibri"/>
              </a:rPr>
              <a:t>Relational vs transactional</a:t>
            </a:r>
            <a:r>
              <a:rPr sz="1800" b="0" i="0">
                <a:solidFill>
                  <a:srgbClr val="1A1A1A"/>
                </a:solidFill>
                <a:latin typeface="Calibri"/>
              </a:rPr>
              <a:t> disconnect</a:t>
            </a:r>
          </a:p>
          <a:p>
            <a:pPr>
              <a:spcAft>
                <a:spcPts val="300"/>
              </a:spcAft>
            </a:pPr>
            <a:r>
              <a:rPr sz="1800" b="1" i="0">
                <a:solidFill>
                  <a:srgbClr val="1A1A1A"/>
                </a:solidFill>
                <a:latin typeface="Calibri"/>
              </a:rPr>
              <a:t>• </a:t>
            </a:r>
            <a:r>
              <a:rPr sz="1800" b="0" i="0">
                <a:solidFill>
                  <a:srgbClr val="1A1A1A"/>
                </a:solidFill>
                <a:latin typeface="Calibri"/>
              </a:rPr>
              <a:t>Pay raises/bonuses feel transactional; people want to feel valued, connected, included</a:t>
            </a:r>
          </a:p>
          <a:p>
            <a:pPr>
              <a:spcAft>
                <a:spcPts val="300"/>
              </a:spcAft>
            </a:pPr>
            <a:r>
              <a:rPr sz="1800" b="1" i="0">
                <a:solidFill>
                  <a:srgbClr val="1A1A1A"/>
                </a:solidFill>
                <a:latin typeface="Calibri"/>
              </a:rPr>
              <a:t>• </a:t>
            </a:r>
            <a:r>
              <a:rPr sz="1800" b="0" i="0">
                <a:solidFill>
                  <a:srgbClr val="1A1A1A"/>
                </a:solidFill>
                <a:latin typeface="Calibri"/>
              </a:rPr>
              <a:t>'Listen → Understand → Act'</a:t>
            </a:r>
          </a:p>
        </p:txBody>
      </p:sp>
      <p:sp>
        <p:nvSpPr>
          <p:cNvPr id="18" name="Rounded Rectangle 17"/>
          <p:cNvSpPr/>
          <p:nvPr/>
        </p:nvSpPr>
        <p:spPr>
          <a:xfrm>
            <a:off x="274320" y="3931920"/>
            <a:ext cx="5760720" cy="2606040"/>
          </a:xfrm>
          <a:prstGeom prst="roundRect">
            <a:avLst>
              <a:gd name="adj" fmla="val 6000"/>
            </a:avLst>
          </a:prstGeom>
          <a:solidFill>
            <a:srgbClr val="FFFFFF"/>
          </a:solidFill>
          <a:ln w="19050">
            <a:solidFill>
              <a:srgbClr val="99C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74320" y="3931920"/>
            <a:ext cx="5760720" cy="457200"/>
          </a:xfrm>
          <a:prstGeom prst="roundRect">
            <a:avLst>
              <a:gd name="adj" fmla="val 6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74320" y="4251959"/>
            <a:ext cx="5760720" cy="137160"/>
          </a:xfrm>
          <a:prstGeom prst="rect">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3931920"/>
            <a:ext cx="5577840" cy="457200"/>
          </a:xfrm>
          <a:prstGeom prst="rect">
            <a:avLst/>
          </a:prstGeom>
          <a:noFill/>
        </p:spPr>
        <p:txBody>
          <a:bodyPr wrap="square" anchor="ctr" lIns="45720" rIns="45720" tIns="18288" bIns="18288"/>
          <a:lstStyle/>
          <a:p>
            <a:pPr algn="l"/>
            <a:r>
              <a:rPr sz="1900" b="1" i="0">
                <a:solidFill>
                  <a:srgbClr val="FFFFFF"/>
                </a:solidFill>
                <a:latin typeface="Calibri"/>
              </a:rPr>
              <a:t>5 actions: Attrition → Attraction</a:t>
            </a:r>
          </a:p>
        </p:txBody>
      </p:sp>
      <p:sp>
        <p:nvSpPr>
          <p:cNvPr id="22" name="TextBox 21"/>
          <p:cNvSpPr txBox="1"/>
          <p:nvPr/>
        </p:nvSpPr>
        <p:spPr>
          <a:xfrm>
            <a:off x="347472" y="4443983"/>
            <a:ext cx="5614416" cy="2057400"/>
          </a:xfrm>
          <a:prstGeom prst="rect">
            <a:avLst/>
          </a:prstGeom>
          <a:noFill/>
        </p:spPr>
        <p:txBody>
          <a:bodyPr wrap="square" anchor="t" lIns="54864" rIns="54864" tIns="27432" bIns="27432"/>
          <a:lstStyle/>
          <a:p>
            <a:pPr>
              <a:spcAft>
                <a:spcPts val="300"/>
              </a:spcAft>
            </a:pPr>
            <a:r>
              <a:rPr sz="1700" b="1" i="0">
                <a:solidFill>
                  <a:srgbClr val="1A1A1A"/>
                </a:solidFill>
                <a:latin typeface="Calibri"/>
              </a:rPr>
              <a:t>• </a:t>
            </a:r>
            <a:r>
              <a:rPr sz="1700" b="0" i="0">
                <a:solidFill>
                  <a:srgbClr val="1A1A1A"/>
                </a:solidFill>
                <a:latin typeface="Calibri"/>
              </a:rPr>
              <a:t>1 Listen systematically (involve employees) · 2 Strengthen managers &amp; hybrid leadership</a:t>
            </a:r>
          </a:p>
          <a:p>
            <a:pPr>
              <a:spcAft>
                <a:spcPts val="300"/>
              </a:spcAft>
            </a:pPr>
            <a:r>
              <a:rPr sz="1700" b="1" i="0">
                <a:solidFill>
                  <a:srgbClr val="1A1A1A"/>
                </a:solidFill>
                <a:latin typeface="Calibri"/>
              </a:rPr>
              <a:t>• </a:t>
            </a:r>
            <a:r>
              <a:rPr sz="1700" b="0" i="0">
                <a:solidFill>
                  <a:srgbClr val="1A1A1A"/>
                </a:solidFill>
                <a:latin typeface="Calibri"/>
              </a:rPr>
              <a:t>3 Redesign benefits (childcare: Patagonia ~100% new-mother retention) · 4 Career paths &amp; recognition (Waffle House)</a:t>
            </a:r>
          </a:p>
          <a:p>
            <a:pPr>
              <a:spcAft>
                <a:spcPts val="300"/>
              </a:spcAft>
            </a:pPr>
            <a:r>
              <a:rPr sz="1700" b="1" i="0">
                <a:solidFill>
                  <a:srgbClr val="1A1A1A"/>
                </a:solidFill>
                <a:latin typeface="Calibri"/>
              </a:rPr>
              <a:t>• </a:t>
            </a:r>
            <a:r>
              <a:rPr sz="1700" b="0" i="0">
                <a:solidFill>
                  <a:srgbClr val="1A1A1A"/>
                </a:solidFill>
                <a:latin typeface="Calibri"/>
              </a:rPr>
              <a:t>5 Build community: flexibility + connection (coffee chats, staycations)</a:t>
            </a:r>
          </a:p>
        </p:txBody>
      </p:sp>
      <p:sp>
        <p:nvSpPr>
          <p:cNvPr id="23" name="Rounded Rectangle 22"/>
          <p:cNvSpPr/>
          <p:nvPr/>
        </p:nvSpPr>
        <p:spPr>
          <a:xfrm>
            <a:off x="6172200" y="3931920"/>
            <a:ext cx="5760720" cy="2606040"/>
          </a:xfrm>
          <a:prstGeom prst="roundRect">
            <a:avLst>
              <a:gd name="adj" fmla="val 6000"/>
            </a:avLst>
          </a:prstGeom>
          <a:solidFill>
            <a:srgbClr val="FFFFFF"/>
          </a:solidFill>
          <a:ln w="19050">
            <a:solidFill>
              <a:srgbClr val="99C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172200" y="3931920"/>
            <a:ext cx="5760720" cy="457200"/>
          </a:xfrm>
          <a:prstGeom prst="roundRect">
            <a:avLst>
              <a:gd name="adj" fmla="val 6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72200" y="4251959"/>
            <a:ext cx="5760720" cy="137160"/>
          </a:xfrm>
          <a:prstGeom prst="rect">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63640" y="3931920"/>
            <a:ext cx="5577840" cy="457200"/>
          </a:xfrm>
          <a:prstGeom prst="rect">
            <a:avLst/>
          </a:prstGeom>
          <a:noFill/>
        </p:spPr>
        <p:txBody>
          <a:bodyPr wrap="square" anchor="ctr" lIns="45720" rIns="45720" tIns="18288" bIns="18288"/>
          <a:lstStyle/>
          <a:p>
            <a:pPr algn="l"/>
            <a:r>
              <a:rPr sz="1900" b="1" i="0">
                <a:solidFill>
                  <a:srgbClr val="FFFFFF"/>
                </a:solidFill>
                <a:latin typeface="Calibri"/>
              </a:rPr>
              <a:t>2.6 Takeaways for managers (p. 69)</a:t>
            </a:r>
          </a:p>
        </p:txBody>
      </p:sp>
      <p:sp>
        <p:nvSpPr>
          <p:cNvPr id="27" name="TextBox 26"/>
          <p:cNvSpPr txBox="1"/>
          <p:nvPr/>
        </p:nvSpPr>
        <p:spPr>
          <a:xfrm>
            <a:off x="6245352" y="4443983"/>
            <a:ext cx="5614416" cy="2057400"/>
          </a:xfrm>
          <a:prstGeom prst="rect">
            <a:avLst/>
          </a:prstGeom>
          <a:noFill/>
        </p:spPr>
        <p:txBody>
          <a:bodyPr wrap="square" anchor="t" lIns="54864" rIns="54864" tIns="27432" bIns="27432"/>
          <a:lstStyle/>
          <a:p>
            <a:pPr>
              <a:spcAft>
                <a:spcPts val="300"/>
              </a:spcAft>
            </a:pPr>
            <a:r>
              <a:rPr sz="1500" b="1" i="0">
                <a:solidFill>
                  <a:srgbClr val="1A1A1A"/>
                </a:solidFill>
                <a:latin typeface="Calibri"/>
              </a:rPr>
              <a:t>• </a:t>
            </a:r>
            <a:r>
              <a:rPr sz="1500" b="0" i="0">
                <a:solidFill>
                  <a:srgbClr val="1A1A1A"/>
                </a:solidFill>
                <a:latin typeface="Calibri"/>
              </a:rPr>
              <a:t>Hire people whose values match the culture · reinforce beliefs to change behaviour</a:t>
            </a:r>
          </a:p>
          <a:p>
            <a:pPr>
              <a:spcAft>
                <a:spcPts val="300"/>
              </a:spcAft>
            </a:pPr>
            <a:r>
              <a:rPr sz="1500" b="1" i="0">
                <a:solidFill>
                  <a:srgbClr val="1A1A1A"/>
                </a:solidFill>
                <a:latin typeface="Calibri"/>
              </a:rPr>
              <a:t>• </a:t>
            </a:r>
            <a:r>
              <a:rPr sz="1500" b="0" i="0">
                <a:solidFill>
                  <a:srgbClr val="1A1A1A"/>
                </a:solidFill>
                <a:latin typeface="Calibri"/>
              </a:rPr>
              <a:t>Commitment is emotional: build team spirit · stay positive &amp; model engagement</a:t>
            </a:r>
          </a:p>
          <a:p>
            <a:pPr>
              <a:spcAft>
                <a:spcPts val="300"/>
              </a:spcAft>
            </a:pPr>
            <a:r>
              <a:rPr sz="1500" b="1" i="0">
                <a:solidFill>
                  <a:srgbClr val="1A1A1A"/>
                </a:solidFill>
                <a:latin typeface="Calibri"/>
              </a:rPr>
              <a:t>• </a:t>
            </a:r>
            <a:r>
              <a:rPr sz="1500" b="0" i="0">
                <a:solidFill>
                  <a:srgbClr val="1A1A1A"/>
                </a:solidFill>
                <a:latin typeface="Calibri"/>
              </a:rPr>
              <a:t>Many quit within 1 year → discuss expectations &amp; socialise newcomers</a:t>
            </a:r>
          </a:p>
          <a:p>
            <a:pPr>
              <a:spcAft>
                <a:spcPts val="300"/>
              </a:spcAft>
            </a:pPr>
            <a:r>
              <a:rPr sz="1500" b="1" i="0">
                <a:solidFill>
                  <a:srgbClr val="1A1A1A"/>
                </a:solidFill>
                <a:latin typeface="Calibri"/>
              </a:rPr>
              <a:t>• </a:t>
            </a:r>
            <a:r>
              <a:rPr sz="1500" b="1" i="0">
                <a:solidFill>
                  <a:srgbClr val="1A1A1A"/>
                </a:solidFill>
                <a:latin typeface="Calibri"/>
              </a:rPr>
              <a:t>Verdict for 'myth?' essay</a:t>
            </a:r>
            <a:r>
              <a:rPr sz="1500" b="0" i="0">
                <a:solidFill>
                  <a:srgbClr val="1A1A1A"/>
                </a:solidFill>
                <a:latin typeface="Calibri"/>
              </a:rPr>
              <a:t>: satisfaction is REAL &amp; measurable, but money alone won't buy it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3000" b="1" i="0">
                <a:solidFill>
                  <a:srgbClr val="FFFFFF"/>
                </a:solidFill>
                <a:latin typeface="Calibri"/>
              </a:rPr>
              <a:t>MODULE 3: Emotions &amp; Social Perception</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DEC7E7"/>
                </a:solidFill>
                <a:latin typeface="Calibri"/>
              </a:rPr>
              <a:t>MODULE 3 · EMOTIONS &amp; SOCIAL PERCEPTION</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Ch 3.5–3.6 · Ch 4.1–4.3 · R3 · Cases 7 &amp; 8</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28</a:t>
            </a:r>
          </a:p>
        </p:txBody>
      </p:sp>
      <p:sp>
        <p:nvSpPr>
          <p:cNvPr id="7" name="Rounded Rectangle 6"/>
          <p:cNvSpPr/>
          <p:nvPr/>
        </p:nvSpPr>
        <p:spPr>
          <a:xfrm>
            <a:off x="274320" y="1097280"/>
            <a:ext cx="5760720" cy="1371600"/>
          </a:xfrm>
          <a:prstGeom prst="roundRect">
            <a:avLst>
              <a:gd name="adj" fmla="val 6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2000" b="1" i="0">
                <a:solidFill>
                  <a:srgbClr val="FFFFFF"/>
                </a:solidFill>
                <a:latin typeface="Calibri"/>
              </a:rPr>
              <a:t>SESSION 8: Emotional dynamics</a:t>
            </a:r>
          </a:p>
          <a:p>
            <a:pPr algn="ctr"/>
            <a:r>
              <a:rPr sz="1700" b="0" i="0">
                <a:solidFill>
                  <a:srgbClr val="FFFFFF"/>
                </a:solidFill>
                <a:latin typeface="Calibri"/>
              </a:rPr>
              <a:t>Does emotion affect organisational effectiveness? · Ch 3.5 EI, 3.6 Emotions · R3 · Case 7 Prudence</a:t>
            </a:r>
          </a:p>
        </p:txBody>
      </p:sp>
      <p:sp>
        <p:nvSpPr>
          <p:cNvPr id="8" name="Rounded Rectangle 7"/>
          <p:cNvSpPr/>
          <p:nvPr/>
        </p:nvSpPr>
        <p:spPr>
          <a:xfrm>
            <a:off x="6172200" y="1097280"/>
            <a:ext cx="5760720" cy="1371600"/>
          </a:xfrm>
          <a:prstGeom prst="roundRect">
            <a:avLst>
              <a:gd name="adj" fmla="val 6000"/>
            </a:avLst>
          </a:prstGeom>
          <a:solidFill>
            <a:srgbClr val="9C57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2000" b="1" i="0">
                <a:solidFill>
                  <a:srgbClr val="FFFFFF"/>
                </a:solidFill>
                <a:latin typeface="Calibri"/>
              </a:rPr>
              <a:t>SESSIONS 9–10: Social perception</a:t>
            </a:r>
          </a:p>
          <a:p>
            <a:pPr algn="ctr"/>
            <a:r>
              <a:rPr sz="1700" b="0" i="0">
                <a:solidFill>
                  <a:srgbClr val="FFFFFF"/>
                </a:solidFill>
                <a:latin typeface="Calibri"/>
              </a:rPr>
              <a:t>Attribution, stereotypes &amp; biases · Ch 4.1 Perception, 4.2 Stereotypes, 4.3 Attributions · Case 8 Yelp</a:t>
            </a:r>
          </a:p>
        </p:txBody>
      </p:sp>
      <p:sp>
        <p:nvSpPr>
          <p:cNvPr id="9" name="Rounded Rectangle 8"/>
          <p:cNvSpPr/>
          <p:nvPr/>
        </p:nvSpPr>
        <p:spPr>
          <a:xfrm>
            <a:off x="274320" y="2651760"/>
            <a:ext cx="3794760" cy="3886200"/>
          </a:xfrm>
          <a:prstGeom prst="roundRect">
            <a:avLst>
              <a:gd name="adj" fmla="val 6000"/>
            </a:avLst>
          </a:prstGeom>
          <a:solidFill>
            <a:srgbClr val="FFFFFF"/>
          </a:solidFill>
          <a:ln w="19050">
            <a:solidFill>
              <a:srgbClr val="C39A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74320" y="2651760"/>
            <a:ext cx="3794760" cy="457200"/>
          </a:xfrm>
          <a:prstGeom prst="roundRect">
            <a:avLst>
              <a:gd name="adj" fmla="val 6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4320" y="2971800"/>
            <a:ext cx="3794760" cy="137160"/>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2651760"/>
            <a:ext cx="3611880" cy="457200"/>
          </a:xfrm>
          <a:prstGeom prst="rect">
            <a:avLst/>
          </a:prstGeom>
          <a:noFill/>
        </p:spPr>
        <p:txBody>
          <a:bodyPr wrap="square" anchor="ctr" lIns="45720" rIns="45720" tIns="18288" bIns="18288"/>
          <a:lstStyle/>
          <a:p>
            <a:pPr algn="l"/>
            <a:r>
              <a:rPr sz="1900" b="1" i="0">
                <a:solidFill>
                  <a:srgbClr val="FFFFFF"/>
                </a:solidFill>
                <a:latin typeface="Calibri"/>
              </a:rPr>
              <a:t>Emotions toolkit</a:t>
            </a:r>
          </a:p>
        </p:txBody>
      </p:sp>
      <p:sp>
        <p:nvSpPr>
          <p:cNvPr id="13" name="TextBox 12"/>
          <p:cNvSpPr txBox="1"/>
          <p:nvPr/>
        </p:nvSpPr>
        <p:spPr>
          <a:xfrm>
            <a:off x="347472" y="3163824"/>
            <a:ext cx="3648456" cy="3337560"/>
          </a:xfrm>
          <a:prstGeom prst="rect">
            <a:avLst/>
          </a:prstGeom>
          <a:noFill/>
        </p:spPr>
        <p:txBody>
          <a:bodyPr wrap="square" anchor="t" lIns="54864" rIns="54864" tIns="27432" bIns="27432"/>
          <a:lstStyle/>
          <a:p>
            <a:pPr>
              <a:spcAft>
                <a:spcPts val="300"/>
              </a:spcAft>
            </a:pPr>
            <a:r>
              <a:rPr sz="2000" b="1" i="0">
                <a:solidFill>
                  <a:srgbClr val="1A1A1A"/>
                </a:solidFill>
                <a:latin typeface="Calibri"/>
              </a:rPr>
              <a:t>• </a:t>
            </a:r>
            <a:r>
              <a:rPr sz="2000" b="0" i="0">
                <a:solidFill>
                  <a:srgbClr val="1A1A1A"/>
                </a:solidFill>
                <a:latin typeface="Calibri"/>
              </a:rPr>
              <a:t>Emotional intelligence (Goleman 4 domains)</a:t>
            </a:r>
          </a:p>
          <a:p>
            <a:pPr>
              <a:spcAft>
                <a:spcPts val="300"/>
              </a:spcAft>
            </a:pPr>
            <a:r>
              <a:rPr sz="2000" b="1" i="0">
                <a:solidFill>
                  <a:srgbClr val="1A1A1A"/>
                </a:solidFill>
                <a:latin typeface="Calibri"/>
              </a:rPr>
              <a:t>• </a:t>
            </a:r>
            <a:r>
              <a:rPr sz="2000" b="0" i="0">
                <a:solidFill>
                  <a:srgbClr val="1A1A1A"/>
                </a:solidFill>
                <a:latin typeface="Calibri"/>
              </a:rPr>
              <a:t>Felt vs displayed emotions</a:t>
            </a:r>
          </a:p>
          <a:p>
            <a:pPr>
              <a:spcAft>
                <a:spcPts val="300"/>
              </a:spcAft>
            </a:pPr>
            <a:r>
              <a:rPr sz="2000" b="1" i="0">
                <a:solidFill>
                  <a:srgbClr val="1A1A1A"/>
                </a:solidFill>
                <a:latin typeface="Calibri"/>
              </a:rPr>
              <a:t>• </a:t>
            </a:r>
            <a:r>
              <a:rPr sz="2000" b="0" i="0">
                <a:solidFill>
                  <a:srgbClr val="1A1A1A"/>
                </a:solidFill>
                <a:latin typeface="Calibri"/>
              </a:rPr>
              <a:t>Goal congruence: +, −, mixed</a:t>
            </a:r>
          </a:p>
          <a:p>
            <a:pPr>
              <a:spcAft>
                <a:spcPts val="300"/>
              </a:spcAft>
            </a:pPr>
            <a:r>
              <a:rPr sz="2000" b="1" i="0">
                <a:solidFill>
                  <a:srgbClr val="1A1A1A"/>
                </a:solidFill>
                <a:latin typeface="Calibri"/>
              </a:rPr>
              <a:t>• </a:t>
            </a:r>
            <a:r>
              <a:rPr sz="2000" b="0" i="0">
                <a:solidFill>
                  <a:srgbClr val="1A1A1A"/>
                </a:solidFill>
                <a:latin typeface="Calibri"/>
              </a:rPr>
              <a:t>Past (anger) vs future (fear)</a:t>
            </a:r>
          </a:p>
          <a:p>
            <a:pPr>
              <a:spcAft>
                <a:spcPts val="300"/>
              </a:spcAft>
            </a:pPr>
            <a:r>
              <a:rPr sz="2000" b="1" i="0">
                <a:solidFill>
                  <a:srgbClr val="1A1A1A"/>
                </a:solidFill>
                <a:latin typeface="Calibri"/>
              </a:rPr>
              <a:t>• </a:t>
            </a:r>
            <a:r>
              <a:rPr sz="2000" b="0" i="0">
                <a:solidFill>
                  <a:srgbClr val="1A1A1A"/>
                </a:solidFill>
                <a:latin typeface="Calibri"/>
              </a:rPr>
              <a:t>Display norms; managing anger</a:t>
            </a:r>
          </a:p>
          <a:p>
            <a:pPr>
              <a:spcAft>
                <a:spcPts val="300"/>
              </a:spcAft>
            </a:pPr>
            <a:r>
              <a:rPr sz="2000" b="1" i="0">
                <a:solidFill>
                  <a:srgbClr val="1A1A1A"/>
                </a:solidFill>
                <a:latin typeface="Calibri"/>
              </a:rPr>
              <a:t>• </a:t>
            </a:r>
            <a:r>
              <a:rPr sz="2000" b="0" i="0">
                <a:solidFill>
                  <a:srgbClr val="1A1A1A"/>
                </a:solidFill>
                <a:latin typeface="Calibri"/>
              </a:rPr>
              <a:t>R3: resistance = emotional data</a:t>
            </a:r>
          </a:p>
        </p:txBody>
      </p:sp>
      <p:sp>
        <p:nvSpPr>
          <p:cNvPr id="14" name="Rounded Rectangle 13"/>
          <p:cNvSpPr/>
          <p:nvPr/>
        </p:nvSpPr>
        <p:spPr>
          <a:xfrm>
            <a:off x="4206240" y="2651760"/>
            <a:ext cx="3794760" cy="3886200"/>
          </a:xfrm>
          <a:prstGeom prst="roundRect">
            <a:avLst>
              <a:gd name="adj" fmla="val 6000"/>
            </a:avLst>
          </a:prstGeom>
          <a:solidFill>
            <a:srgbClr val="FFFFFF"/>
          </a:solidFill>
          <a:ln w="19050">
            <a:solidFill>
              <a:srgbClr val="C39A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206240" y="2651760"/>
            <a:ext cx="3794760" cy="457200"/>
          </a:xfrm>
          <a:prstGeom prst="roundRect">
            <a:avLst>
              <a:gd name="adj" fmla="val 6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06240" y="2971800"/>
            <a:ext cx="3794760" cy="137160"/>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97679" y="2651760"/>
            <a:ext cx="3611880" cy="457200"/>
          </a:xfrm>
          <a:prstGeom prst="rect">
            <a:avLst/>
          </a:prstGeom>
          <a:noFill/>
        </p:spPr>
        <p:txBody>
          <a:bodyPr wrap="square" anchor="ctr" lIns="45720" rIns="45720" tIns="18288" bIns="18288"/>
          <a:lstStyle/>
          <a:p>
            <a:pPr algn="l"/>
            <a:r>
              <a:rPr sz="1900" b="1" i="0">
                <a:solidFill>
                  <a:srgbClr val="FFFFFF"/>
                </a:solidFill>
                <a:latin typeface="Calibri"/>
              </a:rPr>
              <a:t>Perception toolkit</a:t>
            </a:r>
          </a:p>
        </p:txBody>
      </p:sp>
      <p:sp>
        <p:nvSpPr>
          <p:cNvPr id="18" name="TextBox 17"/>
          <p:cNvSpPr txBox="1"/>
          <p:nvPr/>
        </p:nvSpPr>
        <p:spPr>
          <a:xfrm>
            <a:off x="4279392" y="3163824"/>
            <a:ext cx="3648456" cy="3337560"/>
          </a:xfrm>
          <a:prstGeom prst="rect">
            <a:avLst/>
          </a:prstGeom>
          <a:noFill/>
        </p:spPr>
        <p:txBody>
          <a:bodyPr wrap="square" anchor="t" lIns="54864" rIns="54864" tIns="27432" bIns="27432"/>
          <a:lstStyle/>
          <a:p>
            <a:pPr>
              <a:spcAft>
                <a:spcPts val="300"/>
              </a:spcAft>
            </a:pPr>
            <a:r>
              <a:rPr sz="2100" b="1" i="0">
                <a:solidFill>
                  <a:srgbClr val="1A1A1A"/>
                </a:solidFill>
                <a:latin typeface="Calibri"/>
              </a:rPr>
              <a:t>• </a:t>
            </a:r>
            <a:r>
              <a:rPr sz="2100" b="0" i="0">
                <a:solidFill>
                  <a:srgbClr val="1A1A1A"/>
                </a:solidFill>
                <a:latin typeface="Calibri"/>
              </a:rPr>
              <a:t>4 stages of social perception; schema</a:t>
            </a:r>
          </a:p>
          <a:p>
            <a:pPr>
              <a:spcAft>
                <a:spcPts val="300"/>
              </a:spcAft>
            </a:pPr>
            <a:r>
              <a:rPr sz="2100" b="1" i="0">
                <a:solidFill>
                  <a:srgbClr val="1A1A1A"/>
                </a:solidFill>
                <a:latin typeface="Calibri"/>
              </a:rPr>
              <a:t>• </a:t>
            </a:r>
            <a:r>
              <a:rPr sz="2100" b="0" i="0">
                <a:solidFill>
                  <a:srgbClr val="1A1A1A"/>
                </a:solidFill>
                <a:latin typeface="Calibri"/>
              </a:rPr>
              <a:t>Person perception: perceiver · target · situation</a:t>
            </a:r>
          </a:p>
          <a:p>
            <a:pPr>
              <a:spcAft>
                <a:spcPts val="300"/>
              </a:spcAft>
            </a:pPr>
            <a:r>
              <a:rPr sz="2100" b="1" i="0">
                <a:solidFill>
                  <a:srgbClr val="1A1A1A"/>
                </a:solidFill>
                <a:latin typeface="Calibri"/>
              </a:rPr>
              <a:t>• </a:t>
            </a:r>
            <a:r>
              <a:rPr sz="2100" b="0" i="0">
                <a:solidFill>
                  <a:srgbClr val="1A1A1A"/>
                </a:solidFill>
                <a:latin typeface="Calibri"/>
              </a:rPr>
              <a:t>Implicit cognition (bias)</a:t>
            </a:r>
          </a:p>
          <a:p>
            <a:pPr>
              <a:spcAft>
                <a:spcPts val="300"/>
              </a:spcAft>
            </a:pPr>
            <a:r>
              <a:rPr sz="2100" b="1" i="0">
                <a:solidFill>
                  <a:srgbClr val="1A1A1A"/>
                </a:solidFill>
                <a:latin typeface="Calibri"/>
              </a:rPr>
              <a:t>• </a:t>
            </a:r>
            <a:r>
              <a:rPr sz="2100" b="0" i="0">
                <a:solidFill>
                  <a:srgbClr val="1A1A1A"/>
                </a:solidFill>
                <a:latin typeface="Calibri"/>
              </a:rPr>
              <a:t>Stereotypes: form → maintain → reduce</a:t>
            </a:r>
          </a:p>
          <a:p>
            <a:pPr>
              <a:spcAft>
                <a:spcPts val="300"/>
              </a:spcAft>
            </a:pPr>
            <a:r>
              <a:rPr sz="2100" b="1" i="0">
                <a:solidFill>
                  <a:srgbClr val="1A1A1A"/>
                </a:solidFill>
                <a:latin typeface="Calibri"/>
              </a:rPr>
              <a:t>• </a:t>
            </a:r>
            <a:r>
              <a:rPr sz="2100" b="0" i="0">
                <a:solidFill>
                  <a:srgbClr val="1A1A1A"/>
                </a:solidFill>
                <a:latin typeface="Calibri"/>
              </a:rPr>
              <a:t>Prudence's 'maze' of metaphors</a:t>
            </a:r>
          </a:p>
        </p:txBody>
      </p:sp>
      <p:sp>
        <p:nvSpPr>
          <p:cNvPr id="19" name="Rounded Rectangle 18"/>
          <p:cNvSpPr/>
          <p:nvPr/>
        </p:nvSpPr>
        <p:spPr>
          <a:xfrm>
            <a:off x="8138160" y="2651760"/>
            <a:ext cx="3794760" cy="3886200"/>
          </a:xfrm>
          <a:prstGeom prst="roundRect">
            <a:avLst>
              <a:gd name="adj" fmla="val 6000"/>
            </a:avLst>
          </a:prstGeom>
          <a:solidFill>
            <a:srgbClr val="FFFFFF"/>
          </a:solidFill>
          <a:ln w="19050">
            <a:solidFill>
              <a:srgbClr val="C39A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138160" y="2651760"/>
            <a:ext cx="3794760" cy="457200"/>
          </a:xfrm>
          <a:prstGeom prst="roundRect">
            <a:avLst>
              <a:gd name="adj" fmla="val 6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38160" y="2971800"/>
            <a:ext cx="3794760" cy="137160"/>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0" y="2651760"/>
            <a:ext cx="3611880" cy="457200"/>
          </a:xfrm>
          <a:prstGeom prst="rect">
            <a:avLst/>
          </a:prstGeom>
          <a:noFill/>
        </p:spPr>
        <p:txBody>
          <a:bodyPr wrap="square" anchor="ctr" lIns="45720" rIns="45720" tIns="18288" bIns="18288"/>
          <a:lstStyle/>
          <a:p>
            <a:pPr algn="l"/>
            <a:r>
              <a:rPr sz="1900" b="1" i="0">
                <a:solidFill>
                  <a:srgbClr val="FFFFFF"/>
                </a:solidFill>
                <a:latin typeface="Calibri"/>
              </a:rPr>
              <a:t>Attribution toolkit</a:t>
            </a:r>
          </a:p>
        </p:txBody>
      </p:sp>
      <p:sp>
        <p:nvSpPr>
          <p:cNvPr id="23" name="TextBox 22"/>
          <p:cNvSpPr txBox="1"/>
          <p:nvPr/>
        </p:nvSpPr>
        <p:spPr>
          <a:xfrm>
            <a:off x="8211312" y="3163824"/>
            <a:ext cx="3648456" cy="3337560"/>
          </a:xfrm>
          <a:prstGeom prst="rect">
            <a:avLst/>
          </a:prstGeom>
          <a:noFill/>
        </p:spPr>
        <p:txBody>
          <a:bodyPr wrap="square" anchor="t" lIns="54864" rIns="54864" tIns="27432" bIns="27432"/>
          <a:lstStyle/>
          <a:p>
            <a:pPr>
              <a:spcAft>
                <a:spcPts val="300"/>
              </a:spcAft>
            </a:pPr>
            <a:r>
              <a:rPr sz="2100" b="1" i="0">
                <a:solidFill>
                  <a:srgbClr val="1A1A1A"/>
                </a:solidFill>
                <a:latin typeface="Calibri"/>
              </a:rPr>
              <a:t>• </a:t>
            </a:r>
            <a:r>
              <a:rPr sz="2100" b="0" i="0">
                <a:solidFill>
                  <a:srgbClr val="1A1A1A"/>
                </a:solidFill>
                <a:latin typeface="Calibri"/>
              </a:rPr>
              <a:t>Kelley: consensus, distinctiveness, consistency</a:t>
            </a:r>
          </a:p>
          <a:p>
            <a:pPr>
              <a:spcAft>
                <a:spcPts val="300"/>
              </a:spcAft>
            </a:pPr>
            <a:r>
              <a:rPr sz="2100" b="1" i="0">
                <a:solidFill>
                  <a:srgbClr val="1A1A1A"/>
                </a:solidFill>
                <a:latin typeface="Calibri"/>
              </a:rPr>
              <a:t>• </a:t>
            </a:r>
            <a:r>
              <a:rPr sz="2100" b="0" i="0">
                <a:solidFill>
                  <a:srgbClr val="1A1A1A"/>
                </a:solidFill>
                <a:latin typeface="Calibri"/>
              </a:rPr>
              <a:t>Internal vs external attributions</a:t>
            </a:r>
          </a:p>
          <a:p>
            <a:pPr>
              <a:spcAft>
                <a:spcPts val="300"/>
              </a:spcAft>
            </a:pPr>
            <a:r>
              <a:rPr sz="2100" b="1" i="0">
                <a:solidFill>
                  <a:srgbClr val="1A1A1A"/>
                </a:solidFill>
                <a:latin typeface="Calibri"/>
              </a:rPr>
              <a:t>• </a:t>
            </a:r>
            <a:r>
              <a:rPr sz="2100" b="0" i="0">
                <a:solidFill>
                  <a:srgbClr val="1A1A1A"/>
                </a:solidFill>
                <a:latin typeface="Calibri"/>
              </a:rPr>
              <a:t>Fundamental attribution bias</a:t>
            </a:r>
          </a:p>
          <a:p>
            <a:pPr>
              <a:spcAft>
                <a:spcPts val="300"/>
              </a:spcAft>
            </a:pPr>
            <a:r>
              <a:rPr sz="2100" b="1" i="0">
                <a:solidFill>
                  <a:srgbClr val="1A1A1A"/>
                </a:solidFill>
                <a:latin typeface="Calibri"/>
              </a:rPr>
              <a:t>• </a:t>
            </a:r>
            <a:r>
              <a:rPr sz="2100" b="0" i="0">
                <a:solidFill>
                  <a:srgbClr val="1A1A1A"/>
                </a:solidFill>
                <a:latin typeface="Calibri"/>
              </a:rPr>
              <a:t>Self-serving bias</a:t>
            </a:r>
          </a:p>
          <a:p>
            <a:pPr>
              <a:spcAft>
                <a:spcPts val="300"/>
              </a:spcAft>
            </a:pPr>
            <a:r>
              <a:rPr sz="2100" b="1" i="0">
                <a:solidFill>
                  <a:srgbClr val="1A1A1A"/>
                </a:solidFill>
                <a:latin typeface="Calibri"/>
              </a:rPr>
              <a:t>• </a:t>
            </a:r>
            <a:r>
              <a:rPr sz="2100" b="0" i="0">
                <a:solidFill>
                  <a:srgbClr val="1A1A1A"/>
                </a:solidFill>
                <a:latin typeface="Calibri"/>
              </a:rPr>
              <a:t>Yelp hiring: where bias enters &amp; how to fix it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600" b="1" i="0">
                <a:solidFill>
                  <a:srgbClr val="FFFFFF"/>
                </a:solidFill>
                <a:latin typeface="Calibri"/>
              </a:rPr>
              <a:t>3.5 Emotional Intelligence (EI): Goleman's 4 domains</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DEC7E7"/>
                </a:solidFill>
                <a:latin typeface="Calibri"/>
              </a:rPr>
              <a:t>MODULE 3 · EMOTIONS &amp; SOCIAL PERCEPTION</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Ch 3 pp. 105–110 · Table 3.6</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29</a:t>
            </a:r>
          </a:p>
        </p:txBody>
      </p:sp>
      <p:sp>
        <p:nvSpPr>
          <p:cNvPr id="7" name="Rounded Rectangle 6"/>
          <p:cNvSpPr/>
          <p:nvPr/>
        </p:nvSpPr>
        <p:spPr>
          <a:xfrm>
            <a:off x="274320" y="1051560"/>
            <a:ext cx="11658600" cy="685800"/>
          </a:xfrm>
          <a:prstGeom prst="roundRect">
            <a:avLst>
              <a:gd name="adj" fmla="val 6000"/>
            </a:avLst>
          </a:prstGeom>
          <a:solidFill>
            <a:srgbClr val="FFF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69848"/>
            <a:ext cx="11475720" cy="649224"/>
          </a:xfrm>
          <a:prstGeom prst="rect">
            <a:avLst/>
          </a:prstGeom>
          <a:noFill/>
        </p:spPr>
        <p:txBody>
          <a:bodyPr wrap="square" anchor="ctr" lIns="45720" rIns="45720" tIns="18288" bIns="18288"/>
          <a:lstStyle/>
          <a:p>
            <a:pPr algn="l"/>
            <a:r>
              <a:rPr sz="1600" b="1" i="0">
                <a:solidFill>
                  <a:srgbClr val="1A1A1A"/>
                </a:solidFill>
                <a:latin typeface="Calibri"/>
              </a:rPr>
              <a:t>EI = the ability to monitor your own and others' emotions, discriminate among them, and use this information to guide thinking and actions. A mix of personality + emotions; builds on Gardner's inter- &amp; intra-personal intelligences.</a:t>
            </a:r>
          </a:p>
        </p:txBody>
      </p:sp>
      <p:sp>
        <p:nvSpPr>
          <p:cNvPr id="9" name="Rounded Rectangle 8"/>
          <p:cNvSpPr/>
          <p:nvPr/>
        </p:nvSpPr>
        <p:spPr>
          <a:xfrm>
            <a:off x="274320" y="1874519"/>
            <a:ext cx="3154680" cy="2286000"/>
          </a:xfrm>
          <a:prstGeom prst="roundRect">
            <a:avLst>
              <a:gd name="adj" fmla="val 6000"/>
            </a:avLst>
          </a:prstGeom>
          <a:solidFill>
            <a:srgbClr val="EFE4F3"/>
          </a:solidFill>
          <a:ln w="19050">
            <a:solidFill>
              <a:srgbClr val="7B1F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920239"/>
            <a:ext cx="2971800" cy="411480"/>
          </a:xfrm>
          <a:prstGeom prst="rect">
            <a:avLst/>
          </a:prstGeom>
          <a:noFill/>
        </p:spPr>
        <p:txBody>
          <a:bodyPr wrap="square" anchor="t" lIns="45720" rIns="45720" tIns="18288" bIns="18288"/>
          <a:lstStyle/>
          <a:p>
            <a:pPr algn="l"/>
            <a:r>
              <a:rPr sz="1800" b="1" i="0">
                <a:solidFill>
                  <a:srgbClr val="7B1FA2"/>
                </a:solidFill>
                <a:latin typeface="Calibri"/>
              </a:rPr>
              <a:t>SELF-AWARENESS</a:t>
            </a:r>
          </a:p>
        </p:txBody>
      </p:sp>
      <p:sp>
        <p:nvSpPr>
          <p:cNvPr id="11" name="TextBox 10"/>
          <p:cNvSpPr txBox="1"/>
          <p:nvPr/>
        </p:nvSpPr>
        <p:spPr>
          <a:xfrm>
            <a:off x="365760" y="2331720"/>
            <a:ext cx="2971800" cy="1371600"/>
          </a:xfrm>
          <a:prstGeom prst="rect">
            <a:avLst/>
          </a:prstGeom>
          <a:noFill/>
        </p:spPr>
        <p:txBody>
          <a:bodyPr wrap="square" anchor="t" lIns="45720" rIns="45720" tIns="18288" bIns="18288"/>
          <a:lstStyle/>
          <a:p>
            <a:pPr algn="l"/>
            <a:r>
              <a:rPr sz="1800" b="0" i="0">
                <a:solidFill>
                  <a:srgbClr val="1A1A1A"/>
                </a:solidFill>
                <a:latin typeface="Calibri"/>
              </a:rPr>
              <a:t>Emotional self-awareness · accurate self-assessment · self-confidence</a:t>
            </a:r>
          </a:p>
        </p:txBody>
      </p:sp>
      <p:sp>
        <p:nvSpPr>
          <p:cNvPr id="12" name="TextBox 11"/>
          <p:cNvSpPr txBox="1"/>
          <p:nvPr/>
        </p:nvSpPr>
        <p:spPr>
          <a:xfrm>
            <a:off x="365760" y="3749039"/>
            <a:ext cx="2971800" cy="365760"/>
          </a:xfrm>
          <a:prstGeom prst="rect">
            <a:avLst/>
          </a:prstGeom>
          <a:noFill/>
        </p:spPr>
        <p:txBody>
          <a:bodyPr wrap="square" anchor="t" lIns="45720" rIns="45720" tIns="18288" bIns="18288"/>
          <a:lstStyle/>
          <a:p>
            <a:pPr algn="l"/>
            <a:r>
              <a:rPr sz="1200" b="0" i="1">
                <a:solidFill>
                  <a:srgbClr val="555555"/>
                </a:solidFill>
                <a:latin typeface="Calibri"/>
              </a:rPr>
              <a:t>PERSONAL competence</a:t>
            </a:r>
          </a:p>
        </p:txBody>
      </p:sp>
      <p:sp>
        <p:nvSpPr>
          <p:cNvPr id="13" name="Rounded Rectangle 12"/>
          <p:cNvSpPr/>
          <p:nvPr/>
        </p:nvSpPr>
        <p:spPr>
          <a:xfrm>
            <a:off x="3520439" y="1874519"/>
            <a:ext cx="3154680" cy="2286000"/>
          </a:xfrm>
          <a:prstGeom prst="roundRect">
            <a:avLst>
              <a:gd name="adj" fmla="val 6000"/>
            </a:avLst>
          </a:prstGeom>
          <a:solidFill>
            <a:srgbClr val="EFE4F3"/>
          </a:solidFill>
          <a:ln w="19050">
            <a:solidFill>
              <a:srgbClr val="7B1F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11879" y="1920239"/>
            <a:ext cx="2971800" cy="411480"/>
          </a:xfrm>
          <a:prstGeom prst="rect">
            <a:avLst/>
          </a:prstGeom>
          <a:noFill/>
        </p:spPr>
        <p:txBody>
          <a:bodyPr wrap="square" anchor="t" lIns="45720" rIns="45720" tIns="18288" bIns="18288"/>
          <a:lstStyle/>
          <a:p>
            <a:pPr algn="l"/>
            <a:r>
              <a:rPr sz="1800" b="1" i="0">
                <a:solidFill>
                  <a:srgbClr val="7B1FA2"/>
                </a:solidFill>
                <a:latin typeface="Calibri"/>
              </a:rPr>
              <a:t>SELF-MANAGEMENT</a:t>
            </a:r>
          </a:p>
        </p:txBody>
      </p:sp>
      <p:sp>
        <p:nvSpPr>
          <p:cNvPr id="15" name="TextBox 14"/>
          <p:cNvSpPr txBox="1"/>
          <p:nvPr/>
        </p:nvSpPr>
        <p:spPr>
          <a:xfrm>
            <a:off x="3611879" y="2331720"/>
            <a:ext cx="2971800" cy="1371600"/>
          </a:xfrm>
          <a:prstGeom prst="rect">
            <a:avLst/>
          </a:prstGeom>
          <a:noFill/>
        </p:spPr>
        <p:txBody>
          <a:bodyPr wrap="square" anchor="t" lIns="45720" rIns="45720" tIns="18288" bIns="18288"/>
          <a:lstStyle/>
          <a:p>
            <a:pPr algn="l"/>
            <a:r>
              <a:rPr sz="1800" b="0" i="0">
                <a:solidFill>
                  <a:srgbClr val="1A1A1A"/>
                </a:solidFill>
                <a:latin typeface="Calibri"/>
              </a:rPr>
              <a:t>Self-control · transparency · adaptability · achievement · initiative · optimism</a:t>
            </a:r>
          </a:p>
        </p:txBody>
      </p:sp>
      <p:sp>
        <p:nvSpPr>
          <p:cNvPr id="16" name="TextBox 15"/>
          <p:cNvSpPr txBox="1"/>
          <p:nvPr/>
        </p:nvSpPr>
        <p:spPr>
          <a:xfrm>
            <a:off x="3611879" y="3749039"/>
            <a:ext cx="2971800" cy="365760"/>
          </a:xfrm>
          <a:prstGeom prst="rect">
            <a:avLst/>
          </a:prstGeom>
          <a:noFill/>
        </p:spPr>
        <p:txBody>
          <a:bodyPr wrap="square" anchor="t" lIns="45720" rIns="45720" tIns="18288" bIns="18288"/>
          <a:lstStyle/>
          <a:p>
            <a:pPr algn="l"/>
            <a:r>
              <a:rPr sz="1200" b="0" i="1">
                <a:solidFill>
                  <a:srgbClr val="555555"/>
                </a:solidFill>
                <a:latin typeface="Calibri"/>
              </a:rPr>
              <a:t>PERSONAL competence</a:t>
            </a:r>
          </a:p>
        </p:txBody>
      </p:sp>
      <p:sp>
        <p:nvSpPr>
          <p:cNvPr id="17" name="Rounded Rectangle 16"/>
          <p:cNvSpPr/>
          <p:nvPr/>
        </p:nvSpPr>
        <p:spPr>
          <a:xfrm>
            <a:off x="274320" y="4251960"/>
            <a:ext cx="3154680" cy="2286000"/>
          </a:xfrm>
          <a:prstGeom prst="roundRect">
            <a:avLst>
              <a:gd name="adj" fmla="val 6000"/>
            </a:avLst>
          </a:prstGeom>
          <a:solidFill>
            <a:srgbClr val="EFE4F3"/>
          </a:solidFill>
          <a:ln w="19050">
            <a:solidFill>
              <a:srgbClr val="7B1F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 y="4297680"/>
            <a:ext cx="2971800" cy="411480"/>
          </a:xfrm>
          <a:prstGeom prst="rect">
            <a:avLst/>
          </a:prstGeom>
          <a:noFill/>
        </p:spPr>
        <p:txBody>
          <a:bodyPr wrap="square" anchor="t" lIns="45720" rIns="45720" tIns="18288" bIns="18288"/>
          <a:lstStyle/>
          <a:p>
            <a:pPr algn="l"/>
            <a:r>
              <a:rPr sz="1800" b="1" i="0">
                <a:solidFill>
                  <a:srgbClr val="7B1FA2"/>
                </a:solidFill>
                <a:latin typeface="Calibri"/>
              </a:rPr>
              <a:t>SOCIAL AWARENESS</a:t>
            </a:r>
          </a:p>
        </p:txBody>
      </p:sp>
      <p:sp>
        <p:nvSpPr>
          <p:cNvPr id="19" name="TextBox 18"/>
          <p:cNvSpPr txBox="1"/>
          <p:nvPr/>
        </p:nvSpPr>
        <p:spPr>
          <a:xfrm>
            <a:off x="365760" y="4709160"/>
            <a:ext cx="2971800" cy="1371600"/>
          </a:xfrm>
          <a:prstGeom prst="rect">
            <a:avLst/>
          </a:prstGeom>
          <a:noFill/>
        </p:spPr>
        <p:txBody>
          <a:bodyPr wrap="square" anchor="t" lIns="45720" rIns="45720" tIns="18288" bIns="18288"/>
          <a:lstStyle/>
          <a:p>
            <a:pPr algn="l"/>
            <a:r>
              <a:rPr sz="1800" b="0" i="0">
                <a:solidFill>
                  <a:srgbClr val="1A1A1A"/>
                </a:solidFill>
                <a:latin typeface="Calibri"/>
              </a:rPr>
              <a:t>Empathy · organisational awareness · service</a:t>
            </a:r>
          </a:p>
        </p:txBody>
      </p:sp>
      <p:sp>
        <p:nvSpPr>
          <p:cNvPr id="20" name="TextBox 19"/>
          <p:cNvSpPr txBox="1"/>
          <p:nvPr/>
        </p:nvSpPr>
        <p:spPr>
          <a:xfrm>
            <a:off x="365760" y="6126480"/>
            <a:ext cx="2971800" cy="365760"/>
          </a:xfrm>
          <a:prstGeom prst="rect">
            <a:avLst/>
          </a:prstGeom>
          <a:noFill/>
        </p:spPr>
        <p:txBody>
          <a:bodyPr wrap="square" anchor="t" lIns="45720" rIns="45720" tIns="18288" bIns="18288"/>
          <a:lstStyle/>
          <a:p>
            <a:pPr algn="l"/>
            <a:r>
              <a:rPr sz="1200" b="0" i="1">
                <a:solidFill>
                  <a:srgbClr val="555555"/>
                </a:solidFill>
                <a:latin typeface="Calibri"/>
              </a:rPr>
              <a:t>SOCIAL competence</a:t>
            </a:r>
          </a:p>
        </p:txBody>
      </p:sp>
      <p:sp>
        <p:nvSpPr>
          <p:cNvPr id="21" name="Rounded Rectangle 20"/>
          <p:cNvSpPr/>
          <p:nvPr/>
        </p:nvSpPr>
        <p:spPr>
          <a:xfrm>
            <a:off x="3520439" y="4251960"/>
            <a:ext cx="3154680" cy="2286000"/>
          </a:xfrm>
          <a:prstGeom prst="roundRect">
            <a:avLst>
              <a:gd name="adj" fmla="val 6000"/>
            </a:avLst>
          </a:prstGeom>
          <a:solidFill>
            <a:srgbClr val="EFE4F3"/>
          </a:solidFill>
          <a:ln w="19050">
            <a:solidFill>
              <a:srgbClr val="7B1F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11879" y="4297680"/>
            <a:ext cx="2971800" cy="411480"/>
          </a:xfrm>
          <a:prstGeom prst="rect">
            <a:avLst/>
          </a:prstGeom>
          <a:noFill/>
        </p:spPr>
        <p:txBody>
          <a:bodyPr wrap="square" anchor="t" lIns="45720" rIns="45720" tIns="18288" bIns="18288"/>
          <a:lstStyle/>
          <a:p>
            <a:pPr algn="l"/>
            <a:r>
              <a:rPr sz="1800" b="1" i="0">
                <a:solidFill>
                  <a:srgbClr val="7B1FA2"/>
                </a:solidFill>
                <a:latin typeface="Calibri"/>
              </a:rPr>
              <a:t>RELATIONSHIP MGMT</a:t>
            </a:r>
          </a:p>
        </p:txBody>
      </p:sp>
      <p:sp>
        <p:nvSpPr>
          <p:cNvPr id="23" name="TextBox 22"/>
          <p:cNvSpPr txBox="1"/>
          <p:nvPr/>
        </p:nvSpPr>
        <p:spPr>
          <a:xfrm>
            <a:off x="3611879" y="4709160"/>
            <a:ext cx="2971800" cy="1371600"/>
          </a:xfrm>
          <a:prstGeom prst="rect">
            <a:avLst/>
          </a:prstGeom>
          <a:noFill/>
        </p:spPr>
        <p:txBody>
          <a:bodyPr wrap="square" anchor="t" lIns="45720" rIns="45720" tIns="18288" bIns="18288"/>
          <a:lstStyle/>
          <a:p>
            <a:pPr algn="l"/>
            <a:r>
              <a:rPr sz="1800" b="0" i="0">
                <a:solidFill>
                  <a:srgbClr val="1A1A1A"/>
                </a:solidFill>
                <a:latin typeface="Calibri"/>
              </a:rPr>
              <a:t>Inspirational leadership · influence · developing others · change catalyst · conflict mgmt · building bonds · teamwork</a:t>
            </a:r>
          </a:p>
        </p:txBody>
      </p:sp>
      <p:sp>
        <p:nvSpPr>
          <p:cNvPr id="24" name="TextBox 23"/>
          <p:cNvSpPr txBox="1"/>
          <p:nvPr/>
        </p:nvSpPr>
        <p:spPr>
          <a:xfrm>
            <a:off x="3611879" y="6126480"/>
            <a:ext cx="2971800" cy="365760"/>
          </a:xfrm>
          <a:prstGeom prst="rect">
            <a:avLst/>
          </a:prstGeom>
          <a:noFill/>
        </p:spPr>
        <p:txBody>
          <a:bodyPr wrap="square" anchor="t" lIns="45720" rIns="45720" tIns="18288" bIns="18288"/>
          <a:lstStyle/>
          <a:p>
            <a:pPr algn="l"/>
            <a:r>
              <a:rPr sz="1200" b="0" i="1">
                <a:solidFill>
                  <a:srgbClr val="555555"/>
                </a:solidFill>
                <a:latin typeface="Calibri"/>
              </a:rPr>
              <a:t>SOCIAL competence</a:t>
            </a:r>
          </a:p>
        </p:txBody>
      </p:sp>
      <p:sp>
        <p:nvSpPr>
          <p:cNvPr id="25" name="Rounded Rectangle 24"/>
          <p:cNvSpPr/>
          <p:nvPr/>
        </p:nvSpPr>
        <p:spPr>
          <a:xfrm>
            <a:off x="6858000" y="1874519"/>
            <a:ext cx="5074920" cy="2286000"/>
          </a:xfrm>
          <a:prstGeom prst="roundRect">
            <a:avLst>
              <a:gd name="adj" fmla="val 6000"/>
            </a:avLst>
          </a:prstGeom>
          <a:solidFill>
            <a:srgbClr val="FFFFFF"/>
          </a:solidFill>
          <a:ln w="19050">
            <a:solidFill>
              <a:srgbClr val="C39A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858000" y="1874519"/>
            <a:ext cx="5074920" cy="457200"/>
          </a:xfrm>
          <a:prstGeom prst="roundRect">
            <a:avLst>
              <a:gd name="adj" fmla="val 6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858000" y="2194560"/>
            <a:ext cx="5074920" cy="137160"/>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49440" y="1874519"/>
            <a:ext cx="4892040" cy="457200"/>
          </a:xfrm>
          <a:prstGeom prst="rect">
            <a:avLst/>
          </a:prstGeom>
          <a:noFill/>
        </p:spPr>
        <p:txBody>
          <a:bodyPr wrap="square" anchor="ctr" lIns="45720" rIns="45720" tIns="18288" bIns="18288"/>
          <a:lstStyle/>
          <a:p>
            <a:pPr algn="l"/>
            <a:r>
              <a:rPr sz="1900" b="1" i="0">
                <a:solidFill>
                  <a:srgbClr val="FFFFFF"/>
                </a:solidFill>
                <a:latin typeface="Calibri"/>
              </a:rPr>
              <a:t>Benefits &amp; the dark side (p. 109)</a:t>
            </a:r>
          </a:p>
        </p:txBody>
      </p:sp>
      <p:sp>
        <p:nvSpPr>
          <p:cNvPr id="29" name="TextBox 28"/>
          <p:cNvSpPr txBox="1"/>
          <p:nvPr/>
        </p:nvSpPr>
        <p:spPr>
          <a:xfrm>
            <a:off x="6931152" y="2386584"/>
            <a:ext cx="4928616" cy="1737360"/>
          </a:xfrm>
          <a:prstGeom prst="rect">
            <a:avLst/>
          </a:prstGeom>
          <a:noFill/>
        </p:spPr>
        <p:txBody>
          <a:bodyPr wrap="square" anchor="t" lIns="54864" rIns="54864" tIns="27432" bIns="27432"/>
          <a:lstStyle/>
          <a:p>
            <a:pPr>
              <a:spcAft>
                <a:spcPts val="300"/>
              </a:spcAft>
            </a:pPr>
            <a:r>
              <a:rPr sz="1400" b="1" i="0">
                <a:solidFill>
                  <a:srgbClr val="1A1A1A"/>
                </a:solidFill>
                <a:latin typeface="Calibri"/>
              </a:rPr>
              <a:t>• </a:t>
            </a:r>
            <a:r>
              <a:rPr sz="1400" b="0" i="0">
                <a:solidFill>
                  <a:srgbClr val="1A1A1A"/>
                </a:solidFill>
                <a:latin typeface="Calibri"/>
              </a:rPr>
              <a:t>✔ Better relationships, well-being, satisfaction; store managers' EI → team cohesion → sales; creativity</a:t>
            </a:r>
          </a:p>
          <a:p>
            <a:pPr>
              <a:spcAft>
                <a:spcPts val="300"/>
              </a:spcAft>
            </a:pPr>
            <a:r>
              <a:rPr sz="1400" b="1" i="0">
                <a:solidFill>
                  <a:srgbClr val="1A1A1A"/>
                </a:solidFill>
                <a:latin typeface="Calibri"/>
              </a:rPr>
              <a:t>• </a:t>
            </a:r>
            <a:r>
              <a:rPr sz="1400" b="0" i="0">
                <a:solidFill>
                  <a:srgbClr val="1A1A1A"/>
                </a:solidFill>
                <a:latin typeface="Calibri"/>
              </a:rPr>
              <a:t>✘ High-EI people fake personality tests better; can manipulate (fake empathy)</a:t>
            </a:r>
          </a:p>
          <a:p>
            <a:pPr>
              <a:spcAft>
                <a:spcPts val="300"/>
              </a:spcAft>
            </a:pPr>
            <a:r>
              <a:rPr sz="1400" b="1" i="0">
                <a:solidFill>
                  <a:srgbClr val="1A1A1A"/>
                </a:solidFill>
                <a:latin typeface="Calibri"/>
              </a:rPr>
              <a:t>• </a:t>
            </a:r>
            <a:r>
              <a:rPr sz="1400" b="0" i="0">
                <a:solidFill>
                  <a:srgbClr val="1A1A1A"/>
                </a:solidFill>
                <a:latin typeface="Calibri"/>
              </a:rPr>
              <a:t>Fig 3.6: EI is </a:t>
            </a:r>
            <a:r>
              <a:rPr sz="1400" b="1" i="0">
                <a:solidFill>
                  <a:srgbClr val="1A1A1A"/>
                </a:solidFill>
                <a:latin typeface="Calibri"/>
              </a:rPr>
              <a:t>NOT</a:t>
            </a:r>
            <a:r>
              <a:rPr sz="1400" b="0" i="0">
                <a:solidFill>
                  <a:srgbClr val="1A1A1A"/>
                </a:solidFill>
                <a:latin typeface="Calibri"/>
              </a:rPr>
              <a:t> the big driver of performance consultants claim (weak-moderate links)</a:t>
            </a:r>
          </a:p>
        </p:txBody>
      </p:sp>
      <p:sp>
        <p:nvSpPr>
          <p:cNvPr id="30" name="Rounded Rectangle 29"/>
          <p:cNvSpPr/>
          <p:nvPr/>
        </p:nvSpPr>
        <p:spPr>
          <a:xfrm>
            <a:off x="6858000" y="4251960"/>
            <a:ext cx="5074920" cy="2286000"/>
          </a:xfrm>
          <a:prstGeom prst="roundRect">
            <a:avLst>
              <a:gd name="adj" fmla="val 6000"/>
            </a:avLst>
          </a:prstGeom>
          <a:solidFill>
            <a:srgbClr val="FFFFFF"/>
          </a:solidFill>
          <a:ln w="19050">
            <a:solidFill>
              <a:srgbClr val="C39A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858000" y="4251960"/>
            <a:ext cx="5074920" cy="457200"/>
          </a:xfrm>
          <a:prstGeom prst="roundRect">
            <a:avLst>
              <a:gd name="adj" fmla="val 6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858000" y="4572000"/>
            <a:ext cx="5074920" cy="137160"/>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49440" y="4251960"/>
            <a:ext cx="4892040" cy="457200"/>
          </a:xfrm>
          <a:prstGeom prst="rect">
            <a:avLst/>
          </a:prstGeom>
          <a:noFill/>
        </p:spPr>
        <p:txBody>
          <a:bodyPr wrap="square" anchor="ctr" lIns="45720" rIns="45720" tIns="18288" bIns="18288"/>
          <a:lstStyle/>
          <a:p>
            <a:pPr algn="l"/>
            <a:r>
              <a:rPr sz="1900" b="1" i="0">
                <a:solidFill>
                  <a:srgbClr val="FFFFFF"/>
                </a:solidFill>
                <a:latin typeface="Calibri"/>
              </a:rPr>
              <a:t>How to develop EI (Goleman &amp; Nevarez)</a:t>
            </a:r>
          </a:p>
        </p:txBody>
      </p:sp>
      <p:sp>
        <p:nvSpPr>
          <p:cNvPr id="34" name="TextBox 33"/>
          <p:cNvSpPr txBox="1"/>
          <p:nvPr/>
        </p:nvSpPr>
        <p:spPr>
          <a:xfrm>
            <a:off x="6931152" y="4764024"/>
            <a:ext cx="4928616" cy="1737360"/>
          </a:xfrm>
          <a:prstGeom prst="rect">
            <a:avLst/>
          </a:prstGeom>
          <a:noFill/>
        </p:spPr>
        <p:txBody>
          <a:bodyPr wrap="square" anchor="t" lIns="54864" rIns="54864" tIns="27432" bIns="27432"/>
          <a:lstStyle/>
          <a:p>
            <a:pPr>
              <a:spcAft>
                <a:spcPts val="300"/>
              </a:spcAft>
            </a:pPr>
            <a:r>
              <a:rPr sz="1400" b="1" i="0">
                <a:solidFill>
                  <a:srgbClr val="1A1A1A"/>
                </a:solidFill>
                <a:latin typeface="Calibri"/>
              </a:rPr>
              <a:t>• </a:t>
            </a:r>
            <a:r>
              <a:rPr sz="1400" b="0" i="0">
                <a:solidFill>
                  <a:srgbClr val="1A1A1A"/>
                </a:solidFill>
                <a:latin typeface="Calibri"/>
              </a:rPr>
              <a:t>1 How do I see myself vs how others see me? (self-assessment + feedback)</a:t>
            </a:r>
          </a:p>
          <a:p>
            <a:pPr>
              <a:spcAft>
                <a:spcPts val="300"/>
              </a:spcAft>
            </a:pPr>
            <a:r>
              <a:rPr sz="1400" b="1" i="0">
                <a:solidFill>
                  <a:srgbClr val="1A1A1A"/>
                </a:solidFill>
                <a:latin typeface="Calibri"/>
              </a:rPr>
              <a:t>• </a:t>
            </a:r>
            <a:r>
              <a:rPr sz="1400" b="0" i="0">
                <a:solidFill>
                  <a:srgbClr val="1A1A1A"/>
                </a:solidFill>
                <a:latin typeface="Calibri"/>
              </a:rPr>
              <a:t>2 What matters to me? (goals)</a:t>
            </a:r>
          </a:p>
          <a:p>
            <a:pPr>
              <a:spcAft>
                <a:spcPts val="300"/>
              </a:spcAft>
            </a:pPr>
            <a:r>
              <a:rPr sz="1400" b="1" i="0">
                <a:solidFill>
                  <a:srgbClr val="1A1A1A"/>
                </a:solidFill>
                <a:latin typeface="Calibri"/>
              </a:rPr>
              <a:t>• </a:t>
            </a:r>
            <a:r>
              <a:rPr sz="1400" b="0" i="0">
                <a:solidFill>
                  <a:srgbClr val="1A1A1A"/>
                </a:solidFill>
                <a:latin typeface="Calibri"/>
              </a:rPr>
              <a:t>3 What changes will I make? (plan + practice)</a:t>
            </a:r>
          </a:p>
          <a:p>
            <a:pPr>
              <a:spcAft>
                <a:spcPts val="300"/>
              </a:spcAft>
            </a:pPr>
            <a:r>
              <a:rPr sz="1400" b="1" i="0">
                <a:solidFill>
                  <a:srgbClr val="1A1A1A"/>
                </a:solidFill>
                <a:latin typeface="Calibri"/>
              </a:rPr>
              <a:t>• </a:t>
            </a:r>
            <a:r>
              <a:rPr sz="1400" b="0" i="0">
                <a:solidFill>
                  <a:srgbClr val="1A1A1A"/>
                </a:solidFill>
                <a:latin typeface="Calibri"/>
              </a:rPr>
              <a:t>EI is more flexible than IQ → can be developed lifelong (Fig 3.7: EQ → career readiness)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200" b="1" i="0">
                <a:solidFill>
                  <a:srgbClr val="FFFFFF"/>
                </a:solidFill>
                <a:latin typeface="Calibri"/>
              </a:rPr>
              <a:t>Low EI in action: Uber's Travis Kalanick · Dark Triad (Indian research)</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DEC7E7"/>
                </a:solidFill>
                <a:latin typeface="Calibri"/>
              </a:rPr>
              <a:t>MODULE 3 · EMOTIONS &amp; SOCIAL PERCEPTION</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Ch 3 pp. 107–108</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30</a:t>
            </a:r>
          </a:p>
        </p:txBody>
      </p:sp>
      <p:sp>
        <p:nvSpPr>
          <p:cNvPr id="7" name="Rounded Rectangle 6"/>
          <p:cNvSpPr/>
          <p:nvPr/>
        </p:nvSpPr>
        <p:spPr>
          <a:xfrm>
            <a:off x="274320" y="1051560"/>
            <a:ext cx="5760720" cy="3291840"/>
          </a:xfrm>
          <a:prstGeom prst="roundRect">
            <a:avLst>
              <a:gd name="adj" fmla="val 6000"/>
            </a:avLst>
          </a:prstGeom>
          <a:solidFill>
            <a:srgbClr val="FFFFFF"/>
          </a:solidFill>
          <a:ln w="19050">
            <a:solidFill>
              <a:srgbClr val="C39A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74320" y="1051560"/>
            <a:ext cx="5760720" cy="457200"/>
          </a:xfrm>
          <a:prstGeom prst="roundRect">
            <a:avLst>
              <a:gd name="adj" fmla="val 6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371600"/>
            <a:ext cx="5760720" cy="137160"/>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051560"/>
            <a:ext cx="5577840" cy="457200"/>
          </a:xfrm>
          <a:prstGeom prst="rect">
            <a:avLst/>
          </a:prstGeom>
          <a:noFill/>
        </p:spPr>
        <p:txBody>
          <a:bodyPr wrap="square" anchor="ctr" lIns="45720" rIns="45720" tIns="18288" bIns="18288"/>
          <a:lstStyle/>
          <a:p>
            <a:pPr algn="l"/>
            <a:r>
              <a:rPr sz="1300" b="1" i="0">
                <a:solidFill>
                  <a:srgbClr val="FFFFFF"/>
                </a:solidFill>
                <a:latin typeface="Calibri"/>
              </a:rPr>
              <a:t>Problem-Solving Application: Darkness in the C-Suite at Uber</a:t>
            </a:r>
          </a:p>
        </p:txBody>
      </p:sp>
      <p:sp>
        <p:nvSpPr>
          <p:cNvPr id="11" name="TextBox 10"/>
          <p:cNvSpPr txBox="1"/>
          <p:nvPr/>
        </p:nvSpPr>
        <p:spPr>
          <a:xfrm>
            <a:off x="347472" y="1563624"/>
            <a:ext cx="5614416" cy="2743200"/>
          </a:xfrm>
          <a:prstGeom prst="rect">
            <a:avLst/>
          </a:prstGeom>
          <a:noFill/>
        </p:spPr>
        <p:txBody>
          <a:bodyPr wrap="square" anchor="t" lIns="54864" rIns="54864" tIns="27432" bIns="27432"/>
          <a:lstStyle/>
          <a:p>
            <a:pPr>
              <a:spcAft>
                <a:spcPts val="300"/>
              </a:spcAft>
            </a:pPr>
            <a:r>
              <a:rPr sz="1600" b="1" i="0">
                <a:solidFill>
                  <a:srgbClr val="1A1A1A"/>
                </a:solidFill>
                <a:latin typeface="Calibri"/>
              </a:rPr>
              <a:t>• </a:t>
            </a:r>
            <a:r>
              <a:rPr sz="1600" b="0" i="0">
                <a:solidFill>
                  <a:srgbClr val="1A1A1A"/>
                </a:solidFill>
                <a:latin typeface="Calibri"/>
              </a:rPr>
              <a:t>Scandals: sexual harassment, driver misconduct, surge pricing during JFK taxi strike; Kalanick called it a </a:t>
            </a:r>
            <a:r>
              <a:rPr sz="1600" b="1" i="0">
                <a:solidFill>
                  <a:srgbClr val="1A1A1A"/>
                </a:solidFill>
                <a:latin typeface="Calibri"/>
              </a:rPr>
              <a:t>PR problem, not a culture problem</a:t>
            </a:r>
          </a:p>
          <a:p>
            <a:pPr>
              <a:spcAft>
                <a:spcPts val="300"/>
              </a:spcAft>
            </a:pPr>
            <a:r>
              <a:rPr sz="1600" b="1" i="0">
                <a:solidFill>
                  <a:srgbClr val="1A1A1A"/>
                </a:solidFill>
                <a:latin typeface="Calibri"/>
              </a:rPr>
              <a:t>• </a:t>
            </a:r>
            <a:r>
              <a:rPr sz="1600" b="0" i="0">
                <a:solidFill>
                  <a:srgbClr val="1A1A1A"/>
                </a:solidFill>
                <a:latin typeface="Calibri"/>
              </a:rPr>
              <a:t>Viral video: argued with &amp; blamed an Uber driver; 'apology' meeting he doubled down</a:t>
            </a:r>
          </a:p>
          <a:p>
            <a:pPr>
              <a:spcAft>
                <a:spcPts val="300"/>
              </a:spcAft>
            </a:pPr>
            <a:r>
              <a:rPr sz="1600" b="1" i="0">
                <a:solidFill>
                  <a:srgbClr val="1A1A1A"/>
                </a:solidFill>
                <a:latin typeface="Calibri"/>
              </a:rPr>
              <a:t>• </a:t>
            </a:r>
            <a:r>
              <a:rPr sz="1600" b="0" i="0">
                <a:solidFill>
                  <a:srgbClr val="1A1A1A"/>
                </a:solidFill>
                <a:latin typeface="Calibri"/>
              </a:rPr>
              <a:t>Bullying, retaliation against HR complainants; praised then tore people down; President Jeff Jones quit within months</a:t>
            </a:r>
          </a:p>
          <a:p>
            <a:pPr>
              <a:spcAft>
                <a:spcPts val="300"/>
              </a:spcAft>
            </a:pPr>
            <a:r>
              <a:rPr sz="1600" b="1" i="0">
                <a:solidFill>
                  <a:srgbClr val="1A1A1A"/>
                </a:solidFill>
                <a:latin typeface="Calibri"/>
              </a:rPr>
              <a:t>• </a:t>
            </a:r>
            <a:r>
              <a:rPr sz="1600" b="0" i="0">
                <a:solidFill>
                  <a:srgbClr val="1A1A1A"/>
                </a:solidFill>
                <a:latin typeface="Calibri"/>
              </a:rPr>
              <a:t>Checklist: grandiose · </a:t>
            </a:r>
            <a:r>
              <a:rPr sz="1600" b="1" i="0">
                <a:solidFill>
                  <a:srgbClr val="1A1A1A"/>
                </a:solidFill>
                <a:latin typeface="Calibri"/>
              </a:rPr>
              <a:t>lack of empathy</a:t>
            </a:r>
            <a:r>
              <a:rPr sz="1600" b="0" i="0">
                <a:solidFill>
                  <a:srgbClr val="1A1A1A"/>
                </a:solidFill>
                <a:latin typeface="Calibri"/>
              </a:rPr>
              <a:t> · arrogant · entitled → narcissism</a:t>
            </a:r>
          </a:p>
        </p:txBody>
      </p:sp>
      <p:sp>
        <p:nvSpPr>
          <p:cNvPr id="12" name="Rounded Rectangle 11"/>
          <p:cNvSpPr/>
          <p:nvPr/>
        </p:nvSpPr>
        <p:spPr>
          <a:xfrm>
            <a:off x="274320" y="4480560"/>
            <a:ext cx="5760720" cy="2057400"/>
          </a:xfrm>
          <a:prstGeom prst="roundRect">
            <a:avLst>
              <a:gd name="adj" fmla="val 6000"/>
            </a:avLst>
          </a:prstGeom>
          <a:solidFill>
            <a:srgbClr val="FFFFFF"/>
          </a:solidFill>
          <a:ln w="19050">
            <a:solidFill>
              <a:srgbClr val="C39A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74320" y="4480560"/>
            <a:ext cx="5760720" cy="457200"/>
          </a:xfrm>
          <a:prstGeom prst="roundRect">
            <a:avLst>
              <a:gd name="adj" fmla="val 6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4320" y="4800600"/>
            <a:ext cx="5760720" cy="137160"/>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4480560"/>
            <a:ext cx="5577840" cy="457200"/>
          </a:xfrm>
          <a:prstGeom prst="rect">
            <a:avLst/>
          </a:prstGeom>
          <a:noFill/>
        </p:spPr>
        <p:txBody>
          <a:bodyPr wrap="square" anchor="ctr" lIns="45720" rIns="45720" tIns="18288" bIns="18288"/>
          <a:lstStyle/>
          <a:p>
            <a:pPr algn="l"/>
            <a:r>
              <a:rPr sz="1900" b="1" i="0">
                <a:solidFill>
                  <a:srgbClr val="FFFFFF"/>
                </a:solidFill>
                <a:latin typeface="Calibri"/>
              </a:rPr>
              <a:t>3-step answer (Uber)</a:t>
            </a:r>
          </a:p>
        </p:txBody>
      </p:sp>
      <p:sp>
        <p:nvSpPr>
          <p:cNvPr id="16" name="TextBox 15"/>
          <p:cNvSpPr txBox="1"/>
          <p:nvPr/>
        </p:nvSpPr>
        <p:spPr>
          <a:xfrm>
            <a:off x="347472" y="4992624"/>
            <a:ext cx="5614416" cy="1508760"/>
          </a:xfrm>
          <a:prstGeom prst="rect">
            <a:avLst/>
          </a:prstGeom>
          <a:noFill/>
        </p:spPr>
        <p:txBody>
          <a:bodyPr wrap="square" anchor="t" lIns="54864" rIns="54864" tIns="27432" bIns="27432"/>
          <a:lstStyle/>
          <a:p>
            <a:pPr>
              <a:spcAft>
                <a:spcPts val="300"/>
              </a:spcAft>
            </a:pPr>
            <a:r>
              <a:rPr sz="1400" b="1" i="0">
                <a:solidFill>
                  <a:srgbClr val="1A1A1A"/>
                </a:solidFill>
                <a:latin typeface="Calibri"/>
              </a:rPr>
              <a:t>• </a:t>
            </a:r>
            <a:r>
              <a:rPr sz="1400" b="1" i="0">
                <a:solidFill>
                  <a:srgbClr val="1A1A1A"/>
                </a:solidFill>
                <a:latin typeface="Calibri"/>
              </a:rPr>
              <a:t>Problem</a:t>
            </a:r>
            <a:r>
              <a:rPr sz="1400" b="0" i="0">
                <a:solidFill>
                  <a:srgbClr val="1A1A1A"/>
                </a:solidFill>
                <a:latin typeface="Calibri"/>
              </a:rPr>
              <a:t>: toxic culture → harassment, turnover, reputation loss</a:t>
            </a:r>
          </a:p>
          <a:p>
            <a:pPr>
              <a:spcAft>
                <a:spcPts val="300"/>
              </a:spcAft>
            </a:pPr>
            <a:r>
              <a:rPr sz="1400" b="1" i="0">
                <a:solidFill>
                  <a:srgbClr val="1A1A1A"/>
                </a:solidFill>
                <a:latin typeface="Calibri"/>
              </a:rPr>
              <a:t>• </a:t>
            </a:r>
            <a:r>
              <a:rPr sz="1400" b="1" i="0">
                <a:solidFill>
                  <a:srgbClr val="1A1A1A"/>
                </a:solidFill>
                <a:latin typeface="Calibri"/>
              </a:rPr>
              <a:t>Causes</a:t>
            </a:r>
            <a:r>
              <a:rPr sz="1400" b="0" i="0">
                <a:solidFill>
                  <a:srgbClr val="1A1A1A"/>
                </a:solidFill>
                <a:latin typeface="Calibri"/>
              </a:rPr>
              <a:t>: low social awareness (empathy) &amp; relationship mgmt; dark traits; self-serving attributions ('drivers lack responsibility')</a:t>
            </a:r>
          </a:p>
          <a:p>
            <a:pPr>
              <a:spcAft>
                <a:spcPts val="300"/>
              </a:spcAft>
            </a:pPr>
            <a:r>
              <a:rPr sz="1400" b="1" i="0">
                <a:solidFill>
                  <a:srgbClr val="1A1A1A"/>
                </a:solidFill>
                <a:latin typeface="Calibri"/>
              </a:rPr>
              <a:t>• </a:t>
            </a:r>
            <a:r>
              <a:rPr sz="1400" b="1" i="0">
                <a:solidFill>
                  <a:srgbClr val="1A1A1A"/>
                </a:solidFill>
                <a:latin typeface="Calibri"/>
              </a:rPr>
              <a:t>Fix</a:t>
            </a:r>
            <a:r>
              <a:rPr sz="1400" b="0" i="0">
                <a:solidFill>
                  <a:srgbClr val="1A1A1A"/>
                </a:solidFill>
                <a:latin typeface="Calibri"/>
              </a:rPr>
              <a:t>: board-led EI coaching / leadership change, 360° feedback, values &amp; complaint systems</a:t>
            </a:r>
          </a:p>
        </p:txBody>
      </p:sp>
      <p:sp>
        <p:nvSpPr>
          <p:cNvPr id="17" name="Rounded Rectangle 16"/>
          <p:cNvSpPr/>
          <p:nvPr/>
        </p:nvSpPr>
        <p:spPr>
          <a:xfrm>
            <a:off x="6172200" y="1051560"/>
            <a:ext cx="5760720" cy="3291840"/>
          </a:xfrm>
          <a:prstGeom prst="roundRect">
            <a:avLst>
              <a:gd name="adj" fmla="val 6000"/>
            </a:avLst>
          </a:prstGeom>
          <a:solidFill>
            <a:srgbClr val="FFFFFF"/>
          </a:solidFill>
          <a:ln w="19050">
            <a:solidFill>
              <a:srgbClr val="C39A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172200" y="1051560"/>
            <a:ext cx="5760720" cy="457200"/>
          </a:xfrm>
          <a:prstGeom prst="roundRect">
            <a:avLst>
              <a:gd name="adj" fmla="val 6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72200" y="1371600"/>
            <a:ext cx="5760720" cy="137160"/>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3640" y="1051560"/>
            <a:ext cx="5577840" cy="457200"/>
          </a:xfrm>
          <a:prstGeom prst="rect">
            <a:avLst/>
          </a:prstGeom>
          <a:noFill/>
        </p:spPr>
        <p:txBody>
          <a:bodyPr wrap="square" anchor="ctr" lIns="45720" rIns="45720" tIns="18288" bIns="18288"/>
          <a:lstStyle/>
          <a:p>
            <a:pPr algn="l"/>
            <a:r>
              <a:rPr sz="1900" b="1" i="0">
                <a:solidFill>
                  <a:srgbClr val="FFFFFF"/>
                </a:solidFill>
                <a:latin typeface="Calibri"/>
              </a:rPr>
              <a:t>Indian research on Dark Triad (2022)</a:t>
            </a:r>
          </a:p>
        </p:txBody>
      </p:sp>
      <p:sp>
        <p:nvSpPr>
          <p:cNvPr id="21" name="TextBox 20"/>
          <p:cNvSpPr txBox="1"/>
          <p:nvPr/>
        </p:nvSpPr>
        <p:spPr>
          <a:xfrm>
            <a:off x="6245352" y="1563624"/>
            <a:ext cx="5614416" cy="2743200"/>
          </a:xfrm>
          <a:prstGeom prst="rect">
            <a:avLst/>
          </a:prstGeom>
          <a:noFill/>
        </p:spPr>
        <p:txBody>
          <a:bodyPr wrap="square" anchor="t" lIns="54864" rIns="54864" tIns="27432" bIns="27432"/>
          <a:lstStyle/>
          <a:p>
            <a:pPr>
              <a:spcAft>
                <a:spcPts val="300"/>
              </a:spcAft>
            </a:pPr>
            <a:r>
              <a:rPr sz="1900" b="1" i="0">
                <a:solidFill>
                  <a:srgbClr val="1A1A1A"/>
                </a:solidFill>
                <a:latin typeface="Calibri"/>
              </a:rPr>
              <a:t>• </a:t>
            </a:r>
            <a:r>
              <a:rPr sz="1900" b="0" i="0">
                <a:solidFill>
                  <a:srgbClr val="1A1A1A"/>
                </a:solidFill>
                <a:latin typeface="Calibri"/>
              </a:rPr>
              <a:t>Dark Triad = </a:t>
            </a:r>
            <a:r>
              <a:rPr sz="1900" b="1" i="0">
                <a:solidFill>
                  <a:srgbClr val="1A1A1A"/>
                </a:solidFill>
                <a:latin typeface="Calibri"/>
              </a:rPr>
              <a:t>Machiavellianism, narcissism, psychopathy</a:t>
            </a:r>
          </a:p>
          <a:p>
            <a:pPr>
              <a:spcAft>
                <a:spcPts val="300"/>
              </a:spcAft>
            </a:pPr>
            <a:r>
              <a:rPr sz="1900" b="1" i="0">
                <a:solidFill>
                  <a:srgbClr val="1A1A1A"/>
                </a:solidFill>
                <a:latin typeface="Calibri"/>
              </a:rPr>
              <a:t>• </a:t>
            </a:r>
            <a:r>
              <a:rPr sz="1900" b="0" i="0">
                <a:solidFill>
                  <a:srgbClr val="1A1A1A"/>
                </a:solidFill>
                <a:latin typeface="Calibri"/>
              </a:rPr>
              <a:t>Relationship with performance is </a:t>
            </a:r>
            <a:r>
              <a:rPr sz="1900" b="1" i="0">
                <a:solidFill>
                  <a:srgbClr val="1A1A1A"/>
                </a:solidFill>
                <a:latin typeface="Calibri"/>
              </a:rPr>
              <a:t>curvilinear</a:t>
            </a:r>
            <a:r>
              <a:rPr sz="1900" b="0" i="0">
                <a:solidFill>
                  <a:srgbClr val="1A1A1A"/>
                </a:solidFill>
                <a:latin typeface="Calibri"/>
              </a:rPr>
              <a:t>: moderate levels help (strategic thinking, confidence, risk-taking), esp. in competitive jobs; high levels hurt</a:t>
            </a:r>
          </a:p>
          <a:p>
            <a:pPr>
              <a:spcAft>
                <a:spcPts val="300"/>
              </a:spcAft>
            </a:pPr>
            <a:r>
              <a:rPr sz="1900" b="1" i="0">
                <a:solidFill>
                  <a:srgbClr val="1A1A1A"/>
                </a:solidFill>
                <a:latin typeface="Calibri"/>
              </a:rPr>
              <a:t>• </a:t>
            </a:r>
            <a:r>
              <a:rPr sz="1900" b="0" i="0">
                <a:solidFill>
                  <a:srgbClr val="1A1A1A"/>
                </a:solidFill>
                <a:latin typeface="Calibri"/>
              </a:rPr>
              <a:t>Workplace spirituality (WPS) reduces perceived incivility &amp; silence, but dark traits </a:t>
            </a:r>
            <a:r>
              <a:rPr sz="1900" b="1" i="0">
                <a:solidFill>
                  <a:srgbClr val="1A1A1A"/>
                </a:solidFill>
                <a:latin typeface="Calibri"/>
              </a:rPr>
              <a:t>nullify</a:t>
            </a:r>
            <a:r>
              <a:rPr sz="1900" b="0" i="0">
                <a:solidFill>
                  <a:srgbClr val="1A1A1A"/>
                </a:solidFill>
                <a:latin typeface="Calibri"/>
              </a:rPr>
              <a:t> WPS benefits</a:t>
            </a:r>
          </a:p>
        </p:txBody>
      </p:sp>
      <p:sp>
        <p:nvSpPr>
          <p:cNvPr id="22" name="Rounded Rectangle 21"/>
          <p:cNvSpPr/>
          <p:nvPr/>
        </p:nvSpPr>
        <p:spPr>
          <a:xfrm>
            <a:off x="6172200" y="4480560"/>
            <a:ext cx="5760720" cy="2057400"/>
          </a:xfrm>
          <a:prstGeom prst="roundRect">
            <a:avLst>
              <a:gd name="adj" fmla="val 6000"/>
            </a:avLst>
          </a:prstGeom>
          <a:solidFill>
            <a:srgbClr val="FFFFFF"/>
          </a:solidFill>
          <a:ln w="19050">
            <a:solidFill>
              <a:srgbClr val="C39A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172200" y="4480560"/>
            <a:ext cx="5760720" cy="457200"/>
          </a:xfrm>
          <a:prstGeom prst="roundRect">
            <a:avLst>
              <a:gd name="adj" fmla="val 6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2200" y="4800600"/>
            <a:ext cx="5760720" cy="137160"/>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63640" y="4480560"/>
            <a:ext cx="5577840" cy="457200"/>
          </a:xfrm>
          <a:prstGeom prst="rect">
            <a:avLst/>
          </a:prstGeom>
          <a:noFill/>
        </p:spPr>
        <p:txBody>
          <a:bodyPr wrap="square" anchor="ctr" lIns="45720" rIns="45720" tIns="18288" bIns="18288"/>
          <a:lstStyle/>
          <a:p>
            <a:pPr algn="l"/>
            <a:r>
              <a:rPr sz="1900" b="1" i="0">
                <a:solidFill>
                  <a:srgbClr val="FFFFFF"/>
                </a:solidFill>
                <a:latin typeface="Calibri"/>
              </a:rPr>
              <a:t>Use in answers</a:t>
            </a:r>
          </a:p>
        </p:txBody>
      </p:sp>
      <p:sp>
        <p:nvSpPr>
          <p:cNvPr id="26" name="TextBox 25"/>
          <p:cNvSpPr txBox="1"/>
          <p:nvPr/>
        </p:nvSpPr>
        <p:spPr>
          <a:xfrm>
            <a:off x="6245352" y="4992624"/>
            <a:ext cx="5614416" cy="1508760"/>
          </a:xfrm>
          <a:prstGeom prst="rect">
            <a:avLst/>
          </a:prstGeom>
          <a:noFill/>
        </p:spPr>
        <p:txBody>
          <a:bodyPr wrap="square" anchor="t" lIns="54864" rIns="54864" tIns="27432" bIns="27432"/>
          <a:lstStyle/>
          <a:p>
            <a:pPr>
              <a:spcAft>
                <a:spcPts val="300"/>
              </a:spcAft>
            </a:pPr>
            <a:r>
              <a:rPr sz="1700" b="1" i="0">
                <a:solidFill>
                  <a:srgbClr val="1A1A1A"/>
                </a:solidFill>
                <a:latin typeface="Calibri"/>
              </a:rPr>
              <a:t>• </a:t>
            </a:r>
            <a:r>
              <a:rPr sz="1700" b="0" i="0">
                <a:solidFill>
                  <a:srgbClr val="1A1A1A"/>
                </a:solidFill>
                <a:latin typeface="Calibri"/>
              </a:rPr>
              <a:t>Leader behaviour = situation factor for followers' emotions &amp; silence</a:t>
            </a:r>
          </a:p>
          <a:p>
            <a:pPr>
              <a:spcAft>
                <a:spcPts val="300"/>
              </a:spcAft>
            </a:pPr>
            <a:r>
              <a:rPr sz="1700" b="1" i="0">
                <a:solidFill>
                  <a:srgbClr val="1A1A1A"/>
                </a:solidFill>
                <a:latin typeface="Calibri"/>
              </a:rPr>
              <a:t>• </a:t>
            </a:r>
            <a:r>
              <a:rPr sz="1700" b="0" i="0">
                <a:solidFill>
                  <a:srgbClr val="1A1A1A"/>
                </a:solidFill>
                <a:latin typeface="Calibri"/>
              </a:rPr>
              <a:t>Link to R2 (Andy's destructive behaviour has emotional origins) and R3 (leaders must manage their OWN emotional reaction to resistance)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600" b="1" i="0">
                <a:solidFill>
                  <a:srgbClr val="FFFFFF"/>
                </a:solidFill>
                <a:latin typeface="Calibri"/>
              </a:rPr>
              <a:t>3.6 Understanding emotions to influence performance</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DEC7E7"/>
                </a:solidFill>
                <a:latin typeface="Calibri"/>
              </a:rPr>
              <a:t>MODULE 3 · EMOTIONS &amp; SOCIAL PERCEPTION</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Ch 3 pp. 111–115</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31</a:t>
            </a:r>
          </a:p>
        </p:txBody>
      </p:sp>
      <p:sp>
        <p:nvSpPr>
          <p:cNvPr id="7" name="Rounded Rectangle 6"/>
          <p:cNvSpPr/>
          <p:nvPr/>
        </p:nvSpPr>
        <p:spPr>
          <a:xfrm>
            <a:off x="274320" y="1051560"/>
            <a:ext cx="3840480" cy="2514600"/>
          </a:xfrm>
          <a:prstGeom prst="roundRect">
            <a:avLst>
              <a:gd name="adj" fmla="val 6000"/>
            </a:avLst>
          </a:prstGeom>
          <a:solidFill>
            <a:srgbClr val="FFFFFF"/>
          </a:solidFill>
          <a:ln w="19050">
            <a:solidFill>
              <a:srgbClr val="C39A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74320" y="1051560"/>
            <a:ext cx="3840480" cy="457200"/>
          </a:xfrm>
          <a:prstGeom prst="roundRect">
            <a:avLst>
              <a:gd name="adj" fmla="val 6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371600"/>
            <a:ext cx="3840480" cy="137160"/>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051560"/>
            <a:ext cx="3657600" cy="457200"/>
          </a:xfrm>
          <a:prstGeom prst="rect">
            <a:avLst/>
          </a:prstGeom>
          <a:noFill/>
        </p:spPr>
        <p:txBody>
          <a:bodyPr wrap="square" anchor="ctr" lIns="45720" rIns="45720" tIns="18288" bIns="18288"/>
          <a:lstStyle/>
          <a:p>
            <a:pPr algn="l"/>
            <a:r>
              <a:rPr sz="1900" b="1" i="0">
                <a:solidFill>
                  <a:srgbClr val="FFFFFF"/>
                </a:solidFill>
                <a:latin typeface="Calibri"/>
              </a:rPr>
              <a:t>What are emotions? (p. 111)</a:t>
            </a:r>
          </a:p>
        </p:txBody>
      </p:sp>
      <p:sp>
        <p:nvSpPr>
          <p:cNvPr id="11" name="TextBox 10"/>
          <p:cNvSpPr txBox="1"/>
          <p:nvPr/>
        </p:nvSpPr>
        <p:spPr>
          <a:xfrm>
            <a:off x="347472" y="1563624"/>
            <a:ext cx="3694176" cy="1965960"/>
          </a:xfrm>
          <a:prstGeom prst="rect">
            <a:avLst/>
          </a:prstGeom>
          <a:noFill/>
        </p:spPr>
        <p:txBody>
          <a:bodyPr wrap="square" anchor="t" lIns="54864" rIns="54864" tIns="27432" bIns="27432"/>
          <a:lstStyle/>
          <a:p>
            <a:pPr>
              <a:spcAft>
                <a:spcPts val="300"/>
              </a:spcAft>
            </a:pPr>
            <a:r>
              <a:rPr sz="1300" b="1" i="0">
                <a:solidFill>
                  <a:srgbClr val="1A1A1A"/>
                </a:solidFill>
                <a:latin typeface="Calibri"/>
              </a:rPr>
              <a:t>• </a:t>
            </a:r>
            <a:r>
              <a:rPr sz="1300" b="1" i="0">
                <a:solidFill>
                  <a:srgbClr val="1A1A1A"/>
                </a:solidFill>
                <a:latin typeface="Calibri"/>
              </a:rPr>
              <a:t>Complex, relatively brief responses aimed at a target</a:t>
            </a:r>
            <a:r>
              <a:rPr sz="1300" b="0" i="0">
                <a:solidFill>
                  <a:srgbClr val="1A1A1A"/>
                </a:solidFill>
                <a:latin typeface="Calibri"/>
              </a:rPr>
              <a:t> (person, info, event) that change psychological/physiological states</a:t>
            </a:r>
          </a:p>
          <a:p>
            <a:pPr>
              <a:spcAft>
                <a:spcPts val="300"/>
              </a:spcAft>
            </a:pPr>
            <a:r>
              <a:rPr sz="1300" b="1" i="0">
                <a:solidFill>
                  <a:srgbClr val="1A1A1A"/>
                </a:solidFill>
                <a:latin typeface="Calibri"/>
              </a:rPr>
              <a:t>• </a:t>
            </a:r>
            <a:r>
              <a:rPr sz="1300" b="1" i="0">
                <a:solidFill>
                  <a:srgbClr val="1A1A1A"/>
                </a:solidFill>
                <a:latin typeface="Calibri"/>
              </a:rPr>
              <a:t>Felt</a:t>
            </a:r>
            <a:r>
              <a:rPr sz="1300" b="0" i="0">
                <a:solidFill>
                  <a:srgbClr val="1A1A1A"/>
                </a:solidFill>
                <a:latin typeface="Calibri"/>
              </a:rPr>
              <a:t> vs </a:t>
            </a:r>
            <a:r>
              <a:rPr sz="1300" b="1" i="0">
                <a:solidFill>
                  <a:srgbClr val="1A1A1A"/>
                </a:solidFill>
                <a:latin typeface="Calibri"/>
              </a:rPr>
              <a:t>displayed</a:t>
            </a:r>
            <a:r>
              <a:rPr sz="1300" b="0" i="0">
                <a:solidFill>
                  <a:srgbClr val="1A1A1A"/>
                </a:solidFill>
                <a:latin typeface="Calibri"/>
              </a:rPr>
              <a:t> emotions (passed over for promotion: feel angry, display calm)</a:t>
            </a:r>
          </a:p>
          <a:p>
            <a:pPr>
              <a:spcAft>
                <a:spcPts val="300"/>
              </a:spcAft>
            </a:pPr>
            <a:r>
              <a:rPr sz="1300" b="1" i="0">
                <a:solidFill>
                  <a:srgbClr val="1A1A1A"/>
                </a:solidFill>
                <a:latin typeface="Calibri"/>
              </a:rPr>
              <a:t>• </a:t>
            </a:r>
            <a:r>
              <a:rPr sz="1300" b="0" i="0">
                <a:solidFill>
                  <a:srgbClr val="1A1A1A"/>
                </a:solidFill>
                <a:latin typeface="Calibri"/>
              </a:rPr>
              <a:t>Emotions motivate behaviour &amp; communicate; trained display → higher tips</a:t>
            </a:r>
          </a:p>
        </p:txBody>
      </p:sp>
      <p:sp>
        <p:nvSpPr>
          <p:cNvPr id="12" name="Rounded Rectangle 11"/>
          <p:cNvSpPr/>
          <p:nvPr/>
        </p:nvSpPr>
        <p:spPr>
          <a:xfrm>
            <a:off x="274320" y="3703320"/>
            <a:ext cx="3840480" cy="2834640"/>
          </a:xfrm>
          <a:prstGeom prst="roundRect">
            <a:avLst>
              <a:gd name="adj" fmla="val 6000"/>
            </a:avLst>
          </a:prstGeom>
          <a:solidFill>
            <a:srgbClr val="FFFFFF"/>
          </a:solidFill>
          <a:ln w="19050">
            <a:solidFill>
              <a:srgbClr val="C39A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74320" y="3703320"/>
            <a:ext cx="3840480" cy="457200"/>
          </a:xfrm>
          <a:prstGeom prst="roundRect">
            <a:avLst>
              <a:gd name="adj" fmla="val 6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4320" y="4023359"/>
            <a:ext cx="3840480" cy="137160"/>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3703320"/>
            <a:ext cx="3657600" cy="457200"/>
          </a:xfrm>
          <a:prstGeom prst="rect">
            <a:avLst/>
          </a:prstGeom>
          <a:noFill/>
        </p:spPr>
        <p:txBody>
          <a:bodyPr wrap="square" anchor="ctr" lIns="45720" rIns="45720" tIns="18288" bIns="18288"/>
          <a:lstStyle/>
          <a:p>
            <a:pPr algn="l"/>
            <a:r>
              <a:rPr sz="1900" b="1" i="0">
                <a:solidFill>
                  <a:srgbClr val="FFFFFF"/>
                </a:solidFill>
                <a:latin typeface="Calibri"/>
              </a:rPr>
              <a:t>Emotions &amp; goals (p. 112)</a:t>
            </a:r>
          </a:p>
        </p:txBody>
      </p:sp>
      <p:sp>
        <p:nvSpPr>
          <p:cNvPr id="16" name="TextBox 15"/>
          <p:cNvSpPr txBox="1"/>
          <p:nvPr/>
        </p:nvSpPr>
        <p:spPr>
          <a:xfrm>
            <a:off x="347472" y="4215383"/>
            <a:ext cx="3694176" cy="2286000"/>
          </a:xfrm>
          <a:prstGeom prst="rect">
            <a:avLst/>
          </a:prstGeom>
          <a:noFill/>
        </p:spPr>
        <p:txBody>
          <a:bodyPr wrap="square" anchor="t" lIns="54864" rIns="54864" tIns="27432" bIns="27432"/>
          <a:lstStyle/>
          <a:p>
            <a:pPr>
              <a:spcAft>
                <a:spcPts val="300"/>
              </a:spcAft>
            </a:pPr>
            <a:r>
              <a:rPr sz="1600" b="1" i="0">
                <a:solidFill>
                  <a:srgbClr val="1A1A1A"/>
                </a:solidFill>
                <a:latin typeface="Calibri"/>
              </a:rPr>
              <a:t>• </a:t>
            </a:r>
            <a:r>
              <a:rPr sz="1600" b="1" i="0">
                <a:solidFill>
                  <a:srgbClr val="1A1A1A"/>
                </a:solidFill>
                <a:latin typeface="Calibri"/>
              </a:rPr>
              <a:t>Positive</a:t>
            </a:r>
            <a:r>
              <a:rPr sz="1600" b="0" i="0">
                <a:solidFill>
                  <a:srgbClr val="1A1A1A"/>
                </a:solidFill>
                <a:latin typeface="Calibri"/>
              </a:rPr>
              <a:t> = goal-congruent: joy, gratitude, pride, relief</a:t>
            </a:r>
          </a:p>
          <a:p>
            <a:pPr>
              <a:spcAft>
                <a:spcPts val="300"/>
              </a:spcAft>
            </a:pPr>
            <a:r>
              <a:rPr sz="1600" b="1" i="0">
                <a:solidFill>
                  <a:srgbClr val="1A1A1A"/>
                </a:solidFill>
                <a:latin typeface="Calibri"/>
              </a:rPr>
              <a:t>• </a:t>
            </a:r>
            <a:r>
              <a:rPr sz="1600" b="1" i="0">
                <a:solidFill>
                  <a:srgbClr val="1A1A1A"/>
                </a:solidFill>
                <a:latin typeface="Calibri"/>
              </a:rPr>
              <a:t>Negative</a:t>
            </a:r>
            <a:r>
              <a:rPr sz="1600" b="0" i="0">
                <a:solidFill>
                  <a:srgbClr val="1A1A1A"/>
                </a:solidFill>
                <a:latin typeface="Calibri"/>
              </a:rPr>
              <a:t> = goal-incongruent: anger, fear, anxiety, guilt, shame, envy, disgust</a:t>
            </a:r>
          </a:p>
          <a:p>
            <a:pPr>
              <a:spcAft>
                <a:spcPts val="300"/>
              </a:spcAft>
            </a:pPr>
            <a:r>
              <a:rPr sz="1600" b="1" i="0">
                <a:solidFill>
                  <a:srgbClr val="1A1A1A"/>
                </a:solidFill>
                <a:latin typeface="Calibri"/>
              </a:rPr>
              <a:t>• </a:t>
            </a:r>
            <a:r>
              <a:rPr sz="1600" b="1" i="0">
                <a:solidFill>
                  <a:srgbClr val="1A1A1A"/>
                </a:solidFill>
                <a:latin typeface="Calibri"/>
              </a:rPr>
              <a:t>Mixed</a:t>
            </a:r>
            <a:r>
              <a:rPr sz="1600" b="0" i="0">
                <a:solidFill>
                  <a:srgbClr val="1A1A1A"/>
                </a:solidFill>
                <a:latin typeface="Calibri"/>
              </a:rPr>
              <a:t>: promotion that requires relocating</a:t>
            </a:r>
          </a:p>
          <a:p>
            <a:pPr>
              <a:spcAft>
                <a:spcPts val="300"/>
              </a:spcAft>
            </a:pPr>
            <a:r>
              <a:rPr sz="1600" b="1" i="0">
                <a:solidFill>
                  <a:srgbClr val="1A1A1A"/>
                </a:solidFill>
                <a:latin typeface="Calibri"/>
              </a:rPr>
              <a:t>• </a:t>
            </a:r>
            <a:r>
              <a:rPr sz="1600" b="0" i="0">
                <a:solidFill>
                  <a:srgbClr val="1A1A1A"/>
                </a:solidFill>
                <a:latin typeface="Calibri"/>
              </a:rPr>
              <a:t>More important goal → more intense emotion</a:t>
            </a:r>
          </a:p>
        </p:txBody>
      </p:sp>
      <p:sp>
        <p:nvSpPr>
          <p:cNvPr id="17" name="Rounded Rectangle 16"/>
          <p:cNvSpPr/>
          <p:nvPr/>
        </p:nvSpPr>
        <p:spPr>
          <a:xfrm>
            <a:off x="4251960" y="1051560"/>
            <a:ext cx="3840480" cy="2743200"/>
          </a:xfrm>
          <a:prstGeom prst="roundRect">
            <a:avLst>
              <a:gd name="adj" fmla="val 6000"/>
            </a:avLst>
          </a:prstGeom>
          <a:solidFill>
            <a:srgbClr val="FFFFFF"/>
          </a:solidFill>
          <a:ln w="19050">
            <a:solidFill>
              <a:srgbClr val="C39A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251960" y="1051560"/>
            <a:ext cx="3840480" cy="457200"/>
          </a:xfrm>
          <a:prstGeom prst="roundRect">
            <a:avLst>
              <a:gd name="adj" fmla="val 6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51960" y="1371600"/>
            <a:ext cx="3840480" cy="137160"/>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43400" y="1051560"/>
            <a:ext cx="3657600" cy="457200"/>
          </a:xfrm>
          <a:prstGeom prst="rect">
            <a:avLst/>
          </a:prstGeom>
          <a:noFill/>
        </p:spPr>
        <p:txBody>
          <a:bodyPr wrap="square" anchor="ctr" lIns="45720" rIns="45720" tIns="18288" bIns="18288"/>
          <a:lstStyle/>
          <a:p>
            <a:pPr algn="l"/>
            <a:r>
              <a:rPr sz="1900" b="1" i="0">
                <a:solidFill>
                  <a:srgbClr val="FFFFFF"/>
                </a:solidFill>
                <a:latin typeface="Calibri"/>
              </a:rPr>
              <a:t>Past vs future (p. 113)</a:t>
            </a:r>
          </a:p>
        </p:txBody>
      </p:sp>
      <p:sp>
        <p:nvSpPr>
          <p:cNvPr id="21" name="TextBox 20"/>
          <p:cNvSpPr txBox="1"/>
          <p:nvPr/>
        </p:nvSpPr>
        <p:spPr>
          <a:xfrm>
            <a:off x="4325112" y="1563624"/>
            <a:ext cx="3694176" cy="2194560"/>
          </a:xfrm>
          <a:prstGeom prst="rect">
            <a:avLst/>
          </a:prstGeom>
          <a:noFill/>
        </p:spPr>
        <p:txBody>
          <a:bodyPr wrap="square" anchor="t" lIns="54864" rIns="54864" tIns="27432" bIns="27432"/>
          <a:lstStyle/>
          <a:p>
            <a:pPr>
              <a:spcAft>
                <a:spcPts val="300"/>
              </a:spcAft>
            </a:pPr>
            <a:r>
              <a:rPr sz="1600" b="1" i="0">
                <a:solidFill>
                  <a:srgbClr val="1A1A1A"/>
                </a:solidFill>
                <a:latin typeface="Calibri"/>
              </a:rPr>
              <a:t>• </a:t>
            </a:r>
            <a:r>
              <a:rPr sz="1600" b="0" i="0">
                <a:solidFill>
                  <a:srgbClr val="1A1A1A"/>
                </a:solidFill>
                <a:latin typeface="Calibri"/>
              </a:rPr>
              <a:t>After 15% downsizing, survivors:</a:t>
            </a:r>
          </a:p>
          <a:p>
            <a:pPr>
              <a:spcAft>
                <a:spcPts val="300"/>
              </a:spcAft>
            </a:pPr>
            <a:r>
              <a:rPr sz="1600" b="1" i="0">
                <a:solidFill>
                  <a:srgbClr val="1A1A1A"/>
                </a:solidFill>
                <a:latin typeface="Calibri"/>
              </a:rPr>
              <a:t>• </a:t>
            </a:r>
            <a:r>
              <a:rPr sz="1600" b="1" i="0">
                <a:solidFill>
                  <a:srgbClr val="1A1A1A"/>
                </a:solidFill>
                <a:latin typeface="Calibri"/>
              </a:rPr>
              <a:t>Shelby: ANGER</a:t>
            </a:r>
            <a:r>
              <a:rPr sz="1600" b="0" i="0">
                <a:solidFill>
                  <a:srgbClr val="1A1A1A"/>
                </a:solidFill>
                <a:latin typeface="Calibri"/>
              </a:rPr>
              <a:t> = backward-looking (retrospective): how decisions were made → address fairness of process</a:t>
            </a:r>
          </a:p>
          <a:p>
            <a:pPr>
              <a:spcAft>
                <a:spcPts val="300"/>
              </a:spcAft>
            </a:pPr>
            <a:r>
              <a:rPr sz="1600" b="1" i="0">
                <a:solidFill>
                  <a:srgbClr val="1A1A1A"/>
                </a:solidFill>
                <a:latin typeface="Calibri"/>
              </a:rPr>
              <a:t>• </a:t>
            </a:r>
            <a:r>
              <a:rPr sz="1600" b="1" i="0">
                <a:solidFill>
                  <a:srgbClr val="1A1A1A"/>
                </a:solidFill>
                <a:latin typeface="Calibri"/>
              </a:rPr>
              <a:t>Jennifer: FEAR</a:t>
            </a:r>
            <a:r>
              <a:rPr sz="1600" b="0" i="0">
                <a:solidFill>
                  <a:srgbClr val="1A1A1A"/>
                </a:solidFill>
                <a:latin typeface="Calibri"/>
              </a:rPr>
              <a:t> = forward-looking (prospective): might I be next? → reduce uncertainty, communicate</a:t>
            </a:r>
          </a:p>
        </p:txBody>
      </p:sp>
      <p:sp>
        <p:nvSpPr>
          <p:cNvPr id="22" name="Rounded Rectangle 21"/>
          <p:cNvSpPr/>
          <p:nvPr/>
        </p:nvSpPr>
        <p:spPr>
          <a:xfrm>
            <a:off x="4251960" y="3931920"/>
            <a:ext cx="3840480" cy="2606040"/>
          </a:xfrm>
          <a:prstGeom prst="roundRect">
            <a:avLst>
              <a:gd name="adj" fmla="val 6000"/>
            </a:avLst>
          </a:prstGeom>
          <a:solidFill>
            <a:srgbClr val="FFFFFF"/>
          </a:solidFill>
          <a:ln w="19050">
            <a:solidFill>
              <a:srgbClr val="C39A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251960" y="3931920"/>
            <a:ext cx="3840480" cy="457200"/>
          </a:xfrm>
          <a:prstGeom prst="roundRect">
            <a:avLst>
              <a:gd name="adj" fmla="val 6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251960" y="4251959"/>
            <a:ext cx="3840480" cy="137160"/>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43400" y="3931920"/>
            <a:ext cx="3657600" cy="457200"/>
          </a:xfrm>
          <a:prstGeom prst="rect">
            <a:avLst/>
          </a:prstGeom>
          <a:noFill/>
        </p:spPr>
        <p:txBody>
          <a:bodyPr wrap="square" anchor="ctr" lIns="45720" rIns="45720" tIns="18288" bIns="18288"/>
          <a:lstStyle/>
          <a:p>
            <a:pPr algn="l"/>
            <a:r>
              <a:rPr sz="1800" b="1" i="0">
                <a:solidFill>
                  <a:srgbClr val="FFFFFF"/>
                </a:solidFill>
                <a:latin typeface="Calibri"/>
              </a:rPr>
              <a:t>Display norms &amp; anger at work</a:t>
            </a:r>
          </a:p>
        </p:txBody>
      </p:sp>
      <p:sp>
        <p:nvSpPr>
          <p:cNvPr id="26" name="TextBox 25"/>
          <p:cNvSpPr txBox="1"/>
          <p:nvPr/>
        </p:nvSpPr>
        <p:spPr>
          <a:xfrm>
            <a:off x="4325112" y="4443983"/>
            <a:ext cx="3694176" cy="2057400"/>
          </a:xfrm>
          <a:prstGeom prst="rect">
            <a:avLst/>
          </a:prstGeom>
          <a:noFill/>
        </p:spPr>
        <p:txBody>
          <a:bodyPr wrap="square" anchor="t" lIns="54864" rIns="54864" tIns="27432" bIns="27432"/>
          <a:lstStyle/>
          <a:p>
            <a:pPr>
              <a:spcAft>
                <a:spcPts val="300"/>
              </a:spcAft>
            </a:pPr>
            <a:r>
              <a:rPr sz="1200" b="1" i="0">
                <a:solidFill>
                  <a:srgbClr val="1A1A1A"/>
                </a:solidFill>
                <a:latin typeface="Calibri"/>
              </a:rPr>
              <a:t>• </a:t>
            </a:r>
            <a:r>
              <a:rPr sz="1200" b="0" i="0">
                <a:solidFill>
                  <a:srgbClr val="1A1A1A"/>
                </a:solidFill>
                <a:latin typeface="Calibri"/>
              </a:rPr>
              <a:t>Display norms = expected emotions per situation (calm in meetings, happy with customers)</a:t>
            </a:r>
          </a:p>
          <a:p>
            <a:pPr>
              <a:spcAft>
                <a:spcPts val="300"/>
              </a:spcAft>
            </a:pPr>
            <a:r>
              <a:rPr sz="1200" b="1" i="0">
                <a:solidFill>
                  <a:srgbClr val="1A1A1A"/>
                </a:solidFill>
                <a:latin typeface="Calibri"/>
              </a:rPr>
              <a:t>• </a:t>
            </a:r>
            <a:r>
              <a:rPr sz="1200" b="0" i="0">
                <a:solidFill>
                  <a:srgbClr val="1A1A1A"/>
                </a:solidFill>
                <a:latin typeface="Calibri"/>
              </a:rPr>
              <a:t>Crying at work: 38% OK occasionally · 31% no effect · 32% never OK</a:t>
            </a:r>
          </a:p>
          <a:p>
            <a:pPr>
              <a:spcAft>
                <a:spcPts val="300"/>
              </a:spcAft>
            </a:pPr>
            <a:r>
              <a:rPr sz="1200" b="1" i="0">
                <a:solidFill>
                  <a:srgbClr val="1A1A1A"/>
                </a:solidFill>
                <a:latin typeface="Calibri"/>
              </a:rPr>
              <a:t>• </a:t>
            </a:r>
            <a:r>
              <a:rPr sz="1200" b="0" i="0">
                <a:solidFill>
                  <a:srgbClr val="1A1A1A"/>
                </a:solidFill>
                <a:latin typeface="Calibri"/>
              </a:rPr>
              <a:t>Shame/anger in feedback → CWB; customer aggression → employee mistakes</a:t>
            </a:r>
          </a:p>
          <a:p>
            <a:pPr>
              <a:spcAft>
                <a:spcPts val="300"/>
              </a:spcAft>
            </a:pPr>
            <a:r>
              <a:rPr sz="1200" b="1" i="0">
                <a:solidFill>
                  <a:srgbClr val="1A1A1A"/>
                </a:solidFill>
                <a:latin typeface="Calibri"/>
              </a:rPr>
              <a:t>• </a:t>
            </a:r>
            <a:r>
              <a:rPr sz="1200" b="0" i="0">
                <a:solidFill>
                  <a:srgbClr val="1A1A1A"/>
                </a:solidFill>
                <a:latin typeface="Calibri"/>
              </a:rPr>
              <a:t>Anger helps when aimed at </a:t>
            </a:r>
            <a:r>
              <a:rPr sz="1200" b="1" i="0">
                <a:solidFill>
                  <a:srgbClr val="1A1A1A"/>
                </a:solidFill>
                <a:latin typeface="Calibri"/>
              </a:rPr>
              <a:t>issues, not people</a:t>
            </a:r>
            <a:r>
              <a:rPr sz="1200" b="0" i="0">
                <a:solidFill>
                  <a:srgbClr val="1A1A1A"/>
                </a:solidFill>
                <a:latin typeface="Calibri"/>
              </a:rPr>
              <a:t> (Cornell Iron Works: brief, frequent meetings)</a:t>
            </a:r>
          </a:p>
        </p:txBody>
      </p:sp>
      <p:sp>
        <p:nvSpPr>
          <p:cNvPr id="27" name="Rounded Rectangle 26"/>
          <p:cNvSpPr/>
          <p:nvPr/>
        </p:nvSpPr>
        <p:spPr>
          <a:xfrm>
            <a:off x="8229600" y="1051560"/>
            <a:ext cx="3703320" cy="3017520"/>
          </a:xfrm>
          <a:prstGeom prst="roundRect">
            <a:avLst>
              <a:gd name="adj" fmla="val 6000"/>
            </a:avLst>
          </a:prstGeom>
          <a:solidFill>
            <a:srgbClr val="FFFFFF"/>
          </a:solidFill>
          <a:ln w="19050">
            <a:solidFill>
              <a:srgbClr val="C39A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229600" y="1051560"/>
            <a:ext cx="3703320" cy="457200"/>
          </a:xfrm>
          <a:prstGeom prst="roundRect">
            <a:avLst>
              <a:gd name="adj" fmla="val 6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229600" y="1371600"/>
            <a:ext cx="3703320" cy="137160"/>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40" y="1051560"/>
            <a:ext cx="3520439" cy="457200"/>
          </a:xfrm>
          <a:prstGeom prst="rect">
            <a:avLst/>
          </a:prstGeom>
          <a:noFill/>
        </p:spPr>
        <p:txBody>
          <a:bodyPr wrap="square" anchor="ctr" lIns="45720" rIns="45720" tIns="18288" bIns="18288"/>
          <a:lstStyle/>
          <a:p>
            <a:pPr algn="l"/>
            <a:r>
              <a:rPr sz="1300" b="1" i="0">
                <a:solidFill>
                  <a:srgbClr val="FFFFFF"/>
                </a:solidFill>
                <a:latin typeface="Calibri"/>
              </a:rPr>
              <a:t>Handling negative emotions (Table 3.7)</a:t>
            </a:r>
          </a:p>
        </p:txBody>
      </p:sp>
      <p:sp>
        <p:nvSpPr>
          <p:cNvPr id="31" name="TextBox 30"/>
          <p:cNvSpPr txBox="1"/>
          <p:nvPr/>
        </p:nvSpPr>
        <p:spPr>
          <a:xfrm>
            <a:off x="8302752" y="1563624"/>
            <a:ext cx="3557015" cy="2468879"/>
          </a:xfrm>
          <a:prstGeom prst="rect">
            <a:avLst/>
          </a:prstGeom>
          <a:noFill/>
        </p:spPr>
        <p:txBody>
          <a:bodyPr wrap="square" anchor="t" lIns="54864" rIns="54864" tIns="27432" bIns="27432"/>
          <a:lstStyle/>
          <a:p>
            <a:pPr>
              <a:spcAft>
                <a:spcPts val="300"/>
              </a:spcAft>
            </a:pPr>
            <a:r>
              <a:rPr sz="1700" b="1" i="0">
                <a:solidFill>
                  <a:srgbClr val="1A1A1A"/>
                </a:solidFill>
                <a:latin typeface="Calibri"/>
              </a:rPr>
              <a:t>• </a:t>
            </a:r>
            <a:r>
              <a:rPr sz="1700" b="0" i="0">
                <a:solidFill>
                  <a:srgbClr val="1A1A1A"/>
                </a:solidFill>
                <a:latin typeface="Calibri"/>
              </a:rPr>
              <a:t>Fearful: is my career really at risk?</a:t>
            </a:r>
          </a:p>
          <a:p>
            <a:pPr>
              <a:spcAft>
                <a:spcPts val="300"/>
              </a:spcAft>
            </a:pPr>
            <a:r>
              <a:rPr sz="1700" b="1" i="0">
                <a:solidFill>
                  <a:srgbClr val="1A1A1A"/>
                </a:solidFill>
                <a:latin typeface="Calibri"/>
              </a:rPr>
              <a:t>• </a:t>
            </a:r>
            <a:r>
              <a:rPr sz="1700" b="0" i="0">
                <a:solidFill>
                  <a:srgbClr val="1A1A1A"/>
                </a:solidFill>
                <a:latin typeface="Calibri"/>
              </a:rPr>
              <a:t>Rejected: do I respect the source? ask to clarify</a:t>
            </a:r>
          </a:p>
          <a:p>
            <a:pPr>
              <a:spcAft>
                <a:spcPts val="300"/>
              </a:spcAft>
            </a:pPr>
            <a:r>
              <a:rPr sz="1700" b="1" i="0">
                <a:solidFill>
                  <a:srgbClr val="1A1A1A"/>
                </a:solidFill>
                <a:latin typeface="Calibri"/>
              </a:rPr>
              <a:t>• </a:t>
            </a:r>
            <a:r>
              <a:rPr sz="1700" b="0" i="0">
                <a:solidFill>
                  <a:srgbClr val="1A1A1A"/>
                </a:solidFill>
                <a:latin typeface="Calibri"/>
              </a:rPr>
              <a:t>Angry: get distance, find the violated standard, communicate it</a:t>
            </a:r>
          </a:p>
          <a:p>
            <a:pPr>
              <a:spcAft>
                <a:spcPts val="300"/>
              </a:spcAft>
            </a:pPr>
            <a:r>
              <a:rPr sz="1700" b="1" i="0">
                <a:solidFill>
                  <a:srgbClr val="1A1A1A"/>
                </a:solidFill>
                <a:latin typeface="Calibri"/>
              </a:rPr>
              <a:t>• </a:t>
            </a:r>
            <a:r>
              <a:rPr sz="1700" b="0" i="0">
                <a:solidFill>
                  <a:srgbClr val="1A1A1A"/>
                </a:solidFill>
                <a:latin typeface="Calibri"/>
              </a:rPr>
              <a:t>Frustrated · stressed: prioritise important over urgent</a:t>
            </a:r>
          </a:p>
        </p:txBody>
      </p:sp>
      <p:sp>
        <p:nvSpPr>
          <p:cNvPr id="32" name="Rounded Rectangle 31"/>
          <p:cNvSpPr/>
          <p:nvPr/>
        </p:nvSpPr>
        <p:spPr>
          <a:xfrm>
            <a:off x="8229600" y="4206240"/>
            <a:ext cx="3703320" cy="2331720"/>
          </a:xfrm>
          <a:prstGeom prst="roundRect">
            <a:avLst>
              <a:gd name="adj" fmla="val 6000"/>
            </a:avLst>
          </a:prstGeom>
          <a:solidFill>
            <a:srgbClr val="FFFFFF"/>
          </a:solidFill>
          <a:ln w="19050">
            <a:solidFill>
              <a:srgbClr val="C39A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8229600" y="4206240"/>
            <a:ext cx="3703320" cy="457200"/>
          </a:xfrm>
          <a:prstGeom prst="roundRect">
            <a:avLst>
              <a:gd name="adj" fmla="val 6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229600" y="4526279"/>
            <a:ext cx="3703320" cy="137160"/>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21040" y="4206240"/>
            <a:ext cx="3520439" cy="457200"/>
          </a:xfrm>
          <a:prstGeom prst="rect">
            <a:avLst/>
          </a:prstGeom>
          <a:noFill/>
        </p:spPr>
        <p:txBody>
          <a:bodyPr wrap="square" anchor="ctr" lIns="45720" rIns="45720" tIns="18288" bIns="18288"/>
          <a:lstStyle/>
          <a:p>
            <a:pPr algn="l"/>
            <a:r>
              <a:rPr sz="1400" b="1" i="0">
                <a:solidFill>
                  <a:srgbClr val="FFFFFF"/>
                </a:solidFill>
                <a:latin typeface="Calibri"/>
              </a:rPr>
              <a:t>Procrastination = emotions! (p. 112)</a:t>
            </a:r>
          </a:p>
        </p:txBody>
      </p:sp>
      <p:sp>
        <p:nvSpPr>
          <p:cNvPr id="36" name="TextBox 35"/>
          <p:cNvSpPr txBox="1"/>
          <p:nvPr/>
        </p:nvSpPr>
        <p:spPr>
          <a:xfrm>
            <a:off x="8302752" y="4718303"/>
            <a:ext cx="3557015" cy="1783079"/>
          </a:xfrm>
          <a:prstGeom prst="rect">
            <a:avLst/>
          </a:prstGeom>
          <a:noFill/>
        </p:spPr>
        <p:txBody>
          <a:bodyPr wrap="square" anchor="t" lIns="54864" rIns="54864" tIns="27432" bIns="27432"/>
          <a:lstStyle/>
          <a:p>
            <a:pPr>
              <a:spcAft>
                <a:spcPts val="300"/>
              </a:spcAft>
            </a:pPr>
            <a:r>
              <a:rPr sz="1900" b="1" i="0">
                <a:solidFill>
                  <a:srgbClr val="1A1A1A"/>
                </a:solidFill>
                <a:latin typeface="Calibri"/>
              </a:rPr>
              <a:t>• </a:t>
            </a:r>
            <a:r>
              <a:rPr sz="1900" b="0" i="0">
                <a:solidFill>
                  <a:srgbClr val="1A1A1A"/>
                </a:solidFill>
                <a:latin typeface="Calibri"/>
              </a:rPr>
              <a:t>Procrastinating is a way to cope with </a:t>
            </a:r>
            <a:r>
              <a:rPr sz="1900" b="1" i="0">
                <a:solidFill>
                  <a:srgbClr val="1A1A1A"/>
                </a:solidFill>
                <a:latin typeface="Calibri"/>
              </a:rPr>
              <a:t>anxiety/stress</a:t>
            </a:r>
          </a:p>
          <a:p>
            <a:pPr>
              <a:spcAft>
                <a:spcPts val="300"/>
              </a:spcAft>
            </a:pPr>
            <a:r>
              <a:rPr sz="1900" b="1" i="0">
                <a:solidFill>
                  <a:srgbClr val="1A1A1A"/>
                </a:solidFill>
                <a:latin typeface="Calibri"/>
              </a:rPr>
              <a:t>• </a:t>
            </a:r>
            <a:r>
              <a:rPr sz="1900" b="0" i="0">
                <a:solidFill>
                  <a:srgbClr val="1A1A1A"/>
                </a:solidFill>
                <a:latin typeface="Calibri"/>
              </a:rPr>
              <a:t>Fix: subgoals · just start · envision benefits · reward yourself</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600" b="1" i="0">
                <a:solidFill>
                  <a:srgbClr val="FFFFFF"/>
                </a:solidFill>
                <a:latin typeface="Calibri"/>
              </a:rPr>
              <a:t>R3: Treat Resistance to Change as Valuable Data (Carucci, HBR)</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DEC7E7"/>
                </a:solidFill>
                <a:latin typeface="Calibri"/>
              </a:rPr>
              <a:t>MODULE 3 · EMOTIONS &amp; SOCIAL PERCEPTION</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Emotions + perception + attribution</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32</a:t>
            </a:r>
          </a:p>
        </p:txBody>
      </p:sp>
      <p:sp>
        <p:nvSpPr>
          <p:cNvPr id="7" name="Rounded Rectangle 6"/>
          <p:cNvSpPr/>
          <p:nvPr/>
        </p:nvSpPr>
        <p:spPr>
          <a:xfrm>
            <a:off x="274320" y="1051560"/>
            <a:ext cx="11658600" cy="731520"/>
          </a:xfrm>
          <a:prstGeom prst="roundRect">
            <a:avLst>
              <a:gd name="adj" fmla="val 6000"/>
            </a:avLst>
          </a:prstGeom>
          <a:solidFill>
            <a:srgbClr val="FFF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69848"/>
            <a:ext cx="11475720" cy="694944"/>
          </a:xfrm>
          <a:prstGeom prst="rect">
            <a:avLst/>
          </a:prstGeom>
          <a:noFill/>
        </p:spPr>
        <p:txBody>
          <a:bodyPr wrap="square" anchor="ctr" lIns="45720" rIns="45720" tIns="18288" bIns="18288"/>
          <a:lstStyle/>
          <a:p>
            <a:pPr algn="l"/>
            <a:r>
              <a:rPr sz="1600" b="1" i="0">
                <a:solidFill>
                  <a:srgbClr val="1A1A1A"/>
                </a:solidFill>
                <a:latin typeface="Calibri"/>
              </a:rPr>
              <a:t>Core claim: ALL resistance is meaningful data. Labelling it 'knee-jerk' judges the PERSON (fundamental attribution bias) instead of reading the SIGNAL: fear, loss, confusion, overload, or a real flaw.</a:t>
            </a:r>
          </a:p>
        </p:txBody>
      </p:sp>
      <p:sp>
        <p:nvSpPr>
          <p:cNvPr id="9" name="Rounded Rectangle 8"/>
          <p:cNvSpPr/>
          <p:nvPr/>
        </p:nvSpPr>
        <p:spPr>
          <a:xfrm>
            <a:off x="274320" y="1920240"/>
            <a:ext cx="3566160" cy="4617720"/>
          </a:xfrm>
          <a:prstGeom prst="roundRect">
            <a:avLst>
              <a:gd name="adj" fmla="val 6000"/>
            </a:avLst>
          </a:prstGeom>
          <a:solidFill>
            <a:srgbClr val="FFFFFF"/>
          </a:solidFill>
          <a:ln w="19050">
            <a:solidFill>
              <a:srgbClr val="C39A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74320" y="1920240"/>
            <a:ext cx="3566160" cy="457200"/>
          </a:xfrm>
          <a:prstGeom prst="roundRect">
            <a:avLst>
              <a:gd name="adj" fmla="val 6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4320" y="2240280"/>
            <a:ext cx="3566160" cy="137160"/>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1920240"/>
            <a:ext cx="3383279" cy="457200"/>
          </a:xfrm>
          <a:prstGeom prst="rect">
            <a:avLst/>
          </a:prstGeom>
          <a:noFill/>
        </p:spPr>
        <p:txBody>
          <a:bodyPr wrap="square" anchor="ctr" lIns="45720" rIns="45720" tIns="18288" bIns="18288"/>
          <a:lstStyle/>
          <a:p>
            <a:pPr algn="l"/>
            <a:r>
              <a:rPr sz="1900" b="1" i="0">
                <a:solidFill>
                  <a:srgbClr val="FFFFFF"/>
                </a:solidFill>
                <a:latin typeface="Calibri"/>
              </a:rPr>
              <a:t>3 traps leaders fall into</a:t>
            </a:r>
          </a:p>
        </p:txBody>
      </p:sp>
      <p:sp>
        <p:nvSpPr>
          <p:cNvPr id="13" name="TextBox 12"/>
          <p:cNvSpPr txBox="1"/>
          <p:nvPr/>
        </p:nvSpPr>
        <p:spPr>
          <a:xfrm>
            <a:off x="347472" y="2432304"/>
            <a:ext cx="3419856" cy="4069080"/>
          </a:xfrm>
          <a:prstGeom prst="rect">
            <a:avLst/>
          </a:prstGeom>
          <a:noFill/>
        </p:spPr>
        <p:txBody>
          <a:bodyPr wrap="square" anchor="t" lIns="54864" rIns="54864" tIns="27432" bIns="27432"/>
          <a:lstStyle/>
          <a:p>
            <a:pPr>
              <a:spcAft>
                <a:spcPts val="300"/>
              </a:spcAft>
            </a:pPr>
            <a:r>
              <a:rPr sz="2000" b="1" i="0">
                <a:solidFill>
                  <a:srgbClr val="1A1A1A"/>
                </a:solidFill>
                <a:latin typeface="Calibri"/>
              </a:rPr>
              <a:t>• </a:t>
            </a:r>
            <a:r>
              <a:rPr sz="2000" b="1" i="0">
                <a:solidFill>
                  <a:srgbClr val="1A1A1A"/>
                </a:solidFill>
                <a:latin typeface="Calibri"/>
              </a:rPr>
              <a:t>1 Personalising</a:t>
            </a:r>
            <a:r>
              <a:rPr sz="2000" b="0" i="0">
                <a:solidFill>
                  <a:srgbClr val="1A1A1A"/>
                </a:solidFill>
                <a:latin typeface="Calibri"/>
              </a:rPr>
              <a:t>: seeing pushback as disrespect toward the leader</a:t>
            </a:r>
          </a:p>
          <a:p>
            <a:pPr>
              <a:spcAft>
                <a:spcPts val="300"/>
              </a:spcAft>
            </a:pPr>
            <a:r>
              <a:rPr sz="2000" b="1" i="0">
                <a:solidFill>
                  <a:srgbClr val="1A1A1A"/>
                </a:solidFill>
                <a:latin typeface="Calibri"/>
              </a:rPr>
              <a:t>• </a:t>
            </a:r>
            <a:r>
              <a:rPr sz="2000" b="1" i="0">
                <a:solidFill>
                  <a:srgbClr val="1A1A1A"/>
                </a:solidFill>
                <a:latin typeface="Calibri"/>
              </a:rPr>
              <a:t>2 Moralising</a:t>
            </a:r>
            <a:r>
              <a:rPr sz="2000" b="0" i="0">
                <a:solidFill>
                  <a:srgbClr val="1A1A1A"/>
                </a:solidFill>
                <a:latin typeface="Calibri"/>
              </a:rPr>
              <a:t>: 'are you a team player?' shuts dialogue</a:t>
            </a:r>
          </a:p>
          <a:p>
            <a:pPr>
              <a:spcAft>
                <a:spcPts val="300"/>
              </a:spcAft>
            </a:pPr>
            <a:r>
              <a:rPr sz="2000" b="1" i="0">
                <a:solidFill>
                  <a:srgbClr val="1A1A1A"/>
                </a:solidFill>
                <a:latin typeface="Calibri"/>
              </a:rPr>
              <a:t>• </a:t>
            </a:r>
            <a:r>
              <a:rPr sz="2000" b="1" i="0">
                <a:solidFill>
                  <a:srgbClr val="1A1A1A"/>
                </a:solidFill>
                <a:latin typeface="Calibri"/>
              </a:rPr>
              <a:t>3 Rushing to resolution</a:t>
            </a:r>
            <a:r>
              <a:rPr sz="2000" b="0" i="0">
                <a:solidFill>
                  <a:srgbClr val="1A1A1A"/>
                </a:solidFill>
                <a:latin typeface="Calibri"/>
              </a:rPr>
              <a:t>: persuading harder, escalating authority</a:t>
            </a:r>
          </a:p>
          <a:p>
            <a:pPr>
              <a:spcAft>
                <a:spcPts val="300"/>
              </a:spcAft>
            </a:pPr>
            <a:r>
              <a:rPr sz="2000" b="1" i="0">
                <a:solidFill>
                  <a:srgbClr val="1A1A1A"/>
                </a:solidFill>
                <a:latin typeface="Calibri"/>
              </a:rPr>
              <a:t>• </a:t>
            </a:r>
            <a:r>
              <a:rPr sz="2000" b="0" i="0">
                <a:solidFill>
                  <a:srgbClr val="1A1A1A"/>
                </a:solidFill>
                <a:latin typeface="Calibri"/>
              </a:rPr>
              <a:t>Pushing harder drives resistance </a:t>
            </a:r>
            <a:r>
              <a:rPr sz="2000" b="1" i="0">
                <a:solidFill>
                  <a:srgbClr val="1A1A1A"/>
                </a:solidFill>
                <a:latin typeface="Calibri"/>
              </a:rPr>
              <a:t>underground</a:t>
            </a:r>
            <a:r>
              <a:rPr sz="2000" b="0" i="0">
                <a:solidFill>
                  <a:srgbClr val="1A1A1A"/>
                </a:solidFill>
                <a:latin typeface="Calibri"/>
              </a:rPr>
              <a:t>: silence ≠ alignment</a:t>
            </a:r>
          </a:p>
        </p:txBody>
      </p:sp>
      <p:graphicFrame>
        <p:nvGraphicFramePr>
          <p:cNvPr id="14" name="Table 13"/>
          <p:cNvGraphicFramePr>
            <a:graphicFrameLocks noGrp="1"/>
          </p:cNvGraphicFramePr>
          <p:nvPr/>
        </p:nvGraphicFramePr>
        <p:xfrm>
          <a:off x="3977639" y="1920240"/>
          <a:ext cx="7955280" cy="3108960"/>
        </p:xfrm>
        <a:graphic>
          <a:graphicData uri="http://schemas.openxmlformats.org/drawingml/2006/table">
            <a:tbl>
              <a:tblPr firstRow="1" bandRow="1">
                <a:tableStyleId>{5C22544A-7EE6-4342-B048-85BDC9FD1C3A}</a:tableStyleId>
              </a:tblPr>
              <a:tblGrid>
                <a:gridCol w="1371600"/>
                <a:gridCol w="1645920"/>
                <a:gridCol w="2377440"/>
                <a:gridCol w="2560320"/>
              </a:tblGrid>
              <a:tr h="621792">
                <a:tc>
                  <a:txBody>
                    <a:bodyPr wrap="square"/>
                    <a:lstStyle/>
                    <a:p>
                      <a:r>
                        <a:rPr sz="1200" b="1" i="0">
                          <a:solidFill>
                            <a:srgbClr val="FFFFFF"/>
                          </a:solidFill>
                          <a:latin typeface="Calibri"/>
                        </a:rPr>
                        <a:t>Category</a:t>
                      </a:r>
                    </a:p>
                  </a:txBody>
                  <a:tcPr marL="54864" marR="54864" marT="27432" marB="27432" anchor="ctr">
                    <a:solidFill>
                      <a:srgbClr val="7B1FA2"/>
                    </a:solidFill>
                  </a:tcPr>
                </a:tc>
                <a:tc>
                  <a:txBody>
                    <a:bodyPr wrap="square"/>
                    <a:lstStyle/>
                    <a:p>
                      <a:r>
                        <a:rPr sz="1200" b="1" i="0">
                          <a:solidFill>
                            <a:srgbClr val="FFFFFF"/>
                          </a:solidFill>
                          <a:latin typeface="Calibri"/>
                        </a:rPr>
                        <a:t>Employee's question</a:t>
                      </a:r>
                    </a:p>
                  </a:txBody>
                  <a:tcPr marL="54864" marR="54864" marT="27432" marB="27432" anchor="ctr">
                    <a:solidFill>
                      <a:srgbClr val="7B1FA2"/>
                    </a:solidFill>
                  </a:tcPr>
                </a:tc>
                <a:tc>
                  <a:txBody>
                    <a:bodyPr wrap="square"/>
                    <a:lstStyle/>
                    <a:p>
                      <a:r>
                        <a:rPr sz="1200" b="1" i="0">
                          <a:solidFill>
                            <a:srgbClr val="FFFFFF"/>
                          </a:solidFill>
                          <a:latin typeface="Calibri"/>
                        </a:rPr>
                        <a:t>Looks like</a:t>
                      </a:r>
                    </a:p>
                  </a:txBody>
                  <a:tcPr marL="54864" marR="54864" marT="27432" marB="27432" anchor="ctr">
                    <a:solidFill>
                      <a:srgbClr val="7B1FA2"/>
                    </a:solidFill>
                  </a:tcPr>
                </a:tc>
                <a:tc>
                  <a:txBody>
                    <a:bodyPr wrap="square"/>
                    <a:lstStyle/>
                    <a:p>
                      <a:r>
                        <a:rPr sz="1200" b="1" i="0">
                          <a:solidFill>
                            <a:srgbClr val="FFFFFF"/>
                          </a:solidFill>
                          <a:latin typeface="Calibri"/>
                        </a:rPr>
                        <a:t>Leader response</a:t>
                      </a:r>
                    </a:p>
                  </a:txBody>
                  <a:tcPr marL="54864" marR="54864" marT="27432" marB="27432" anchor="ctr">
                    <a:solidFill>
                      <a:srgbClr val="7B1FA2"/>
                    </a:solidFill>
                  </a:tcPr>
                </a:tc>
              </a:tr>
              <a:tr h="621792">
                <a:tc>
                  <a:txBody>
                    <a:bodyPr wrap="square"/>
                    <a:lstStyle/>
                    <a:p>
                      <a:r>
                        <a:rPr sz="1200" b="1" i="0">
                          <a:solidFill>
                            <a:srgbClr val="1A1A1A"/>
                          </a:solidFill>
                          <a:latin typeface="Calibri"/>
                        </a:rPr>
                        <a:t>LOSS</a:t>
                      </a:r>
                    </a:p>
                  </a:txBody>
                  <a:tcPr marL="54864" marR="54864" marT="27432" marB="27432" anchor="ctr">
                    <a:solidFill>
                      <a:srgbClr val="FFFFFF"/>
                    </a:solidFill>
                  </a:tcPr>
                </a:tc>
                <a:tc>
                  <a:txBody>
                    <a:bodyPr wrap="square"/>
                    <a:lstStyle/>
                    <a:p>
                      <a:r>
                        <a:rPr sz="1200" b="0" i="0">
                          <a:solidFill>
                            <a:srgbClr val="1A1A1A"/>
                          </a:solidFill>
                          <a:latin typeface="Calibri"/>
                        </a:rPr>
                        <a:t>What am I losing?</a:t>
                      </a:r>
                    </a:p>
                  </a:txBody>
                  <a:tcPr marL="54864" marR="54864" marT="27432" marB="27432" anchor="ctr">
                    <a:solidFill>
                      <a:srgbClr val="FFFFFF"/>
                    </a:solidFill>
                  </a:tcPr>
                </a:tc>
                <a:tc>
                  <a:txBody>
                    <a:bodyPr wrap="square"/>
                    <a:lstStyle/>
                    <a:p>
                      <a:r>
                        <a:rPr sz="1200" b="0" i="0">
                          <a:solidFill>
                            <a:srgbClr val="1A1A1A"/>
                          </a:solidFill>
                          <a:latin typeface="Calibri"/>
                        </a:rPr>
                        <a:t>Defending old way, clinging to decision rights, overstating risks</a:t>
                      </a:r>
                    </a:p>
                  </a:txBody>
                  <a:tcPr marL="54864" marR="54864" marT="27432" marB="27432" anchor="ctr">
                    <a:solidFill>
                      <a:srgbClr val="FFFFFF"/>
                    </a:solidFill>
                  </a:tcPr>
                </a:tc>
                <a:tc>
                  <a:txBody>
                    <a:bodyPr wrap="square"/>
                    <a:lstStyle/>
                    <a:p>
                      <a:r>
                        <a:rPr sz="1200" b="0" i="0">
                          <a:solidFill>
                            <a:srgbClr val="1A1A1A"/>
                          </a:solidFill>
                          <a:latin typeface="Calibri"/>
                        </a:rPr>
                        <a:t>Name the loss · honour the old way · re-anchor their value in the future</a:t>
                      </a:r>
                    </a:p>
                  </a:txBody>
                  <a:tcPr marL="54864" marR="54864" marT="27432" marB="27432" anchor="ctr">
                    <a:solidFill>
                      <a:srgbClr val="FFFFFF"/>
                    </a:solidFill>
                  </a:tcPr>
                </a:tc>
              </a:tr>
              <a:tr h="621792">
                <a:tc>
                  <a:txBody>
                    <a:bodyPr wrap="square"/>
                    <a:lstStyle/>
                    <a:p>
                      <a:r>
                        <a:rPr sz="1200" b="1" i="0">
                          <a:solidFill>
                            <a:srgbClr val="1A1A1A"/>
                          </a:solidFill>
                          <a:latin typeface="Calibri"/>
                        </a:rPr>
                        <a:t>ANXIETY</a:t>
                      </a:r>
                    </a:p>
                  </a:txBody>
                  <a:tcPr marL="54864" marR="54864" marT="27432" marB="27432" anchor="ctr">
                    <a:solidFill>
                      <a:srgbClr val="F1E8F5"/>
                    </a:solidFill>
                  </a:tcPr>
                </a:tc>
                <a:tc>
                  <a:txBody>
                    <a:bodyPr wrap="square"/>
                    <a:lstStyle/>
                    <a:p>
                      <a:r>
                        <a:rPr sz="1200" b="0" i="0">
                          <a:solidFill>
                            <a:srgbClr val="1A1A1A"/>
                          </a:solidFill>
                          <a:latin typeface="Calibri"/>
                        </a:rPr>
                        <a:t>What does this mean for me?</a:t>
                      </a:r>
                    </a:p>
                  </a:txBody>
                  <a:tcPr marL="54864" marR="54864" marT="27432" marB="27432" anchor="ctr">
                    <a:solidFill>
                      <a:srgbClr val="F1E8F5"/>
                    </a:solidFill>
                  </a:tcPr>
                </a:tc>
                <a:tc>
                  <a:txBody>
                    <a:bodyPr wrap="square"/>
                    <a:lstStyle/>
                    <a:p>
                      <a:r>
                        <a:rPr sz="1200" b="0" i="0">
                          <a:solidFill>
                            <a:srgbClr val="1A1A1A"/>
                          </a:solidFill>
                          <a:latin typeface="Calibri"/>
                        </a:rPr>
                        <a:t>Disengaged, overwhelmed</a:t>
                      </a:r>
                    </a:p>
                  </a:txBody>
                  <a:tcPr marL="54864" marR="54864" marT="27432" marB="27432" anchor="ctr">
                    <a:solidFill>
                      <a:srgbClr val="F1E8F5"/>
                    </a:solidFill>
                  </a:tcPr>
                </a:tc>
                <a:tc>
                  <a:txBody>
                    <a:bodyPr wrap="square"/>
                    <a:lstStyle/>
                    <a:p>
                      <a:r>
                        <a:rPr sz="1200" b="0" i="0">
                          <a:solidFill>
                            <a:srgbClr val="1A1A1A"/>
                          </a:solidFill>
                          <a:latin typeface="Calibri"/>
                        </a:rPr>
                        <a:t>Communicate consistently (repeat) · normalise uncertainty · space for questions</a:t>
                      </a:r>
                    </a:p>
                  </a:txBody>
                  <a:tcPr marL="54864" marR="54864" marT="27432" marB="27432" anchor="ctr">
                    <a:solidFill>
                      <a:srgbClr val="F1E8F5"/>
                    </a:solidFill>
                  </a:tcPr>
                </a:tc>
              </a:tr>
              <a:tr h="621792">
                <a:tc>
                  <a:txBody>
                    <a:bodyPr wrap="square"/>
                    <a:lstStyle/>
                    <a:p>
                      <a:r>
                        <a:rPr sz="1200" b="1" i="0">
                          <a:solidFill>
                            <a:srgbClr val="1A1A1A"/>
                          </a:solidFill>
                          <a:latin typeface="Calibri"/>
                        </a:rPr>
                        <a:t>LACK OF CONTROL</a:t>
                      </a:r>
                    </a:p>
                  </a:txBody>
                  <a:tcPr marL="54864" marR="54864" marT="27432" marB="27432" anchor="ctr">
                    <a:solidFill>
                      <a:srgbClr val="FFFFFF"/>
                    </a:solidFill>
                  </a:tcPr>
                </a:tc>
                <a:tc>
                  <a:txBody>
                    <a:bodyPr wrap="square"/>
                    <a:lstStyle/>
                    <a:p>
                      <a:r>
                        <a:rPr sz="1200" b="0" i="0">
                          <a:solidFill>
                            <a:srgbClr val="1A1A1A"/>
                          </a:solidFill>
                          <a:latin typeface="Calibri"/>
                        </a:rPr>
                        <a:t>Why is this being done to me?</a:t>
                      </a:r>
                    </a:p>
                  </a:txBody>
                  <a:tcPr marL="54864" marR="54864" marT="27432" marB="27432" anchor="ctr">
                    <a:solidFill>
                      <a:srgbClr val="FFFFFF"/>
                    </a:solidFill>
                  </a:tcPr>
                </a:tc>
                <a:tc>
                  <a:txBody>
                    <a:bodyPr wrap="square"/>
                    <a:lstStyle/>
                    <a:p>
                      <a:r>
                        <a:rPr sz="1200" b="0" i="0">
                          <a:solidFill>
                            <a:srgbClr val="1A1A1A"/>
                          </a:solidFill>
                          <a:latin typeface="Calibri"/>
                        </a:rPr>
                        <a:t>Passive compliance, minimal effort (beware 'faux-inclusion')</a:t>
                      </a:r>
                    </a:p>
                  </a:txBody>
                  <a:tcPr marL="54864" marR="54864" marT="27432" marB="27432" anchor="ctr">
                    <a:solidFill>
                      <a:srgbClr val="FFFFFF"/>
                    </a:solidFill>
                  </a:tcPr>
                </a:tc>
                <a:tc>
                  <a:txBody>
                    <a:bodyPr wrap="square"/>
                    <a:lstStyle/>
                    <a:p>
                      <a:r>
                        <a:rPr sz="1200" b="0" i="0">
                          <a:solidFill>
                            <a:srgbClr val="1A1A1A"/>
                          </a:solidFill>
                          <a:latin typeface="Calibri"/>
                        </a:rPr>
                        <a:t>Be explicit where input matters · involve early · co-create</a:t>
                      </a:r>
                    </a:p>
                  </a:txBody>
                  <a:tcPr marL="54864" marR="54864" marT="27432" marB="27432" anchor="ctr">
                    <a:solidFill>
                      <a:srgbClr val="FFFFFF"/>
                    </a:solidFill>
                  </a:tcPr>
                </a:tc>
              </a:tr>
              <a:tr h="621792">
                <a:tc>
                  <a:txBody>
                    <a:bodyPr wrap="square"/>
                    <a:lstStyle/>
                    <a:p>
                      <a:r>
                        <a:rPr sz="1200" b="1" i="0">
                          <a:solidFill>
                            <a:srgbClr val="1A1A1A"/>
                          </a:solidFill>
                          <a:latin typeface="Calibri"/>
                        </a:rPr>
                        <a:t>FLAWS IN CHANGE</a:t>
                      </a:r>
                    </a:p>
                  </a:txBody>
                  <a:tcPr marL="54864" marR="54864" marT="27432" marB="27432" anchor="ctr">
                    <a:solidFill>
                      <a:srgbClr val="F1E8F5"/>
                    </a:solidFill>
                  </a:tcPr>
                </a:tc>
                <a:tc>
                  <a:txBody>
                    <a:bodyPr wrap="square"/>
                    <a:lstStyle/>
                    <a:p>
                      <a:r>
                        <a:rPr sz="1200" b="0" i="0">
                          <a:solidFill>
                            <a:srgbClr val="1A1A1A"/>
                          </a:solidFill>
                          <a:latin typeface="Calibri"/>
                        </a:rPr>
                        <a:t>This doesn't actually work.</a:t>
                      </a:r>
                    </a:p>
                  </a:txBody>
                  <a:tcPr marL="54864" marR="54864" marT="27432" marB="27432" anchor="ctr">
                    <a:solidFill>
                      <a:srgbClr val="F1E8F5"/>
                    </a:solidFill>
                  </a:tcPr>
                </a:tc>
                <a:tc>
                  <a:txBody>
                    <a:bodyPr wrap="square"/>
                    <a:lstStyle/>
                    <a:p>
                      <a:r>
                        <a:rPr sz="1200" b="0" i="0">
                          <a:solidFill>
                            <a:srgbClr val="1A1A1A"/>
                          </a:solidFill>
                          <a:latin typeface="Calibri"/>
                        </a:rPr>
                        <a:t>Points out unrealistic timelines, process mismatch</a:t>
                      </a:r>
                    </a:p>
                  </a:txBody>
                  <a:tcPr marL="54864" marR="54864" marT="27432" marB="27432" anchor="ctr">
                    <a:solidFill>
                      <a:srgbClr val="F1E8F5"/>
                    </a:solidFill>
                  </a:tcPr>
                </a:tc>
                <a:tc>
                  <a:txBody>
                    <a:bodyPr wrap="square"/>
                    <a:lstStyle/>
                    <a:p>
                      <a:r>
                        <a:rPr sz="1200" b="0" i="0">
                          <a:solidFill>
                            <a:srgbClr val="1A1A1A"/>
                          </a:solidFill>
                          <a:latin typeface="Calibri"/>
                        </a:rPr>
                        <a:t>Get curious before corrective · separate signal from delivery · adapt the plan</a:t>
                      </a:r>
                    </a:p>
                  </a:txBody>
                  <a:tcPr marL="54864" marR="54864" marT="27432" marB="27432" anchor="ctr">
                    <a:solidFill>
                      <a:srgbClr val="F1E8F5"/>
                    </a:solidFill>
                  </a:tcPr>
                </a:tc>
              </a:tr>
            </a:tbl>
          </a:graphicData>
        </a:graphic>
      </p:graphicFrame>
      <p:sp>
        <p:nvSpPr>
          <p:cNvPr id="15" name="Rounded Rectangle 14"/>
          <p:cNvSpPr/>
          <p:nvPr/>
        </p:nvSpPr>
        <p:spPr>
          <a:xfrm>
            <a:off x="3977639" y="5120640"/>
            <a:ext cx="7955279" cy="1417320"/>
          </a:xfrm>
          <a:prstGeom prst="roundRect">
            <a:avLst>
              <a:gd name="adj" fmla="val 6000"/>
            </a:avLst>
          </a:prstGeom>
          <a:solidFill>
            <a:srgbClr val="FFFFFF"/>
          </a:solidFill>
          <a:ln w="19050">
            <a:solidFill>
              <a:srgbClr val="C39A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977639" y="5120640"/>
            <a:ext cx="7955279" cy="457200"/>
          </a:xfrm>
          <a:prstGeom prst="roundRect">
            <a:avLst>
              <a:gd name="adj" fmla="val 6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977639" y="5440679"/>
            <a:ext cx="7955279" cy="137160"/>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69079" y="5120640"/>
            <a:ext cx="7772400" cy="457200"/>
          </a:xfrm>
          <a:prstGeom prst="rect">
            <a:avLst/>
          </a:prstGeom>
          <a:noFill/>
        </p:spPr>
        <p:txBody>
          <a:bodyPr wrap="square" anchor="ctr" lIns="45720" rIns="45720" tIns="18288" bIns="18288"/>
          <a:lstStyle/>
          <a:p>
            <a:pPr algn="l"/>
            <a:r>
              <a:rPr sz="1900" b="1" i="0">
                <a:solidFill>
                  <a:srgbClr val="FFFFFF"/>
                </a:solidFill>
                <a:latin typeface="Calibri"/>
              </a:rPr>
              <a:t>'Hold the line' (honour emotion, hold behaviour)</a:t>
            </a:r>
          </a:p>
        </p:txBody>
      </p:sp>
      <p:sp>
        <p:nvSpPr>
          <p:cNvPr id="19" name="TextBox 18"/>
          <p:cNvSpPr txBox="1"/>
          <p:nvPr/>
        </p:nvSpPr>
        <p:spPr>
          <a:xfrm>
            <a:off x="4050791" y="5632703"/>
            <a:ext cx="7808975" cy="868680"/>
          </a:xfrm>
          <a:prstGeom prst="rect">
            <a:avLst/>
          </a:prstGeom>
          <a:noFill/>
        </p:spPr>
        <p:txBody>
          <a:bodyPr wrap="square" anchor="t" lIns="54864" rIns="54864" tIns="27432" bIns="27432"/>
          <a:lstStyle/>
          <a:p>
            <a:pPr>
              <a:spcAft>
                <a:spcPts val="300"/>
              </a:spcAft>
            </a:pPr>
            <a:r>
              <a:rPr sz="1200" b="1" i="0">
                <a:solidFill>
                  <a:srgbClr val="1A1A1A"/>
                </a:solidFill>
                <a:latin typeface="Calibri"/>
              </a:rPr>
              <a:t>• </a:t>
            </a:r>
            <a:r>
              <a:rPr sz="1200" b="0" i="0">
                <a:solidFill>
                  <a:srgbClr val="1A1A1A"/>
                </a:solidFill>
                <a:latin typeface="Calibri"/>
              </a:rPr>
              <a:t>1 Name behaviour &amp; impact without judgement · 2 Separate person from expectation · 3 Follow through consistently: escalate clarity, not emotion</a:t>
            </a:r>
          </a:p>
          <a:p>
            <a:pPr>
              <a:spcAft>
                <a:spcPts val="300"/>
              </a:spcAft>
            </a:pPr>
            <a:r>
              <a:rPr sz="1200" b="1" i="0">
                <a:solidFill>
                  <a:srgbClr val="1A1A1A"/>
                </a:solidFill>
                <a:latin typeface="Calibri"/>
              </a:rPr>
              <a:t>• </a:t>
            </a:r>
            <a:r>
              <a:rPr sz="1200" b="0" i="0">
                <a:solidFill>
                  <a:srgbClr val="1A1A1A"/>
                </a:solidFill>
                <a:latin typeface="Calibri"/>
              </a:rPr>
              <a:t>Links: emotions (fear/anger), voice &amp; procedural justice (Ch 5), behavioural problems (resistance to change)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200" b="1" i="0">
                <a:solidFill>
                  <a:srgbClr val="FFFFFF"/>
                </a:solidFill>
                <a:latin typeface="Calibri"/>
              </a:rPr>
              <a:t>Case 7: Prudence in a Maze of Metaphors (IMD 2024): individual differences</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DEC7E7"/>
                </a:solidFill>
                <a:latin typeface="Calibri"/>
              </a:rPr>
              <a:t>MODULE 3 · EMOTIONS &amp; SOCIAL PERCEPTION</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Gender &amp; career barriers</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33</a:t>
            </a:r>
          </a:p>
        </p:txBody>
      </p:sp>
      <p:graphicFrame>
        <p:nvGraphicFramePr>
          <p:cNvPr id="7" name="Table 6"/>
          <p:cNvGraphicFramePr>
            <a:graphicFrameLocks noGrp="1"/>
          </p:cNvGraphicFramePr>
          <p:nvPr/>
        </p:nvGraphicFramePr>
        <p:xfrm>
          <a:off x="274320" y="1051560"/>
          <a:ext cx="7772400" cy="4206237"/>
        </p:xfrm>
        <a:graphic>
          <a:graphicData uri="http://schemas.openxmlformats.org/drawingml/2006/table">
            <a:tbl>
              <a:tblPr firstRow="1" bandRow="1">
                <a:tableStyleId>{5C22544A-7EE6-4342-B048-85BDC9FD1C3A}</a:tableStyleId>
              </a:tblPr>
              <a:tblGrid>
                <a:gridCol w="1463040"/>
                <a:gridCol w="2423160"/>
                <a:gridCol w="1554480"/>
                <a:gridCol w="2331720"/>
              </a:tblGrid>
              <a:tr h="600891">
                <a:tc>
                  <a:txBody>
                    <a:bodyPr wrap="square"/>
                    <a:lstStyle/>
                    <a:p>
                      <a:r>
                        <a:rPr sz="1200" b="1" i="0">
                          <a:solidFill>
                            <a:srgbClr val="FFFFFF"/>
                          </a:solidFill>
                          <a:latin typeface="Calibri"/>
                        </a:rPr>
                        <a:t>Metaphor</a:t>
                      </a:r>
                    </a:p>
                  </a:txBody>
                  <a:tcPr marL="54864" marR="54864" marT="27432" marB="27432" anchor="ctr">
                    <a:solidFill>
                      <a:srgbClr val="7B1FA2"/>
                    </a:solidFill>
                  </a:tcPr>
                </a:tc>
                <a:tc>
                  <a:txBody>
                    <a:bodyPr wrap="square"/>
                    <a:lstStyle/>
                    <a:p>
                      <a:r>
                        <a:rPr sz="1200" b="1" i="0">
                          <a:solidFill>
                            <a:srgbClr val="FFFFFF"/>
                          </a:solidFill>
                          <a:latin typeface="Calibri"/>
                        </a:rPr>
                        <a:t>Meaning</a:t>
                      </a:r>
                    </a:p>
                  </a:txBody>
                  <a:tcPr marL="54864" marR="54864" marT="27432" marB="27432" anchor="ctr">
                    <a:solidFill>
                      <a:srgbClr val="7B1FA2"/>
                    </a:solidFill>
                  </a:tcPr>
                </a:tc>
                <a:tc>
                  <a:txBody>
                    <a:bodyPr wrap="square"/>
                    <a:lstStyle/>
                    <a:p>
                      <a:r>
                        <a:rPr sz="1200" b="1" i="0">
                          <a:solidFill>
                            <a:srgbClr val="FFFFFF"/>
                          </a:solidFill>
                          <a:latin typeface="Calibri"/>
                        </a:rPr>
                        <a:t>Metaphor</a:t>
                      </a:r>
                    </a:p>
                  </a:txBody>
                  <a:tcPr marL="54864" marR="54864" marT="27432" marB="27432" anchor="ctr">
                    <a:solidFill>
                      <a:srgbClr val="7B1FA2"/>
                    </a:solidFill>
                  </a:tcPr>
                </a:tc>
                <a:tc>
                  <a:txBody>
                    <a:bodyPr wrap="square"/>
                    <a:lstStyle/>
                    <a:p>
                      <a:r>
                        <a:rPr sz="1200" b="1" i="0">
                          <a:solidFill>
                            <a:srgbClr val="FFFFFF"/>
                          </a:solidFill>
                          <a:latin typeface="Calibri"/>
                        </a:rPr>
                        <a:t>Meaning</a:t>
                      </a:r>
                    </a:p>
                  </a:txBody>
                  <a:tcPr marL="54864" marR="54864" marT="27432" marB="27432" anchor="ctr">
                    <a:solidFill>
                      <a:srgbClr val="7B1FA2"/>
                    </a:solidFill>
                  </a:tcPr>
                </a:tc>
              </a:tr>
              <a:tr h="600891">
                <a:tc>
                  <a:txBody>
                    <a:bodyPr wrap="square"/>
                    <a:lstStyle/>
                    <a:p>
                      <a:r>
                        <a:rPr sz="1200" b="1" i="0">
                          <a:solidFill>
                            <a:srgbClr val="1A1A1A"/>
                          </a:solidFill>
                          <a:latin typeface="Calibri"/>
                        </a:rPr>
                        <a:t>Sticky Floor</a:t>
                      </a:r>
                    </a:p>
                  </a:txBody>
                  <a:tcPr marL="54864" marR="54864" marT="27432" marB="27432" anchor="ctr">
                    <a:solidFill>
                      <a:srgbClr val="FFFFFF"/>
                    </a:solidFill>
                  </a:tcPr>
                </a:tc>
                <a:tc>
                  <a:txBody>
                    <a:bodyPr wrap="square"/>
                    <a:lstStyle/>
                    <a:p>
                      <a:r>
                        <a:rPr sz="1200" b="0" i="0">
                          <a:solidFill>
                            <a:srgbClr val="1A1A1A"/>
                          </a:solidFill>
                          <a:latin typeface="Calibri"/>
                        </a:rPr>
                        <a:t>Societal/self-imposed limits that keep women at the bottom</a:t>
                      </a:r>
                    </a:p>
                  </a:txBody>
                  <a:tcPr marL="54864" marR="54864" marT="27432" marB="27432" anchor="ctr">
                    <a:solidFill>
                      <a:srgbClr val="FFFFFF"/>
                    </a:solidFill>
                  </a:tcPr>
                </a:tc>
                <a:tc>
                  <a:txBody>
                    <a:bodyPr wrap="square"/>
                    <a:lstStyle/>
                    <a:p>
                      <a:r>
                        <a:rPr sz="1200" b="0" i="0">
                          <a:solidFill>
                            <a:srgbClr val="1A1A1A"/>
                          </a:solidFill>
                          <a:latin typeface="Calibri"/>
                        </a:rPr>
                        <a:t>Mansplaining</a:t>
                      </a:r>
                    </a:p>
                  </a:txBody>
                  <a:tcPr marL="54864" marR="54864" marT="27432" marB="27432" anchor="ctr">
                    <a:solidFill>
                      <a:srgbClr val="FFFFFF"/>
                    </a:solidFill>
                  </a:tcPr>
                </a:tc>
                <a:tc>
                  <a:txBody>
                    <a:bodyPr wrap="square"/>
                    <a:lstStyle/>
                    <a:p>
                      <a:r>
                        <a:rPr sz="1200" b="0" i="0">
                          <a:solidFill>
                            <a:srgbClr val="1A1A1A"/>
                          </a:solidFill>
                          <a:latin typeface="Calibri"/>
                        </a:rPr>
                        <a:t>Condescending explanations assuming women know less</a:t>
                      </a:r>
                    </a:p>
                  </a:txBody>
                  <a:tcPr marL="54864" marR="54864" marT="27432" marB="27432" anchor="ctr">
                    <a:solidFill>
                      <a:srgbClr val="FFFFFF"/>
                    </a:solidFill>
                  </a:tcPr>
                </a:tc>
              </a:tr>
              <a:tr h="600891">
                <a:tc>
                  <a:txBody>
                    <a:bodyPr wrap="square"/>
                    <a:lstStyle/>
                    <a:p>
                      <a:r>
                        <a:rPr sz="1200" b="1" i="0">
                          <a:solidFill>
                            <a:srgbClr val="1A1A1A"/>
                          </a:solidFill>
                          <a:latin typeface="Calibri"/>
                        </a:rPr>
                        <a:t>Leaky Pipeline</a:t>
                      </a:r>
                    </a:p>
                  </a:txBody>
                  <a:tcPr marL="54864" marR="54864" marT="27432" marB="27432" anchor="ctr">
                    <a:solidFill>
                      <a:srgbClr val="F1E8F5"/>
                    </a:solidFill>
                  </a:tcPr>
                </a:tc>
                <a:tc>
                  <a:txBody>
                    <a:bodyPr wrap="square"/>
                    <a:lstStyle/>
                    <a:p>
                      <a:r>
                        <a:rPr sz="1200" b="0" i="0">
                          <a:solidFill>
                            <a:srgbClr val="1A1A1A"/>
                          </a:solidFill>
                          <a:latin typeface="Calibri"/>
                        </a:rPr>
                        <a:t>Gradual loss of women at each career stage</a:t>
                      </a:r>
                    </a:p>
                  </a:txBody>
                  <a:tcPr marL="54864" marR="54864" marT="27432" marB="27432" anchor="ctr">
                    <a:solidFill>
                      <a:srgbClr val="F1E8F5"/>
                    </a:solidFill>
                  </a:tcPr>
                </a:tc>
                <a:tc>
                  <a:txBody>
                    <a:bodyPr wrap="square"/>
                    <a:lstStyle/>
                    <a:p>
                      <a:r>
                        <a:rPr sz="1200" b="0" i="0">
                          <a:solidFill>
                            <a:srgbClr val="1A1A1A"/>
                          </a:solidFill>
                          <a:latin typeface="Calibri"/>
                        </a:rPr>
                        <a:t>Double Bind</a:t>
                      </a:r>
                    </a:p>
                  </a:txBody>
                  <a:tcPr marL="54864" marR="54864" marT="27432" marB="27432" anchor="ctr">
                    <a:solidFill>
                      <a:srgbClr val="F1E8F5"/>
                    </a:solidFill>
                  </a:tcPr>
                </a:tc>
                <a:tc>
                  <a:txBody>
                    <a:bodyPr wrap="square"/>
                    <a:lstStyle/>
                    <a:p>
                      <a:r>
                        <a:rPr sz="1200" b="0" i="0">
                          <a:solidFill>
                            <a:srgbClr val="1A1A1A"/>
                          </a:solidFill>
                          <a:latin typeface="Calibri"/>
                        </a:rPr>
                        <a:t>Conflicting demands: be assertive AND nurturing</a:t>
                      </a:r>
                    </a:p>
                  </a:txBody>
                  <a:tcPr marL="54864" marR="54864" marT="27432" marB="27432" anchor="ctr">
                    <a:solidFill>
                      <a:srgbClr val="F1E8F5"/>
                    </a:solidFill>
                  </a:tcPr>
                </a:tc>
              </a:tr>
              <a:tr h="600891">
                <a:tc>
                  <a:txBody>
                    <a:bodyPr wrap="square"/>
                    <a:lstStyle/>
                    <a:p>
                      <a:r>
                        <a:rPr sz="1200" b="1" i="0">
                          <a:solidFill>
                            <a:srgbClr val="1A1A1A"/>
                          </a:solidFill>
                          <a:latin typeface="Calibri"/>
                        </a:rPr>
                        <a:t>Glass Ceiling</a:t>
                      </a:r>
                    </a:p>
                  </a:txBody>
                  <a:tcPr marL="54864" marR="54864" marT="27432" marB="27432" anchor="ctr">
                    <a:solidFill>
                      <a:srgbClr val="FFFFFF"/>
                    </a:solidFill>
                  </a:tcPr>
                </a:tc>
                <a:tc>
                  <a:txBody>
                    <a:bodyPr wrap="square"/>
                    <a:lstStyle/>
                    <a:p>
                      <a:r>
                        <a:rPr sz="1200" b="0" i="0">
                          <a:solidFill>
                            <a:srgbClr val="1A1A1A"/>
                          </a:solidFill>
                          <a:latin typeface="Calibri"/>
                        </a:rPr>
                        <a:t>Invisible barrier to top roles</a:t>
                      </a:r>
                    </a:p>
                  </a:txBody>
                  <a:tcPr marL="54864" marR="54864" marT="27432" marB="27432" anchor="ctr">
                    <a:solidFill>
                      <a:srgbClr val="FFFFFF"/>
                    </a:solidFill>
                  </a:tcPr>
                </a:tc>
                <a:tc>
                  <a:txBody>
                    <a:bodyPr wrap="square"/>
                    <a:lstStyle/>
                    <a:p>
                      <a:r>
                        <a:rPr sz="1200" b="0" i="0">
                          <a:solidFill>
                            <a:srgbClr val="1A1A1A"/>
                          </a:solidFill>
                          <a:latin typeface="Calibri"/>
                        </a:rPr>
                        <a:t>Motherhood Penalty</a:t>
                      </a:r>
                    </a:p>
                  </a:txBody>
                  <a:tcPr marL="54864" marR="54864" marT="27432" marB="27432" anchor="ctr">
                    <a:solidFill>
                      <a:srgbClr val="FFFFFF"/>
                    </a:solidFill>
                  </a:tcPr>
                </a:tc>
                <a:tc>
                  <a:txBody>
                    <a:bodyPr wrap="square"/>
                    <a:lstStyle/>
                    <a:p>
                      <a:r>
                        <a:rPr sz="1200" b="0" i="0">
                          <a:solidFill>
                            <a:srgbClr val="1A1A1A"/>
                          </a:solidFill>
                          <a:latin typeface="Calibri"/>
                        </a:rPr>
                        <a:t>Assumed lower commitment after children</a:t>
                      </a:r>
                    </a:p>
                  </a:txBody>
                  <a:tcPr marL="54864" marR="54864" marT="27432" marB="27432" anchor="ctr">
                    <a:solidFill>
                      <a:srgbClr val="FFFFFF"/>
                    </a:solidFill>
                  </a:tcPr>
                </a:tc>
              </a:tr>
              <a:tr h="600891">
                <a:tc>
                  <a:txBody>
                    <a:bodyPr wrap="square"/>
                    <a:lstStyle/>
                    <a:p>
                      <a:r>
                        <a:rPr sz="1200" b="1" i="0">
                          <a:solidFill>
                            <a:srgbClr val="1A1A1A"/>
                          </a:solidFill>
                          <a:latin typeface="Calibri"/>
                        </a:rPr>
                        <a:t>Glass Cliff</a:t>
                      </a:r>
                    </a:p>
                  </a:txBody>
                  <a:tcPr marL="54864" marR="54864" marT="27432" marB="27432" anchor="ctr">
                    <a:solidFill>
                      <a:srgbClr val="F1E8F5"/>
                    </a:solidFill>
                  </a:tcPr>
                </a:tc>
                <a:tc>
                  <a:txBody>
                    <a:bodyPr wrap="square"/>
                    <a:lstStyle/>
                    <a:p>
                      <a:r>
                        <a:rPr sz="1200" b="0" i="0">
                          <a:solidFill>
                            <a:srgbClr val="1A1A1A"/>
                          </a:solidFill>
                          <a:latin typeface="Calibri"/>
                        </a:rPr>
                        <a:t>Risky leadership roles given in crises → higher failure</a:t>
                      </a:r>
                    </a:p>
                  </a:txBody>
                  <a:tcPr marL="54864" marR="54864" marT="27432" marB="27432" anchor="ctr">
                    <a:solidFill>
                      <a:srgbClr val="F1E8F5"/>
                    </a:solidFill>
                  </a:tcPr>
                </a:tc>
                <a:tc>
                  <a:txBody>
                    <a:bodyPr wrap="square"/>
                    <a:lstStyle/>
                    <a:p>
                      <a:r>
                        <a:rPr sz="1200" b="0" i="0">
                          <a:solidFill>
                            <a:srgbClr val="1A1A1A"/>
                          </a:solidFill>
                          <a:latin typeface="Calibri"/>
                        </a:rPr>
                        <a:t>Second Shift / Invisible Job</a:t>
                      </a:r>
                    </a:p>
                  </a:txBody>
                  <a:tcPr marL="54864" marR="54864" marT="27432" marB="27432" anchor="ctr">
                    <a:solidFill>
                      <a:srgbClr val="F1E8F5"/>
                    </a:solidFill>
                  </a:tcPr>
                </a:tc>
                <a:tc>
                  <a:txBody>
                    <a:bodyPr wrap="square"/>
                    <a:lstStyle/>
                    <a:p>
                      <a:r>
                        <a:rPr sz="1200" b="0" i="0">
                          <a:solidFill>
                            <a:srgbClr val="1A1A1A"/>
                          </a:solidFill>
                          <a:latin typeface="Calibri"/>
                        </a:rPr>
                        <a:t>Unpaid home labour + unseen mental load</a:t>
                      </a:r>
                    </a:p>
                  </a:txBody>
                  <a:tcPr marL="54864" marR="54864" marT="27432" marB="27432" anchor="ctr">
                    <a:solidFill>
                      <a:srgbClr val="F1E8F5"/>
                    </a:solidFill>
                  </a:tcPr>
                </a:tc>
              </a:tr>
              <a:tr h="600891">
                <a:tc>
                  <a:txBody>
                    <a:bodyPr wrap="square"/>
                    <a:lstStyle/>
                    <a:p>
                      <a:r>
                        <a:rPr sz="1200" b="1" i="0">
                          <a:solidFill>
                            <a:srgbClr val="1A1A1A"/>
                          </a:solidFill>
                          <a:latin typeface="Calibri"/>
                        </a:rPr>
                        <a:t>Queen Bee</a:t>
                      </a:r>
                    </a:p>
                  </a:txBody>
                  <a:tcPr marL="54864" marR="54864" marT="27432" marB="27432" anchor="ctr">
                    <a:solidFill>
                      <a:srgbClr val="FFFFFF"/>
                    </a:solidFill>
                  </a:tcPr>
                </a:tc>
                <a:tc>
                  <a:txBody>
                    <a:bodyPr wrap="square"/>
                    <a:lstStyle/>
                    <a:p>
                      <a:r>
                        <a:rPr sz="1200" b="0" i="0">
                          <a:solidFill>
                            <a:srgbClr val="1A1A1A"/>
                          </a:solidFill>
                          <a:latin typeface="Calibri"/>
                        </a:rPr>
                        <a:t>Senior women distancing from junior women ('earn your stripes')</a:t>
                      </a:r>
                    </a:p>
                  </a:txBody>
                  <a:tcPr marL="54864" marR="54864" marT="27432" marB="27432" anchor="ctr">
                    <a:solidFill>
                      <a:srgbClr val="FFFFFF"/>
                    </a:solidFill>
                  </a:tcPr>
                </a:tc>
                <a:tc>
                  <a:txBody>
                    <a:bodyPr wrap="square"/>
                    <a:lstStyle/>
                    <a:p>
                      <a:r>
                        <a:rPr sz="1200" b="0" i="0">
                          <a:solidFill>
                            <a:srgbClr val="1A1A1A"/>
                          </a:solidFill>
                          <a:latin typeface="Calibri"/>
                        </a:rPr>
                        <a:t>Imposter Syndrome</a:t>
                      </a:r>
                    </a:p>
                  </a:txBody>
                  <a:tcPr marL="54864" marR="54864" marT="27432" marB="27432" anchor="ctr">
                    <a:solidFill>
                      <a:srgbClr val="FFFFFF"/>
                    </a:solidFill>
                  </a:tcPr>
                </a:tc>
                <a:tc>
                  <a:txBody>
                    <a:bodyPr wrap="square"/>
                    <a:lstStyle/>
                    <a:p>
                      <a:r>
                        <a:rPr sz="1200" b="0" i="0">
                          <a:solidFill>
                            <a:srgbClr val="1A1A1A"/>
                          </a:solidFill>
                          <a:latin typeface="Calibri"/>
                        </a:rPr>
                        <a:t>Internalised self-doubt despite success</a:t>
                      </a:r>
                    </a:p>
                  </a:txBody>
                  <a:tcPr marL="54864" marR="54864" marT="27432" marB="27432" anchor="ctr">
                    <a:solidFill>
                      <a:srgbClr val="FFFFFF"/>
                    </a:solidFill>
                  </a:tcPr>
                </a:tc>
              </a:tr>
              <a:tr h="600891">
                <a:tc>
                  <a:txBody>
                    <a:bodyPr wrap="square"/>
                    <a:lstStyle/>
                    <a:p>
                      <a:r>
                        <a:rPr sz="1200" b="1" i="0">
                          <a:solidFill>
                            <a:srgbClr val="1A1A1A"/>
                          </a:solidFill>
                          <a:latin typeface="Calibri"/>
                        </a:rPr>
                        <a:t>Intersectionality</a:t>
                      </a:r>
                    </a:p>
                  </a:txBody>
                  <a:tcPr marL="54864" marR="54864" marT="27432" marB="27432" anchor="ctr">
                    <a:solidFill>
                      <a:srgbClr val="F1E8F5"/>
                    </a:solidFill>
                  </a:tcPr>
                </a:tc>
                <a:tc>
                  <a:txBody>
                    <a:bodyPr wrap="square"/>
                    <a:lstStyle/>
                    <a:p>
                      <a:r>
                        <a:rPr sz="1200" b="0" i="0">
                          <a:solidFill>
                            <a:srgbClr val="1A1A1A"/>
                          </a:solidFill>
                          <a:latin typeface="Calibri"/>
                        </a:rPr>
                        <a:t>Overlapping disadvantages (race, age, disability, class)</a:t>
                      </a:r>
                    </a:p>
                  </a:txBody>
                  <a:tcPr marL="54864" marR="54864" marT="27432" marB="27432" anchor="ctr">
                    <a:solidFill>
                      <a:srgbClr val="F1E8F5"/>
                    </a:solidFill>
                  </a:tcPr>
                </a:tc>
                <a:tc>
                  <a:txBody>
                    <a:bodyPr wrap="square"/>
                    <a:lstStyle/>
                    <a:p>
                      <a:r>
                        <a:rPr sz="1200" b="0" i="0">
                          <a:solidFill>
                            <a:srgbClr val="1A1A1A"/>
                          </a:solidFill>
                          <a:latin typeface="Calibri"/>
                        </a:rPr>
                        <a:t>The Maze</a:t>
                      </a:r>
                    </a:p>
                  </a:txBody>
                  <a:tcPr marL="54864" marR="54864" marT="27432" marB="27432" anchor="ctr">
                    <a:solidFill>
                      <a:srgbClr val="F1E8F5"/>
                    </a:solidFill>
                  </a:tcPr>
                </a:tc>
                <a:tc>
                  <a:txBody>
                    <a:bodyPr wrap="square"/>
                    <a:lstStyle/>
                    <a:p>
                      <a:r>
                        <a:rPr sz="1200" b="0" i="0">
                          <a:solidFill>
                            <a:srgbClr val="1A1A1A"/>
                          </a:solidFill>
                          <a:latin typeface="Calibri"/>
                        </a:rPr>
                        <a:t>Many barriers across the whole journey</a:t>
                      </a:r>
                    </a:p>
                  </a:txBody>
                  <a:tcPr marL="54864" marR="54864" marT="27432" marB="27432" anchor="ctr">
                    <a:solidFill>
                      <a:srgbClr val="F1E8F5"/>
                    </a:solidFill>
                  </a:tcPr>
                </a:tc>
              </a:tr>
            </a:tbl>
          </a:graphicData>
        </a:graphic>
      </p:graphicFrame>
      <p:sp>
        <p:nvSpPr>
          <p:cNvPr id="8" name="Rounded Rectangle 7"/>
          <p:cNvSpPr/>
          <p:nvPr/>
        </p:nvSpPr>
        <p:spPr>
          <a:xfrm>
            <a:off x="8183879" y="1051560"/>
            <a:ext cx="3749039" cy="4206240"/>
          </a:xfrm>
          <a:prstGeom prst="roundRect">
            <a:avLst>
              <a:gd name="adj" fmla="val 6000"/>
            </a:avLst>
          </a:prstGeom>
          <a:solidFill>
            <a:srgbClr val="FFFFFF"/>
          </a:solidFill>
          <a:ln w="19050">
            <a:solidFill>
              <a:srgbClr val="C39A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183879" y="1051560"/>
            <a:ext cx="3749039" cy="457200"/>
          </a:xfrm>
          <a:prstGeom prst="roundRect">
            <a:avLst>
              <a:gd name="adj" fmla="val 6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183879" y="1371600"/>
            <a:ext cx="3749039" cy="137160"/>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75319" y="1051560"/>
            <a:ext cx="3566159" cy="457200"/>
          </a:xfrm>
          <a:prstGeom prst="rect">
            <a:avLst/>
          </a:prstGeom>
          <a:noFill/>
        </p:spPr>
        <p:txBody>
          <a:bodyPr wrap="square" anchor="ctr" lIns="45720" rIns="45720" tIns="18288" bIns="18288"/>
          <a:lstStyle/>
          <a:p>
            <a:pPr algn="l"/>
            <a:r>
              <a:rPr sz="1900" b="1" i="0">
                <a:solidFill>
                  <a:srgbClr val="FFFFFF"/>
                </a:solidFill>
                <a:latin typeface="Calibri"/>
              </a:rPr>
              <a:t>OB lenses to apply</a:t>
            </a:r>
          </a:p>
        </p:txBody>
      </p:sp>
      <p:sp>
        <p:nvSpPr>
          <p:cNvPr id="12" name="TextBox 11"/>
          <p:cNvSpPr txBox="1"/>
          <p:nvPr/>
        </p:nvSpPr>
        <p:spPr>
          <a:xfrm>
            <a:off x="8257031" y="1563624"/>
            <a:ext cx="3602735" cy="3657599"/>
          </a:xfrm>
          <a:prstGeom prst="rect">
            <a:avLst/>
          </a:prstGeom>
          <a:noFill/>
        </p:spPr>
        <p:txBody>
          <a:bodyPr wrap="square" anchor="t" lIns="54864" rIns="54864" tIns="27432" bIns="27432"/>
          <a:lstStyle/>
          <a:p>
            <a:pPr>
              <a:spcAft>
                <a:spcPts val="300"/>
              </a:spcAft>
            </a:pPr>
            <a:r>
              <a:rPr sz="1800" b="1" i="0">
                <a:solidFill>
                  <a:srgbClr val="1A1A1A"/>
                </a:solidFill>
                <a:latin typeface="Calibri"/>
              </a:rPr>
              <a:t>• </a:t>
            </a:r>
            <a:r>
              <a:rPr sz="1800" b="1" i="0">
                <a:solidFill>
                  <a:srgbClr val="1A1A1A"/>
                </a:solidFill>
                <a:latin typeface="Calibri"/>
              </a:rPr>
              <a:t>Perception &amp; stereotypes</a:t>
            </a:r>
            <a:r>
              <a:rPr sz="1800" b="0" i="0">
                <a:solidFill>
                  <a:srgbClr val="1A1A1A"/>
                </a:solidFill>
                <a:latin typeface="Calibri"/>
              </a:rPr>
              <a:t>: gender role stereotypes (Ch 4.2), implicit cognition</a:t>
            </a:r>
          </a:p>
          <a:p>
            <a:pPr>
              <a:spcAft>
                <a:spcPts val="300"/>
              </a:spcAft>
            </a:pPr>
            <a:r>
              <a:rPr sz="1800" b="1" i="0">
                <a:solidFill>
                  <a:srgbClr val="1A1A1A"/>
                </a:solidFill>
                <a:latin typeface="Calibri"/>
              </a:rPr>
              <a:t>• </a:t>
            </a:r>
            <a:r>
              <a:rPr sz="1800" b="1" i="0">
                <a:solidFill>
                  <a:srgbClr val="1A1A1A"/>
                </a:solidFill>
                <a:latin typeface="Calibri"/>
              </a:rPr>
              <a:t>Attribution</a:t>
            </a:r>
            <a:r>
              <a:rPr sz="1800" b="0" i="0">
                <a:solidFill>
                  <a:srgbClr val="1A1A1A"/>
                </a:solidFill>
                <a:latin typeface="Calibri"/>
              </a:rPr>
              <a:t>: boss attributes leaving early to low commitment (FAE)</a:t>
            </a:r>
          </a:p>
          <a:p>
            <a:pPr>
              <a:spcAft>
                <a:spcPts val="300"/>
              </a:spcAft>
            </a:pPr>
            <a:r>
              <a:rPr sz="1800" b="1" i="0">
                <a:solidFill>
                  <a:srgbClr val="1A1A1A"/>
                </a:solidFill>
                <a:latin typeface="Calibri"/>
              </a:rPr>
              <a:t>• </a:t>
            </a:r>
            <a:r>
              <a:rPr sz="1800" b="1" i="0">
                <a:solidFill>
                  <a:srgbClr val="1A1A1A"/>
                </a:solidFill>
                <a:latin typeface="Calibri"/>
              </a:rPr>
              <a:t>Emotions</a:t>
            </a:r>
            <a:r>
              <a:rPr sz="1800" b="0" i="0">
                <a:solidFill>
                  <a:srgbClr val="1A1A1A"/>
                </a:solidFill>
                <a:latin typeface="Calibri"/>
              </a:rPr>
              <a:t>: exhaustion, unease, self-doubt</a:t>
            </a:r>
          </a:p>
          <a:p>
            <a:pPr>
              <a:spcAft>
                <a:spcPts val="300"/>
              </a:spcAft>
            </a:pPr>
            <a:r>
              <a:rPr sz="1800" b="1" i="0">
                <a:solidFill>
                  <a:srgbClr val="1A1A1A"/>
                </a:solidFill>
                <a:latin typeface="Calibri"/>
              </a:rPr>
              <a:t>• </a:t>
            </a:r>
            <a:r>
              <a:rPr sz="1800" b="1" i="0">
                <a:solidFill>
                  <a:srgbClr val="1A1A1A"/>
                </a:solidFill>
                <a:latin typeface="Calibri"/>
              </a:rPr>
              <a:t>Core self-evaluation</a:t>
            </a:r>
            <a:r>
              <a:rPr sz="1800" b="0" i="0">
                <a:solidFill>
                  <a:srgbClr val="1A1A1A"/>
                </a:solidFill>
                <a:latin typeface="Calibri"/>
              </a:rPr>
              <a:t>: imposter syndrome ↓ self-efficacy</a:t>
            </a:r>
          </a:p>
          <a:p>
            <a:pPr>
              <a:spcAft>
                <a:spcPts val="300"/>
              </a:spcAft>
            </a:pPr>
            <a:r>
              <a:rPr sz="1800" b="1" i="0">
                <a:solidFill>
                  <a:srgbClr val="1A1A1A"/>
                </a:solidFill>
                <a:latin typeface="Calibri"/>
              </a:rPr>
              <a:t>• </a:t>
            </a:r>
            <a:r>
              <a:rPr sz="1800" b="1" i="0">
                <a:solidFill>
                  <a:srgbClr val="1A1A1A"/>
                </a:solidFill>
                <a:latin typeface="Calibri"/>
              </a:rPr>
              <a:t>Values conflict</a:t>
            </a:r>
            <a:r>
              <a:rPr sz="1800" b="0" i="0">
                <a:solidFill>
                  <a:srgbClr val="1A1A1A"/>
                </a:solidFill>
                <a:latin typeface="Calibri"/>
              </a:rPr>
              <a:t>: family (benevolence) vs achievement</a:t>
            </a:r>
          </a:p>
        </p:txBody>
      </p:sp>
      <p:sp>
        <p:nvSpPr>
          <p:cNvPr id="13" name="Rounded Rectangle 12"/>
          <p:cNvSpPr/>
          <p:nvPr/>
        </p:nvSpPr>
        <p:spPr>
          <a:xfrm>
            <a:off x="274320" y="5394960"/>
            <a:ext cx="11658600" cy="1143000"/>
          </a:xfrm>
          <a:prstGeom prst="roundRect">
            <a:avLst>
              <a:gd name="adj" fmla="val 6000"/>
            </a:avLst>
          </a:prstGeom>
          <a:solidFill>
            <a:srgbClr val="FFF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5413248"/>
            <a:ext cx="11475720" cy="1106424"/>
          </a:xfrm>
          <a:prstGeom prst="rect">
            <a:avLst/>
          </a:prstGeom>
          <a:noFill/>
        </p:spPr>
        <p:txBody>
          <a:bodyPr wrap="square" anchor="ctr" lIns="45720" rIns="45720" tIns="18288" bIns="18288"/>
          <a:lstStyle/>
          <a:p>
            <a:pPr algn="l"/>
            <a:r>
              <a:rPr sz="1500" b="1" i="0">
                <a:solidFill>
                  <a:srgbClr val="1A1A1A"/>
                </a:solidFill>
                <a:latin typeface="Calibri"/>
              </a:rPr>
              <a:t>Answer frame: Problem = talented women exit/plateau (leaky pipeline). Causes = stereotypes + double bind + motherhood penalty (situation factors), imposter syndrome (person factor). Recommendations = structured &amp; blind evaluation, flexible work &amp; i-deals, sponsorship/mentoring, inclusive culture, fair attribution training, shared parental norms.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200" b="1" i="0">
                <a:solidFill>
                  <a:srgbClr val="FFFFFF"/>
                </a:solidFill>
                <a:latin typeface="Calibri"/>
              </a:rPr>
              <a:t>4.1 The perception process: 4 stages of social information processing</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DEC7E7"/>
                </a:solidFill>
                <a:latin typeface="Calibri"/>
              </a:rPr>
              <a:t>MODULE 3 · EMOTIONS &amp; SOCIAL PERCEPTION</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Ch 4 pp. 126–128 · Fig 4.2</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34</a:t>
            </a:r>
          </a:p>
        </p:txBody>
      </p:sp>
      <p:sp>
        <p:nvSpPr>
          <p:cNvPr id="7" name="Rounded Rectangle 6"/>
          <p:cNvSpPr/>
          <p:nvPr/>
        </p:nvSpPr>
        <p:spPr>
          <a:xfrm>
            <a:off x="274320" y="1051560"/>
            <a:ext cx="11658600" cy="685800"/>
          </a:xfrm>
          <a:prstGeom prst="roundRect">
            <a:avLst>
              <a:gd name="adj" fmla="val 6000"/>
            </a:avLst>
          </a:prstGeom>
          <a:solidFill>
            <a:srgbClr val="FFF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69848"/>
            <a:ext cx="11475720" cy="649224"/>
          </a:xfrm>
          <a:prstGeom prst="rect">
            <a:avLst/>
          </a:prstGeom>
          <a:noFill/>
        </p:spPr>
        <p:txBody>
          <a:bodyPr wrap="square" anchor="ctr" lIns="45720" rIns="45720" tIns="18288" bIns="18288"/>
          <a:lstStyle/>
          <a:p>
            <a:pPr algn="l"/>
            <a:r>
              <a:rPr sz="1700" b="1" i="0">
                <a:solidFill>
                  <a:srgbClr val="1A1A1A"/>
                </a:solidFill>
                <a:latin typeface="Calibri"/>
              </a:rPr>
              <a:t>Perception = cognitive process that enables us to interpret &amp; understand our surroundings. We act on our perception of reality, NOT reality itself.</a:t>
            </a:r>
          </a:p>
        </p:txBody>
      </p:sp>
      <p:sp>
        <p:nvSpPr>
          <p:cNvPr id="9" name="Rounded Rectangle 8"/>
          <p:cNvSpPr/>
          <p:nvPr/>
        </p:nvSpPr>
        <p:spPr>
          <a:xfrm>
            <a:off x="274320" y="1874519"/>
            <a:ext cx="2743200" cy="914400"/>
          </a:xfrm>
          <a:prstGeom prst="roundRect">
            <a:avLst>
              <a:gd name="adj" fmla="val 6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i="0">
                <a:solidFill>
                  <a:srgbClr val="FFFFFF"/>
                </a:solidFill>
                <a:latin typeface="Calibri"/>
              </a:rPr>
              <a:t>1 SELECTIVE ATTENTION / COMPREHENSION</a:t>
            </a:r>
          </a:p>
        </p:txBody>
      </p:sp>
      <p:sp>
        <p:nvSpPr>
          <p:cNvPr id="10" name="Right Arrow 9"/>
          <p:cNvSpPr/>
          <p:nvPr/>
        </p:nvSpPr>
        <p:spPr>
          <a:xfrm>
            <a:off x="3017520" y="2148840"/>
            <a:ext cx="182880" cy="365760"/>
          </a:xfrm>
          <a:prstGeom prst="rightArrow">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74320" y="2880360"/>
            <a:ext cx="2743200" cy="1600200"/>
          </a:xfrm>
          <a:prstGeom prst="roundRect">
            <a:avLst>
              <a:gd name="adj" fmla="val 6000"/>
            </a:avLst>
          </a:prstGeom>
          <a:solidFill>
            <a:srgbClr val="FFFFFF"/>
          </a:solidFill>
          <a:ln w="19050">
            <a:solidFill>
              <a:srgbClr val="BD8F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2907792"/>
            <a:ext cx="2606040" cy="1554480"/>
          </a:xfrm>
          <a:prstGeom prst="rect">
            <a:avLst/>
          </a:prstGeom>
          <a:noFill/>
        </p:spPr>
        <p:txBody>
          <a:bodyPr wrap="square" anchor="ctr" lIns="45720" rIns="45720" tIns="18288" bIns="18288"/>
          <a:lstStyle/>
          <a:p>
            <a:pPr algn="l"/>
            <a:r>
              <a:rPr sz="1400" b="0" i="0">
                <a:solidFill>
                  <a:srgbClr val="1A1A1A"/>
                </a:solidFill>
                <a:latin typeface="Calibri"/>
              </a:rPr>
              <a:t>Bombarded by stimuli, we notice </a:t>
            </a:r>
            <a:r>
              <a:rPr sz="1400" b="1" i="0">
                <a:solidFill>
                  <a:srgbClr val="1A1A1A"/>
                </a:solidFill>
                <a:latin typeface="Calibri"/>
              </a:rPr>
              <a:t>salient</a:t>
            </a:r>
            <a:r>
              <a:rPr sz="1400" b="0" i="0">
                <a:solidFill>
                  <a:srgbClr val="1A1A1A"/>
                </a:solidFill>
                <a:latin typeface="Calibri"/>
              </a:rPr>
              <a:t> ones (stand out from context); needs &amp; goals decide salience</a:t>
            </a:r>
          </a:p>
        </p:txBody>
      </p:sp>
      <p:sp>
        <p:nvSpPr>
          <p:cNvPr id="13" name="Rounded Rectangle 12"/>
          <p:cNvSpPr/>
          <p:nvPr/>
        </p:nvSpPr>
        <p:spPr>
          <a:xfrm>
            <a:off x="3200400" y="1874519"/>
            <a:ext cx="2743200" cy="914400"/>
          </a:xfrm>
          <a:prstGeom prst="roundRect">
            <a:avLst>
              <a:gd name="adj" fmla="val 6000"/>
            </a:avLst>
          </a:prstGeom>
          <a:solidFill>
            <a:srgbClr val="8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i="0">
                <a:solidFill>
                  <a:srgbClr val="FFFFFF"/>
                </a:solidFill>
                <a:latin typeface="Calibri"/>
              </a:rPr>
              <a:t>2 ENCODING &amp; SIMPLIFICATION</a:t>
            </a:r>
          </a:p>
        </p:txBody>
      </p:sp>
      <p:sp>
        <p:nvSpPr>
          <p:cNvPr id="14" name="Right Arrow 13"/>
          <p:cNvSpPr/>
          <p:nvPr/>
        </p:nvSpPr>
        <p:spPr>
          <a:xfrm>
            <a:off x="5943600" y="2148840"/>
            <a:ext cx="182880" cy="365760"/>
          </a:xfrm>
          <a:prstGeom prst="rightArrow">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0" y="2880360"/>
            <a:ext cx="2743200" cy="1600200"/>
          </a:xfrm>
          <a:prstGeom prst="roundRect">
            <a:avLst>
              <a:gd name="adj" fmla="val 6000"/>
            </a:avLst>
          </a:prstGeom>
          <a:solidFill>
            <a:srgbClr val="FFFFFF"/>
          </a:solidFill>
          <a:ln w="19050">
            <a:solidFill>
              <a:srgbClr val="BD8F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73552" y="2907792"/>
            <a:ext cx="2606040" cy="1554480"/>
          </a:xfrm>
          <a:prstGeom prst="rect">
            <a:avLst/>
          </a:prstGeom>
          <a:noFill/>
        </p:spPr>
        <p:txBody>
          <a:bodyPr wrap="square" anchor="ctr" lIns="45720" rIns="45720" tIns="18288" bIns="18288"/>
          <a:lstStyle/>
          <a:p>
            <a:pPr algn="l"/>
            <a:r>
              <a:rPr sz="1400" b="0" i="0">
                <a:solidFill>
                  <a:srgbClr val="1A1A1A"/>
                </a:solidFill>
                <a:latin typeface="Calibri"/>
              </a:rPr>
              <a:t>Raw info → cognitive categories &amp; </a:t>
            </a:r>
            <a:r>
              <a:rPr sz="1400" b="1" i="0">
                <a:solidFill>
                  <a:srgbClr val="1A1A1A"/>
                </a:solidFill>
                <a:latin typeface="Calibri"/>
              </a:rPr>
              <a:t>schema</a:t>
            </a:r>
            <a:r>
              <a:rPr sz="1400" b="0" i="0">
                <a:solidFill>
                  <a:srgbClr val="1A1A1A"/>
                </a:solidFill>
                <a:latin typeface="Calibri"/>
              </a:rPr>
              <a:t> (mental picture: red 2-door = sports car)</a:t>
            </a:r>
          </a:p>
        </p:txBody>
      </p:sp>
      <p:sp>
        <p:nvSpPr>
          <p:cNvPr id="17" name="Rounded Rectangle 16"/>
          <p:cNvSpPr/>
          <p:nvPr/>
        </p:nvSpPr>
        <p:spPr>
          <a:xfrm>
            <a:off x="6126480" y="1874519"/>
            <a:ext cx="2743200" cy="914400"/>
          </a:xfrm>
          <a:prstGeom prst="roundRect">
            <a:avLst>
              <a:gd name="adj" fmla="val 6000"/>
            </a:avLst>
          </a:prstGeom>
          <a:solidFill>
            <a:srgbClr val="A262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i="0">
                <a:solidFill>
                  <a:srgbClr val="FFFFFF"/>
                </a:solidFill>
                <a:latin typeface="Calibri"/>
              </a:rPr>
              <a:t>3 STORAGE &amp; RETENTION</a:t>
            </a:r>
          </a:p>
        </p:txBody>
      </p:sp>
      <p:sp>
        <p:nvSpPr>
          <p:cNvPr id="18" name="Right Arrow 17"/>
          <p:cNvSpPr/>
          <p:nvPr/>
        </p:nvSpPr>
        <p:spPr>
          <a:xfrm>
            <a:off x="8869680" y="2148840"/>
            <a:ext cx="182880" cy="365760"/>
          </a:xfrm>
          <a:prstGeom prst="rightArrow">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126480" y="2880360"/>
            <a:ext cx="2743200" cy="1600200"/>
          </a:xfrm>
          <a:prstGeom prst="roundRect">
            <a:avLst>
              <a:gd name="adj" fmla="val 6000"/>
            </a:avLst>
          </a:prstGeom>
          <a:solidFill>
            <a:srgbClr val="FFFFFF"/>
          </a:solidFill>
          <a:ln w="19050">
            <a:solidFill>
              <a:srgbClr val="BD8F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99632" y="2907792"/>
            <a:ext cx="2606040" cy="1554480"/>
          </a:xfrm>
          <a:prstGeom prst="rect">
            <a:avLst/>
          </a:prstGeom>
          <a:noFill/>
        </p:spPr>
        <p:txBody>
          <a:bodyPr wrap="square" anchor="ctr" lIns="45720" rIns="45720" tIns="18288" bIns="18288"/>
          <a:lstStyle/>
          <a:p>
            <a:pPr algn="l"/>
            <a:r>
              <a:rPr sz="1400" b="0" i="0">
                <a:solidFill>
                  <a:srgbClr val="1A1A1A"/>
                </a:solidFill>
                <a:latin typeface="Calibri"/>
              </a:rPr>
              <a:t>Long-term memory: </a:t>
            </a:r>
            <a:r>
              <a:rPr sz="1400" b="1" i="0">
                <a:solidFill>
                  <a:srgbClr val="1A1A1A"/>
                </a:solidFill>
                <a:latin typeface="Calibri"/>
              </a:rPr>
              <a:t>event</a:t>
            </a:r>
            <a:r>
              <a:rPr sz="1400" b="0" i="0">
                <a:solidFill>
                  <a:srgbClr val="1A1A1A"/>
                </a:solidFill>
                <a:latin typeface="Calibri"/>
              </a:rPr>
              <a:t> (scripts), </a:t>
            </a:r>
            <a:r>
              <a:rPr sz="1400" b="1" i="0">
                <a:solidFill>
                  <a:srgbClr val="1A1A1A"/>
                </a:solidFill>
                <a:latin typeface="Calibri"/>
              </a:rPr>
              <a:t>semantic</a:t>
            </a:r>
            <a:r>
              <a:rPr sz="1400" b="0" i="0">
                <a:solidFill>
                  <a:srgbClr val="1A1A1A"/>
                </a:solidFill>
                <a:latin typeface="Calibri"/>
              </a:rPr>
              <a:t> (concepts, e.g., good leader), </a:t>
            </a:r>
            <a:r>
              <a:rPr sz="1400" b="1" i="0">
                <a:solidFill>
                  <a:srgbClr val="1A1A1A"/>
                </a:solidFill>
                <a:latin typeface="Calibri"/>
              </a:rPr>
              <a:t>person</a:t>
            </a:r>
            <a:r>
              <a:rPr sz="1400" b="0" i="0">
                <a:solidFill>
                  <a:srgbClr val="1A1A1A"/>
                </a:solidFill>
                <a:latin typeface="Calibri"/>
              </a:rPr>
              <a:t> memory</a:t>
            </a:r>
          </a:p>
        </p:txBody>
      </p:sp>
      <p:sp>
        <p:nvSpPr>
          <p:cNvPr id="21" name="Rounded Rectangle 20"/>
          <p:cNvSpPr/>
          <p:nvPr/>
        </p:nvSpPr>
        <p:spPr>
          <a:xfrm>
            <a:off x="9052560" y="1874519"/>
            <a:ext cx="2743200" cy="914400"/>
          </a:xfrm>
          <a:prstGeom prst="roundRect">
            <a:avLst>
              <a:gd name="adj" fmla="val 6000"/>
            </a:avLst>
          </a:prstGeom>
          <a:solidFill>
            <a:srgbClr val="B683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i="0">
                <a:solidFill>
                  <a:srgbClr val="FFFFFF"/>
                </a:solidFill>
                <a:latin typeface="Calibri"/>
              </a:rPr>
              <a:t>4 RETRIEVAL &amp; RESPONSE</a:t>
            </a:r>
          </a:p>
        </p:txBody>
      </p:sp>
      <p:sp>
        <p:nvSpPr>
          <p:cNvPr id="22" name="Rounded Rectangle 21"/>
          <p:cNvSpPr/>
          <p:nvPr/>
        </p:nvSpPr>
        <p:spPr>
          <a:xfrm>
            <a:off x="9052560" y="2880360"/>
            <a:ext cx="2743200" cy="1600200"/>
          </a:xfrm>
          <a:prstGeom prst="roundRect">
            <a:avLst>
              <a:gd name="adj" fmla="val 6000"/>
            </a:avLst>
          </a:prstGeom>
          <a:solidFill>
            <a:srgbClr val="FFFFFF"/>
          </a:solidFill>
          <a:ln w="19050">
            <a:solidFill>
              <a:srgbClr val="BD8F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25712" y="2907792"/>
            <a:ext cx="2606040" cy="1554480"/>
          </a:xfrm>
          <a:prstGeom prst="rect">
            <a:avLst/>
          </a:prstGeom>
          <a:noFill/>
        </p:spPr>
        <p:txBody>
          <a:bodyPr wrap="square" anchor="ctr" lIns="45720" rIns="45720" tIns="18288" bIns="18288"/>
          <a:lstStyle/>
          <a:p>
            <a:pPr algn="l"/>
            <a:r>
              <a:rPr sz="1400" b="0" i="0">
                <a:solidFill>
                  <a:srgbClr val="1A1A1A"/>
                </a:solidFill>
                <a:latin typeface="Calibri"/>
              </a:rPr>
              <a:t>Judgements: integrate stored info OR recall a summary judgement already made</a:t>
            </a:r>
          </a:p>
        </p:txBody>
      </p:sp>
      <p:sp>
        <p:nvSpPr>
          <p:cNvPr id="24" name="Rounded Rectangle 23"/>
          <p:cNvSpPr/>
          <p:nvPr/>
        </p:nvSpPr>
        <p:spPr>
          <a:xfrm>
            <a:off x="274320" y="4617720"/>
            <a:ext cx="5760720" cy="1920240"/>
          </a:xfrm>
          <a:prstGeom prst="roundRect">
            <a:avLst>
              <a:gd name="adj" fmla="val 6000"/>
            </a:avLst>
          </a:prstGeom>
          <a:solidFill>
            <a:srgbClr val="FFFFFF"/>
          </a:solidFill>
          <a:ln w="19050">
            <a:solidFill>
              <a:srgbClr val="C39A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274320" y="4617720"/>
            <a:ext cx="5760720" cy="457200"/>
          </a:xfrm>
          <a:prstGeom prst="roundRect">
            <a:avLst>
              <a:gd name="adj" fmla="val 6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74320" y="4937759"/>
            <a:ext cx="5760720" cy="137160"/>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5760" y="4617720"/>
            <a:ext cx="5577840" cy="457200"/>
          </a:xfrm>
          <a:prstGeom prst="rect">
            <a:avLst/>
          </a:prstGeom>
          <a:noFill/>
        </p:spPr>
        <p:txBody>
          <a:bodyPr wrap="square" anchor="ctr" lIns="45720" rIns="45720" tIns="18288" bIns="18288"/>
          <a:lstStyle/>
          <a:p>
            <a:pPr algn="l"/>
            <a:r>
              <a:rPr sz="1600" b="1" i="0">
                <a:solidFill>
                  <a:srgbClr val="FFFFFF"/>
                </a:solidFill>
                <a:latin typeface="Calibri"/>
              </a:rPr>
              <a:t>Book example: choosing a personal-finance professor</a:t>
            </a:r>
          </a:p>
        </p:txBody>
      </p:sp>
      <p:sp>
        <p:nvSpPr>
          <p:cNvPr id="28" name="TextBox 27"/>
          <p:cNvSpPr txBox="1"/>
          <p:nvPr/>
        </p:nvSpPr>
        <p:spPr>
          <a:xfrm>
            <a:off x="347472" y="5129783"/>
            <a:ext cx="5614416" cy="1371600"/>
          </a:xfrm>
          <a:prstGeom prst="rect">
            <a:avLst/>
          </a:prstGeom>
          <a:noFill/>
        </p:spPr>
        <p:txBody>
          <a:bodyPr wrap="square" anchor="t" lIns="54864" rIns="54864" tIns="27432" bIns="27432"/>
          <a:lstStyle/>
          <a:p>
            <a:pPr>
              <a:spcAft>
                <a:spcPts val="300"/>
              </a:spcAft>
            </a:pPr>
            <a:r>
              <a:rPr sz="1900" b="1" i="0">
                <a:solidFill>
                  <a:srgbClr val="1A1A1A"/>
                </a:solidFill>
                <a:latin typeface="Calibri"/>
              </a:rPr>
              <a:t>• </a:t>
            </a:r>
            <a:r>
              <a:rPr sz="1900" b="0" i="0">
                <a:solidFill>
                  <a:srgbClr val="1A1A1A"/>
                </a:solidFill>
                <a:latin typeface="Calibri"/>
              </a:rPr>
              <a:t>Ask friends &amp; profs (attention) → focus on teaching method, tests, grades (encoding) → store schemata → on registration day pick case-method prof (retrieval)</a:t>
            </a:r>
          </a:p>
        </p:txBody>
      </p:sp>
      <p:sp>
        <p:nvSpPr>
          <p:cNvPr id="29" name="Rounded Rectangle 28"/>
          <p:cNvSpPr/>
          <p:nvPr/>
        </p:nvSpPr>
        <p:spPr>
          <a:xfrm>
            <a:off x="6172200" y="4617720"/>
            <a:ext cx="5760720" cy="1920240"/>
          </a:xfrm>
          <a:prstGeom prst="roundRect">
            <a:avLst>
              <a:gd name="adj" fmla="val 6000"/>
            </a:avLst>
          </a:prstGeom>
          <a:solidFill>
            <a:srgbClr val="FFFFFF"/>
          </a:solidFill>
          <a:ln w="19050">
            <a:solidFill>
              <a:srgbClr val="C39A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172200" y="4617720"/>
            <a:ext cx="5760720" cy="457200"/>
          </a:xfrm>
          <a:prstGeom prst="roundRect">
            <a:avLst>
              <a:gd name="adj" fmla="val 6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72200" y="4937759"/>
            <a:ext cx="5760720" cy="137160"/>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63640" y="4617720"/>
            <a:ext cx="5577840" cy="457200"/>
          </a:xfrm>
          <a:prstGeom prst="rect">
            <a:avLst/>
          </a:prstGeom>
          <a:noFill/>
        </p:spPr>
        <p:txBody>
          <a:bodyPr wrap="square" anchor="ctr" lIns="45720" rIns="45720" tIns="18288" bIns="18288"/>
          <a:lstStyle/>
          <a:p>
            <a:pPr algn="l"/>
            <a:r>
              <a:rPr sz="1900" b="1" i="0">
                <a:solidFill>
                  <a:srgbClr val="FFFFFF"/>
                </a:solidFill>
                <a:latin typeface="Calibri"/>
              </a:rPr>
              <a:t>Winning at Work (p. 125): Rahul Verma, PSU</a:t>
            </a:r>
          </a:p>
        </p:txBody>
      </p:sp>
      <p:sp>
        <p:nvSpPr>
          <p:cNvPr id="33" name="TextBox 32"/>
          <p:cNvSpPr txBox="1"/>
          <p:nvPr/>
        </p:nvSpPr>
        <p:spPr>
          <a:xfrm>
            <a:off x="6245352" y="5129783"/>
            <a:ext cx="5614416" cy="1371600"/>
          </a:xfrm>
          <a:prstGeom prst="rect">
            <a:avLst/>
          </a:prstGeom>
          <a:noFill/>
        </p:spPr>
        <p:txBody>
          <a:bodyPr wrap="square" anchor="t" lIns="54864" rIns="54864" tIns="27432" bIns="27432"/>
          <a:lstStyle/>
          <a:p>
            <a:pPr>
              <a:spcAft>
                <a:spcPts val="300"/>
              </a:spcAft>
            </a:pPr>
            <a:r>
              <a:rPr sz="1500" b="1" i="0">
                <a:solidFill>
                  <a:srgbClr val="1A1A1A"/>
                </a:solidFill>
                <a:latin typeface="Calibri"/>
              </a:rPr>
              <a:t>• </a:t>
            </a:r>
            <a:r>
              <a:rPr sz="1500" b="0" i="0">
                <a:solidFill>
                  <a:srgbClr val="1A1A1A"/>
                </a:solidFill>
                <a:latin typeface="Calibri"/>
              </a:rPr>
              <a:t>Excellent but invisible worker; never spoke up or led → passed over. Committee perceived 'good worker, not a leader'</a:t>
            </a:r>
          </a:p>
          <a:p>
            <a:pPr>
              <a:spcAft>
                <a:spcPts val="300"/>
              </a:spcAft>
            </a:pPr>
            <a:r>
              <a:rPr sz="1500" b="1" i="0">
                <a:solidFill>
                  <a:srgbClr val="1A1A1A"/>
                </a:solidFill>
                <a:latin typeface="Calibri"/>
              </a:rPr>
              <a:t>• </a:t>
            </a:r>
            <a:r>
              <a:rPr sz="1500" b="0" i="0">
                <a:solidFill>
                  <a:srgbClr val="1A1A1A"/>
                </a:solidFill>
                <a:latin typeface="Calibri"/>
              </a:rPr>
              <a:t>Lesson: performance ≠ potential ≠ </a:t>
            </a:r>
            <a:r>
              <a:rPr sz="1500" b="1" i="0">
                <a:solidFill>
                  <a:srgbClr val="1A1A1A"/>
                </a:solidFill>
                <a:latin typeface="Calibri"/>
              </a:rPr>
              <a:t>visibility</a:t>
            </a:r>
            <a:r>
              <a:rPr sz="1500" b="0" i="0">
                <a:solidFill>
                  <a:srgbClr val="1A1A1A"/>
                </a:solidFill>
                <a:latin typeface="Calibri"/>
              </a:rPr>
              <a:t>; perception drives promotions (ONGC/BSNL favouritism)</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600" b="1" i="0">
                <a:solidFill>
                  <a:srgbClr val="FFFFFF"/>
                </a:solidFill>
                <a:latin typeface="Calibri"/>
              </a:rPr>
              <a:t>A model of person perception &amp; its managerial implications</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DEC7E7"/>
                </a:solidFill>
                <a:latin typeface="Calibri"/>
              </a:rPr>
              <a:t>MODULE 3 · EMOTIONS &amp; SOCIAL PERCEPTION</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Ch 4 pp. 128–132 · Fig 4.3</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35</a:t>
            </a:r>
          </a:p>
        </p:txBody>
      </p:sp>
      <p:sp>
        <p:nvSpPr>
          <p:cNvPr id="7" name="Rounded Rectangle 6"/>
          <p:cNvSpPr/>
          <p:nvPr/>
        </p:nvSpPr>
        <p:spPr>
          <a:xfrm>
            <a:off x="274320" y="1051560"/>
            <a:ext cx="3794760" cy="3108960"/>
          </a:xfrm>
          <a:prstGeom prst="roundRect">
            <a:avLst>
              <a:gd name="adj" fmla="val 6000"/>
            </a:avLst>
          </a:prstGeom>
          <a:solidFill>
            <a:srgbClr val="FFFFFF"/>
          </a:solidFill>
          <a:ln w="19050">
            <a:solidFill>
              <a:srgbClr val="C39A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74320" y="1051560"/>
            <a:ext cx="3794760" cy="457200"/>
          </a:xfrm>
          <a:prstGeom prst="roundRect">
            <a:avLst>
              <a:gd name="adj" fmla="val 6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371600"/>
            <a:ext cx="3794760" cy="137160"/>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051560"/>
            <a:ext cx="3611880" cy="457200"/>
          </a:xfrm>
          <a:prstGeom prst="rect">
            <a:avLst/>
          </a:prstGeom>
          <a:noFill/>
        </p:spPr>
        <p:txBody>
          <a:bodyPr wrap="square" anchor="ctr" lIns="45720" rIns="45720" tIns="18288" bIns="18288"/>
          <a:lstStyle/>
          <a:p>
            <a:pPr algn="l"/>
            <a:r>
              <a:rPr sz="1800" b="1" i="0">
                <a:solidFill>
                  <a:srgbClr val="FFFFFF"/>
                </a:solidFill>
                <a:latin typeface="Calibri"/>
              </a:rPr>
              <a:t>Perceiver characteristics (6)</a:t>
            </a:r>
          </a:p>
        </p:txBody>
      </p:sp>
      <p:sp>
        <p:nvSpPr>
          <p:cNvPr id="11" name="TextBox 10"/>
          <p:cNvSpPr txBox="1"/>
          <p:nvPr/>
        </p:nvSpPr>
        <p:spPr>
          <a:xfrm>
            <a:off x="347472" y="1563624"/>
            <a:ext cx="3648456" cy="2560320"/>
          </a:xfrm>
          <a:prstGeom prst="rect">
            <a:avLst/>
          </a:prstGeom>
          <a:noFill/>
        </p:spPr>
        <p:txBody>
          <a:bodyPr wrap="square" anchor="t" lIns="54864" rIns="54864" tIns="27432" bIns="27432"/>
          <a:lstStyle/>
          <a:p>
            <a:pPr>
              <a:spcAft>
                <a:spcPts val="300"/>
              </a:spcAft>
            </a:pPr>
            <a:r>
              <a:rPr sz="1700" b="1" i="0">
                <a:solidFill>
                  <a:srgbClr val="1A1A1A"/>
                </a:solidFill>
                <a:latin typeface="Calibri"/>
              </a:rPr>
              <a:t>• </a:t>
            </a:r>
            <a:r>
              <a:rPr sz="1700" b="0" i="0">
                <a:solidFill>
                  <a:srgbClr val="1A1A1A"/>
                </a:solidFill>
                <a:latin typeface="Calibri"/>
              </a:rPr>
              <a:t>Direction of gaze</a:t>
            </a:r>
          </a:p>
          <a:p>
            <a:pPr>
              <a:spcAft>
                <a:spcPts val="300"/>
              </a:spcAft>
            </a:pPr>
            <a:r>
              <a:rPr sz="1700" b="1" i="0">
                <a:solidFill>
                  <a:srgbClr val="1A1A1A"/>
                </a:solidFill>
                <a:latin typeface="Calibri"/>
              </a:rPr>
              <a:t>• </a:t>
            </a:r>
            <a:r>
              <a:rPr sz="1700" b="0" i="0">
                <a:solidFill>
                  <a:srgbClr val="1A1A1A"/>
                </a:solidFill>
                <a:latin typeface="Calibri"/>
              </a:rPr>
              <a:t>Needs &amp; goals</a:t>
            </a:r>
          </a:p>
          <a:p>
            <a:pPr>
              <a:spcAft>
                <a:spcPts val="300"/>
              </a:spcAft>
            </a:pPr>
            <a:r>
              <a:rPr sz="1700" b="1" i="0">
                <a:solidFill>
                  <a:srgbClr val="1A1A1A"/>
                </a:solidFill>
                <a:latin typeface="Calibri"/>
              </a:rPr>
              <a:t>• </a:t>
            </a:r>
            <a:r>
              <a:rPr sz="1700" b="0" i="0">
                <a:solidFill>
                  <a:srgbClr val="1A1A1A"/>
                </a:solidFill>
                <a:latin typeface="Calibri"/>
              </a:rPr>
              <a:t>Experience with target</a:t>
            </a:r>
          </a:p>
          <a:p>
            <a:pPr>
              <a:spcAft>
                <a:spcPts val="300"/>
              </a:spcAft>
            </a:pPr>
            <a:r>
              <a:rPr sz="1700" b="1" i="0">
                <a:solidFill>
                  <a:srgbClr val="1A1A1A"/>
                </a:solidFill>
                <a:latin typeface="Calibri"/>
              </a:rPr>
              <a:t>• </a:t>
            </a:r>
            <a:r>
              <a:rPr sz="1700" b="0" i="0">
                <a:solidFill>
                  <a:srgbClr val="1A1A1A"/>
                </a:solidFill>
                <a:latin typeface="Calibri"/>
              </a:rPr>
              <a:t>Category-based knowledge (stereotypes)</a:t>
            </a:r>
          </a:p>
          <a:p>
            <a:pPr>
              <a:spcAft>
                <a:spcPts val="300"/>
              </a:spcAft>
            </a:pPr>
            <a:r>
              <a:rPr sz="1700" b="1" i="0">
                <a:solidFill>
                  <a:srgbClr val="1A1A1A"/>
                </a:solidFill>
                <a:latin typeface="Calibri"/>
              </a:rPr>
              <a:t>• </a:t>
            </a:r>
            <a:r>
              <a:rPr sz="1700" b="0" i="0">
                <a:solidFill>
                  <a:srgbClr val="1A1A1A"/>
                </a:solidFill>
                <a:latin typeface="Calibri"/>
              </a:rPr>
              <a:t>Gender &amp; emotional status</a:t>
            </a:r>
          </a:p>
          <a:p>
            <a:pPr>
              <a:spcAft>
                <a:spcPts val="300"/>
              </a:spcAft>
            </a:pPr>
            <a:r>
              <a:rPr sz="1700" b="1" i="0">
                <a:solidFill>
                  <a:srgbClr val="1A1A1A"/>
                </a:solidFill>
                <a:latin typeface="Calibri"/>
              </a:rPr>
              <a:t>• </a:t>
            </a:r>
            <a:r>
              <a:rPr sz="1700" b="1" i="0">
                <a:solidFill>
                  <a:srgbClr val="1A1A1A"/>
                </a:solidFill>
                <a:latin typeface="Calibri"/>
              </a:rPr>
              <a:t>Cognitive load</a:t>
            </a:r>
            <a:r>
              <a:rPr sz="1700" b="0" i="0">
                <a:solidFill>
                  <a:srgbClr val="1A1A1A"/>
                </a:solidFill>
                <a:latin typeface="Calibri"/>
              </a:rPr>
              <a:t> (tired → more stereotyping)</a:t>
            </a:r>
          </a:p>
        </p:txBody>
      </p:sp>
      <p:sp>
        <p:nvSpPr>
          <p:cNvPr id="12" name="Rounded Rectangle 11"/>
          <p:cNvSpPr/>
          <p:nvPr/>
        </p:nvSpPr>
        <p:spPr>
          <a:xfrm>
            <a:off x="4206240" y="1051560"/>
            <a:ext cx="3794760" cy="3108960"/>
          </a:xfrm>
          <a:prstGeom prst="roundRect">
            <a:avLst>
              <a:gd name="adj" fmla="val 6000"/>
            </a:avLst>
          </a:prstGeom>
          <a:solidFill>
            <a:srgbClr val="FFFFFF"/>
          </a:solidFill>
          <a:ln w="19050">
            <a:solidFill>
              <a:srgbClr val="C39A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206240" y="1051560"/>
            <a:ext cx="3794760" cy="457200"/>
          </a:xfrm>
          <a:prstGeom prst="roundRect">
            <a:avLst>
              <a:gd name="adj" fmla="val 6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06240" y="1371600"/>
            <a:ext cx="3794760" cy="137160"/>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97679" y="1051560"/>
            <a:ext cx="3611880" cy="457200"/>
          </a:xfrm>
          <a:prstGeom prst="rect">
            <a:avLst/>
          </a:prstGeom>
          <a:noFill/>
        </p:spPr>
        <p:txBody>
          <a:bodyPr wrap="square" anchor="ctr" lIns="45720" rIns="45720" tIns="18288" bIns="18288"/>
          <a:lstStyle/>
          <a:p>
            <a:pPr algn="l"/>
            <a:r>
              <a:rPr sz="1900" b="1" i="0">
                <a:solidFill>
                  <a:srgbClr val="FFFFFF"/>
                </a:solidFill>
                <a:latin typeface="Calibri"/>
              </a:rPr>
              <a:t>Target characteristics (5)</a:t>
            </a:r>
          </a:p>
        </p:txBody>
      </p:sp>
      <p:sp>
        <p:nvSpPr>
          <p:cNvPr id="16" name="TextBox 15"/>
          <p:cNvSpPr txBox="1"/>
          <p:nvPr/>
        </p:nvSpPr>
        <p:spPr>
          <a:xfrm>
            <a:off x="4279392" y="1563624"/>
            <a:ext cx="3648456" cy="2560320"/>
          </a:xfrm>
          <a:prstGeom prst="rect">
            <a:avLst/>
          </a:prstGeom>
          <a:noFill/>
        </p:spPr>
        <p:txBody>
          <a:bodyPr wrap="square" anchor="t" lIns="54864" rIns="54864" tIns="27432" bIns="27432"/>
          <a:lstStyle/>
          <a:p>
            <a:pPr>
              <a:spcAft>
                <a:spcPts val="300"/>
              </a:spcAft>
            </a:pPr>
            <a:r>
              <a:rPr sz="1700" b="1" i="0">
                <a:solidFill>
                  <a:srgbClr val="1A1A1A"/>
                </a:solidFill>
                <a:latin typeface="Calibri"/>
              </a:rPr>
              <a:t>• </a:t>
            </a:r>
            <a:r>
              <a:rPr sz="1700" b="0" i="0">
                <a:solidFill>
                  <a:srgbClr val="1A1A1A"/>
                </a:solidFill>
                <a:latin typeface="Calibri"/>
              </a:rPr>
              <a:t>Direction of gaze</a:t>
            </a:r>
          </a:p>
          <a:p>
            <a:pPr>
              <a:spcAft>
                <a:spcPts val="300"/>
              </a:spcAft>
            </a:pPr>
            <a:r>
              <a:rPr sz="1700" b="1" i="0">
                <a:solidFill>
                  <a:srgbClr val="1A1A1A"/>
                </a:solidFill>
                <a:latin typeface="Calibri"/>
              </a:rPr>
              <a:t>• </a:t>
            </a:r>
            <a:r>
              <a:rPr sz="1700" b="0" i="0">
                <a:solidFill>
                  <a:srgbClr val="1A1A1A"/>
                </a:solidFill>
                <a:latin typeface="Calibri"/>
              </a:rPr>
              <a:t>Facial &amp; body shape (height → prosperity; weight → 'lazy')</a:t>
            </a:r>
          </a:p>
          <a:p>
            <a:pPr>
              <a:spcAft>
                <a:spcPts val="300"/>
              </a:spcAft>
            </a:pPr>
            <a:r>
              <a:rPr sz="1700" b="1" i="0">
                <a:solidFill>
                  <a:srgbClr val="1A1A1A"/>
                </a:solidFill>
                <a:latin typeface="Calibri"/>
              </a:rPr>
              <a:t>• </a:t>
            </a:r>
            <a:r>
              <a:rPr sz="1700" b="0" i="0">
                <a:solidFill>
                  <a:srgbClr val="1A1A1A"/>
                </a:solidFill>
                <a:latin typeface="Calibri"/>
              </a:rPr>
              <a:t>Nonverbal cues</a:t>
            </a:r>
          </a:p>
          <a:p>
            <a:pPr>
              <a:spcAft>
                <a:spcPts val="300"/>
              </a:spcAft>
            </a:pPr>
            <a:r>
              <a:rPr sz="1700" b="1" i="0">
                <a:solidFill>
                  <a:srgbClr val="1A1A1A"/>
                </a:solidFill>
                <a:latin typeface="Calibri"/>
              </a:rPr>
              <a:t>• </a:t>
            </a:r>
            <a:r>
              <a:rPr sz="1700" b="0" i="0">
                <a:solidFill>
                  <a:srgbClr val="1A1A1A"/>
                </a:solidFill>
                <a:latin typeface="Calibri"/>
              </a:rPr>
              <a:t>Appearance/dress (tattoos: no real effect on employment)</a:t>
            </a:r>
          </a:p>
          <a:p>
            <a:pPr>
              <a:spcAft>
                <a:spcPts val="300"/>
              </a:spcAft>
            </a:pPr>
            <a:r>
              <a:rPr sz="1700" b="1" i="0">
                <a:solidFill>
                  <a:srgbClr val="1A1A1A"/>
                </a:solidFill>
                <a:latin typeface="Calibri"/>
              </a:rPr>
              <a:t>• </a:t>
            </a:r>
            <a:r>
              <a:rPr sz="1700" b="1" i="0">
                <a:solidFill>
                  <a:srgbClr val="1A1A1A"/>
                </a:solidFill>
                <a:latin typeface="Calibri"/>
              </a:rPr>
              <a:t>Physical attractiveness</a:t>
            </a:r>
            <a:r>
              <a:rPr sz="1700" b="0" i="0">
                <a:solidFill>
                  <a:srgbClr val="1A1A1A"/>
                </a:solidFill>
                <a:latin typeface="Calibri"/>
              </a:rPr>
              <a:t> ('beauty-is-good')</a:t>
            </a:r>
          </a:p>
        </p:txBody>
      </p:sp>
      <p:sp>
        <p:nvSpPr>
          <p:cNvPr id="17" name="Rounded Rectangle 16"/>
          <p:cNvSpPr/>
          <p:nvPr/>
        </p:nvSpPr>
        <p:spPr>
          <a:xfrm>
            <a:off x="8138160" y="1051560"/>
            <a:ext cx="3794760" cy="3108960"/>
          </a:xfrm>
          <a:prstGeom prst="roundRect">
            <a:avLst>
              <a:gd name="adj" fmla="val 6000"/>
            </a:avLst>
          </a:prstGeom>
          <a:solidFill>
            <a:srgbClr val="FFFFFF"/>
          </a:solidFill>
          <a:ln w="19050">
            <a:solidFill>
              <a:srgbClr val="C39A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138160" y="1051560"/>
            <a:ext cx="3794760" cy="457200"/>
          </a:xfrm>
          <a:prstGeom prst="roundRect">
            <a:avLst>
              <a:gd name="adj" fmla="val 6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38160" y="1371600"/>
            <a:ext cx="3794760" cy="137160"/>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0" y="1051560"/>
            <a:ext cx="3611880" cy="457200"/>
          </a:xfrm>
          <a:prstGeom prst="rect">
            <a:avLst/>
          </a:prstGeom>
          <a:noFill/>
        </p:spPr>
        <p:txBody>
          <a:bodyPr wrap="square" anchor="ctr" lIns="45720" rIns="45720" tIns="18288" bIns="18288"/>
          <a:lstStyle/>
          <a:p>
            <a:pPr algn="l"/>
            <a:r>
              <a:rPr sz="1800" b="1" i="0">
                <a:solidFill>
                  <a:srgbClr val="FFFFFF"/>
                </a:solidFill>
                <a:latin typeface="Calibri"/>
              </a:rPr>
              <a:t>Situation characteristics (2)</a:t>
            </a:r>
          </a:p>
        </p:txBody>
      </p:sp>
      <p:sp>
        <p:nvSpPr>
          <p:cNvPr id="21" name="TextBox 20"/>
          <p:cNvSpPr txBox="1"/>
          <p:nvPr/>
        </p:nvSpPr>
        <p:spPr>
          <a:xfrm>
            <a:off x="8211312" y="1563624"/>
            <a:ext cx="3648456" cy="2560320"/>
          </a:xfrm>
          <a:prstGeom prst="rect">
            <a:avLst/>
          </a:prstGeom>
          <a:noFill/>
        </p:spPr>
        <p:txBody>
          <a:bodyPr wrap="square" anchor="t" lIns="54864" rIns="54864" tIns="27432" bIns="27432"/>
          <a:lstStyle/>
          <a:p>
            <a:pPr>
              <a:spcAft>
                <a:spcPts val="300"/>
              </a:spcAft>
            </a:pPr>
            <a:r>
              <a:rPr sz="1600" b="1" i="0">
                <a:solidFill>
                  <a:srgbClr val="1A1A1A"/>
                </a:solidFill>
                <a:latin typeface="Calibri"/>
              </a:rPr>
              <a:t>• </a:t>
            </a:r>
            <a:r>
              <a:rPr sz="1600" b="1" i="0">
                <a:solidFill>
                  <a:srgbClr val="1A1A1A"/>
                </a:solidFill>
                <a:latin typeface="Calibri"/>
              </a:rPr>
              <a:t>Context</a:t>
            </a:r>
            <a:r>
              <a:rPr sz="1600" b="0" i="0">
                <a:solidFill>
                  <a:srgbClr val="1A1A1A"/>
                </a:solidFill>
                <a:latin typeface="Calibri"/>
              </a:rPr>
              <a:t> of interaction (texting at dinner vs meeting)</a:t>
            </a:r>
          </a:p>
          <a:p>
            <a:pPr>
              <a:spcAft>
                <a:spcPts val="300"/>
              </a:spcAft>
            </a:pPr>
            <a:r>
              <a:rPr sz="1600" b="1" i="0">
                <a:solidFill>
                  <a:srgbClr val="1A1A1A"/>
                </a:solidFill>
                <a:latin typeface="Calibri"/>
              </a:rPr>
              <a:t>• </a:t>
            </a:r>
            <a:r>
              <a:rPr sz="1600" b="1" i="0">
                <a:solidFill>
                  <a:srgbClr val="1A1A1A"/>
                </a:solidFill>
                <a:latin typeface="Calibri"/>
              </a:rPr>
              <a:t>Culture &amp; race consistency</a:t>
            </a:r>
            <a:r>
              <a:rPr sz="1600" b="0" i="0">
                <a:solidFill>
                  <a:srgbClr val="1A1A1A"/>
                </a:solidFill>
                <a:latin typeface="Calibri"/>
              </a:rPr>
              <a:t> (Finnish managers' 'silent' laughter)</a:t>
            </a:r>
          </a:p>
          <a:p>
            <a:pPr>
              <a:spcAft>
                <a:spcPts val="300"/>
              </a:spcAft>
            </a:pPr>
            <a:r>
              <a:rPr sz="1600" b="1" i="0">
                <a:solidFill>
                  <a:srgbClr val="1A1A1A"/>
                </a:solidFill>
                <a:latin typeface="Calibri"/>
              </a:rPr>
              <a:t>• </a:t>
            </a:r>
            <a:r>
              <a:rPr sz="1600" b="0" i="0">
                <a:solidFill>
                  <a:srgbClr val="1A1A1A"/>
                </a:solidFill>
                <a:latin typeface="Calibri"/>
              </a:rPr>
              <a:t>Cultural awareness: know what you don't know · don't judge prematurely · homework · good manners · reach out · build diverse teams</a:t>
            </a:r>
          </a:p>
        </p:txBody>
      </p:sp>
      <p:sp>
        <p:nvSpPr>
          <p:cNvPr id="22" name="Rounded Rectangle 21"/>
          <p:cNvSpPr/>
          <p:nvPr/>
        </p:nvSpPr>
        <p:spPr>
          <a:xfrm>
            <a:off x="274320" y="4297680"/>
            <a:ext cx="3794760" cy="2240280"/>
          </a:xfrm>
          <a:prstGeom prst="roundRect">
            <a:avLst>
              <a:gd name="adj" fmla="val 6000"/>
            </a:avLst>
          </a:prstGeom>
          <a:solidFill>
            <a:srgbClr val="FFFFFF"/>
          </a:solidFill>
          <a:ln w="19050">
            <a:solidFill>
              <a:srgbClr val="C39A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274320" y="4297680"/>
            <a:ext cx="3794760" cy="457200"/>
          </a:xfrm>
          <a:prstGeom prst="roundRect">
            <a:avLst>
              <a:gd name="adj" fmla="val 6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74320" y="4617720"/>
            <a:ext cx="3794760" cy="137160"/>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4297680"/>
            <a:ext cx="3611880" cy="457200"/>
          </a:xfrm>
          <a:prstGeom prst="rect">
            <a:avLst/>
          </a:prstGeom>
          <a:noFill/>
        </p:spPr>
        <p:txBody>
          <a:bodyPr wrap="square" anchor="ctr" lIns="45720" rIns="45720" tIns="18288" bIns="18288"/>
          <a:lstStyle/>
          <a:p>
            <a:pPr algn="l"/>
            <a:r>
              <a:rPr sz="1900" b="1" i="0">
                <a:solidFill>
                  <a:srgbClr val="FFFFFF"/>
                </a:solidFill>
                <a:latin typeface="Calibri"/>
              </a:rPr>
              <a:t>Hiring: implicit cognition</a:t>
            </a:r>
          </a:p>
        </p:txBody>
      </p:sp>
      <p:sp>
        <p:nvSpPr>
          <p:cNvPr id="26" name="TextBox 25"/>
          <p:cNvSpPr txBox="1"/>
          <p:nvPr/>
        </p:nvSpPr>
        <p:spPr>
          <a:xfrm>
            <a:off x="347472" y="4809744"/>
            <a:ext cx="3648456" cy="1691640"/>
          </a:xfrm>
          <a:prstGeom prst="rect">
            <a:avLst/>
          </a:prstGeom>
          <a:noFill/>
        </p:spPr>
        <p:txBody>
          <a:bodyPr wrap="square" anchor="t" lIns="54864" rIns="54864" tIns="27432" bIns="27432"/>
          <a:lstStyle/>
          <a:p>
            <a:pPr>
              <a:spcAft>
                <a:spcPts val="300"/>
              </a:spcAft>
            </a:pPr>
            <a:r>
              <a:rPr sz="1200" b="1" i="0">
                <a:solidFill>
                  <a:srgbClr val="1A1A1A"/>
                </a:solidFill>
                <a:latin typeface="Calibri"/>
              </a:rPr>
              <a:t>• </a:t>
            </a:r>
            <a:r>
              <a:rPr sz="1200" b="1" i="0">
                <a:solidFill>
                  <a:srgbClr val="1A1A1A"/>
                </a:solidFill>
                <a:latin typeface="Calibri"/>
              </a:rPr>
              <a:t>Implicit cognition</a:t>
            </a:r>
            <a:r>
              <a:rPr sz="1200" b="0" i="0">
                <a:solidFill>
                  <a:srgbClr val="1A1A1A"/>
                </a:solidFill>
                <a:latin typeface="Calibri"/>
              </a:rPr>
              <a:t> = thoughts/beliefs auto-activated from memory without awareness (implicit bias)</a:t>
            </a:r>
          </a:p>
          <a:p>
            <a:pPr>
              <a:spcAft>
                <a:spcPts val="300"/>
              </a:spcAft>
            </a:pPr>
            <a:r>
              <a:rPr sz="1200" b="1" i="0">
                <a:solidFill>
                  <a:srgbClr val="1A1A1A"/>
                </a:solidFill>
                <a:latin typeface="Calibri"/>
              </a:rPr>
              <a:t>• </a:t>
            </a:r>
            <a:r>
              <a:rPr sz="1200" b="0" i="0">
                <a:solidFill>
                  <a:srgbClr val="1A1A1A"/>
                </a:solidFill>
                <a:latin typeface="Calibri"/>
              </a:rPr>
              <a:t>Women described as 'caring', men 'decisive' in reference letters</a:t>
            </a:r>
          </a:p>
          <a:p>
            <a:pPr>
              <a:spcAft>
                <a:spcPts val="300"/>
              </a:spcAft>
            </a:pPr>
            <a:r>
              <a:rPr sz="1200" b="1" i="0">
                <a:solidFill>
                  <a:srgbClr val="1A1A1A"/>
                </a:solidFill>
                <a:latin typeface="Calibri"/>
              </a:rPr>
              <a:t>• </a:t>
            </a:r>
            <a:r>
              <a:rPr sz="1200" b="0" i="0">
                <a:solidFill>
                  <a:srgbClr val="1A1A1A"/>
                </a:solidFill>
                <a:latin typeface="Calibri"/>
              </a:rPr>
              <a:t>Fix: bias training · </a:t>
            </a:r>
            <a:r>
              <a:rPr sz="1200" b="1" i="0">
                <a:solidFill>
                  <a:srgbClr val="1A1A1A"/>
                </a:solidFill>
                <a:latin typeface="Calibri"/>
              </a:rPr>
              <a:t>structured interviews</a:t>
            </a:r>
            <a:r>
              <a:rPr sz="1200" b="0" i="0">
                <a:solidFill>
                  <a:srgbClr val="1A1A1A"/>
                </a:solidFill>
                <a:latin typeface="Calibri"/>
              </a:rPr>
              <a:t> · multiple interviewers · virtual/blind interviews (Automattic)</a:t>
            </a:r>
          </a:p>
        </p:txBody>
      </p:sp>
      <p:sp>
        <p:nvSpPr>
          <p:cNvPr id="27" name="Rounded Rectangle 26"/>
          <p:cNvSpPr/>
          <p:nvPr/>
        </p:nvSpPr>
        <p:spPr>
          <a:xfrm>
            <a:off x="4206240" y="4297680"/>
            <a:ext cx="3794760" cy="2240280"/>
          </a:xfrm>
          <a:prstGeom prst="roundRect">
            <a:avLst>
              <a:gd name="adj" fmla="val 6000"/>
            </a:avLst>
          </a:prstGeom>
          <a:solidFill>
            <a:srgbClr val="FFFFFF"/>
          </a:solidFill>
          <a:ln w="19050">
            <a:solidFill>
              <a:srgbClr val="C39A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4206240" y="4297680"/>
            <a:ext cx="3794760" cy="457200"/>
          </a:xfrm>
          <a:prstGeom prst="roundRect">
            <a:avLst>
              <a:gd name="adj" fmla="val 6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206240" y="4617720"/>
            <a:ext cx="3794760" cy="137160"/>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97679" y="4297680"/>
            <a:ext cx="3611880" cy="457200"/>
          </a:xfrm>
          <a:prstGeom prst="rect">
            <a:avLst/>
          </a:prstGeom>
          <a:noFill/>
        </p:spPr>
        <p:txBody>
          <a:bodyPr wrap="square" anchor="ctr" lIns="45720" rIns="45720" tIns="18288" bIns="18288"/>
          <a:lstStyle/>
          <a:p>
            <a:pPr algn="l"/>
            <a:r>
              <a:rPr sz="1900" b="1" i="0">
                <a:solidFill>
                  <a:srgbClr val="FFFFFF"/>
                </a:solidFill>
                <a:latin typeface="Calibri"/>
              </a:rPr>
              <a:t>Performance appraisal</a:t>
            </a:r>
          </a:p>
        </p:txBody>
      </p:sp>
      <p:sp>
        <p:nvSpPr>
          <p:cNvPr id="31" name="TextBox 30"/>
          <p:cNvSpPr txBox="1"/>
          <p:nvPr/>
        </p:nvSpPr>
        <p:spPr>
          <a:xfrm>
            <a:off x="4279392" y="4809744"/>
            <a:ext cx="3648456" cy="1691640"/>
          </a:xfrm>
          <a:prstGeom prst="rect">
            <a:avLst/>
          </a:prstGeom>
          <a:noFill/>
        </p:spPr>
        <p:txBody>
          <a:bodyPr wrap="square" anchor="t" lIns="54864" rIns="54864" tIns="27432" bIns="27432"/>
          <a:lstStyle/>
          <a:p>
            <a:pPr>
              <a:spcAft>
                <a:spcPts val="300"/>
              </a:spcAft>
            </a:pPr>
            <a:r>
              <a:rPr sz="1400" b="1" i="0">
                <a:solidFill>
                  <a:srgbClr val="1A1A1A"/>
                </a:solidFill>
                <a:latin typeface="Calibri"/>
              </a:rPr>
              <a:t>• </a:t>
            </a:r>
            <a:r>
              <a:rPr sz="1400" b="0" i="0">
                <a:solidFill>
                  <a:srgbClr val="1A1A1A"/>
                </a:solidFill>
                <a:latin typeface="Calibri"/>
              </a:rPr>
              <a:t>Faulty perceptions → inaccurate ratings, low morale</a:t>
            </a:r>
          </a:p>
          <a:p>
            <a:pPr>
              <a:spcAft>
                <a:spcPts val="300"/>
              </a:spcAft>
            </a:pPr>
            <a:r>
              <a:rPr sz="1400" b="1" i="0">
                <a:solidFill>
                  <a:srgbClr val="1A1A1A"/>
                </a:solidFill>
                <a:latin typeface="Calibri"/>
              </a:rPr>
              <a:t>• </a:t>
            </a:r>
            <a:r>
              <a:rPr sz="1400" b="0" i="0">
                <a:solidFill>
                  <a:srgbClr val="1A1A1A"/>
                </a:solidFill>
                <a:latin typeface="Calibri"/>
              </a:rPr>
              <a:t>Female CEOs succeed when male predecessors act as gender-neutral 'gatekeepers'</a:t>
            </a:r>
          </a:p>
          <a:p>
            <a:pPr>
              <a:spcAft>
                <a:spcPts val="300"/>
              </a:spcAft>
            </a:pPr>
            <a:r>
              <a:rPr sz="1400" b="1" i="0">
                <a:solidFill>
                  <a:srgbClr val="1A1A1A"/>
                </a:solidFill>
                <a:latin typeface="Calibri"/>
              </a:rPr>
              <a:t>• </a:t>
            </a:r>
            <a:r>
              <a:rPr sz="1400" b="0" i="0">
                <a:solidFill>
                  <a:srgbClr val="1A1A1A"/>
                </a:solidFill>
                <a:latin typeface="Calibri"/>
              </a:rPr>
              <a:t>Fix: objective measures, </a:t>
            </a:r>
            <a:r>
              <a:rPr sz="1400" b="1" i="0">
                <a:solidFill>
                  <a:srgbClr val="1A1A1A"/>
                </a:solidFill>
                <a:latin typeface="Calibri"/>
              </a:rPr>
              <a:t>performance diary</a:t>
            </a:r>
            <a:r>
              <a:rPr sz="1400" b="0" i="0">
                <a:solidFill>
                  <a:srgbClr val="1A1A1A"/>
                </a:solidFill>
                <a:latin typeface="Calibri"/>
              </a:rPr>
              <a:t>, train raters</a:t>
            </a:r>
          </a:p>
        </p:txBody>
      </p:sp>
      <p:sp>
        <p:nvSpPr>
          <p:cNvPr id="32" name="Rounded Rectangle 31"/>
          <p:cNvSpPr/>
          <p:nvPr/>
        </p:nvSpPr>
        <p:spPr>
          <a:xfrm>
            <a:off x="8138160" y="4297680"/>
            <a:ext cx="3794760" cy="2240280"/>
          </a:xfrm>
          <a:prstGeom prst="roundRect">
            <a:avLst>
              <a:gd name="adj" fmla="val 6000"/>
            </a:avLst>
          </a:prstGeom>
          <a:solidFill>
            <a:srgbClr val="FFFFFF"/>
          </a:solidFill>
          <a:ln w="19050">
            <a:solidFill>
              <a:srgbClr val="C39A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8138160" y="4297680"/>
            <a:ext cx="3794760" cy="457200"/>
          </a:xfrm>
          <a:prstGeom prst="roundRect">
            <a:avLst>
              <a:gd name="adj" fmla="val 6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38160" y="4617720"/>
            <a:ext cx="3794760" cy="137160"/>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600" y="4297680"/>
            <a:ext cx="3611880" cy="457200"/>
          </a:xfrm>
          <a:prstGeom prst="rect">
            <a:avLst/>
          </a:prstGeom>
          <a:noFill/>
        </p:spPr>
        <p:txBody>
          <a:bodyPr wrap="square" anchor="ctr" lIns="45720" rIns="45720" tIns="18288" bIns="18288"/>
          <a:lstStyle/>
          <a:p>
            <a:pPr algn="l"/>
            <a:r>
              <a:rPr sz="1900" b="1" i="0">
                <a:solidFill>
                  <a:srgbClr val="FFFFFF"/>
                </a:solidFill>
                <a:latin typeface="Calibri"/>
              </a:rPr>
              <a:t>Leadership &amp; other errors</a:t>
            </a:r>
          </a:p>
        </p:txBody>
      </p:sp>
      <p:sp>
        <p:nvSpPr>
          <p:cNvPr id="36" name="TextBox 35"/>
          <p:cNvSpPr txBox="1"/>
          <p:nvPr/>
        </p:nvSpPr>
        <p:spPr>
          <a:xfrm>
            <a:off x="8211312" y="4809744"/>
            <a:ext cx="3648456" cy="1691640"/>
          </a:xfrm>
          <a:prstGeom prst="rect">
            <a:avLst/>
          </a:prstGeom>
          <a:noFill/>
        </p:spPr>
        <p:txBody>
          <a:bodyPr wrap="square" anchor="t" lIns="54864" rIns="54864" tIns="27432" bIns="27432"/>
          <a:lstStyle/>
          <a:p>
            <a:pPr>
              <a:spcAft>
                <a:spcPts val="300"/>
              </a:spcAft>
            </a:pPr>
            <a:r>
              <a:rPr sz="1500" b="1" i="0">
                <a:solidFill>
                  <a:srgbClr val="1A1A1A"/>
                </a:solidFill>
                <a:latin typeface="Calibri"/>
              </a:rPr>
              <a:t>• </a:t>
            </a:r>
            <a:r>
              <a:rPr sz="1500" b="0" i="0">
                <a:solidFill>
                  <a:srgbClr val="1A1A1A"/>
                </a:solidFill>
                <a:latin typeface="Calibri"/>
              </a:rPr>
              <a:t>Leader prototypes: assigning tasks, praising, setting goals = 'effective'</a:t>
            </a:r>
          </a:p>
          <a:p>
            <a:pPr>
              <a:spcAft>
                <a:spcPts val="300"/>
              </a:spcAft>
            </a:pPr>
            <a:r>
              <a:rPr sz="1500" b="1" i="0">
                <a:solidFill>
                  <a:srgbClr val="1A1A1A"/>
                </a:solidFill>
                <a:latin typeface="Calibri"/>
              </a:rPr>
              <a:t>• </a:t>
            </a:r>
            <a:r>
              <a:rPr sz="1500" b="0" i="0">
                <a:solidFill>
                  <a:srgbClr val="1A1A1A"/>
                </a:solidFill>
                <a:latin typeface="Calibri"/>
              </a:rPr>
              <a:t>Also use: </a:t>
            </a:r>
            <a:r>
              <a:rPr sz="1500" b="1" i="0">
                <a:solidFill>
                  <a:srgbClr val="1A1A1A"/>
                </a:solidFill>
                <a:latin typeface="Calibri"/>
              </a:rPr>
              <a:t>halo</a:t>
            </a:r>
            <a:r>
              <a:rPr sz="1500" b="0" i="0">
                <a:solidFill>
                  <a:srgbClr val="1A1A1A"/>
                </a:solidFill>
                <a:latin typeface="Calibri"/>
              </a:rPr>
              <a:t>, </a:t>
            </a:r>
            <a:r>
              <a:rPr sz="1500" b="1" i="0">
                <a:solidFill>
                  <a:srgbClr val="1A1A1A"/>
                </a:solidFill>
                <a:latin typeface="Calibri"/>
              </a:rPr>
              <a:t>recency</a:t>
            </a:r>
            <a:r>
              <a:rPr sz="1500" b="0" i="0">
                <a:solidFill>
                  <a:srgbClr val="1A1A1A"/>
                </a:solidFill>
                <a:latin typeface="Calibri"/>
              </a:rPr>
              <a:t>, </a:t>
            </a:r>
            <a:r>
              <a:rPr sz="1500" b="1" i="0">
                <a:solidFill>
                  <a:srgbClr val="1A1A1A"/>
                </a:solidFill>
                <a:latin typeface="Calibri"/>
              </a:rPr>
              <a:t>contrast</a:t>
            </a:r>
            <a:r>
              <a:rPr sz="1500" b="0" i="0">
                <a:solidFill>
                  <a:srgbClr val="1A1A1A"/>
                </a:solidFill>
                <a:latin typeface="Calibri"/>
              </a:rPr>
              <a:t>, </a:t>
            </a:r>
            <a:r>
              <a:rPr sz="1500" b="1" i="0">
                <a:solidFill>
                  <a:srgbClr val="1A1A1A"/>
                </a:solidFill>
                <a:latin typeface="Calibri"/>
              </a:rPr>
              <a:t>similar-to-me</a:t>
            </a:r>
            <a:r>
              <a:rPr sz="1500" b="0" i="0">
                <a:solidFill>
                  <a:srgbClr val="1A1A1A"/>
                </a:solidFill>
                <a:latin typeface="Calibri"/>
              </a:rPr>
              <a:t>, </a:t>
            </a:r>
            <a:r>
              <a:rPr sz="1500" b="1" i="0">
                <a:solidFill>
                  <a:srgbClr val="1A1A1A"/>
                </a:solidFill>
                <a:latin typeface="Calibri"/>
              </a:rPr>
              <a:t>self-fulfilling prophecy (Pygmalion)</a:t>
            </a:r>
            <a:r>
              <a:rPr sz="1500" b="0" i="0">
                <a:solidFill>
                  <a:srgbClr val="1A1A1A"/>
                </a:solidFill>
                <a:latin typeface="Calibri"/>
              </a:rPr>
              <a:t>, selective perception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200" b="1" i="0">
                <a:solidFill>
                  <a:srgbClr val="FFFFFF"/>
                </a:solidFill>
                <a:latin typeface="Calibri"/>
              </a:rPr>
              <a:t>4.2 Stereotypes: how they form, persist and how managers reduce them</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DEC7E7"/>
                </a:solidFill>
                <a:latin typeface="Calibri"/>
              </a:rPr>
              <a:t>MODULE 3 · EMOTIONS &amp; SOCIAL PERCEPTION</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Ch 4 pp. 133–134</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36</a:t>
            </a:r>
          </a:p>
        </p:txBody>
      </p:sp>
      <p:sp>
        <p:nvSpPr>
          <p:cNvPr id="7" name="Rounded Rectangle 6"/>
          <p:cNvSpPr/>
          <p:nvPr/>
        </p:nvSpPr>
        <p:spPr>
          <a:xfrm>
            <a:off x="274320" y="1051560"/>
            <a:ext cx="11658600" cy="685800"/>
          </a:xfrm>
          <a:prstGeom prst="roundRect">
            <a:avLst>
              <a:gd name="adj" fmla="val 6000"/>
            </a:avLst>
          </a:prstGeom>
          <a:solidFill>
            <a:srgbClr val="FFF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69848"/>
            <a:ext cx="11475720" cy="649224"/>
          </a:xfrm>
          <a:prstGeom prst="rect">
            <a:avLst/>
          </a:prstGeom>
          <a:noFill/>
        </p:spPr>
        <p:txBody>
          <a:bodyPr wrap="square" anchor="ctr" lIns="45720" rIns="45720" tIns="18288" bIns="18288"/>
          <a:lstStyle/>
          <a:p>
            <a:pPr algn="l"/>
            <a:r>
              <a:rPr sz="1600" b="1" i="0">
                <a:solidFill>
                  <a:srgbClr val="1A1A1A"/>
                </a:solidFill>
                <a:latin typeface="Calibri"/>
              </a:rPr>
              <a:t>Stereotype = an individual's set of beliefs about the characteristics or attributes of a GROUP. Used automatically; can be positive (engineers good at math) or negative; accurate or not; but lead to poor decisions.</a:t>
            </a:r>
          </a:p>
        </p:txBody>
      </p:sp>
      <p:sp>
        <p:nvSpPr>
          <p:cNvPr id="9" name="Rounded Rectangle 8"/>
          <p:cNvSpPr/>
          <p:nvPr/>
        </p:nvSpPr>
        <p:spPr>
          <a:xfrm>
            <a:off x="274320" y="1874519"/>
            <a:ext cx="3794760" cy="4663440"/>
          </a:xfrm>
          <a:prstGeom prst="roundRect">
            <a:avLst>
              <a:gd name="adj" fmla="val 6000"/>
            </a:avLst>
          </a:prstGeom>
          <a:solidFill>
            <a:srgbClr val="FFFFFF"/>
          </a:solidFill>
          <a:ln w="19050">
            <a:solidFill>
              <a:srgbClr val="C39A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74320" y="1874519"/>
            <a:ext cx="3794760" cy="457200"/>
          </a:xfrm>
          <a:prstGeom prst="roundRect">
            <a:avLst>
              <a:gd name="adj" fmla="val 6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4320" y="2194560"/>
            <a:ext cx="3794760" cy="137160"/>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1874519"/>
            <a:ext cx="3611880" cy="457200"/>
          </a:xfrm>
          <a:prstGeom prst="rect">
            <a:avLst/>
          </a:prstGeom>
          <a:noFill/>
        </p:spPr>
        <p:txBody>
          <a:bodyPr wrap="square" anchor="ctr" lIns="45720" rIns="45720" tIns="18288" bIns="18288"/>
          <a:lstStyle/>
          <a:p>
            <a:pPr algn="l"/>
            <a:r>
              <a:rPr sz="1900" b="1" i="0">
                <a:solidFill>
                  <a:srgbClr val="FFFFFF"/>
                </a:solidFill>
                <a:latin typeface="Calibri"/>
              </a:rPr>
              <a:t>Evidence (p. 133)</a:t>
            </a:r>
          </a:p>
        </p:txBody>
      </p:sp>
      <p:sp>
        <p:nvSpPr>
          <p:cNvPr id="13" name="TextBox 12"/>
          <p:cNvSpPr txBox="1"/>
          <p:nvPr/>
        </p:nvSpPr>
        <p:spPr>
          <a:xfrm>
            <a:off x="347472" y="2386584"/>
            <a:ext cx="3648456" cy="4114800"/>
          </a:xfrm>
          <a:prstGeom prst="rect">
            <a:avLst/>
          </a:prstGeom>
          <a:noFill/>
        </p:spPr>
        <p:txBody>
          <a:bodyPr wrap="square" anchor="t" lIns="54864" rIns="54864" tIns="27432" bIns="27432"/>
          <a:lstStyle/>
          <a:p>
            <a:pPr>
              <a:spcAft>
                <a:spcPts val="300"/>
              </a:spcAft>
            </a:pPr>
            <a:r>
              <a:rPr sz="1900" b="1" i="0">
                <a:solidFill>
                  <a:srgbClr val="1A1A1A"/>
                </a:solidFill>
                <a:latin typeface="Calibri"/>
              </a:rPr>
              <a:t>• </a:t>
            </a:r>
            <a:r>
              <a:rPr sz="1900" b="1" i="0">
                <a:solidFill>
                  <a:srgbClr val="1A1A1A"/>
                </a:solidFill>
                <a:latin typeface="Calibri"/>
              </a:rPr>
              <a:t>Gender</a:t>
            </a:r>
            <a:r>
              <a:rPr sz="1900" b="0" i="0">
                <a:solidFill>
                  <a:srgbClr val="1A1A1A"/>
                </a:solidFill>
                <a:latin typeface="Calibri"/>
              </a:rPr>
              <a:t>: men preferred for male-typed jobs; female founders get less VC money; women of colour hit hardest</a:t>
            </a:r>
          </a:p>
          <a:p>
            <a:pPr>
              <a:spcAft>
                <a:spcPts val="300"/>
              </a:spcAft>
            </a:pPr>
            <a:r>
              <a:rPr sz="1900" b="1" i="0">
                <a:solidFill>
                  <a:srgbClr val="1A1A1A"/>
                </a:solidFill>
                <a:latin typeface="Calibri"/>
              </a:rPr>
              <a:t>• </a:t>
            </a:r>
            <a:r>
              <a:rPr sz="1900" b="1" i="0">
                <a:solidFill>
                  <a:srgbClr val="1A1A1A"/>
                </a:solidFill>
                <a:latin typeface="Calibri"/>
              </a:rPr>
              <a:t>Race</a:t>
            </a:r>
            <a:r>
              <a:rPr sz="1900" b="0" i="0">
                <a:solidFill>
                  <a:srgbClr val="1A1A1A"/>
                </a:solidFill>
                <a:latin typeface="Calibri"/>
              </a:rPr>
              <a:t>: more perceived discrimination, less support → worse attitudes, health, OCB</a:t>
            </a:r>
          </a:p>
          <a:p>
            <a:pPr>
              <a:spcAft>
                <a:spcPts val="300"/>
              </a:spcAft>
            </a:pPr>
            <a:r>
              <a:rPr sz="1900" b="1" i="0">
                <a:solidFill>
                  <a:srgbClr val="1A1A1A"/>
                </a:solidFill>
                <a:latin typeface="Calibri"/>
              </a:rPr>
              <a:t>• </a:t>
            </a:r>
            <a:r>
              <a:rPr sz="1900" b="1" i="0">
                <a:solidFill>
                  <a:srgbClr val="1A1A1A"/>
                </a:solidFill>
                <a:latin typeface="Calibri"/>
              </a:rPr>
              <a:t>Age</a:t>
            </a:r>
            <a:r>
              <a:rPr sz="1900" b="0" i="0">
                <a:solidFill>
                  <a:srgbClr val="1A1A1A"/>
                </a:solidFill>
                <a:latin typeface="Calibri"/>
              </a:rPr>
              <a:t>: belief older workers are less motivated, resistant, unhealthy: </a:t>
            </a:r>
            <a:r>
              <a:rPr sz="1900" b="1" i="0">
                <a:solidFill>
                  <a:srgbClr val="1A1A1A"/>
                </a:solidFill>
                <a:latin typeface="Calibri"/>
              </a:rPr>
              <a:t>refuted</a:t>
            </a:r>
          </a:p>
          <a:p>
            <a:pPr>
              <a:spcAft>
                <a:spcPts val="300"/>
              </a:spcAft>
            </a:pPr>
            <a:r>
              <a:rPr sz="1900" b="1" i="0">
                <a:solidFill>
                  <a:srgbClr val="1A1A1A"/>
                </a:solidFill>
                <a:latin typeface="Calibri"/>
              </a:rPr>
              <a:t>• </a:t>
            </a:r>
            <a:r>
              <a:rPr sz="1900" b="1" i="0">
                <a:solidFill>
                  <a:srgbClr val="1A1A1A"/>
                </a:solidFill>
                <a:latin typeface="Calibri"/>
              </a:rPr>
              <a:t>Cancer patients/disability</a:t>
            </a:r>
            <a:r>
              <a:rPr sz="1900" b="0" i="0">
                <a:solidFill>
                  <a:srgbClr val="1A1A1A"/>
                </a:solidFill>
                <a:latin typeface="Calibri"/>
              </a:rPr>
              <a:t>: discriminatory decisions</a:t>
            </a:r>
          </a:p>
        </p:txBody>
      </p:sp>
      <p:sp>
        <p:nvSpPr>
          <p:cNvPr id="14" name="Rounded Rectangle 13"/>
          <p:cNvSpPr/>
          <p:nvPr/>
        </p:nvSpPr>
        <p:spPr>
          <a:xfrm>
            <a:off x="4206240" y="1874519"/>
            <a:ext cx="3794760" cy="822960"/>
          </a:xfrm>
          <a:prstGeom prst="roundRect">
            <a:avLst>
              <a:gd name="adj" fmla="val 6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500" b="1" i="0">
                <a:solidFill>
                  <a:srgbClr val="FFFFFF"/>
                </a:solidFill>
                <a:latin typeface="Calibri"/>
              </a:rPr>
              <a:t>1 CATEGORISATION</a:t>
            </a:r>
          </a:p>
          <a:p>
            <a:pPr algn="ctr"/>
            <a:r>
              <a:rPr sz="1200" b="0" i="0">
                <a:solidFill>
                  <a:srgbClr val="FFFFFF"/>
                </a:solidFill>
                <a:latin typeface="Calibri"/>
              </a:rPr>
              <a:t>group people by gender, age, race, job</a:t>
            </a:r>
          </a:p>
        </p:txBody>
      </p:sp>
      <p:sp>
        <p:nvSpPr>
          <p:cNvPr id="15" name="Rounded Rectangle 14"/>
          <p:cNvSpPr/>
          <p:nvPr/>
        </p:nvSpPr>
        <p:spPr>
          <a:xfrm>
            <a:off x="4206240" y="2770632"/>
            <a:ext cx="3794760" cy="822960"/>
          </a:xfrm>
          <a:prstGeom prst="roundRect">
            <a:avLst>
              <a:gd name="adj" fmla="val 6000"/>
            </a:avLst>
          </a:prstGeom>
          <a:solidFill>
            <a:srgbClr val="8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500" b="1" i="0">
                <a:solidFill>
                  <a:srgbClr val="FFFFFF"/>
                </a:solidFill>
                <a:latin typeface="Calibri"/>
              </a:rPr>
              <a:t>2 INFERENCES</a:t>
            </a:r>
          </a:p>
          <a:p>
            <a:pPr algn="ctr"/>
            <a:r>
              <a:rPr sz="1200" b="0" i="0">
                <a:solidFill>
                  <a:srgbClr val="FFFFFF"/>
                </a:solidFill>
                <a:latin typeface="Calibri"/>
              </a:rPr>
              <a:t>all in category share traits</a:t>
            </a:r>
          </a:p>
        </p:txBody>
      </p:sp>
      <p:sp>
        <p:nvSpPr>
          <p:cNvPr id="16" name="Rounded Rectangle 15"/>
          <p:cNvSpPr/>
          <p:nvPr/>
        </p:nvSpPr>
        <p:spPr>
          <a:xfrm>
            <a:off x="4206240" y="3666744"/>
            <a:ext cx="3794760" cy="822960"/>
          </a:xfrm>
          <a:prstGeom prst="roundRect">
            <a:avLst>
              <a:gd name="adj" fmla="val 6000"/>
            </a:avLst>
          </a:prstGeom>
          <a:solidFill>
            <a:srgbClr val="A262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500" b="1" i="0">
                <a:solidFill>
                  <a:srgbClr val="FFFFFF"/>
                </a:solidFill>
                <a:latin typeface="Calibri"/>
              </a:rPr>
              <a:t>3 EXPECTATIONS</a:t>
            </a:r>
          </a:p>
          <a:p>
            <a:pPr algn="ctr"/>
            <a:r>
              <a:rPr sz="1200" b="0" i="0">
                <a:solidFill>
                  <a:srgbClr val="FFFFFF"/>
                </a:solidFill>
                <a:latin typeface="Calibri"/>
              </a:rPr>
              <a:t>interpret behaviour via stereotype</a:t>
            </a:r>
          </a:p>
        </p:txBody>
      </p:sp>
      <p:sp>
        <p:nvSpPr>
          <p:cNvPr id="17" name="Rounded Rectangle 16"/>
          <p:cNvSpPr/>
          <p:nvPr/>
        </p:nvSpPr>
        <p:spPr>
          <a:xfrm>
            <a:off x="4206240" y="4562856"/>
            <a:ext cx="3794760" cy="822960"/>
          </a:xfrm>
          <a:prstGeom prst="roundRect">
            <a:avLst>
              <a:gd name="adj" fmla="val 6000"/>
            </a:avLst>
          </a:prstGeom>
          <a:solidFill>
            <a:srgbClr val="B683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500" b="1" i="0">
                <a:solidFill>
                  <a:srgbClr val="FFFFFF"/>
                </a:solidFill>
                <a:latin typeface="Calibri"/>
              </a:rPr>
              <a:t>4 MAINTENANCE</a:t>
            </a:r>
          </a:p>
          <a:p>
            <a:pPr algn="ctr"/>
            <a:r>
              <a:rPr sz="1200" b="0" i="0">
                <a:solidFill>
                  <a:srgbClr val="FFFFFF"/>
                </a:solidFill>
                <a:latin typeface="Calibri"/>
              </a:rPr>
              <a:t>overestimate stereotypic acts, explain away exceptions, 'differentiate minorities from ourselves'</a:t>
            </a:r>
          </a:p>
        </p:txBody>
      </p:sp>
      <p:sp>
        <p:nvSpPr>
          <p:cNvPr id="18" name="Rounded Rectangle 17"/>
          <p:cNvSpPr/>
          <p:nvPr/>
        </p:nvSpPr>
        <p:spPr>
          <a:xfrm>
            <a:off x="8138160" y="1874519"/>
            <a:ext cx="3794760" cy="4663440"/>
          </a:xfrm>
          <a:prstGeom prst="roundRect">
            <a:avLst>
              <a:gd name="adj" fmla="val 6000"/>
            </a:avLst>
          </a:prstGeom>
          <a:solidFill>
            <a:srgbClr val="FFFFFF"/>
          </a:solidFill>
          <a:ln w="19050">
            <a:solidFill>
              <a:srgbClr val="C39A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138160" y="1874519"/>
            <a:ext cx="3794760" cy="457200"/>
          </a:xfrm>
          <a:prstGeom prst="roundRect">
            <a:avLst>
              <a:gd name="adj" fmla="val 6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38160" y="2194560"/>
            <a:ext cx="3794760" cy="137160"/>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0" y="1874519"/>
            <a:ext cx="3611880" cy="457200"/>
          </a:xfrm>
          <a:prstGeom prst="rect">
            <a:avLst/>
          </a:prstGeom>
          <a:noFill/>
        </p:spPr>
        <p:txBody>
          <a:bodyPr wrap="square" anchor="ctr" lIns="45720" rIns="45720" tIns="18288" bIns="18288"/>
          <a:lstStyle/>
          <a:p>
            <a:pPr algn="l"/>
            <a:r>
              <a:rPr sz="1800" b="1" i="0">
                <a:solidFill>
                  <a:srgbClr val="FFFFFF"/>
                </a:solidFill>
                <a:latin typeface="Calibri"/>
              </a:rPr>
              <a:t>3 managerial recommendations</a:t>
            </a:r>
          </a:p>
        </p:txBody>
      </p:sp>
      <p:sp>
        <p:nvSpPr>
          <p:cNvPr id="22" name="TextBox 21"/>
          <p:cNvSpPr txBox="1"/>
          <p:nvPr/>
        </p:nvSpPr>
        <p:spPr>
          <a:xfrm>
            <a:off x="8211312" y="2386584"/>
            <a:ext cx="3648456" cy="4114800"/>
          </a:xfrm>
          <a:prstGeom prst="rect">
            <a:avLst/>
          </a:prstGeom>
          <a:noFill/>
        </p:spPr>
        <p:txBody>
          <a:bodyPr wrap="square" anchor="t" lIns="54864" rIns="54864" tIns="27432" bIns="27432"/>
          <a:lstStyle/>
          <a:p>
            <a:pPr>
              <a:spcAft>
                <a:spcPts val="300"/>
              </a:spcAft>
            </a:pPr>
            <a:r>
              <a:rPr sz="1900" b="1" i="0">
                <a:solidFill>
                  <a:srgbClr val="1A1A1A"/>
                </a:solidFill>
                <a:latin typeface="Calibri"/>
              </a:rPr>
              <a:t>• </a:t>
            </a:r>
            <a:r>
              <a:rPr sz="1900" b="1" i="0">
                <a:solidFill>
                  <a:srgbClr val="1A1A1A"/>
                </a:solidFill>
                <a:latin typeface="Calibri"/>
              </a:rPr>
              <a:t>1 Educate</a:t>
            </a:r>
            <a:r>
              <a:rPr sz="1900" b="0" i="0">
                <a:solidFill>
                  <a:srgbClr val="1A1A1A"/>
                </a:solidFill>
                <a:latin typeface="Calibri"/>
              </a:rPr>
              <a:t> people about stereotypes; LinkedIn: recruiters open men's profiles more → anonymous hiring (remove names, photos)</a:t>
            </a:r>
          </a:p>
          <a:p>
            <a:pPr>
              <a:spcAft>
                <a:spcPts val="300"/>
              </a:spcAft>
            </a:pPr>
            <a:r>
              <a:rPr sz="1900" b="1" i="0">
                <a:solidFill>
                  <a:srgbClr val="1A1A1A"/>
                </a:solidFill>
                <a:latin typeface="Calibri"/>
              </a:rPr>
              <a:t>• </a:t>
            </a:r>
            <a:r>
              <a:rPr sz="1900" b="1" i="0">
                <a:solidFill>
                  <a:srgbClr val="1A1A1A"/>
                </a:solidFill>
                <a:latin typeface="Calibri"/>
              </a:rPr>
              <a:t>2 Contact</a:t>
            </a:r>
            <a:r>
              <a:rPr sz="1900" b="0" i="0">
                <a:solidFill>
                  <a:srgbClr val="1A1A1A"/>
                </a:solidFill>
                <a:latin typeface="Calibri"/>
              </a:rPr>
              <a:t>: diverse employees work together in cooperative groups of </a:t>
            </a:r>
            <a:r>
              <a:rPr sz="1900" b="1" i="0">
                <a:solidFill>
                  <a:srgbClr val="1A1A1A"/>
                </a:solidFill>
                <a:latin typeface="Calibri"/>
              </a:rPr>
              <a:t>equal status</a:t>
            </a:r>
          </a:p>
          <a:p>
            <a:pPr>
              <a:spcAft>
                <a:spcPts val="300"/>
              </a:spcAft>
            </a:pPr>
            <a:r>
              <a:rPr sz="1900" b="1" i="0">
                <a:solidFill>
                  <a:srgbClr val="1A1A1A"/>
                </a:solidFill>
                <a:latin typeface="Calibri"/>
              </a:rPr>
              <a:t>• </a:t>
            </a:r>
            <a:r>
              <a:rPr sz="1900" b="1" i="0">
                <a:solidFill>
                  <a:srgbClr val="1A1A1A"/>
                </a:solidFill>
                <a:latin typeface="Calibri"/>
              </a:rPr>
              <a:t>3 Awareness</a:t>
            </a:r>
            <a:r>
              <a:rPr sz="1900" b="0" i="0">
                <a:solidFill>
                  <a:srgbClr val="1A1A1A"/>
                </a:solidFill>
                <a:latin typeface="Calibri"/>
              </a:rPr>
              <a:t>: everyone monitors own stereotypes in decisions</a:t>
            </a:r>
          </a:p>
          <a:p>
            <a:pPr>
              <a:spcAft>
                <a:spcPts val="300"/>
              </a:spcAft>
            </a:pPr>
            <a:r>
              <a:rPr sz="1900" b="1" i="0">
                <a:solidFill>
                  <a:srgbClr val="1A1A1A"/>
                </a:solidFill>
                <a:latin typeface="Calibri"/>
              </a:rPr>
              <a:t>• </a:t>
            </a:r>
            <a:r>
              <a:rPr sz="1900" b="0" i="0">
                <a:solidFill>
                  <a:srgbClr val="1A1A1A"/>
                </a:solidFill>
                <a:latin typeface="Calibri"/>
              </a:rPr>
              <a:t>Needs accurate info + motivation to reduce stereotyping</a:t>
            </a:r>
          </a:p>
        </p:txBody>
      </p:sp>
      <p:sp>
        <p:nvSpPr>
          <p:cNvPr id="23" name="Rounded Rectangle 22"/>
          <p:cNvSpPr/>
          <p:nvPr/>
        </p:nvSpPr>
        <p:spPr>
          <a:xfrm>
            <a:off x="4206240" y="5532120"/>
            <a:ext cx="3794760" cy="1005840"/>
          </a:xfrm>
          <a:prstGeom prst="roundRect">
            <a:avLst>
              <a:gd name="adj" fmla="val 6000"/>
            </a:avLst>
          </a:prstGeom>
          <a:solidFill>
            <a:srgbClr val="FFFFFF"/>
          </a:solidFill>
          <a:ln w="19050">
            <a:solidFill>
              <a:srgbClr val="C39A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79392" y="5586983"/>
            <a:ext cx="3648456" cy="914400"/>
          </a:xfrm>
          <a:prstGeom prst="rect">
            <a:avLst/>
          </a:prstGeom>
          <a:noFill/>
        </p:spPr>
        <p:txBody>
          <a:bodyPr wrap="square" anchor="t" lIns="54864" rIns="54864" tIns="27432" bIns="27432"/>
          <a:lstStyle/>
          <a:p>
            <a:pPr>
              <a:spcAft>
                <a:spcPts val="300"/>
              </a:spcAft>
            </a:pPr>
            <a:r>
              <a:rPr sz="1700" b="1" i="0">
                <a:solidFill>
                  <a:srgbClr val="1A1A1A"/>
                </a:solidFill>
                <a:latin typeface="Calibri"/>
              </a:rPr>
              <a:t>• </a:t>
            </a:r>
            <a:r>
              <a:rPr sz="1700" b="0" i="0">
                <a:solidFill>
                  <a:srgbClr val="1A1A1A"/>
                </a:solidFill>
                <a:latin typeface="Calibri"/>
              </a:rPr>
              <a:t>Link → Prudence (double bind), Yelp (tech-bro hiring), Rahul (quiet = not leader)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600" b="1" i="0">
                <a:solidFill>
                  <a:srgbClr val="FFFFFF"/>
                </a:solidFill>
                <a:latin typeface="Calibri"/>
              </a:rPr>
              <a:t>4.3 Causal attributions: Kelley's model &amp; attributional biases</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DEC7E7"/>
                </a:solidFill>
                <a:latin typeface="Calibri"/>
              </a:rPr>
              <a:t>MODULE 3 · EMOTIONS &amp; SOCIAL PERCEPTION</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Ch 4 pp. 135–137</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37</a:t>
            </a:r>
          </a:p>
        </p:txBody>
      </p:sp>
      <p:sp>
        <p:nvSpPr>
          <p:cNvPr id="7" name="Rounded Rectangle 6"/>
          <p:cNvSpPr/>
          <p:nvPr/>
        </p:nvSpPr>
        <p:spPr>
          <a:xfrm>
            <a:off x="274320" y="1051560"/>
            <a:ext cx="3931920" cy="2651760"/>
          </a:xfrm>
          <a:prstGeom prst="roundRect">
            <a:avLst>
              <a:gd name="adj" fmla="val 6000"/>
            </a:avLst>
          </a:prstGeom>
          <a:solidFill>
            <a:srgbClr val="FFFFFF"/>
          </a:solidFill>
          <a:ln w="19050">
            <a:solidFill>
              <a:srgbClr val="C39A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74320" y="1051560"/>
            <a:ext cx="3931920" cy="457200"/>
          </a:xfrm>
          <a:prstGeom prst="roundRect">
            <a:avLst>
              <a:gd name="adj" fmla="val 6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371600"/>
            <a:ext cx="3931920" cy="137160"/>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051560"/>
            <a:ext cx="3749039" cy="457200"/>
          </a:xfrm>
          <a:prstGeom prst="rect">
            <a:avLst/>
          </a:prstGeom>
          <a:noFill/>
        </p:spPr>
        <p:txBody>
          <a:bodyPr wrap="square" anchor="ctr" lIns="45720" rIns="45720" tIns="18288" bIns="18288"/>
          <a:lstStyle/>
          <a:p>
            <a:pPr algn="l"/>
            <a:r>
              <a:rPr sz="1900" b="1" i="0">
                <a:solidFill>
                  <a:srgbClr val="FFFFFF"/>
                </a:solidFill>
                <a:latin typeface="Calibri"/>
              </a:rPr>
              <a:t>Attribution theory</a:t>
            </a:r>
          </a:p>
        </p:txBody>
      </p:sp>
      <p:sp>
        <p:nvSpPr>
          <p:cNvPr id="11" name="TextBox 10"/>
          <p:cNvSpPr txBox="1"/>
          <p:nvPr/>
        </p:nvSpPr>
        <p:spPr>
          <a:xfrm>
            <a:off x="347472" y="1563624"/>
            <a:ext cx="3785615" cy="2103120"/>
          </a:xfrm>
          <a:prstGeom prst="rect">
            <a:avLst/>
          </a:prstGeom>
          <a:noFill/>
        </p:spPr>
        <p:txBody>
          <a:bodyPr wrap="square" anchor="t" lIns="54864" rIns="54864" tIns="27432" bIns="27432"/>
          <a:lstStyle/>
          <a:p>
            <a:pPr>
              <a:spcAft>
                <a:spcPts val="300"/>
              </a:spcAft>
            </a:pPr>
            <a:r>
              <a:rPr sz="1600" b="1" i="0">
                <a:solidFill>
                  <a:srgbClr val="1A1A1A"/>
                </a:solidFill>
                <a:latin typeface="Calibri"/>
              </a:rPr>
              <a:t>• </a:t>
            </a:r>
            <a:r>
              <a:rPr sz="1600" b="1" i="0">
                <a:solidFill>
                  <a:srgbClr val="1A1A1A"/>
                </a:solidFill>
                <a:latin typeface="Calibri"/>
              </a:rPr>
              <a:t>Causal attributions</a:t>
            </a:r>
            <a:r>
              <a:rPr sz="1600" b="0" i="0">
                <a:solidFill>
                  <a:srgbClr val="1A1A1A"/>
                </a:solidFill>
                <a:latin typeface="Calibri"/>
              </a:rPr>
              <a:t> = suspected/inferred causes of behaviour</a:t>
            </a:r>
          </a:p>
          <a:p>
            <a:pPr>
              <a:spcAft>
                <a:spcPts val="300"/>
              </a:spcAft>
            </a:pPr>
            <a:r>
              <a:rPr sz="1600" b="1" i="0">
                <a:solidFill>
                  <a:srgbClr val="1A1A1A"/>
                </a:solidFill>
                <a:latin typeface="Calibri"/>
              </a:rPr>
              <a:t>• </a:t>
            </a:r>
            <a:r>
              <a:rPr sz="1600" b="1" i="0">
                <a:solidFill>
                  <a:srgbClr val="1A1A1A"/>
                </a:solidFill>
                <a:latin typeface="Calibri"/>
              </a:rPr>
              <a:t>Heider</a:t>
            </a:r>
            <a:r>
              <a:rPr sz="1600" b="0" i="0">
                <a:solidFill>
                  <a:srgbClr val="1A1A1A"/>
                </a:solidFill>
                <a:latin typeface="Calibri"/>
              </a:rPr>
              <a:t>: internal (ability, effort) vs external (task difficulty, luck)</a:t>
            </a:r>
          </a:p>
          <a:p>
            <a:pPr>
              <a:spcAft>
                <a:spcPts val="300"/>
              </a:spcAft>
            </a:pPr>
            <a:r>
              <a:rPr sz="1600" b="1" i="0">
                <a:solidFill>
                  <a:srgbClr val="1A1A1A"/>
                </a:solidFill>
                <a:latin typeface="Calibri"/>
              </a:rPr>
              <a:t>• </a:t>
            </a:r>
            <a:r>
              <a:rPr sz="1600" b="0" i="0">
                <a:solidFill>
                  <a:srgbClr val="1A1A1A"/>
                </a:solidFill>
                <a:latin typeface="Calibri"/>
              </a:rPr>
              <a:t>Table 4.1: lack of effort → reprimand; lack of ability → training</a:t>
            </a:r>
          </a:p>
        </p:txBody>
      </p:sp>
      <p:graphicFrame>
        <p:nvGraphicFramePr>
          <p:cNvPr id="12" name="Table 11"/>
          <p:cNvGraphicFramePr>
            <a:graphicFrameLocks noGrp="1"/>
          </p:cNvGraphicFramePr>
          <p:nvPr/>
        </p:nvGraphicFramePr>
        <p:xfrm>
          <a:off x="4343400" y="1051560"/>
          <a:ext cx="7589520" cy="2651760"/>
        </p:xfrm>
        <a:graphic>
          <a:graphicData uri="http://schemas.openxmlformats.org/drawingml/2006/table">
            <a:tbl>
              <a:tblPr firstRow="1" bandRow="1">
                <a:tableStyleId>{5C22544A-7EE6-4342-B048-85BDC9FD1C3A}</a:tableStyleId>
              </a:tblPr>
              <a:tblGrid>
                <a:gridCol w="1645920"/>
                <a:gridCol w="2926080"/>
                <a:gridCol w="1463040"/>
                <a:gridCol w="1554480"/>
              </a:tblGrid>
              <a:tr h="662940">
                <a:tc>
                  <a:txBody>
                    <a:bodyPr wrap="square"/>
                    <a:lstStyle/>
                    <a:p>
                      <a:r>
                        <a:rPr sz="1600" b="1" i="0">
                          <a:solidFill>
                            <a:srgbClr val="FFFFFF"/>
                          </a:solidFill>
                          <a:latin typeface="Calibri"/>
                        </a:rPr>
                        <a:t>Dimension</a:t>
                      </a:r>
                    </a:p>
                  </a:txBody>
                  <a:tcPr marL="54864" marR="54864" marT="27432" marB="27432" anchor="ctr">
                    <a:solidFill>
                      <a:srgbClr val="7B1FA2"/>
                    </a:solidFill>
                  </a:tcPr>
                </a:tc>
                <a:tc>
                  <a:txBody>
                    <a:bodyPr wrap="square"/>
                    <a:lstStyle/>
                    <a:p>
                      <a:r>
                        <a:rPr sz="1600" b="1" i="0">
                          <a:solidFill>
                            <a:srgbClr val="FFFFFF"/>
                          </a:solidFill>
                          <a:latin typeface="Calibri"/>
                        </a:rPr>
                        <a:t>Compares…</a:t>
                      </a:r>
                    </a:p>
                  </a:txBody>
                  <a:tcPr marL="54864" marR="54864" marT="27432" marB="27432" anchor="ctr">
                    <a:solidFill>
                      <a:srgbClr val="7B1FA2"/>
                    </a:solidFill>
                  </a:tcPr>
                </a:tc>
                <a:tc>
                  <a:txBody>
                    <a:bodyPr wrap="square"/>
                    <a:lstStyle/>
                    <a:p>
                      <a:r>
                        <a:rPr sz="1600" b="1" i="0">
                          <a:solidFill>
                            <a:srgbClr val="FFFFFF"/>
                          </a:solidFill>
                          <a:latin typeface="Calibri"/>
                        </a:rPr>
                        <a:t>INTERNAL</a:t>
                      </a:r>
                    </a:p>
                  </a:txBody>
                  <a:tcPr marL="54864" marR="54864" marT="27432" marB="27432" anchor="ctr">
                    <a:solidFill>
                      <a:srgbClr val="7B1FA2"/>
                    </a:solidFill>
                  </a:tcPr>
                </a:tc>
                <a:tc>
                  <a:txBody>
                    <a:bodyPr wrap="square"/>
                    <a:lstStyle/>
                    <a:p>
                      <a:r>
                        <a:rPr sz="1600" b="1" i="0">
                          <a:solidFill>
                            <a:srgbClr val="FFFFFF"/>
                          </a:solidFill>
                          <a:latin typeface="Calibri"/>
                        </a:rPr>
                        <a:t>EXTERNAL</a:t>
                      </a:r>
                    </a:p>
                  </a:txBody>
                  <a:tcPr marL="54864" marR="54864" marT="27432" marB="27432" anchor="ctr">
                    <a:solidFill>
                      <a:srgbClr val="7B1FA2"/>
                    </a:solidFill>
                  </a:tcPr>
                </a:tc>
              </a:tr>
              <a:tr h="662940">
                <a:tc>
                  <a:txBody>
                    <a:bodyPr wrap="square"/>
                    <a:lstStyle/>
                    <a:p>
                      <a:r>
                        <a:rPr sz="1600" b="1" i="0">
                          <a:solidFill>
                            <a:srgbClr val="1A1A1A"/>
                          </a:solidFill>
                          <a:latin typeface="Calibri"/>
                        </a:rPr>
                        <a:t>Consensus</a:t>
                      </a:r>
                    </a:p>
                  </a:txBody>
                  <a:tcPr marL="54864" marR="54864" marT="27432" marB="27432" anchor="ctr">
                    <a:solidFill>
                      <a:srgbClr val="FFFFFF"/>
                    </a:solidFill>
                  </a:tcPr>
                </a:tc>
                <a:tc>
                  <a:txBody>
                    <a:bodyPr wrap="square"/>
                    <a:lstStyle/>
                    <a:p>
                      <a:r>
                        <a:rPr sz="1600" b="0" i="0">
                          <a:solidFill>
                            <a:srgbClr val="1A1A1A"/>
                          </a:solidFill>
                          <a:latin typeface="Calibri"/>
                        </a:rPr>
                        <a:t>person vs PEERS on same task</a:t>
                      </a:r>
                    </a:p>
                  </a:txBody>
                  <a:tcPr marL="54864" marR="54864" marT="27432" marB="27432" anchor="ctr">
                    <a:solidFill>
                      <a:srgbClr val="FFFFFF"/>
                    </a:solidFill>
                  </a:tcPr>
                </a:tc>
                <a:tc>
                  <a:txBody>
                    <a:bodyPr wrap="square"/>
                    <a:lstStyle/>
                    <a:p>
                      <a:r>
                        <a:rPr sz="1600" b="0" i="0">
                          <a:solidFill>
                            <a:srgbClr val="1A1A1A"/>
                          </a:solidFill>
                          <a:latin typeface="Calibri"/>
                        </a:rPr>
                        <a:t>LOW</a:t>
                      </a:r>
                    </a:p>
                  </a:txBody>
                  <a:tcPr marL="54864" marR="54864" marT="27432" marB="27432" anchor="ctr">
                    <a:solidFill>
                      <a:srgbClr val="FFFFFF"/>
                    </a:solidFill>
                  </a:tcPr>
                </a:tc>
                <a:tc>
                  <a:txBody>
                    <a:bodyPr wrap="square"/>
                    <a:lstStyle/>
                    <a:p>
                      <a:r>
                        <a:rPr sz="1600" b="0" i="0">
                          <a:solidFill>
                            <a:srgbClr val="1A1A1A"/>
                          </a:solidFill>
                          <a:latin typeface="Calibri"/>
                        </a:rPr>
                        <a:t>HIGH</a:t>
                      </a:r>
                    </a:p>
                  </a:txBody>
                  <a:tcPr marL="54864" marR="54864" marT="27432" marB="27432" anchor="ctr">
                    <a:solidFill>
                      <a:srgbClr val="FFFFFF"/>
                    </a:solidFill>
                  </a:tcPr>
                </a:tc>
              </a:tr>
              <a:tr h="662940">
                <a:tc>
                  <a:txBody>
                    <a:bodyPr wrap="square"/>
                    <a:lstStyle/>
                    <a:p>
                      <a:r>
                        <a:rPr sz="1600" b="1" i="0">
                          <a:solidFill>
                            <a:srgbClr val="1A1A1A"/>
                          </a:solidFill>
                          <a:latin typeface="Calibri"/>
                        </a:rPr>
                        <a:t>Distinctiveness</a:t>
                      </a:r>
                    </a:p>
                  </a:txBody>
                  <a:tcPr marL="54864" marR="54864" marT="27432" marB="27432" anchor="ctr">
                    <a:solidFill>
                      <a:srgbClr val="F1E8F5"/>
                    </a:solidFill>
                  </a:tcPr>
                </a:tc>
                <a:tc>
                  <a:txBody>
                    <a:bodyPr wrap="square"/>
                    <a:lstStyle/>
                    <a:p>
                      <a:r>
                        <a:rPr sz="1600" b="0" i="0">
                          <a:solidFill>
                            <a:srgbClr val="1A1A1A"/>
                          </a:solidFill>
                          <a:latin typeface="Calibri"/>
                        </a:rPr>
                        <a:t>this task vs person's OTHER tasks</a:t>
                      </a:r>
                    </a:p>
                  </a:txBody>
                  <a:tcPr marL="54864" marR="54864" marT="27432" marB="27432" anchor="ctr">
                    <a:solidFill>
                      <a:srgbClr val="F1E8F5"/>
                    </a:solidFill>
                  </a:tcPr>
                </a:tc>
                <a:tc>
                  <a:txBody>
                    <a:bodyPr wrap="square"/>
                    <a:lstStyle/>
                    <a:p>
                      <a:r>
                        <a:rPr sz="1600" b="0" i="0">
                          <a:solidFill>
                            <a:srgbClr val="1A1A1A"/>
                          </a:solidFill>
                          <a:latin typeface="Calibri"/>
                        </a:rPr>
                        <a:t>LOW</a:t>
                      </a:r>
                    </a:p>
                  </a:txBody>
                  <a:tcPr marL="54864" marR="54864" marT="27432" marB="27432" anchor="ctr">
                    <a:solidFill>
                      <a:srgbClr val="F1E8F5"/>
                    </a:solidFill>
                  </a:tcPr>
                </a:tc>
                <a:tc>
                  <a:txBody>
                    <a:bodyPr wrap="square"/>
                    <a:lstStyle/>
                    <a:p>
                      <a:r>
                        <a:rPr sz="1600" b="0" i="0">
                          <a:solidFill>
                            <a:srgbClr val="1A1A1A"/>
                          </a:solidFill>
                          <a:latin typeface="Calibri"/>
                        </a:rPr>
                        <a:t>HIGH</a:t>
                      </a:r>
                    </a:p>
                  </a:txBody>
                  <a:tcPr marL="54864" marR="54864" marT="27432" marB="27432" anchor="ctr">
                    <a:solidFill>
                      <a:srgbClr val="F1E8F5"/>
                    </a:solidFill>
                  </a:tcPr>
                </a:tc>
              </a:tr>
              <a:tr h="662940">
                <a:tc>
                  <a:txBody>
                    <a:bodyPr wrap="square"/>
                    <a:lstStyle/>
                    <a:p>
                      <a:r>
                        <a:rPr sz="1600" b="1" i="0">
                          <a:solidFill>
                            <a:srgbClr val="1A1A1A"/>
                          </a:solidFill>
                          <a:latin typeface="Calibri"/>
                        </a:rPr>
                        <a:t>Consistency</a:t>
                      </a:r>
                    </a:p>
                  </a:txBody>
                  <a:tcPr marL="54864" marR="54864" marT="27432" marB="27432" anchor="ctr">
                    <a:solidFill>
                      <a:srgbClr val="FFFFFF"/>
                    </a:solidFill>
                  </a:tcPr>
                </a:tc>
                <a:tc>
                  <a:txBody>
                    <a:bodyPr wrap="square"/>
                    <a:lstStyle/>
                    <a:p>
                      <a:r>
                        <a:rPr sz="1600" b="0" i="0">
                          <a:solidFill>
                            <a:srgbClr val="1A1A1A"/>
                          </a:solidFill>
                          <a:latin typeface="Calibri"/>
                        </a:rPr>
                        <a:t>same task over TIME</a:t>
                      </a:r>
                    </a:p>
                  </a:txBody>
                  <a:tcPr marL="54864" marR="54864" marT="27432" marB="27432" anchor="ctr">
                    <a:solidFill>
                      <a:srgbClr val="FFFFFF"/>
                    </a:solidFill>
                  </a:tcPr>
                </a:tc>
                <a:tc>
                  <a:txBody>
                    <a:bodyPr wrap="square"/>
                    <a:lstStyle/>
                    <a:p>
                      <a:r>
                        <a:rPr sz="1600" b="0" i="0">
                          <a:solidFill>
                            <a:srgbClr val="1A1A1A"/>
                          </a:solidFill>
                          <a:latin typeface="Calibri"/>
                        </a:rPr>
                        <a:t>HIGH</a:t>
                      </a:r>
                    </a:p>
                  </a:txBody>
                  <a:tcPr marL="54864" marR="54864" marT="27432" marB="27432" anchor="ctr">
                    <a:solidFill>
                      <a:srgbClr val="FFFFFF"/>
                    </a:solidFill>
                  </a:tcPr>
                </a:tc>
                <a:tc>
                  <a:txBody>
                    <a:bodyPr wrap="square"/>
                    <a:lstStyle/>
                    <a:p>
                      <a:r>
                        <a:rPr sz="1600" b="0" i="0">
                          <a:solidFill>
                            <a:srgbClr val="1A1A1A"/>
                          </a:solidFill>
                          <a:latin typeface="Calibri"/>
                        </a:rPr>
                        <a:t>LOW</a:t>
                      </a:r>
                    </a:p>
                  </a:txBody>
                  <a:tcPr marL="54864" marR="54864" marT="27432" marB="27432" anchor="ctr">
                    <a:solidFill>
                      <a:srgbClr val="FFFFFF"/>
                    </a:solidFill>
                  </a:tcPr>
                </a:tc>
              </a:tr>
            </a:tbl>
          </a:graphicData>
        </a:graphic>
      </p:graphicFrame>
      <p:sp>
        <p:nvSpPr>
          <p:cNvPr id="13" name="Rounded Rectangle 12"/>
          <p:cNvSpPr/>
          <p:nvPr/>
        </p:nvSpPr>
        <p:spPr>
          <a:xfrm>
            <a:off x="274320" y="3840480"/>
            <a:ext cx="3931920" cy="2697480"/>
          </a:xfrm>
          <a:prstGeom prst="roundRect">
            <a:avLst>
              <a:gd name="adj" fmla="val 6000"/>
            </a:avLst>
          </a:prstGeom>
          <a:solidFill>
            <a:srgbClr val="FFFFFF"/>
          </a:solidFill>
          <a:ln w="19050">
            <a:solidFill>
              <a:srgbClr val="C39A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74320" y="3840480"/>
            <a:ext cx="3931920" cy="457200"/>
          </a:xfrm>
          <a:prstGeom prst="roundRect">
            <a:avLst>
              <a:gd name="adj" fmla="val 6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4320" y="4160520"/>
            <a:ext cx="3931920" cy="137160"/>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3840480"/>
            <a:ext cx="3749039" cy="457200"/>
          </a:xfrm>
          <a:prstGeom prst="rect">
            <a:avLst/>
          </a:prstGeom>
          <a:noFill/>
        </p:spPr>
        <p:txBody>
          <a:bodyPr wrap="square" anchor="ctr" lIns="45720" rIns="45720" tIns="18288" bIns="18288"/>
          <a:lstStyle/>
          <a:p>
            <a:pPr algn="l"/>
            <a:r>
              <a:rPr sz="1900" b="1" i="0">
                <a:solidFill>
                  <a:srgbClr val="FFFFFF"/>
                </a:solidFill>
                <a:latin typeface="Calibri"/>
              </a:rPr>
              <a:t>Example (p. 136): Mary</a:t>
            </a:r>
          </a:p>
        </p:txBody>
      </p:sp>
      <p:sp>
        <p:nvSpPr>
          <p:cNvPr id="17" name="TextBox 16"/>
          <p:cNvSpPr txBox="1"/>
          <p:nvPr/>
        </p:nvSpPr>
        <p:spPr>
          <a:xfrm>
            <a:off x="347472" y="4352544"/>
            <a:ext cx="3785615" cy="2148840"/>
          </a:xfrm>
          <a:prstGeom prst="rect">
            <a:avLst/>
          </a:prstGeom>
          <a:noFill/>
        </p:spPr>
        <p:txBody>
          <a:bodyPr wrap="square" anchor="t" lIns="54864" rIns="54864" tIns="27432" bIns="27432"/>
          <a:lstStyle/>
          <a:p>
            <a:pPr>
              <a:spcAft>
                <a:spcPts val="300"/>
              </a:spcAft>
            </a:pPr>
            <a:r>
              <a:rPr sz="1700" b="1" i="0">
                <a:solidFill>
                  <a:srgbClr val="1A1A1A"/>
                </a:solidFill>
                <a:latin typeface="Calibri"/>
              </a:rPr>
              <a:t>• </a:t>
            </a:r>
            <a:r>
              <a:rPr sz="1700" b="1" i="0">
                <a:solidFill>
                  <a:srgbClr val="1A1A1A"/>
                </a:solidFill>
                <a:latin typeface="Calibri"/>
              </a:rPr>
              <a:t>Internal</a:t>
            </a:r>
            <a:r>
              <a:rPr sz="1700" b="0" i="0">
                <a:solidFill>
                  <a:srgbClr val="1A1A1A"/>
                </a:solidFill>
                <a:latin typeface="Calibri"/>
              </a:rPr>
              <a:t>: Mary outperforms peers (low consensus) and always has (high consistency) → it's Mary</a:t>
            </a:r>
          </a:p>
          <a:p>
            <a:pPr>
              <a:spcAft>
                <a:spcPts val="300"/>
              </a:spcAft>
            </a:pPr>
            <a:r>
              <a:rPr sz="1700" b="1" i="0">
                <a:solidFill>
                  <a:srgbClr val="1A1A1A"/>
                </a:solidFill>
                <a:latin typeface="Calibri"/>
              </a:rPr>
              <a:t>• </a:t>
            </a:r>
            <a:r>
              <a:rPr sz="1700" b="1" i="0">
                <a:solidFill>
                  <a:srgbClr val="1A1A1A"/>
                </a:solidFill>
                <a:latin typeface="Calibri"/>
              </a:rPr>
              <a:t>External</a:t>
            </a:r>
            <a:r>
              <a:rPr sz="1700" b="0" i="0">
                <a:solidFill>
                  <a:srgbClr val="1A1A1A"/>
                </a:solidFill>
                <a:latin typeface="Calibri"/>
              </a:rPr>
              <a:t>: Mary performs like peers (high consensus) but worse than her usual (low consistency) → it's the situation</a:t>
            </a:r>
          </a:p>
        </p:txBody>
      </p:sp>
      <p:sp>
        <p:nvSpPr>
          <p:cNvPr id="18" name="Rounded Rectangle 17"/>
          <p:cNvSpPr/>
          <p:nvPr/>
        </p:nvSpPr>
        <p:spPr>
          <a:xfrm>
            <a:off x="4343400" y="3840480"/>
            <a:ext cx="3749039" cy="2697480"/>
          </a:xfrm>
          <a:prstGeom prst="roundRect">
            <a:avLst>
              <a:gd name="adj" fmla="val 6000"/>
            </a:avLst>
          </a:prstGeom>
          <a:solidFill>
            <a:srgbClr val="FFFFFF"/>
          </a:solidFill>
          <a:ln w="19050">
            <a:solidFill>
              <a:srgbClr val="C39A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343400" y="3840480"/>
            <a:ext cx="3749039" cy="457200"/>
          </a:xfrm>
          <a:prstGeom prst="roundRect">
            <a:avLst>
              <a:gd name="adj" fmla="val 6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43400" y="4160520"/>
            <a:ext cx="3749039" cy="137160"/>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34840" y="3840480"/>
            <a:ext cx="3566159" cy="457200"/>
          </a:xfrm>
          <a:prstGeom prst="rect">
            <a:avLst/>
          </a:prstGeom>
          <a:noFill/>
        </p:spPr>
        <p:txBody>
          <a:bodyPr wrap="square" anchor="ctr" lIns="45720" rIns="45720" tIns="18288" bIns="18288"/>
          <a:lstStyle/>
          <a:p>
            <a:pPr algn="l"/>
            <a:r>
              <a:rPr sz="1900" b="1" i="0">
                <a:solidFill>
                  <a:srgbClr val="FFFFFF"/>
                </a:solidFill>
                <a:latin typeface="Calibri"/>
              </a:rPr>
              <a:t>Two biases (p. 137)</a:t>
            </a:r>
          </a:p>
        </p:txBody>
      </p:sp>
      <p:sp>
        <p:nvSpPr>
          <p:cNvPr id="22" name="TextBox 21"/>
          <p:cNvSpPr txBox="1"/>
          <p:nvPr/>
        </p:nvSpPr>
        <p:spPr>
          <a:xfrm>
            <a:off x="4416552" y="4352544"/>
            <a:ext cx="3602735" cy="2148840"/>
          </a:xfrm>
          <a:prstGeom prst="rect">
            <a:avLst/>
          </a:prstGeom>
          <a:noFill/>
        </p:spPr>
        <p:txBody>
          <a:bodyPr wrap="square" anchor="t" lIns="54864" rIns="54864" tIns="27432" bIns="27432"/>
          <a:lstStyle/>
          <a:p>
            <a:pPr>
              <a:spcAft>
                <a:spcPts val="300"/>
              </a:spcAft>
            </a:pPr>
            <a:r>
              <a:rPr sz="1800" b="1" i="0">
                <a:solidFill>
                  <a:srgbClr val="1A1A1A"/>
                </a:solidFill>
                <a:latin typeface="Calibri"/>
              </a:rPr>
              <a:t>• </a:t>
            </a:r>
            <a:r>
              <a:rPr sz="1800" b="1" i="0">
                <a:solidFill>
                  <a:srgbClr val="1A1A1A"/>
                </a:solidFill>
                <a:latin typeface="Calibri"/>
              </a:rPr>
              <a:t>Fundamental attribution bias</a:t>
            </a:r>
            <a:r>
              <a:rPr sz="1800" b="0" i="0">
                <a:solidFill>
                  <a:srgbClr val="1A1A1A"/>
                </a:solidFill>
                <a:latin typeface="Calibri"/>
              </a:rPr>
              <a:t>: over-attribute others' behaviour to personal traits, ignoring situation</a:t>
            </a:r>
          </a:p>
          <a:p>
            <a:pPr>
              <a:spcAft>
                <a:spcPts val="300"/>
              </a:spcAft>
            </a:pPr>
            <a:r>
              <a:rPr sz="1800" b="1" i="0">
                <a:solidFill>
                  <a:srgbClr val="1A1A1A"/>
                </a:solidFill>
                <a:latin typeface="Calibri"/>
              </a:rPr>
              <a:t>• </a:t>
            </a:r>
            <a:r>
              <a:rPr sz="1800" b="1" i="0">
                <a:solidFill>
                  <a:srgbClr val="1A1A1A"/>
                </a:solidFill>
                <a:latin typeface="Calibri"/>
              </a:rPr>
              <a:t>Self-serving bias</a:t>
            </a:r>
            <a:r>
              <a:rPr sz="1800" b="0" i="0">
                <a:solidFill>
                  <a:srgbClr val="1A1A1A"/>
                </a:solidFill>
                <a:latin typeface="Calibri"/>
              </a:rPr>
              <a:t>: my success = my ability/effort; my failure = bad luck, unfair teacher</a:t>
            </a:r>
          </a:p>
        </p:txBody>
      </p:sp>
      <p:sp>
        <p:nvSpPr>
          <p:cNvPr id="23" name="Rounded Rectangle 22"/>
          <p:cNvSpPr/>
          <p:nvPr/>
        </p:nvSpPr>
        <p:spPr>
          <a:xfrm>
            <a:off x="8229600" y="3840480"/>
            <a:ext cx="3703320" cy="2697480"/>
          </a:xfrm>
          <a:prstGeom prst="roundRect">
            <a:avLst>
              <a:gd name="adj" fmla="val 6000"/>
            </a:avLst>
          </a:prstGeom>
          <a:solidFill>
            <a:srgbClr val="FFFFFF"/>
          </a:solidFill>
          <a:ln w="19050">
            <a:solidFill>
              <a:srgbClr val="C39A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229600" y="3840480"/>
            <a:ext cx="3703320" cy="457200"/>
          </a:xfrm>
          <a:prstGeom prst="roundRect">
            <a:avLst>
              <a:gd name="adj" fmla="val 6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29600" y="4160520"/>
            <a:ext cx="3703320" cy="137160"/>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21040" y="3840480"/>
            <a:ext cx="3520439" cy="457200"/>
          </a:xfrm>
          <a:prstGeom prst="rect">
            <a:avLst/>
          </a:prstGeom>
          <a:noFill/>
        </p:spPr>
        <p:txBody>
          <a:bodyPr wrap="square" anchor="ctr" lIns="45720" rIns="45720" tIns="18288" bIns="18288"/>
          <a:lstStyle/>
          <a:p>
            <a:pPr algn="l"/>
            <a:r>
              <a:rPr sz="1900" b="1" i="0">
                <a:solidFill>
                  <a:srgbClr val="FFFFFF"/>
                </a:solidFill>
                <a:latin typeface="Calibri"/>
              </a:rPr>
              <a:t>Managerial implications</a:t>
            </a:r>
          </a:p>
        </p:txBody>
      </p:sp>
      <p:sp>
        <p:nvSpPr>
          <p:cNvPr id="27" name="TextBox 26"/>
          <p:cNvSpPr txBox="1"/>
          <p:nvPr/>
        </p:nvSpPr>
        <p:spPr>
          <a:xfrm>
            <a:off x="8302752" y="4352544"/>
            <a:ext cx="3557015" cy="2148840"/>
          </a:xfrm>
          <a:prstGeom prst="rect">
            <a:avLst/>
          </a:prstGeom>
          <a:noFill/>
        </p:spPr>
        <p:txBody>
          <a:bodyPr wrap="square" anchor="t" lIns="54864" rIns="54864" tIns="27432" bIns="27432"/>
          <a:lstStyle/>
          <a:p>
            <a:pPr>
              <a:spcAft>
                <a:spcPts val="300"/>
              </a:spcAft>
            </a:pPr>
            <a:r>
              <a:rPr sz="1500" b="1" i="0">
                <a:solidFill>
                  <a:srgbClr val="1A1A1A"/>
                </a:solidFill>
                <a:latin typeface="Calibri"/>
              </a:rPr>
              <a:t>• </a:t>
            </a:r>
            <a:r>
              <a:rPr sz="1500" b="0" i="0">
                <a:solidFill>
                  <a:srgbClr val="1A1A1A"/>
                </a:solidFill>
                <a:latin typeface="Calibri"/>
              </a:rPr>
              <a:t>Effort attribution → frequent negative feedback; ability → transfer; external → no action</a:t>
            </a:r>
          </a:p>
          <a:p>
            <a:pPr>
              <a:spcAft>
                <a:spcPts val="300"/>
              </a:spcAft>
            </a:pPr>
            <a:r>
              <a:rPr sz="1500" b="1" i="0">
                <a:solidFill>
                  <a:srgbClr val="1A1A1A"/>
                </a:solidFill>
                <a:latin typeface="Calibri"/>
              </a:rPr>
              <a:t>• </a:t>
            </a:r>
            <a:r>
              <a:rPr sz="1500" b="0" i="0">
                <a:solidFill>
                  <a:srgbClr val="1A1A1A"/>
                </a:solidFill>
                <a:latin typeface="Calibri"/>
              </a:rPr>
              <a:t>Remember: performance = f(person × situation)</a:t>
            </a:r>
          </a:p>
          <a:p>
            <a:pPr>
              <a:spcAft>
                <a:spcPts val="300"/>
              </a:spcAft>
            </a:pPr>
            <a:r>
              <a:rPr sz="1500" b="1" i="0">
                <a:solidFill>
                  <a:srgbClr val="1A1A1A"/>
                </a:solidFill>
                <a:latin typeface="Calibri"/>
              </a:rPr>
              <a:t>• </a:t>
            </a:r>
            <a:r>
              <a:rPr sz="1500" b="0" i="0">
                <a:solidFill>
                  <a:srgbClr val="1A1A1A"/>
                </a:solidFill>
                <a:latin typeface="Calibri"/>
              </a:rPr>
              <a:t>Attributing failure to low ability → give up, ↓ self-esteem; success to ability/effort → ↑ performance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600" b="1" i="0">
                <a:solidFill>
                  <a:srgbClr val="FFFFFF"/>
                </a:solidFill>
                <a:latin typeface="Calibri"/>
              </a:rPr>
              <a:t>Case 8: Managing Diversity &amp; Inclusion at Yelp (HBS 2023)</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DEC7E7"/>
                </a:solidFill>
                <a:latin typeface="Calibri"/>
              </a:rPr>
              <a:t>MODULE 3 · EMOTIONS &amp; SOCIAL PERCEPTION</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Social perception &amp; managing diversity</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38</a:t>
            </a:r>
          </a:p>
        </p:txBody>
      </p:sp>
      <p:sp>
        <p:nvSpPr>
          <p:cNvPr id="7" name="Rounded Rectangle 6"/>
          <p:cNvSpPr/>
          <p:nvPr/>
        </p:nvSpPr>
        <p:spPr>
          <a:xfrm>
            <a:off x="274320" y="1051560"/>
            <a:ext cx="3840480" cy="3108960"/>
          </a:xfrm>
          <a:prstGeom prst="roundRect">
            <a:avLst>
              <a:gd name="adj" fmla="val 6000"/>
            </a:avLst>
          </a:prstGeom>
          <a:solidFill>
            <a:srgbClr val="FFFFFF"/>
          </a:solidFill>
          <a:ln w="19050">
            <a:solidFill>
              <a:srgbClr val="C39A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74320" y="1051560"/>
            <a:ext cx="3840480" cy="457200"/>
          </a:xfrm>
          <a:prstGeom prst="roundRect">
            <a:avLst>
              <a:gd name="adj" fmla="val 6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371600"/>
            <a:ext cx="3840480" cy="137160"/>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051560"/>
            <a:ext cx="3657600" cy="457200"/>
          </a:xfrm>
          <a:prstGeom prst="rect">
            <a:avLst/>
          </a:prstGeom>
          <a:noFill/>
        </p:spPr>
        <p:txBody>
          <a:bodyPr wrap="square" anchor="ctr" lIns="45720" rIns="45720" tIns="18288" bIns="18288"/>
          <a:lstStyle/>
          <a:p>
            <a:pPr algn="l"/>
            <a:r>
              <a:rPr sz="1900" b="1" i="0">
                <a:solidFill>
                  <a:srgbClr val="FFFFFF"/>
                </a:solidFill>
                <a:latin typeface="Calibri"/>
              </a:rPr>
              <a:t>Facts</a:t>
            </a:r>
          </a:p>
        </p:txBody>
      </p:sp>
      <p:sp>
        <p:nvSpPr>
          <p:cNvPr id="11" name="TextBox 10"/>
          <p:cNvSpPr txBox="1"/>
          <p:nvPr/>
        </p:nvSpPr>
        <p:spPr>
          <a:xfrm>
            <a:off x="347472" y="1563624"/>
            <a:ext cx="3694176" cy="2560320"/>
          </a:xfrm>
          <a:prstGeom prst="rect">
            <a:avLst/>
          </a:prstGeom>
          <a:noFill/>
        </p:spPr>
        <p:txBody>
          <a:bodyPr wrap="square" anchor="t" lIns="54864" rIns="54864" tIns="27432" bIns="27432"/>
          <a:lstStyle/>
          <a:p>
            <a:pPr>
              <a:spcAft>
                <a:spcPts val="300"/>
              </a:spcAft>
            </a:pPr>
            <a:r>
              <a:rPr sz="1500" b="1" i="0">
                <a:solidFill>
                  <a:srgbClr val="1A1A1A"/>
                </a:solidFill>
                <a:latin typeface="Calibri"/>
              </a:rPr>
              <a:t>• </a:t>
            </a:r>
            <a:r>
              <a:rPr sz="1500" b="0" i="0">
                <a:solidFill>
                  <a:srgbClr val="1A1A1A"/>
                </a:solidFill>
                <a:latin typeface="Calibri"/>
              </a:rPr>
              <a:t>2014 tech diversity wake-up: &gt;80% technical roles male; Google: 17% women in tech, 2% Black</a:t>
            </a:r>
          </a:p>
          <a:p>
            <a:pPr>
              <a:spcAft>
                <a:spcPts val="300"/>
              </a:spcAft>
            </a:pPr>
            <a:r>
              <a:rPr sz="1500" b="1" i="0">
                <a:solidFill>
                  <a:srgbClr val="1A1A1A"/>
                </a:solidFill>
                <a:latin typeface="Calibri"/>
              </a:rPr>
              <a:t>• </a:t>
            </a:r>
            <a:r>
              <a:rPr sz="1500" b="0" i="0">
                <a:solidFill>
                  <a:srgbClr val="1A1A1A"/>
                </a:solidFill>
                <a:latin typeface="Calibri"/>
              </a:rPr>
              <a:t>Yelp: ~10% women in tech; 7% Hispanic, 4% Black; 600+ engineers; hires ~30 entry engineers from thousands</a:t>
            </a:r>
          </a:p>
          <a:p>
            <a:pPr>
              <a:spcAft>
                <a:spcPts val="300"/>
              </a:spcAft>
            </a:pPr>
            <a:r>
              <a:rPr sz="1500" b="1" i="0">
                <a:solidFill>
                  <a:srgbClr val="1A1A1A"/>
                </a:solidFill>
                <a:latin typeface="Calibri"/>
              </a:rPr>
              <a:t>• </a:t>
            </a:r>
            <a:r>
              <a:rPr sz="1500" b="0" i="0">
                <a:solidFill>
                  <a:srgbClr val="1A1A1A"/>
                </a:solidFill>
                <a:latin typeface="Calibri"/>
              </a:rPr>
              <a:t>CEO Stoppelman &amp; COO Donaker hire </a:t>
            </a:r>
            <a:r>
              <a:rPr sz="1500" b="1" i="0">
                <a:solidFill>
                  <a:srgbClr val="1A1A1A"/>
                </a:solidFill>
                <a:latin typeface="Calibri"/>
              </a:rPr>
              <a:t>Rachel Williams</a:t>
            </a:r>
            <a:r>
              <a:rPr sz="1500" b="0" i="0">
                <a:solidFill>
                  <a:srgbClr val="1A1A1A"/>
                </a:solidFill>
                <a:latin typeface="Calibri"/>
              </a:rPr>
              <a:t> (psych grad, ex-Yelp recruiter) as first Head of D&amp;I; COO joins her meetings</a:t>
            </a:r>
          </a:p>
        </p:txBody>
      </p:sp>
      <p:graphicFrame>
        <p:nvGraphicFramePr>
          <p:cNvPr id="12" name="Table 11"/>
          <p:cNvGraphicFramePr>
            <a:graphicFrameLocks noGrp="1"/>
          </p:cNvGraphicFramePr>
          <p:nvPr/>
        </p:nvGraphicFramePr>
        <p:xfrm>
          <a:off x="4251960" y="1051560"/>
          <a:ext cx="4206240" cy="4206240"/>
        </p:xfrm>
        <a:graphic>
          <a:graphicData uri="http://schemas.openxmlformats.org/drawingml/2006/table">
            <a:tbl>
              <a:tblPr firstRow="1" bandRow="1">
                <a:tableStyleId>{5C22544A-7EE6-4342-B048-85BDC9FD1C3A}</a:tableStyleId>
              </a:tblPr>
              <a:tblGrid>
                <a:gridCol w="2103120"/>
                <a:gridCol w="2103120"/>
              </a:tblGrid>
              <a:tr h="525780">
                <a:tc>
                  <a:txBody>
                    <a:bodyPr wrap="square"/>
                    <a:lstStyle/>
                    <a:p>
                      <a:r>
                        <a:rPr sz="1200" b="1" i="0">
                          <a:solidFill>
                            <a:srgbClr val="FFFFFF"/>
                          </a:solidFill>
                          <a:latin typeface="Calibri"/>
                        </a:rPr>
                        <a:t>Hiring stage (2014)</a:t>
                      </a:r>
                    </a:p>
                  </a:txBody>
                  <a:tcPr marL="54864" marR="54864" marT="27432" marB="27432" anchor="ctr">
                    <a:solidFill>
                      <a:srgbClr val="7B1FA2"/>
                    </a:solidFill>
                  </a:tcPr>
                </a:tc>
                <a:tc>
                  <a:txBody>
                    <a:bodyPr wrap="square"/>
                    <a:lstStyle/>
                    <a:p>
                      <a:r>
                        <a:rPr sz="1200" b="1" i="0">
                          <a:solidFill>
                            <a:srgbClr val="FFFFFF"/>
                          </a:solidFill>
                          <a:latin typeface="Calibri"/>
                        </a:rPr>
                        <a:t>Where bias can enter</a:t>
                      </a:r>
                    </a:p>
                  </a:txBody>
                  <a:tcPr marL="54864" marR="54864" marT="27432" marB="27432" anchor="ctr">
                    <a:solidFill>
                      <a:srgbClr val="7B1FA2"/>
                    </a:solidFill>
                  </a:tcPr>
                </a:tc>
              </a:tr>
              <a:tr h="525780">
                <a:tc>
                  <a:txBody>
                    <a:bodyPr wrap="square"/>
                    <a:lstStyle/>
                    <a:p>
                      <a:r>
                        <a:rPr sz="1200" b="1" i="0">
                          <a:solidFill>
                            <a:srgbClr val="1A1A1A"/>
                          </a:solidFill>
                          <a:latin typeface="Calibri"/>
                        </a:rPr>
                        <a:t>Campus visits (select schools)</a:t>
                      </a:r>
                    </a:p>
                  </a:txBody>
                  <a:tcPr marL="54864" marR="54864" marT="27432" marB="27432" anchor="ctr">
                    <a:solidFill>
                      <a:srgbClr val="FFFFFF"/>
                    </a:solidFill>
                  </a:tcPr>
                </a:tc>
                <a:tc>
                  <a:txBody>
                    <a:bodyPr wrap="square"/>
                    <a:lstStyle/>
                    <a:p>
                      <a:r>
                        <a:rPr sz="1200" b="0" i="0">
                          <a:solidFill>
                            <a:srgbClr val="1A1A1A"/>
                          </a:solidFill>
                          <a:latin typeface="Calibri"/>
                        </a:rPr>
                        <a:t>Pipeline/sourcing bias: who even applies</a:t>
                      </a:r>
                    </a:p>
                  </a:txBody>
                  <a:tcPr marL="54864" marR="54864" marT="27432" marB="27432" anchor="ctr">
                    <a:solidFill>
                      <a:srgbClr val="FFFFFF"/>
                    </a:solidFill>
                  </a:tcPr>
                </a:tc>
              </a:tr>
              <a:tr h="525780">
                <a:tc>
                  <a:txBody>
                    <a:bodyPr wrap="square"/>
                    <a:lstStyle/>
                    <a:p>
                      <a:r>
                        <a:rPr sz="1200" b="1" i="0">
                          <a:solidFill>
                            <a:srgbClr val="1A1A1A"/>
                          </a:solidFill>
                          <a:latin typeface="Calibri"/>
                        </a:rPr>
                        <a:t>Recruiter résumé screen</a:t>
                      </a:r>
                    </a:p>
                  </a:txBody>
                  <a:tcPr marL="54864" marR="54864" marT="27432" marB="27432" anchor="ctr">
                    <a:solidFill>
                      <a:srgbClr val="F1E8F5"/>
                    </a:solidFill>
                  </a:tcPr>
                </a:tc>
                <a:tc>
                  <a:txBody>
                    <a:bodyPr wrap="square"/>
                    <a:lstStyle/>
                    <a:p>
                      <a:r>
                        <a:rPr sz="1200" b="0" i="0">
                          <a:solidFill>
                            <a:srgbClr val="1A1A1A"/>
                          </a:solidFill>
                          <a:latin typeface="Calibri"/>
                        </a:rPr>
                        <a:t>Name/school heuristics, implicit cognition</a:t>
                      </a:r>
                    </a:p>
                  </a:txBody>
                  <a:tcPr marL="54864" marR="54864" marT="27432" marB="27432" anchor="ctr">
                    <a:solidFill>
                      <a:srgbClr val="F1E8F5"/>
                    </a:solidFill>
                  </a:tcPr>
                </a:tc>
              </a:tr>
              <a:tr h="525780">
                <a:tc>
                  <a:txBody>
                    <a:bodyPr wrap="square"/>
                    <a:lstStyle/>
                    <a:p>
                      <a:r>
                        <a:rPr sz="1200" b="1" i="0">
                          <a:solidFill>
                            <a:srgbClr val="1A1A1A"/>
                          </a:solidFill>
                          <a:latin typeface="Calibri"/>
                        </a:rPr>
                        <a:t>Online code test</a:t>
                      </a:r>
                    </a:p>
                  </a:txBody>
                  <a:tcPr marL="54864" marR="54864" marT="27432" marB="27432" anchor="ctr">
                    <a:solidFill>
                      <a:srgbClr val="FFFFFF"/>
                    </a:solidFill>
                  </a:tcPr>
                </a:tc>
                <a:tc>
                  <a:txBody>
                    <a:bodyPr wrap="square"/>
                    <a:lstStyle/>
                    <a:p>
                      <a:r>
                        <a:rPr sz="1200" b="0" i="0">
                          <a:solidFill>
                            <a:srgbClr val="1A1A1A"/>
                          </a:solidFill>
                          <a:latin typeface="Calibri"/>
                        </a:rPr>
                        <a:t>Fairly objective ✔</a:t>
                      </a:r>
                    </a:p>
                  </a:txBody>
                  <a:tcPr marL="54864" marR="54864" marT="27432" marB="27432" anchor="ctr">
                    <a:solidFill>
                      <a:srgbClr val="FFFFFF"/>
                    </a:solidFill>
                  </a:tcPr>
                </a:tc>
              </a:tr>
              <a:tr h="525780">
                <a:tc>
                  <a:txBody>
                    <a:bodyPr wrap="square"/>
                    <a:lstStyle/>
                    <a:p>
                      <a:r>
                        <a:rPr sz="1200" b="1" i="0">
                          <a:solidFill>
                            <a:srgbClr val="1A1A1A"/>
                          </a:solidFill>
                          <a:latin typeface="Calibri"/>
                        </a:rPr>
                        <a:t>Recruiter 1–3 score on coursework</a:t>
                      </a:r>
                    </a:p>
                  </a:txBody>
                  <a:tcPr marL="54864" marR="54864" marT="27432" marB="27432" anchor="ctr">
                    <a:solidFill>
                      <a:srgbClr val="F1E8F5"/>
                    </a:solidFill>
                  </a:tcPr>
                </a:tc>
                <a:tc>
                  <a:txBody>
                    <a:bodyPr wrap="square"/>
                    <a:lstStyle/>
                    <a:p>
                      <a:r>
                        <a:rPr sz="1200" b="0" i="0">
                          <a:solidFill>
                            <a:srgbClr val="1A1A1A"/>
                          </a:solidFill>
                          <a:latin typeface="Calibri"/>
                        </a:rPr>
                        <a:t>Subjective, halo</a:t>
                      </a:r>
                    </a:p>
                  </a:txBody>
                  <a:tcPr marL="54864" marR="54864" marT="27432" marB="27432" anchor="ctr">
                    <a:solidFill>
                      <a:srgbClr val="F1E8F5"/>
                    </a:solidFill>
                  </a:tcPr>
                </a:tc>
              </a:tr>
              <a:tr h="525780">
                <a:tc>
                  <a:txBody>
                    <a:bodyPr wrap="square"/>
                    <a:lstStyle/>
                    <a:p>
                      <a:r>
                        <a:rPr sz="1200" b="1" i="0">
                          <a:solidFill>
                            <a:srgbClr val="1A1A1A"/>
                          </a:solidFill>
                          <a:latin typeface="Calibri"/>
                        </a:rPr>
                        <a:t>45-min Skype audio + coding</a:t>
                      </a:r>
                    </a:p>
                  </a:txBody>
                  <a:tcPr marL="54864" marR="54864" marT="27432" marB="27432" anchor="ctr">
                    <a:solidFill>
                      <a:srgbClr val="FFFFFF"/>
                    </a:solidFill>
                  </a:tcPr>
                </a:tc>
                <a:tc>
                  <a:txBody>
                    <a:bodyPr wrap="square"/>
                    <a:lstStyle/>
                    <a:p>
                      <a:r>
                        <a:rPr sz="1200" b="0" i="0">
                          <a:solidFill>
                            <a:srgbClr val="1A1A1A"/>
                          </a:solidFill>
                          <a:latin typeface="Calibri"/>
                        </a:rPr>
                        <a:t>Voice reveals gender; unstructured</a:t>
                      </a:r>
                    </a:p>
                  </a:txBody>
                  <a:tcPr marL="54864" marR="54864" marT="27432" marB="27432" anchor="ctr">
                    <a:solidFill>
                      <a:srgbClr val="FFFFFF"/>
                    </a:solidFill>
                  </a:tcPr>
                </a:tc>
              </a:tr>
              <a:tr h="525780">
                <a:tc>
                  <a:txBody>
                    <a:bodyPr wrap="square"/>
                    <a:lstStyle/>
                    <a:p>
                      <a:r>
                        <a:rPr sz="1200" b="1" i="0">
                          <a:solidFill>
                            <a:srgbClr val="1A1A1A"/>
                          </a:solidFill>
                          <a:latin typeface="Calibri"/>
                        </a:rPr>
                        <a:t>4 onsite interviews ('culture fit')</a:t>
                      </a:r>
                    </a:p>
                  </a:txBody>
                  <a:tcPr marL="54864" marR="54864" marT="27432" marB="27432" anchor="ctr">
                    <a:solidFill>
                      <a:srgbClr val="F1E8F5"/>
                    </a:solidFill>
                  </a:tcPr>
                </a:tc>
                <a:tc>
                  <a:txBody>
                    <a:bodyPr wrap="square"/>
                    <a:lstStyle/>
                    <a:p>
                      <a:r>
                        <a:rPr sz="1200" b="0" i="0">
                          <a:solidFill>
                            <a:srgbClr val="1A1A1A"/>
                          </a:solidFill>
                          <a:latin typeface="Calibri"/>
                        </a:rPr>
                        <a:t>Uncoordinated, similar-to-me bias</a:t>
                      </a:r>
                    </a:p>
                  </a:txBody>
                  <a:tcPr marL="54864" marR="54864" marT="27432" marB="27432" anchor="ctr">
                    <a:solidFill>
                      <a:srgbClr val="F1E8F5"/>
                    </a:solidFill>
                  </a:tcPr>
                </a:tc>
              </a:tr>
              <a:tr h="525780">
                <a:tc>
                  <a:txBody>
                    <a:bodyPr wrap="square"/>
                    <a:lstStyle/>
                    <a:p>
                      <a:r>
                        <a:rPr sz="1200" b="1" i="0">
                          <a:solidFill>
                            <a:srgbClr val="1A1A1A"/>
                          </a:solidFill>
                          <a:latin typeface="Calibri"/>
                        </a:rPr>
                        <a:t>'Stoppelgangers' decide disagreements</a:t>
                      </a:r>
                    </a:p>
                  </a:txBody>
                  <a:tcPr marL="54864" marR="54864" marT="27432" marB="27432" anchor="ctr">
                    <a:solidFill>
                      <a:srgbClr val="FFFFFF"/>
                    </a:solidFill>
                  </a:tcPr>
                </a:tc>
                <a:tc>
                  <a:txBody>
                    <a:bodyPr wrap="square"/>
                    <a:lstStyle/>
                    <a:p>
                      <a:r>
                        <a:rPr sz="1200" b="0" i="0">
                          <a:solidFill>
                            <a:srgbClr val="1A1A1A"/>
                          </a:solidFill>
                          <a:latin typeface="Calibri"/>
                        </a:rPr>
                        <a:t>Clones of one leader's judgement</a:t>
                      </a:r>
                    </a:p>
                  </a:txBody>
                  <a:tcPr marL="54864" marR="54864" marT="27432" marB="27432" anchor="ctr">
                    <a:solidFill>
                      <a:srgbClr val="FFFFFF"/>
                    </a:solidFill>
                  </a:tcPr>
                </a:tc>
              </a:tr>
            </a:tbl>
          </a:graphicData>
        </a:graphic>
      </p:graphicFrame>
      <p:sp>
        <p:nvSpPr>
          <p:cNvPr id="13" name="Rounded Rectangle 12"/>
          <p:cNvSpPr/>
          <p:nvPr/>
        </p:nvSpPr>
        <p:spPr>
          <a:xfrm>
            <a:off x="8595360" y="1051560"/>
            <a:ext cx="3337560" cy="4206240"/>
          </a:xfrm>
          <a:prstGeom prst="roundRect">
            <a:avLst>
              <a:gd name="adj" fmla="val 6000"/>
            </a:avLst>
          </a:prstGeom>
          <a:solidFill>
            <a:srgbClr val="FFFFFF"/>
          </a:solidFill>
          <a:ln w="19050">
            <a:solidFill>
              <a:srgbClr val="C39A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595360" y="1051560"/>
            <a:ext cx="3337560" cy="457200"/>
          </a:xfrm>
          <a:prstGeom prst="roundRect">
            <a:avLst>
              <a:gd name="adj" fmla="val 6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595360" y="1371600"/>
            <a:ext cx="3337560" cy="137160"/>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0" y="1051560"/>
            <a:ext cx="3154679" cy="457200"/>
          </a:xfrm>
          <a:prstGeom prst="rect">
            <a:avLst/>
          </a:prstGeom>
          <a:noFill/>
        </p:spPr>
        <p:txBody>
          <a:bodyPr wrap="square" anchor="ctr" lIns="45720" rIns="45720" tIns="18288" bIns="18288"/>
          <a:lstStyle/>
          <a:p>
            <a:pPr algn="l"/>
            <a:r>
              <a:rPr sz="1900" b="1" i="0">
                <a:solidFill>
                  <a:srgbClr val="FFFFFF"/>
                </a:solidFill>
                <a:latin typeface="Calibri"/>
              </a:rPr>
              <a:t>Rachel's options</a:t>
            </a:r>
          </a:p>
        </p:txBody>
      </p:sp>
      <p:sp>
        <p:nvSpPr>
          <p:cNvPr id="17" name="TextBox 16"/>
          <p:cNvSpPr txBox="1"/>
          <p:nvPr/>
        </p:nvSpPr>
        <p:spPr>
          <a:xfrm>
            <a:off x="8668512" y="1563624"/>
            <a:ext cx="3191256" cy="3657599"/>
          </a:xfrm>
          <a:prstGeom prst="rect">
            <a:avLst/>
          </a:prstGeom>
          <a:noFill/>
        </p:spPr>
        <p:txBody>
          <a:bodyPr wrap="square" anchor="t" lIns="54864" rIns="54864" tIns="27432" bIns="27432"/>
          <a:lstStyle/>
          <a:p>
            <a:pPr>
              <a:spcAft>
                <a:spcPts val="300"/>
              </a:spcAft>
            </a:pPr>
            <a:r>
              <a:rPr sz="1900" b="1" i="0">
                <a:solidFill>
                  <a:srgbClr val="1A1A1A"/>
                </a:solidFill>
                <a:latin typeface="Calibri"/>
              </a:rPr>
              <a:t>• </a:t>
            </a:r>
            <a:r>
              <a:rPr sz="1900" b="0" i="0">
                <a:solidFill>
                  <a:srgbClr val="1A1A1A"/>
                </a:solidFill>
                <a:latin typeface="Calibri"/>
              </a:rPr>
              <a:t>Listening tour (2 months): fears of being seen differently, not being 'full selves'</a:t>
            </a:r>
          </a:p>
          <a:p>
            <a:pPr>
              <a:spcAft>
                <a:spcPts val="300"/>
              </a:spcAft>
            </a:pPr>
            <a:r>
              <a:rPr sz="1900" b="1" i="0">
                <a:solidFill>
                  <a:srgbClr val="1A1A1A"/>
                </a:solidFill>
                <a:latin typeface="Calibri"/>
              </a:rPr>
              <a:t>• </a:t>
            </a:r>
            <a:r>
              <a:rPr sz="1900" b="0" i="0">
                <a:solidFill>
                  <a:srgbClr val="1A1A1A"/>
                </a:solidFill>
                <a:latin typeface="Calibri"/>
              </a:rPr>
              <a:t>Revamp rookie hiring · diversity targets/quotas · </a:t>
            </a:r>
            <a:r>
              <a:rPr sz="1900" b="1" i="0">
                <a:solidFill>
                  <a:srgbClr val="1A1A1A"/>
                </a:solidFill>
                <a:latin typeface="Calibri"/>
              </a:rPr>
              <a:t>blind résumés</a:t>
            </a:r>
            <a:r>
              <a:rPr sz="1900" b="0" i="0">
                <a:solidFill>
                  <a:srgbClr val="1A1A1A"/>
                </a:solidFill>
                <a:latin typeface="Calibri"/>
              </a:rPr>
              <a:t> · voice-changing phone screens</a:t>
            </a:r>
          </a:p>
          <a:p>
            <a:pPr>
              <a:spcAft>
                <a:spcPts val="300"/>
              </a:spcAft>
            </a:pPr>
            <a:r>
              <a:rPr sz="1900" b="1" i="0">
                <a:solidFill>
                  <a:srgbClr val="1A1A1A"/>
                </a:solidFill>
                <a:latin typeface="Calibri"/>
              </a:rPr>
              <a:t>• </a:t>
            </a:r>
            <a:r>
              <a:rPr sz="1900" b="0" i="0">
                <a:solidFill>
                  <a:srgbClr val="1A1A1A"/>
                </a:solidFill>
                <a:latin typeface="Calibri"/>
              </a:rPr>
              <a:t>Promote/hire diverse seniors</a:t>
            </a:r>
          </a:p>
          <a:p>
            <a:pPr>
              <a:spcAft>
                <a:spcPts val="300"/>
              </a:spcAft>
            </a:pPr>
            <a:r>
              <a:rPr sz="1900" b="1" i="0">
                <a:solidFill>
                  <a:srgbClr val="1A1A1A"/>
                </a:solidFill>
                <a:latin typeface="Calibri"/>
              </a:rPr>
              <a:t>• </a:t>
            </a:r>
            <a:r>
              <a:rPr sz="1900" b="0" i="0">
                <a:solidFill>
                  <a:srgbClr val="1A1A1A"/>
                </a:solidFill>
                <a:latin typeface="Calibri"/>
              </a:rPr>
              <a:t>Affinity groups · bias training</a:t>
            </a:r>
          </a:p>
        </p:txBody>
      </p:sp>
      <p:sp>
        <p:nvSpPr>
          <p:cNvPr id="18" name="Rounded Rectangle 17"/>
          <p:cNvSpPr/>
          <p:nvPr/>
        </p:nvSpPr>
        <p:spPr>
          <a:xfrm>
            <a:off x="274320" y="4297680"/>
            <a:ext cx="3840480" cy="2240280"/>
          </a:xfrm>
          <a:prstGeom prst="roundRect">
            <a:avLst>
              <a:gd name="adj" fmla="val 6000"/>
            </a:avLst>
          </a:prstGeom>
          <a:solidFill>
            <a:srgbClr val="FFFFFF"/>
          </a:solidFill>
          <a:ln w="19050">
            <a:solidFill>
              <a:srgbClr val="C39A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74320" y="4297680"/>
            <a:ext cx="3840480" cy="457200"/>
          </a:xfrm>
          <a:prstGeom prst="roundRect">
            <a:avLst>
              <a:gd name="adj" fmla="val 6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74320" y="4617720"/>
            <a:ext cx="3840480" cy="137160"/>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4297680"/>
            <a:ext cx="3657600" cy="457200"/>
          </a:xfrm>
          <a:prstGeom prst="rect">
            <a:avLst/>
          </a:prstGeom>
          <a:noFill/>
        </p:spPr>
        <p:txBody>
          <a:bodyPr wrap="square" anchor="ctr" lIns="45720" rIns="45720" tIns="18288" bIns="18288"/>
          <a:lstStyle/>
          <a:p>
            <a:pPr algn="l"/>
            <a:r>
              <a:rPr sz="1900" b="1" i="0">
                <a:solidFill>
                  <a:srgbClr val="FFFFFF"/>
                </a:solidFill>
                <a:latin typeface="Calibri"/>
              </a:rPr>
              <a:t>OB diagnosis</a:t>
            </a:r>
          </a:p>
        </p:txBody>
      </p:sp>
      <p:sp>
        <p:nvSpPr>
          <p:cNvPr id="22" name="TextBox 21"/>
          <p:cNvSpPr txBox="1"/>
          <p:nvPr/>
        </p:nvSpPr>
        <p:spPr>
          <a:xfrm>
            <a:off x="347472" y="4809744"/>
            <a:ext cx="3694176" cy="1691640"/>
          </a:xfrm>
          <a:prstGeom prst="rect">
            <a:avLst/>
          </a:prstGeom>
          <a:noFill/>
        </p:spPr>
        <p:txBody>
          <a:bodyPr wrap="square" anchor="t" lIns="54864" rIns="54864" tIns="27432" bIns="27432"/>
          <a:lstStyle/>
          <a:p>
            <a:pPr>
              <a:spcAft>
                <a:spcPts val="300"/>
              </a:spcAft>
            </a:pPr>
            <a:r>
              <a:rPr sz="1700" b="1" i="0">
                <a:solidFill>
                  <a:srgbClr val="1A1A1A"/>
                </a:solidFill>
                <a:latin typeface="Calibri"/>
              </a:rPr>
              <a:t>• </a:t>
            </a:r>
            <a:r>
              <a:rPr sz="1700" b="0" i="0">
                <a:solidFill>
                  <a:srgbClr val="1A1A1A"/>
                </a:solidFill>
                <a:latin typeface="Calibri"/>
              </a:rPr>
              <a:t>Stereotypes + implicit cognition in unstructured, 'fit'-based stages; homogeneous decision makers</a:t>
            </a:r>
          </a:p>
          <a:p>
            <a:pPr>
              <a:spcAft>
                <a:spcPts val="300"/>
              </a:spcAft>
            </a:pPr>
            <a:r>
              <a:rPr sz="1700" b="1" i="0">
                <a:solidFill>
                  <a:srgbClr val="1A1A1A"/>
                </a:solidFill>
                <a:latin typeface="Calibri"/>
              </a:rPr>
              <a:t>• </a:t>
            </a:r>
            <a:r>
              <a:rPr sz="1700" b="0" i="0">
                <a:solidFill>
                  <a:srgbClr val="1A1A1A"/>
                </a:solidFill>
                <a:latin typeface="Calibri"/>
              </a:rPr>
              <a:t>Diversity ≠ inclusion: employees not psychologically safe</a:t>
            </a:r>
          </a:p>
        </p:txBody>
      </p:sp>
      <p:sp>
        <p:nvSpPr>
          <p:cNvPr id="23" name="Rounded Rectangle 22"/>
          <p:cNvSpPr/>
          <p:nvPr/>
        </p:nvSpPr>
        <p:spPr>
          <a:xfrm>
            <a:off x="4251960" y="5394960"/>
            <a:ext cx="7680960" cy="1143000"/>
          </a:xfrm>
          <a:prstGeom prst="roundRect">
            <a:avLst>
              <a:gd name="adj" fmla="val 6000"/>
            </a:avLst>
          </a:prstGeom>
          <a:solidFill>
            <a:srgbClr val="FFF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43400" y="5413248"/>
            <a:ext cx="7498080" cy="1106424"/>
          </a:xfrm>
          <a:prstGeom prst="rect">
            <a:avLst/>
          </a:prstGeom>
          <a:noFill/>
        </p:spPr>
        <p:txBody>
          <a:bodyPr wrap="square" anchor="ctr" lIns="45720" rIns="45720" tIns="18288" bIns="18288"/>
          <a:lstStyle/>
          <a:p>
            <a:pPr algn="l"/>
            <a:r>
              <a:rPr sz="1400" b="1" i="0">
                <a:solidFill>
                  <a:srgbClr val="1A1A1A"/>
                </a:solidFill>
                <a:latin typeface="Calibri"/>
              </a:rPr>
              <a:t>Recommend: structured interviews with rubrics + diverse panels; blind early screens; widen campus list; replace 'culture fit' with 'culture add'; ERGs &amp; inclusion training; track funnel data by stage; make the business case (talent, product for diverse users). Debate quotas (fairness perceptions!).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600" b="1" i="0">
                <a:solidFill>
                  <a:srgbClr val="FFFFFF"/>
                </a:solidFill>
                <a:latin typeface="Calibri"/>
              </a:rPr>
              <a:t>MODULE 4: Foundations of employee motivation: what &amp; why</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F5D1C0"/>
                </a:solidFill>
                <a:latin typeface="Calibri"/>
              </a:rPr>
              <a:t>MODULE 4 · EMPLOYEE MOTIVATION</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Ch 5 pp. 165–168 · Motivation PPT</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39</a:t>
            </a:r>
          </a:p>
        </p:txBody>
      </p:sp>
      <p:sp>
        <p:nvSpPr>
          <p:cNvPr id="7" name="Rounded Rectangle 6"/>
          <p:cNvSpPr/>
          <p:nvPr/>
        </p:nvSpPr>
        <p:spPr>
          <a:xfrm>
            <a:off x="274320" y="1051560"/>
            <a:ext cx="11658600" cy="731520"/>
          </a:xfrm>
          <a:prstGeom prst="roundRect">
            <a:avLst>
              <a:gd name="adj" fmla="val 6000"/>
            </a:avLst>
          </a:prstGeom>
          <a:solidFill>
            <a:srgbClr val="FFF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69848"/>
            <a:ext cx="11475720" cy="694944"/>
          </a:xfrm>
          <a:prstGeom prst="rect">
            <a:avLst/>
          </a:prstGeom>
          <a:noFill/>
        </p:spPr>
        <p:txBody>
          <a:bodyPr wrap="square" anchor="ctr" lIns="45720" rIns="45720" tIns="18288" bIns="18288"/>
          <a:lstStyle/>
          <a:p>
            <a:pPr algn="l"/>
            <a:r>
              <a:rPr sz="1600" b="1" i="0">
                <a:solidFill>
                  <a:srgbClr val="1A1A1A"/>
                </a:solidFill>
                <a:latin typeface="Calibri"/>
              </a:rPr>
              <a:t>Motivation = psychological processes that underlie the DIRECTION, INTENSITY and PERSISTENCE of behaviour or thought (Latin movere = to move). Session question: 'Do motivation theories accurately explain motivation in real organisations?'</a:t>
            </a:r>
          </a:p>
        </p:txBody>
      </p:sp>
      <p:sp>
        <p:nvSpPr>
          <p:cNvPr id="9" name="Rounded Rectangle 8"/>
          <p:cNvSpPr/>
          <p:nvPr/>
        </p:nvSpPr>
        <p:spPr>
          <a:xfrm>
            <a:off x="274320" y="1920240"/>
            <a:ext cx="2468880" cy="141732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900" b="1" i="0">
                <a:solidFill>
                  <a:srgbClr val="FFFFFF"/>
                </a:solidFill>
                <a:latin typeface="Calibri"/>
              </a:rPr>
              <a:t>DIRECTION</a:t>
            </a:r>
          </a:p>
          <a:p>
            <a:pPr algn="ctr"/>
            <a:r>
              <a:rPr sz="1600" b="0" i="0">
                <a:solidFill>
                  <a:srgbClr val="FFFFFF"/>
                </a:solidFill>
                <a:latin typeface="Calibri"/>
              </a:rPr>
              <a:t>What is the employee focusing on? (customer problem vs social media)</a:t>
            </a:r>
          </a:p>
        </p:txBody>
      </p:sp>
      <p:sp>
        <p:nvSpPr>
          <p:cNvPr id="10" name="Rounded Rectangle 9"/>
          <p:cNvSpPr/>
          <p:nvPr/>
        </p:nvSpPr>
        <p:spPr>
          <a:xfrm>
            <a:off x="2880360" y="1920240"/>
            <a:ext cx="2468880" cy="1417320"/>
          </a:xfrm>
          <a:prstGeom prst="roundRect">
            <a:avLst>
              <a:gd name="adj" fmla="val 6000"/>
            </a:avLst>
          </a:prstGeom>
          <a:solidFill>
            <a:srgbClr val="DF6A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900" b="1" i="0">
                <a:solidFill>
                  <a:srgbClr val="FFFFFF"/>
                </a:solidFill>
                <a:latin typeface="Calibri"/>
              </a:rPr>
              <a:t>INTENSITY</a:t>
            </a:r>
          </a:p>
          <a:p>
            <a:pPr algn="ctr"/>
            <a:r>
              <a:rPr sz="1600" b="0" i="0">
                <a:solidFill>
                  <a:srgbClr val="FFFFFF"/>
                </a:solidFill>
                <a:latin typeface="Calibri"/>
              </a:rPr>
              <a:t>How much effort? (energy on a complex complaint)</a:t>
            </a:r>
          </a:p>
        </p:txBody>
      </p:sp>
      <p:sp>
        <p:nvSpPr>
          <p:cNvPr id="11" name="Rounded Rectangle 10"/>
          <p:cNvSpPr/>
          <p:nvPr/>
        </p:nvSpPr>
        <p:spPr>
          <a:xfrm>
            <a:off x="5486400" y="1920240"/>
            <a:ext cx="2468880" cy="1417320"/>
          </a:xfrm>
          <a:prstGeom prst="roundRect">
            <a:avLst>
              <a:gd name="adj" fmla="val 6000"/>
            </a:avLst>
          </a:prstGeom>
          <a:solidFill>
            <a:srgbClr val="E68B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900" b="1" i="0">
                <a:solidFill>
                  <a:srgbClr val="FFFFFF"/>
                </a:solidFill>
                <a:latin typeface="Calibri"/>
              </a:rPr>
              <a:t>PERSISTENCE</a:t>
            </a:r>
          </a:p>
          <a:p>
            <a:pPr algn="ctr"/>
            <a:r>
              <a:rPr sz="1600" b="0" i="0">
                <a:solidFill>
                  <a:srgbClr val="FFFFFF"/>
                </a:solidFill>
                <a:latin typeface="Calibri"/>
              </a:rPr>
              <a:t>How long does effort continue? (re-testing a software fix)</a:t>
            </a:r>
          </a:p>
        </p:txBody>
      </p:sp>
      <p:sp>
        <p:nvSpPr>
          <p:cNvPr id="12" name="Rounded Rectangle 11"/>
          <p:cNvSpPr/>
          <p:nvPr/>
        </p:nvSpPr>
        <p:spPr>
          <a:xfrm>
            <a:off x="8092440" y="1920240"/>
            <a:ext cx="3840480" cy="2377440"/>
          </a:xfrm>
          <a:prstGeom prst="roundRect">
            <a:avLst>
              <a:gd name="adj" fmla="val 6000"/>
            </a:avLst>
          </a:prstGeom>
          <a:solidFill>
            <a:srgbClr val="FFFFFF"/>
          </a:solidFill>
          <a:ln w="19050">
            <a:solidFill>
              <a:srgbClr val="EDA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092440" y="1920240"/>
            <a:ext cx="3840480" cy="45720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92440" y="2240280"/>
            <a:ext cx="3840480" cy="137160"/>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83879" y="1920240"/>
            <a:ext cx="3657600" cy="457200"/>
          </a:xfrm>
          <a:prstGeom prst="rect">
            <a:avLst/>
          </a:prstGeom>
          <a:noFill/>
        </p:spPr>
        <p:txBody>
          <a:bodyPr wrap="square" anchor="ctr" lIns="45720" rIns="45720" tIns="18288" bIns="18288"/>
          <a:lstStyle/>
          <a:p>
            <a:pPr algn="l"/>
            <a:r>
              <a:rPr sz="1700" b="1" i="0">
                <a:solidFill>
                  <a:srgbClr val="FFFFFF"/>
                </a:solidFill>
                <a:latin typeface="Calibri"/>
              </a:rPr>
              <a:t>Intrinsic vs extrinsic (p. 167)</a:t>
            </a:r>
          </a:p>
        </p:txBody>
      </p:sp>
      <p:sp>
        <p:nvSpPr>
          <p:cNvPr id="16" name="TextBox 15"/>
          <p:cNvSpPr txBox="1"/>
          <p:nvPr/>
        </p:nvSpPr>
        <p:spPr>
          <a:xfrm>
            <a:off x="8165592" y="2432304"/>
            <a:ext cx="3694176" cy="1828800"/>
          </a:xfrm>
          <a:prstGeom prst="rect">
            <a:avLst/>
          </a:prstGeom>
          <a:noFill/>
        </p:spPr>
        <p:txBody>
          <a:bodyPr wrap="square" anchor="t" lIns="54864" rIns="54864" tIns="27432" bIns="27432"/>
          <a:lstStyle/>
          <a:p>
            <a:pPr>
              <a:spcAft>
                <a:spcPts val="300"/>
              </a:spcAft>
            </a:pPr>
            <a:r>
              <a:rPr sz="1300" b="1" i="0">
                <a:solidFill>
                  <a:srgbClr val="1A1A1A"/>
                </a:solidFill>
                <a:latin typeface="Calibri"/>
              </a:rPr>
              <a:t>• </a:t>
            </a:r>
            <a:r>
              <a:rPr sz="1300" b="1" i="0">
                <a:solidFill>
                  <a:srgbClr val="1A1A1A"/>
                </a:solidFill>
                <a:latin typeface="Calibri"/>
              </a:rPr>
              <a:t>Extrinsic</a:t>
            </a:r>
            <a:r>
              <a:rPr sz="1300" b="0" i="0">
                <a:solidFill>
                  <a:srgbClr val="1A1A1A"/>
                </a:solidFill>
                <a:latin typeface="Calibri"/>
              </a:rPr>
              <a:t>: external rewards (money, recognition, promotion). Southwest: $544M profit-sharing (~10.8% pay), 45 yrs running</a:t>
            </a:r>
          </a:p>
          <a:p>
            <a:pPr>
              <a:spcAft>
                <a:spcPts val="300"/>
              </a:spcAft>
            </a:pPr>
            <a:r>
              <a:rPr sz="1300" b="1" i="0">
                <a:solidFill>
                  <a:srgbClr val="1A1A1A"/>
                </a:solidFill>
                <a:latin typeface="Calibri"/>
              </a:rPr>
              <a:t>• </a:t>
            </a:r>
            <a:r>
              <a:rPr sz="1300" b="1" i="0">
                <a:solidFill>
                  <a:srgbClr val="1A1A1A"/>
                </a:solidFill>
                <a:latin typeface="Calibri"/>
              </a:rPr>
              <a:t>Intrinsic</a:t>
            </a:r>
            <a:r>
              <a:rPr sz="1300" b="0" i="0">
                <a:solidFill>
                  <a:srgbClr val="1A1A1A"/>
                </a:solidFill>
                <a:latin typeface="Calibri"/>
              </a:rPr>
              <a:t>: positive internal feelings from doing well (mastery, meaning, pride). Taft shoes founders</a:t>
            </a:r>
          </a:p>
          <a:p>
            <a:pPr>
              <a:spcAft>
                <a:spcPts val="300"/>
              </a:spcAft>
            </a:pPr>
            <a:r>
              <a:rPr sz="1300" b="1" i="0">
                <a:solidFill>
                  <a:srgbClr val="1A1A1A"/>
                </a:solidFill>
                <a:latin typeface="Calibri"/>
              </a:rPr>
              <a:t>• </a:t>
            </a:r>
            <a:r>
              <a:rPr sz="1300" b="0" i="0">
                <a:solidFill>
                  <a:srgbClr val="1A1A1A"/>
                </a:solidFill>
                <a:latin typeface="Calibri"/>
              </a:rPr>
              <a:t>Risk: extrinsic can narrow focus / crowd out interest</a:t>
            </a:r>
          </a:p>
        </p:txBody>
      </p:sp>
      <p:sp>
        <p:nvSpPr>
          <p:cNvPr id="17" name="Rounded Rectangle 16"/>
          <p:cNvSpPr/>
          <p:nvPr/>
        </p:nvSpPr>
        <p:spPr>
          <a:xfrm>
            <a:off x="274320" y="3474720"/>
            <a:ext cx="3840480" cy="3063240"/>
          </a:xfrm>
          <a:prstGeom prst="roundRect">
            <a:avLst>
              <a:gd name="adj" fmla="val 6000"/>
            </a:avLst>
          </a:prstGeom>
          <a:solidFill>
            <a:srgbClr val="FFFFFF"/>
          </a:solidFill>
          <a:ln w="19050">
            <a:solidFill>
              <a:srgbClr val="EDA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74320" y="3474720"/>
            <a:ext cx="3840480" cy="45720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4320" y="3794759"/>
            <a:ext cx="3840480" cy="137160"/>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3474720"/>
            <a:ext cx="3657600" cy="457200"/>
          </a:xfrm>
          <a:prstGeom prst="rect">
            <a:avLst/>
          </a:prstGeom>
          <a:noFill/>
        </p:spPr>
        <p:txBody>
          <a:bodyPr wrap="square" anchor="ctr" lIns="45720" rIns="45720" tIns="18288" bIns="18288"/>
          <a:lstStyle/>
          <a:p>
            <a:pPr algn="l"/>
            <a:r>
              <a:rPr sz="1400" b="1" i="0">
                <a:solidFill>
                  <a:srgbClr val="FFFFFF"/>
                </a:solidFill>
                <a:latin typeface="Calibri"/>
              </a:rPr>
              <a:t>Content vs process theories (p. 168)</a:t>
            </a:r>
          </a:p>
        </p:txBody>
      </p:sp>
      <p:sp>
        <p:nvSpPr>
          <p:cNvPr id="21" name="TextBox 20"/>
          <p:cNvSpPr txBox="1"/>
          <p:nvPr/>
        </p:nvSpPr>
        <p:spPr>
          <a:xfrm>
            <a:off x="347472" y="3986783"/>
            <a:ext cx="3694176" cy="2514600"/>
          </a:xfrm>
          <a:prstGeom prst="rect">
            <a:avLst/>
          </a:prstGeom>
          <a:noFill/>
        </p:spPr>
        <p:txBody>
          <a:bodyPr wrap="square" anchor="t" lIns="54864" rIns="54864" tIns="27432" bIns="27432"/>
          <a:lstStyle/>
          <a:p>
            <a:pPr>
              <a:spcAft>
                <a:spcPts val="300"/>
              </a:spcAft>
            </a:pPr>
            <a:r>
              <a:rPr sz="1700" b="1" i="0">
                <a:solidFill>
                  <a:srgbClr val="1A1A1A"/>
                </a:solidFill>
                <a:latin typeface="Calibri"/>
              </a:rPr>
              <a:t>• </a:t>
            </a:r>
            <a:r>
              <a:rPr sz="1700" b="1" i="0">
                <a:solidFill>
                  <a:srgbClr val="1A1A1A"/>
                </a:solidFill>
                <a:latin typeface="Calibri"/>
              </a:rPr>
              <a:t>Content</a:t>
            </a:r>
            <a:r>
              <a:rPr sz="1700" b="0" i="0">
                <a:solidFill>
                  <a:srgbClr val="1A1A1A"/>
                </a:solidFill>
                <a:latin typeface="Calibri"/>
              </a:rPr>
              <a:t> = WHAT internal needs energise us: Theory X/Y, Maslow, McClelland, SDT, Herzberg</a:t>
            </a:r>
          </a:p>
          <a:p>
            <a:pPr>
              <a:spcAft>
                <a:spcPts val="300"/>
              </a:spcAft>
            </a:pPr>
            <a:r>
              <a:rPr sz="1700" b="1" i="0">
                <a:solidFill>
                  <a:srgbClr val="1A1A1A"/>
                </a:solidFill>
                <a:latin typeface="Calibri"/>
              </a:rPr>
              <a:t>• </a:t>
            </a:r>
            <a:r>
              <a:rPr sz="1700" b="1" i="0">
                <a:solidFill>
                  <a:srgbClr val="1A1A1A"/>
                </a:solidFill>
                <a:latin typeface="Calibri"/>
              </a:rPr>
              <a:t>Process</a:t>
            </a:r>
            <a:r>
              <a:rPr sz="1700" b="0" i="0">
                <a:solidFill>
                  <a:srgbClr val="1A1A1A"/>
                </a:solidFill>
                <a:latin typeface="Calibri"/>
              </a:rPr>
              <a:t> = HOW person + situation factors shape effort choices: Equity/Justice, Expectancy, Goal-setting</a:t>
            </a:r>
          </a:p>
          <a:p>
            <a:pPr>
              <a:spcAft>
                <a:spcPts val="300"/>
              </a:spcAft>
            </a:pPr>
            <a:r>
              <a:rPr sz="1700" b="1" i="0">
                <a:solidFill>
                  <a:srgbClr val="1A1A1A"/>
                </a:solidFill>
                <a:latin typeface="Calibri"/>
              </a:rPr>
              <a:t>• </a:t>
            </a:r>
            <a:r>
              <a:rPr sz="1700" b="0" i="0">
                <a:solidFill>
                  <a:srgbClr val="1A1A1A"/>
                </a:solidFill>
                <a:latin typeface="Calibri"/>
              </a:rPr>
              <a:t>Plus </a:t>
            </a:r>
            <a:r>
              <a:rPr sz="1700" b="1" i="0">
                <a:solidFill>
                  <a:srgbClr val="1A1A1A"/>
                </a:solidFill>
                <a:latin typeface="Calibri"/>
              </a:rPr>
              <a:t>job design</a:t>
            </a:r>
            <a:r>
              <a:rPr sz="1700" b="0" i="0">
                <a:solidFill>
                  <a:srgbClr val="1A1A1A"/>
                </a:solidFill>
                <a:latin typeface="Calibri"/>
              </a:rPr>
              <a:t>: top-down, bottom-up, i-deals</a:t>
            </a:r>
          </a:p>
        </p:txBody>
      </p:sp>
      <p:sp>
        <p:nvSpPr>
          <p:cNvPr id="22" name="Rounded Rectangle 21"/>
          <p:cNvSpPr/>
          <p:nvPr/>
        </p:nvSpPr>
        <p:spPr>
          <a:xfrm>
            <a:off x="4251960" y="3474720"/>
            <a:ext cx="3703320" cy="3063240"/>
          </a:xfrm>
          <a:prstGeom prst="roundRect">
            <a:avLst>
              <a:gd name="adj" fmla="val 6000"/>
            </a:avLst>
          </a:prstGeom>
          <a:solidFill>
            <a:srgbClr val="FFFFFF"/>
          </a:solidFill>
          <a:ln w="19050">
            <a:solidFill>
              <a:srgbClr val="EDA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251960" y="3474720"/>
            <a:ext cx="3703320" cy="45720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251960" y="3794759"/>
            <a:ext cx="3703320" cy="137160"/>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43400" y="3474720"/>
            <a:ext cx="3520439" cy="457200"/>
          </a:xfrm>
          <a:prstGeom prst="rect">
            <a:avLst/>
          </a:prstGeom>
          <a:noFill/>
        </p:spPr>
        <p:txBody>
          <a:bodyPr wrap="square" anchor="ctr" lIns="45720" rIns="45720" tIns="18288" bIns="18288"/>
          <a:lstStyle/>
          <a:p>
            <a:pPr algn="l"/>
            <a:r>
              <a:rPr sz="1300" b="1" i="0">
                <a:solidFill>
                  <a:srgbClr val="FFFFFF"/>
                </a:solidFill>
                <a:latin typeface="Calibri"/>
              </a:rPr>
              <a:t>Mini-case: the reluctant analyst (PPT)</a:t>
            </a:r>
          </a:p>
        </p:txBody>
      </p:sp>
      <p:sp>
        <p:nvSpPr>
          <p:cNvPr id="26" name="TextBox 25"/>
          <p:cNvSpPr txBox="1"/>
          <p:nvPr/>
        </p:nvSpPr>
        <p:spPr>
          <a:xfrm>
            <a:off x="4325112" y="3986783"/>
            <a:ext cx="3557015" cy="2514600"/>
          </a:xfrm>
          <a:prstGeom prst="rect">
            <a:avLst/>
          </a:prstGeom>
          <a:noFill/>
        </p:spPr>
        <p:txBody>
          <a:bodyPr wrap="square" anchor="t" lIns="54864" rIns="54864" tIns="27432" bIns="27432"/>
          <a:lstStyle/>
          <a:p>
            <a:pPr>
              <a:spcAft>
                <a:spcPts val="300"/>
              </a:spcAft>
            </a:pPr>
            <a:r>
              <a:rPr sz="1800" b="1" i="0">
                <a:solidFill>
                  <a:srgbClr val="1A1A1A"/>
                </a:solidFill>
                <a:latin typeface="Calibri"/>
              </a:rPr>
              <a:t>• </a:t>
            </a:r>
            <a:r>
              <a:rPr sz="1800" b="0" i="0">
                <a:solidFill>
                  <a:srgbClr val="1A1A1A"/>
                </a:solidFill>
                <a:latin typeface="Calibri"/>
              </a:rPr>
              <a:t>Good salary, repetitive work, rare feedback, stopped volunteering</a:t>
            </a:r>
          </a:p>
          <a:p>
            <a:pPr>
              <a:spcAft>
                <a:spcPts val="300"/>
              </a:spcAft>
            </a:pPr>
            <a:r>
              <a:rPr sz="1800" b="1" i="0">
                <a:solidFill>
                  <a:srgbClr val="1A1A1A"/>
                </a:solidFill>
                <a:latin typeface="Calibri"/>
              </a:rPr>
              <a:t>• </a:t>
            </a:r>
            <a:r>
              <a:rPr sz="1800" b="0" i="0">
                <a:solidFill>
                  <a:srgbClr val="1A1A1A"/>
                </a:solidFill>
                <a:latin typeface="Calibri"/>
              </a:rPr>
              <a:t>Not 'lazy': </a:t>
            </a:r>
            <a:r>
              <a:rPr sz="1800" b="1" i="0">
                <a:solidFill>
                  <a:srgbClr val="1A1A1A"/>
                </a:solidFill>
                <a:latin typeface="Calibri"/>
              </a:rPr>
              <a:t>job design</a:t>
            </a:r>
            <a:r>
              <a:rPr sz="1800" b="0" i="0">
                <a:solidFill>
                  <a:srgbClr val="1A1A1A"/>
                </a:solidFill>
                <a:latin typeface="Calibri"/>
              </a:rPr>
              <a:t> (low variety, feedback) + intrinsic needs unmet</a:t>
            </a:r>
          </a:p>
          <a:p>
            <a:pPr>
              <a:spcAft>
                <a:spcPts val="300"/>
              </a:spcAft>
            </a:pPr>
            <a:r>
              <a:rPr sz="1800" b="1" i="0">
                <a:solidFill>
                  <a:srgbClr val="1A1A1A"/>
                </a:solidFill>
                <a:latin typeface="Calibri"/>
              </a:rPr>
              <a:t>• </a:t>
            </a:r>
            <a:r>
              <a:rPr sz="1800" b="0" i="0">
                <a:solidFill>
                  <a:srgbClr val="1A1A1A"/>
                </a:solidFill>
                <a:latin typeface="Calibri"/>
              </a:rPr>
              <a:t>Collect data before labelling; redesign job</a:t>
            </a:r>
          </a:p>
        </p:txBody>
      </p:sp>
      <p:sp>
        <p:nvSpPr>
          <p:cNvPr id="27" name="Rounded Rectangle 26"/>
          <p:cNvSpPr/>
          <p:nvPr/>
        </p:nvSpPr>
        <p:spPr>
          <a:xfrm>
            <a:off x="8092440" y="4434840"/>
            <a:ext cx="3840480" cy="2103120"/>
          </a:xfrm>
          <a:prstGeom prst="roundRect">
            <a:avLst>
              <a:gd name="adj" fmla="val 6000"/>
            </a:avLst>
          </a:prstGeom>
          <a:solidFill>
            <a:srgbClr val="FFFFFF"/>
          </a:solidFill>
          <a:ln w="19050">
            <a:solidFill>
              <a:srgbClr val="EDA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092440" y="4434840"/>
            <a:ext cx="3840480" cy="45720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92440" y="4754879"/>
            <a:ext cx="3840480" cy="137160"/>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83879" y="4434840"/>
            <a:ext cx="3657600" cy="457200"/>
          </a:xfrm>
          <a:prstGeom prst="rect">
            <a:avLst/>
          </a:prstGeom>
          <a:noFill/>
        </p:spPr>
        <p:txBody>
          <a:bodyPr wrap="square" anchor="ctr" lIns="45720" rIns="45720" tIns="18288" bIns="18288"/>
          <a:lstStyle/>
          <a:p>
            <a:pPr algn="l"/>
            <a:r>
              <a:rPr sz="1900" b="1" i="0">
                <a:solidFill>
                  <a:srgbClr val="FFFFFF"/>
                </a:solidFill>
                <a:latin typeface="Calibri"/>
              </a:rPr>
              <a:t>Golden rule (PPT slide 39)</a:t>
            </a:r>
          </a:p>
        </p:txBody>
      </p:sp>
      <p:sp>
        <p:nvSpPr>
          <p:cNvPr id="31" name="TextBox 30"/>
          <p:cNvSpPr txBox="1"/>
          <p:nvPr/>
        </p:nvSpPr>
        <p:spPr>
          <a:xfrm>
            <a:off x="8165592" y="4946903"/>
            <a:ext cx="3694176" cy="1554479"/>
          </a:xfrm>
          <a:prstGeom prst="rect">
            <a:avLst/>
          </a:prstGeom>
          <a:noFill/>
        </p:spPr>
        <p:txBody>
          <a:bodyPr wrap="square" anchor="t" lIns="54864" rIns="54864" tIns="27432" bIns="27432"/>
          <a:lstStyle/>
          <a:p>
            <a:pPr>
              <a:spcAft>
                <a:spcPts val="300"/>
              </a:spcAft>
            </a:pPr>
            <a:r>
              <a:rPr sz="1900" b="1" i="0">
                <a:solidFill>
                  <a:srgbClr val="1A1A1A"/>
                </a:solidFill>
                <a:latin typeface="Calibri"/>
              </a:rPr>
              <a:t>• </a:t>
            </a:r>
            <a:r>
              <a:rPr sz="1900" b="0" i="0">
                <a:solidFill>
                  <a:srgbClr val="1A1A1A"/>
                </a:solidFill>
                <a:latin typeface="Calibri"/>
              </a:rPr>
              <a:t>Don't label every performance problem as motivation: check expectations, ability, resources, fairness, job design first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200" b="1" i="0">
                <a:solidFill>
                  <a:srgbClr val="FFFFFF"/>
                </a:solidFill>
                <a:latin typeface="Calibri"/>
              </a:rPr>
              <a:t>5.2 Content theories I: McGregor's Theory X/Y &amp; Maslow's hierarchy</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F5D1C0"/>
                </a:solidFill>
                <a:latin typeface="Calibri"/>
              </a:rPr>
              <a:t>MODULE 4 · EMPLOYEE MOTIVATION</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Ch 5 pp. 169–170</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40</a:t>
            </a:r>
          </a:p>
        </p:txBody>
      </p:sp>
      <p:sp>
        <p:nvSpPr>
          <p:cNvPr id="7" name="Rounded Rectangle 6"/>
          <p:cNvSpPr/>
          <p:nvPr/>
        </p:nvSpPr>
        <p:spPr>
          <a:xfrm>
            <a:off x="274320" y="1051560"/>
            <a:ext cx="3931920" cy="2743200"/>
          </a:xfrm>
          <a:prstGeom prst="roundRect">
            <a:avLst>
              <a:gd name="adj" fmla="val 6000"/>
            </a:avLst>
          </a:prstGeom>
          <a:solidFill>
            <a:srgbClr val="FFFFFF"/>
          </a:solidFill>
          <a:ln w="19050">
            <a:solidFill>
              <a:srgbClr val="EDA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74320" y="1051560"/>
            <a:ext cx="3931920" cy="45720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371600"/>
            <a:ext cx="3931920" cy="137160"/>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051560"/>
            <a:ext cx="3749039" cy="457200"/>
          </a:xfrm>
          <a:prstGeom prst="rect">
            <a:avLst/>
          </a:prstGeom>
          <a:noFill/>
        </p:spPr>
        <p:txBody>
          <a:bodyPr wrap="square" anchor="ctr" lIns="45720" rIns="45720" tIns="18288" bIns="18288"/>
          <a:lstStyle/>
          <a:p>
            <a:pPr algn="l"/>
            <a:r>
              <a:rPr sz="1900" b="1" i="0">
                <a:solidFill>
                  <a:srgbClr val="FFFFFF"/>
                </a:solidFill>
                <a:latin typeface="Calibri"/>
              </a:rPr>
              <a:t>Theory X (pessimistic)</a:t>
            </a:r>
          </a:p>
        </p:txBody>
      </p:sp>
      <p:sp>
        <p:nvSpPr>
          <p:cNvPr id="11" name="TextBox 10"/>
          <p:cNvSpPr txBox="1"/>
          <p:nvPr/>
        </p:nvSpPr>
        <p:spPr>
          <a:xfrm>
            <a:off x="347472" y="1563624"/>
            <a:ext cx="3785615" cy="2194560"/>
          </a:xfrm>
          <a:prstGeom prst="rect">
            <a:avLst/>
          </a:prstGeom>
          <a:noFill/>
        </p:spPr>
        <p:txBody>
          <a:bodyPr wrap="square" anchor="t" lIns="54864" rIns="54864" tIns="27432" bIns="27432"/>
          <a:lstStyle/>
          <a:p>
            <a:pPr>
              <a:spcAft>
                <a:spcPts val="300"/>
              </a:spcAft>
            </a:pPr>
            <a:r>
              <a:rPr sz="1800" b="1" i="0">
                <a:solidFill>
                  <a:srgbClr val="1A1A1A"/>
                </a:solidFill>
                <a:latin typeface="Calibri"/>
              </a:rPr>
              <a:t>• </a:t>
            </a:r>
            <a:r>
              <a:rPr sz="1800" b="0" i="0">
                <a:solidFill>
                  <a:srgbClr val="1A1A1A"/>
                </a:solidFill>
                <a:latin typeface="Calibri"/>
              </a:rPr>
              <a:t>Employees dislike work, avoid responsibility</a:t>
            </a:r>
          </a:p>
          <a:p>
            <a:pPr>
              <a:spcAft>
                <a:spcPts val="300"/>
              </a:spcAft>
            </a:pPr>
            <a:r>
              <a:rPr sz="1800" b="1" i="0">
                <a:solidFill>
                  <a:srgbClr val="1A1A1A"/>
                </a:solidFill>
                <a:latin typeface="Calibri"/>
              </a:rPr>
              <a:t>• </a:t>
            </a:r>
            <a:r>
              <a:rPr sz="1800" b="0" i="0">
                <a:solidFill>
                  <a:srgbClr val="1A1A1A"/>
                </a:solidFill>
                <a:latin typeface="Calibri"/>
              </a:rPr>
              <a:t>Must be monitored; 'carrots &amp; sticks'</a:t>
            </a:r>
          </a:p>
          <a:p>
            <a:pPr>
              <a:spcAft>
                <a:spcPts val="300"/>
              </a:spcAft>
            </a:pPr>
            <a:r>
              <a:rPr sz="1800" b="1" i="0">
                <a:solidFill>
                  <a:srgbClr val="1A1A1A"/>
                </a:solidFill>
                <a:latin typeface="Calibri"/>
              </a:rPr>
              <a:t>• </a:t>
            </a:r>
            <a:r>
              <a:rPr sz="1800" b="0" i="0">
                <a:solidFill>
                  <a:srgbClr val="1A1A1A"/>
                </a:solidFill>
                <a:latin typeface="Calibri"/>
              </a:rPr>
              <a:t>→ micromanagement climate: compliance, low initiative (call-centre tracking every minute)</a:t>
            </a:r>
          </a:p>
        </p:txBody>
      </p:sp>
      <p:sp>
        <p:nvSpPr>
          <p:cNvPr id="12" name="Rounded Rectangle 11"/>
          <p:cNvSpPr/>
          <p:nvPr/>
        </p:nvSpPr>
        <p:spPr>
          <a:xfrm>
            <a:off x="274320" y="3931920"/>
            <a:ext cx="3931920" cy="2606040"/>
          </a:xfrm>
          <a:prstGeom prst="roundRect">
            <a:avLst>
              <a:gd name="adj" fmla="val 6000"/>
            </a:avLst>
          </a:prstGeom>
          <a:solidFill>
            <a:srgbClr val="FFFFFF"/>
          </a:solidFill>
          <a:ln w="19050">
            <a:solidFill>
              <a:srgbClr val="EDA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74320" y="3931920"/>
            <a:ext cx="3931920" cy="45720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4320" y="4251959"/>
            <a:ext cx="3931920" cy="137160"/>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3931920"/>
            <a:ext cx="3749039" cy="457200"/>
          </a:xfrm>
          <a:prstGeom prst="rect">
            <a:avLst/>
          </a:prstGeom>
          <a:noFill/>
        </p:spPr>
        <p:txBody>
          <a:bodyPr wrap="square" anchor="ctr" lIns="45720" rIns="45720" tIns="18288" bIns="18288"/>
          <a:lstStyle/>
          <a:p>
            <a:pPr algn="l"/>
            <a:r>
              <a:rPr sz="1900" b="1" i="0">
                <a:solidFill>
                  <a:srgbClr val="FFFFFF"/>
                </a:solidFill>
                <a:latin typeface="Calibri"/>
              </a:rPr>
              <a:t>Theory Y (positive)</a:t>
            </a:r>
          </a:p>
        </p:txBody>
      </p:sp>
      <p:sp>
        <p:nvSpPr>
          <p:cNvPr id="16" name="TextBox 15"/>
          <p:cNvSpPr txBox="1"/>
          <p:nvPr/>
        </p:nvSpPr>
        <p:spPr>
          <a:xfrm>
            <a:off x="347472" y="4443983"/>
            <a:ext cx="3785615" cy="2057400"/>
          </a:xfrm>
          <a:prstGeom prst="rect">
            <a:avLst/>
          </a:prstGeom>
          <a:noFill/>
        </p:spPr>
        <p:txBody>
          <a:bodyPr wrap="square" anchor="t" lIns="54864" rIns="54864" tIns="27432" bIns="27432"/>
          <a:lstStyle/>
          <a:p>
            <a:pPr>
              <a:spcAft>
                <a:spcPts val="300"/>
              </a:spcAft>
            </a:pPr>
            <a:r>
              <a:rPr sz="1700" b="1" i="0">
                <a:solidFill>
                  <a:srgbClr val="1A1A1A"/>
                </a:solidFill>
                <a:latin typeface="Calibri"/>
              </a:rPr>
              <a:t>• </a:t>
            </a:r>
            <a:r>
              <a:rPr sz="1700" b="0" i="0">
                <a:solidFill>
                  <a:srgbClr val="1A1A1A"/>
                </a:solidFill>
                <a:latin typeface="Calibri"/>
              </a:rPr>
              <a:t>Self-engaged, committed, responsible, creative</a:t>
            </a:r>
          </a:p>
          <a:p>
            <a:pPr>
              <a:spcAft>
                <a:spcPts val="300"/>
              </a:spcAft>
            </a:pPr>
            <a:r>
              <a:rPr sz="1700" b="1" i="0">
                <a:solidFill>
                  <a:srgbClr val="1A1A1A"/>
                </a:solidFill>
                <a:latin typeface="Calibri"/>
              </a:rPr>
              <a:t>• </a:t>
            </a:r>
            <a:r>
              <a:rPr sz="1700" b="0" i="0">
                <a:solidFill>
                  <a:srgbClr val="1A1A1A"/>
                </a:solidFill>
                <a:latin typeface="Calibri"/>
              </a:rPr>
              <a:t>Theory Y managers → higher performance, satisfaction, commitment, OCB</a:t>
            </a:r>
          </a:p>
          <a:p>
            <a:pPr>
              <a:spcAft>
                <a:spcPts val="300"/>
              </a:spcAft>
            </a:pPr>
            <a:r>
              <a:rPr sz="1700" b="1" i="0">
                <a:solidFill>
                  <a:srgbClr val="1A1A1A"/>
                </a:solidFill>
                <a:latin typeface="Calibri"/>
              </a:rPr>
              <a:t>• </a:t>
            </a:r>
            <a:r>
              <a:rPr sz="1700" b="0" i="0">
                <a:solidFill>
                  <a:srgbClr val="1A1A1A"/>
                </a:solidFill>
                <a:latin typeface="Calibri"/>
              </a:rPr>
              <a:t>Balance: autonomy + clarity; supervise where risk requires</a:t>
            </a:r>
          </a:p>
        </p:txBody>
      </p:sp>
      <p:sp>
        <p:nvSpPr>
          <p:cNvPr id="17" name="Rounded Rectangle 16"/>
          <p:cNvSpPr/>
          <p:nvPr/>
        </p:nvSpPr>
        <p:spPr>
          <a:xfrm>
            <a:off x="6080760" y="1051560"/>
            <a:ext cx="2011680" cy="777240"/>
          </a:xfrm>
          <a:prstGeom prst="roundRect">
            <a:avLst>
              <a:gd name="adj" fmla="val 6000"/>
            </a:avLst>
          </a:prstGeom>
          <a:solidFill>
            <a:srgbClr val="EFB69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500" b="1" i="0">
                <a:solidFill>
                  <a:srgbClr val="1A1A1A"/>
                </a:solidFill>
                <a:latin typeface="Calibri"/>
              </a:rPr>
              <a:t>SELF-ACTUALISATION</a:t>
            </a:r>
          </a:p>
          <a:p>
            <a:pPr algn="ctr"/>
            <a:r>
              <a:rPr sz="1200" b="0" i="0">
                <a:solidFill>
                  <a:srgbClr val="1A1A1A"/>
                </a:solidFill>
                <a:latin typeface="Calibri"/>
              </a:rPr>
              <a:t>become the best you can be</a:t>
            </a:r>
          </a:p>
        </p:txBody>
      </p:sp>
      <p:sp>
        <p:nvSpPr>
          <p:cNvPr id="18" name="Rounded Rectangle 17"/>
          <p:cNvSpPr/>
          <p:nvPr/>
        </p:nvSpPr>
        <p:spPr>
          <a:xfrm>
            <a:off x="5646420" y="1874519"/>
            <a:ext cx="2880360" cy="777240"/>
          </a:xfrm>
          <a:prstGeom prst="roundRect">
            <a:avLst>
              <a:gd name="adj" fmla="val 6000"/>
            </a:avLst>
          </a:prstGeom>
          <a:solidFill>
            <a:srgbClr val="E99D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500" b="1" i="0">
                <a:solidFill>
                  <a:srgbClr val="1A1A1A"/>
                </a:solidFill>
                <a:latin typeface="Calibri"/>
              </a:rPr>
              <a:t>ESTEEM</a:t>
            </a:r>
          </a:p>
          <a:p>
            <a:pPr algn="ctr"/>
            <a:r>
              <a:rPr sz="1200" b="0" i="0">
                <a:solidFill>
                  <a:srgbClr val="1A1A1A"/>
                </a:solidFill>
                <a:latin typeface="Calibri"/>
              </a:rPr>
              <a:t>reputation, recognition, self-confidence</a:t>
            </a:r>
          </a:p>
        </p:txBody>
      </p:sp>
      <p:sp>
        <p:nvSpPr>
          <p:cNvPr id="19" name="Rounded Rectangle 18"/>
          <p:cNvSpPr/>
          <p:nvPr/>
        </p:nvSpPr>
        <p:spPr>
          <a:xfrm>
            <a:off x="5212080" y="2697480"/>
            <a:ext cx="3749039" cy="777240"/>
          </a:xfrm>
          <a:prstGeom prst="roundRect">
            <a:avLst>
              <a:gd name="adj" fmla="val 6000"/>
            </a:avLst>
          </a:prstGeom>
          <a:solidFill>
            <a:srgbClr val="E483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500" b="1" i="0">
                <a:solidFill>
                  <a:srgbClr val="FFFFFF"/>
                </a:solidFill>
                <a:latin typeface="Calibri"/>
              </a:rPr>
              <a:t>LOVE / BELONGING</a:t>
            </a:r>
          </a:p>
          <a:p>
            <a:pPr algn="ctr"/>
            <a:r>
              <a:rPr sz="1200" b="0" i="0">
                <a:solidFill>
                  <a:srgbClr val="FFFFFF"/>
                </a:solidFill>
                <a:latin typeface="Calibri"/>
              </a:rPr>
              <a:t>affection, belonging</a:t>
            </a:r>
          </a:p>
        </p:txBody>
      </p:sp>
      <p:sp>
        <p:nvSpPr>
          <p:cNvPr id="20" name="Rounded Rectangle 19"/>
          <p:cNvSpPr/>
          <p:nvPr/>
        </p:nvSpPr>
        <p:spPr>
          <a:xfrm>
            <a:off x="4777740" y="3520440"/>
            <a:ext cx="4617720" cy="777240"/>
          </a:xfrm>
          <a:prstGeom prst="roundRect">
            <a:avLst>
              <a:gd name="adj" fmla="val 6000"/>
            </a:avLst>
          </a:prstGeom>
          <a:solidFill>
            <a:srgbClr val="DF6A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500" b="1" i="0">
                <a:solidFill>
                  <a:srgbClr val="FFFFFF"/>
                </a:solidFill>
                <a:latin typeface="Calibri"/>
              </a:rPr>
              <a:t>SAFETY</a:t>
            </a:r>
          </a:p>
          <a:p>
            <a:pPr algn="ctr"/>
            <a:r>
              <a:rPr sz="1200" b="0" i="0">
                <a:solidFill>
                  <a:srgbClr val="FFFFFF"/>
                </a:solidFill>
                <a:latin typeface="Calibri"/>
              </a:rPr>
              <a:t>physical &amp; psychological, job security</a:t>
            </a:r>
          </a:p>
        </p:txBody>
      </p:sp>
      <p:sp>
        <p:nvSpPr>
          <p:cNvPr id="21" name="Rounded Rectangle 20"/>
          <p:cNvSpPr/>
          <p:nvPr/>
        </p:nvSpPr>
        <p:spPr>
          <a:xfrm>
            <a:off x="4343400" y="4343400"/>
            <a:ext cx="5486400" cy="777240"/>
          </a:xfrm>
          <a:prstGeom prst="roundRect">
            <a:avLst>
              <a:gd name="adj" fmla="val 6000"/>
            </a:avLst>
          </a:prstGeom>
          <a:solidFill>
            <a:srgbClr val="D951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500" b="1" i="0">
                <a:solidFill>
                  <a:srgbClr val="FFFFFF"/>
                </a:solidFill>
                <a:latin typeface="Calibri"/>
              </a:rPr>
              <a:t>PHYSIOLOGICAL</a:t>
            </a:r>
          </a:p>
          <a:p>
            <a:pPr algn="ctr"/>
            <a:r>
              <a:rPr sz="1200" b="0" i="0">
                <a:solidFill>
                  <a:srgbClr val="FFFFFF"/>
                </a:solidFill>
                <a:latin typeface="Calibri"/>
              </a:rPr>
              <a:t>food, air, water, pay</a:t>
            </a:r>
          </a:p>
        </p:txBody>
      </p:sp>
      <p:sp>
        <p:nvSpPr>
          <p:cNvPr id="22" name="TextBox 21"/>
          <p:cNvSpPr txBox="1"/>
          <p:nvPr/>
        </p:nvSpPr>
        <p:spPr>
          <a:xfrm>
            <a:off x="4343400" y="5212080"/>
            <a:ext cx="5486400" cy="365760"/>
          </a:xfrm>
          <a:prstGeom prst="rect">
            <a:avLst/>
          </a:prstGeom>
          <a:noFill/>
        </p:spPr>
        <p:txBody>
          <a:bodyPr wrap="square" anchor="t" lIns="45720" rIns="45720" tIns="18288" bIns="18288"/>
          <a:lstStyle/>
          <a:p>
            <a:pPr algn="ctr"/>
            <a:r>
              <a:rPr sz="1400" b="1" i="0">
                <a:solidFill>
                  <a:srgbClr val="D84A05"/>
                </a:solidFill>
                <a:latin typeface="Calibri"/>
              </a:rPr>
              <a:t>Maslow (1943): needs are 'prepotent'; satisfied needs stop motivating</a:t>
            </a:r>
          </a:p>
        </p:txBody>
      </p:sp>
      <p:sp>
        <p:nvSpPr>
          <p:cNvPr id="23" name="Rounded Rectangle 22"/>
          <p:cNvSpPr/>
          <p:nvPr/>
        </p:nvSpPr>
        <p:spPr>
          <a:xfrm>
            <a:off x="4343400" y="5577840"/>
            <a:ext cx="5486400" cy="960120"/>
          </a:xfrm>
          <a:prstGeom prst="roundRect">
            <a:avLst>
              <a:gd name="adj" fmla="val 6000"/>
            </a:avLst>
          </a:prstGeom>
          <a:solidFill>
            <a:srgbClr val="FFFFFF"/>
          </a:solidFill>
          <a:ln w="19050">
            <a:solidFill>
              <a:srgbClr val="EDA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16552" y="5632703"/>
            <a:ext cx="5340096" cy="868680"/>
          </a:xfrm>
          <a:prstGeom prst="rect">
            <a:avLst/>
          </a:prstGeom>
          <a:noFill/>
        </p:spPr>
        <p:txBody>
          <a:bodyPr wrap="square" anchor="t" lIns="54864" rIns="54864" tIns="27432" bIns="27432"/>
          <a:lstStyle/>
          <a:p>
            <a:pPr>
              <a:spcAft>
                <a:spcPts val="300"/>
              </a:spcAft>
            </a:pPr>
            <a:r>
              <a:rPr sz="1600" b="1" i="0">
                <a:solidFill>
                  <a:srgbClr val="1A1A1A"/>
                </a:solidFill>
                <a:latin typeface="Calibri"/>
              </a:rPr>
              <a:t>• </a:t>
            </a:r>
            <a:r>
              <a:rPr sz="1600" b="0" i="0">
                <a:solidFill>
                  <a:srgbClr val="1A1A1A"/>
                </a:solidFill>
                <a:latin typeface="Calibri"/>
              </a:rPr>
              <a:t>SC Johnson concierge; small firms: flexibility, recognition, involvement · research doesn't support the strict ladder</a:t>
            </a:r>
          </a:p>
        </p:txBody>
      </p:sp>
      <p:sp>
        <p:nvSpPr>
          <p:cNvPr id="25" name="Rounded Rectangle 24"/>
          <p:cNvSpPr/>
          <p:nvPr/>
        </p:nvSpPr>
        <p:spPr>
          <a:xfrm>
            <a:off x="9966960" y="1051560"/>
            <a:ext cx="1965960" cy="5486400"/>
          </a:xfrm>
          <a:prstGeom prst="roundRect">
            <a:avLst>
              <a:gd name="adj" fmla="val 6000"/>
            </a:avLst>
          </a:prstGeom>
          <a:solidFill>
            <a:srgbClr val="FFFFFF"/>
          </a:solidFill>
          <a:ln w="19050">
            <a:solidFill>
              <a:srgbClr val="EDA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966960" y="1051560"/>
            <a:ext cx="1965960" cy="45720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966960" y="1371600"/>
            <a:ext cx="1965960" cy="137160"/>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0" y="1051560"/>
            <a:ext cx="1783080" cy="457200"/>
          </a:xfrm>
          <a:prstGeom prst="rect">
            <a:avLst/>
          </a:prstGeom>
          <a:noFill/>
        </p:spPr>
        <p:txBody>
          <a:bodyPr wrap="square" anchor="ctr" lIns="45720" rIns="45720" tIns="18288" bIns="18288"/>
          <a:lstStyle/>
          <a:p>
            <a:pPr algn="l"/>
            <a:r>
              <a:rPr sz="1200" b="1" i="0">
                <a:solidFill>
                  <a:srgbClr val="FFFFFF"/>
                </a:solidFill>
                <a:latin typeface="Calibri"/>
              </a:rPr>
              <a:t>Maslow in India (PPT)</a:t>
            </a:r>
          </a:p>
        </p:txBody>
      </p:sp>
      <p:sp>
        <p:nvSpPr>
          <p:cNvPr id="29" name="TextBox 28"/>
          <p:cNvSpPr txBox="1"/>
          <p:nvPr/>
        </p:nvSpPr>
        <p:spPr>
          <a:xfrm>
            <a:off x="10040112" y="1563624"/>
            <a:ext cx="1819656" cy="4937760"/>
          </a:xfrm>
          <a:prstGeom prst="rect">
            <a:avLst/>
          </a:prstGeom>
          <a:noFill/>
        </p:spPr>
        <p:txBody>
          <a:bodyPr wrap="square" anchor="t" lIns="54864" rIns="54864" tIns="27432" bIns="27432"/>
          <a:lstStyle/>
          <a:p>
            <a:pPr>
              <a:spcAft>
                <a:spcPts val="300"/>
              </a:spcAft>
            </a:pPr>
            <a:r>
              <a:rPr sz="1800" b="1" i="0">
                <a:solidFill>
                  <a:srgbClr val="1A1A1A"/>
                </a:solidFill>
                <a:latin typeface="Calibri"/>
              </a:rPr>
              <a:t>• </a:t>
            </a:r>
            <a:r>
              <a:rPr sz="1800" b="1" i="0">
                <a:solidFill>
                  <a:srgbClr val="1A1A1A"/>
                </a:solidFill>
                <a:latin typeface="Calibri"/>
              </a:rPr>
              <a:t>Early career</a:t>
            </a:r>
            <a:r>
              <a:rPr sz="1800" b="0" i="0">
                <a:solidFill>
                  <a:srgbClr val="1A1A1A"/>
                </a:solidFill>
                <a:latin typeface="Calibri"/>
              </a:rPr>
              <a:t>: income, safety, belonging, onboarding</a:t>
            </a:r>
          </a:p>
          <a:p>
            <a:pPr>
              <a:spcAft>
                <a:spcPts val="300"/>
              </a:spcAft>
            </a:pPr>
            <a:r>
              <a:rPr sz="1800" b="1" i="0">
                <a:solidFill>
                  <a:srgbClr val="1A1A1A"/>
                </a:solidFill>
                <a:latin typeface="Calibri"/>
              </a:rPr>
              <a:t>• </a:t>
            </a:r>
            <a:r>
              <a:rPr sz="1800" b="1" i="0">
                <a:solidFill>
                  <a:srgbClr val="1A1A1A"/>
                </a:solidFill>
                <a:latin typeface="Calibri"/>
              </a:rPr>
              <a:t>Mid-career</a:t>
            </a:r>
            <a:r>
              <a:rPr sz="1800" b="0" i="0">
                <a:solidFill>
                  <a:srgbClr val="1A1A1A"/>
                </a:solidFill>
                <a:latin typeface="Calibri"/>
              </a:rPr>
              <a:t>: recognition, growth, responsibility, flexibility</a:t>
            </a:r>
          </a:p>
          <a:p>
            <a:pPr>
              <a:spcAft>
                <a:spcPts val="300"/>
              </a:spcAft>
            </a:pPr>
            <a:r>
              <a:rPr sz="1800" b="1" i="0">
                <a:solidFill>
                  <a:srgbClr val="1A1A1A"/>
                </a:solidFill>
                <a:latin typeface="Calibri"/>
              </a:rPr>
              <a:t>• </a:t>
            </a:r>
            <a:r>
              <a:rPr sz="1800" b="1" i="0">
                <a:solidFill>
                  <a:srgbClr val="1A1A1A"/>
                </a:solidFill>
                <a:latin typeface="Calibri"/>
              </a:rPr>
              <a:t>Experienced</a:t>
            </a:r>
            <a:r>
              <a:rPr sz="1800" b="0" i="0">
                <a:solidFill>
                  <a:srgbClr val="1A1A1A"/>
                </a:solidFill>
                <a:latin typeface="Calibri"/>
              </a:rPr>
              <a:t>: meaning, mentoring, legacy, autonomy</a:t>
            </a:r>
          </a:p>
          <a:p>
            <a:pPr>
              <a:spcAft>
                <a:spcPts val="300"/>
              </a:spcAft>
            </a:pPr>
            <a:r>
              <a:rPr sz="1800" b="1" i="0">
                <a:solidFill>
                  <a:srgbClr val="1A1A1A"/>
                </a:solidFill>
                <a:latin typeface="Calibri"/>
              </a:rPr>
              <a:t>• </a:t>
            </a:r>
            <a:r>
              <a:rPr sz="1800" b="0" i="0">
                <a:solidFill>
                  <a:srgbClr val="1A1A1A"/>
                </a:solidFill>
                <a:latin typeface="Calibri"/>
              </a:rPr>
              <a:t>Ask employees; don't assume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200" b="1" i="0">
                <a:solidFill>
                  <a:srgbClr val="FFFFFF"/>
                </a:solidFill>
                <a:latin typeface="Calibri"/>
              </a:rPr>
              <a:t>Content theories II: McClelland's needs &amp; Self-Determination Theory</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F5D1C0"/>
                </a:solidFill>
                <a:latin typeface="Calibri"/>
              </a:rPr>
              <a:t>MODULE 4 · EMPLOYEE MOTIVATION</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Ch 5 pp. 170–174</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41</a:t>
            </a:r>
          </a:p>
        </p:txBody>
      </p:sp>
      <p:sp>
        <p:nvSpPr>
          <p:cNvPr id="7" name="Rounded Rectangle 6"/>
          <p:cNvSpPr/>
          <p:nvPr/>
        </p:nvSpPr>
        <p:spPr>
          <a:xfrm>
            <a:off x="274320" y="1051560"/>
            <a:ext cx="5760720" cy="3017520"/>
          </a:xfrm>
          <a:prstGeom prst="roundRect">
            <a:avLst>
              <a:gd name="adj" fmla="val 6000"/>
            </a:avLst>
          </a:prstGeom>
          <a:solidFill>
            <a:srgbClr val="FFFFFF"/>
          </a:solidFill>
          <a:ln w="19050">
            <a:solidFill>
              <a:srgbClr val="EDA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74320" y="1051560"/>
            <a:ext cx="5760720" cy="45720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371600"/>
            <a:ext cx="5760720" cy="137160"/>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051560"/>
            <a:ext cx="5577840" cy="457200"/>
          </a:xfrm>
          <a:prstGeom prst="rect">
            <a:avLst/>
          </a:prstGeom>
          <a:noFill/>
        </p:spPr>
        <p:txBody>
          <a:bodyPr wrap="square" anchor="ctr" lIns="45720" rIns="45720" tIns="18288" bIns="18288"/>
          <a:lstStyle/>
          <a:p>
            <a:pPr algn="l"/>
            <a:r>
              <a:rPr sz="1900" b="1" i="0">
                <a:solidFill>
                  <a:srgbClr val="FFFFFF"/>
                </a:solidFill>
                <a:latin typeface="Calibri"/>
              </a:rPr>
              <a:t>McClelland: needs are LEARNED (acquired)</a:t>
            </a:r>
          </a:p>
        </p:txBody>
      </p:sp>
      <p:sp>
        <p:nvSpPr>
          <p:cNvPr id="11" name="TextBox 10"/>
          <p:cNvSpPr txBox="1"/>
          <p:nvPr/>
        </p:nvSpPr>
        <p:spPr>
          <a:xfrm>
            <a:off x="347472" y="1563624"/>
            <a:ext cx="5614416" cy="2468879"/>
          </a:xfrm>
          <a:prstGeom prst="rect">
            <a:avLst/>
          </a:prstGeom>
          <a:noFill/>
        </p:spPr>
        <p:txBody>
          <a:bodyPr wrap="square" anchor="t" lIns="54864" rIns="54864" tIns="27432" bIns="27432"/>
          <a:lstStyle/>
          <a:p>
            <a:pPr>
              <a:spcAft>
                <a:spcPts val="300"/>
              </a:spcAft>
            </a:pPr>
            <a:r>
              <a:rPr sz="1500" b="1" i="0">
                <a:solidFill>
                  <a:srgbClr val="1A1A1A"/>
                </a:solidFill>
                <a:latin typeface="Calibri"/>
              </a:rPr>
              <a:t>• </a:t>
            </a:r>
            <a:r>
              <a:rPr sz="1500" b="1" i="0">
                <a:solidFill>
                  <a:srgbClr val="1A1A1A"/>
                </a:solidFill>
                <a:latin typeface="Calibri"/>
              </a:rPr>
              <a:t>Achievement (nAch)</a:t>
            </a:r>
            <a:r>
              <a:rPr sz="1500" b="0" i="0">
                <a:solidFill>
                  <a:srgbClr val="1A1A1A"/>
                </a:solidFill>
                <a:latin typeface="Calibri"/>
              </a:rPr>
              <a:t>: excel, overcome obstacles, surpass others; likes challenging-but-attainable goals &amp; feedback → give stretch projects</a:t>
            </a:r>
          </a:p>
          <a:p>
            <a:pPr>
              <a:spcAft>
                <a:spcPts val="300"/>
              </a:spcAft>
            </a:pPr>
            <a:r>
              <a:rPr sz="1500" b="1" i="0">
                <a:solidFill>
                  <a:srgbClr val="1A1A1A"/>
                </a:solidFill>
                <a:latin typeface="Calibri"/>
              </a:rPr>
              <a:t>• </a:t>
            </a:r>
            <a:r>
              <a:rPr sz="1500" b="1" i="0">
                <a:solidFill>
                  <a:srgbClr val="1A1A1A"/>
                </a:solidFill>
                <a:latin typeface="Calibri"/>
              </a:rPr>
              <a:t>Affiliation (nAff)</a:t>
            </a:r>
            <a:r>
              <a:rPr sz="1500" b="0" i="0">
                <a:solidFill>
                  <a:srgbClr val="1A1A1A"/>
                </a:solidFill>
                <a:latin typeface="Calibri"/>
              </a:rPr>
              <a:t>: be liked, belong, cooperate → team projects, buddy systems</a:t>
            </a:r>
          </a:p>
          <a:p>
            <a:pPr>
              <a:spcAft>
                <a:spcPts val="300"/>
              </a:spcAft>
            </a:pPr>
            <a:r>
              <a:rPr sz="1500" b="1" i="0">
                <a:solidFill>
                  <a:srgbClr val="1A1A1A"/>
                </a:solidFill>
                <a:latin typeface="Calibri"/>
              </a:rPr>
              <a:t>• </a:t>
            </a:r>
            <a:r>
              <a:rPr sz="1500" b="1" i="0">
                <a:solidFill>
                  <a:srgbClr val="1A1A1A"/>
                </a:solidFill>
                <a:latin typeface="Calibri"/>
              </a:rPr>
              <a:t>Power (nPow)</a:t>
            </a:r>
            <a:r>
              <a:rPr sz="1500" b="0" i="0">
                <a:solidFill>
                  <a:srgbClr val="1A1A1A"/>
                </a:solidFill>
                <a:latin typeface="Calibri"/>
              </a:rPr>
              <a:t>: influence, coach, teach → coordination roles. </a:t>
            </a:r>
            <a:r>
              <a:rPr sz="1500" b="1" i="0">
                <a:solidFill>
                  <a:srgbClr val="1A1A1A"/>
                </a:solidFill>
                <a:latin typeface="Calibri"/>
              </a:rPr>
              <a:t>Institutional</a:t>
            </a:r>
            <a:r>
              <a:rPr sz="1500" b="0" i="0">
                <a:solidFill>
                  <a:srgbClr val="1A1A1A"/>
                </a:solidFill>
                <a:latin typeface="Calibri"/>
              </a:rPr>
              <a:t> power (organise for org goals, ✔) vs </a:t>
            </a:r>
            <a:r>
              <a:rPr sz="1500" b="1" i="0">
                <a:solidFill>
                  <a:srgbClr val="1A1A1A"/>
                </a:solidFill>
                <a:latin typeface="Calibri"/>
              </a:rPr>
              <a:t>personal</a:t>
            </a:r>
            <a:r>
              <a:rPr sz="1500" b="0" i="0">
                <a:solidFill>
                  <a:srgbClr val="1A1A1A"/>
                </a:solidFill>
                <a:latin typeface="Calibri"/>
              </a:rPr>
              <a:t> power (control, manipulate, ✘)</a:t>
            </a:r>
          </a:p>
          <a:p>
            <a:pPr>
              <a:spcAft>
                <a:spcPts val="300"/>
              </a:spcAft>
            </a:pPr>
            <a:r>
              <a:rPr sz="1500" b="1" i="0">
                <a:solidFill>
                  <a:srgbClr val="1A1A1A"/>
                </a:solidFill>
                <a:latin typeface="Calibri"/>
              </a:rPr>
              <a:t>• </a:t>
            </a:r>
            <a:r>
              <a:rPr sz="1500" b="0" i="0">
                <a:solidFill>
                  <a:srgbClr val="1A1A1A"/>
                </a:solidFill>
                <a:latin typeface="Calibri"/>
              </a:rPr>
              <a:t>Apply when setting goals, giving feedback, assigning tasks, designing jobs</a:t>
            </a:r>
          </a:p>
        </p:txBody>
      </p:sp>
      <p:sp>
        <p:nvSpPr>
          <p:cNvPr id="12" name="Rounded Rectangle 11"/>
          <p:cNvSpPr/>
          <p:nvPr/>
        </p:nvSpPr>
        <p:spPr>
          <a:xfrm>
            <a:off x="274320" y="4206240"/>
            <a:ext cx="5760720" cy="2331720"/>
          </a:xfrm>
          <a:prstGeom prst="roundRect">
            <a:avLst>
              <a:gd name="adj" fmla="val 6000"/>
            </a:avLst>
          </a:prstGeom>
          <a:solidFill>
            <a:srgbClr val="FFFFFF"/>
          </a:solidFill>
          <a:ln w="19050">
            <a:solidFill>
              <a:srgbClr val="EDA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74320" y="4206240"/>
            <a:ext cx="5760720" cy="45720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4320" y="4526279"/>
            <a:ext cx="5760720" cy="137160"/>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4206240"/>
            <a:ext cx="5577840" cy="457200"/>
          </a:xfrm>
          <a:prstGeom prst="rect">
            <a:avLst/>
          </a:prstGeom>
          <a:noFill/>
        </p:spPr>
        <p:txBody>
          <a:bodyPr wrap="square" anchor="ctr" lIns="45720" rIns="45720" tIns="18288" bIns="18288"/>
          <a:lstStyle/>
          <a:p>
            <a:pPr algn="l"/>
            <a:r>
              <a:rPr sz="1600" b="1" i="0">
                <a:solidFill>
                  <a:srgbClr val="FFFFFF"/>
                </a:solidFill>
                <a:latin typeface="Calibri"/>
              </a:rPr>
              <a:t>OB in Action: Cameron Mitchell Restaurants (p. 172)</a:t>
            </a:r>
          </a:p>
        </p:txBody>
      </p:sp>
      <p:sp>
        <p:nvSpPr>
          <p:cNvPr id="16" name="TextBox 15"/>
          <p:cNvSpPr txBox="1"/>
          <p:nvPr/>
        </p:nvSpPr>
        <p:spPr>
          <a:xfrm>
            <a:off x="347472" y="4718303"/>
            <a:ext cx="5614416" cy="1783079"/>
          </a:xfrm>
          <a:prstGeom prst="rect">
            <a:avLst/>
          </a:prstGeom>
          <a:noFill/>
        </p:spPr>
        <p:txBody>
          <a:bodyPr wrap="square" anchor="t" lIns="54864" rIns="54864" tIns="27432" bIns="27432"/>
          <a:lstStyle/>
          <a:p>
            <a:pPr>
              <a:spcAft>
                <a:spcPts val="300"/>
              </a:spcAft>
            </a:pPr>
            <a:r>
              <a:rPr sz="1800" b="1" i="0">
                <a:solidFill>
                  <a:srgbClr val="1A1A1A"/>
                </a:solidFill>
                <a:latin typeface="Calibri"/>
              </a:rPr>
              <a:t>• </a:t>
            </a:r>
            <a:r>
              <a:rPr sz="1800" b="0" i="0">
                <a:solidFill>
                  <a:srgbClr val="1A1A1A"/>
                </a:solidFill>
                <a:latin typeface="Calibri"/>
              </a:rPr>
              <a:t>Ran away as a teen, dishwasher → 32 restaurants, $300M; rejected by Culinary Institute → more driven (</a:t>
            </a:r>
            <a:r>
              <a:rPr sz="1800" b="1" i="0">
                <a:solidFill>
                  <a:srgbClr val="1A1A1A"/>
                </a:solidFill>
                <a:latin typeface="Calibri"/>
              </a:rPr>
              <a:t>nAch</a:t>
            </a:r>
            <a:r>
              <a:rPr sz="1800" b="0" i="0">
                <a:solidFill>
                  <a:srgbClr val="1A1A1A"/>
                </a:solidFill>
                <a:latin typeface="Calibri"/>
              </a:rPr>
              <a:t>)</a:t>
            </a:r>
          </a:p>
          <a:p>
            <a:pPr>
              <a:spcAft>
                <a:spcPts val="300"/>
              </a:spcAft>
            </a:pPr>
            <a:r>
              <a:rPr sz="1800" b="1" i="0">
                <a:solidFill>
                  <a:srgbClr val="1A1A1A"/>
                </a:solidFill>
                <a:latin typeface="Calibri"/>
              </a:rPr>
              <a:t>• </a:t>
            </a:r>
            <a:r>
              <a:rPr sz="1800" b="0" i="0">
                <a:solidFill>
                  <a:srgbClr val="1A1A1A"/>
                </a:solidFill>
                <a:latin typeface="Calibri"/>
              </a:rPr>
              <a:t>'Associates are #1': collegial climate (</a:t>
            </a:r>
            <a:r>
              <a:rPr sz="1800" b="1" i="0">
                <a:solidFill>
                  <a:srgbClr val="1A1A1A"/>
                </a:solidFill>
                <a:latin typeface="Calibri"/>
              </a:rPr>
              <a:t>nAff</a:t>
            </a:r>
            <a:r>
              <a:rPr sz="1800" b="0" i="0">
                <a:solidFill>
                  <a:srgbClr val="1A1A1A"/>
                </a:solidFill>
                <a:latin typeface="Calibri"/>
              </a:rPr>
              <a:t>), develops managers, gives menu autonomy (</a:t>
            </a:r>
            <a:r>
              <a:rPr sz="1800" b="1" i="0">
                <a:solidFill>
                  <a:srgbClr val="1A1A1A"/>
                </a:solidFill>
                <a:latin typeface="Calibri"/>
              </a:rPr>
              <a:t>institutional nPow</a:t>
            </a:r>
            <a:r>
              <a:rPr sz="1800" b="0" i="0">
                <a:solidFill>
                  <a:srgbClr val="1A1A1A"/>
                </a:solidFill>
                <a:latin typeface="Calibri"/>
              </a:rPr>
              <a:t>)</a:t>
            </a:r>
          </a:p>
        </p:txBody>
      </p:sp>
      <p:sp>
        <p:nvSpPr>
          <p:cNvPr id="17" name="Rounded Rectangle 16"/>
          <p:cNvSpPr/>
          <p:nvPr/>
        </p:nvSpPr>
        <p:spPr>
          <a:xfrm>
            <a:off x="6172200" y="1051560"/>
            <a:ext cx="5760720" cy="3017520"/>
          </a:xfrm>
          <a:prstGeom prst="roundRect">
            <a:avLst>
              <a:gd name="adj" fmla="val 6000"/>
            </a:avLst>
          </a:prstGeom>
          <a:solidFill>
            <a:srgbClr val="FFFFFF"/>
          </a:solidFill>
          <a:ln w="19050">
            <a:solidFill>
              <a:srgbClr val="EDA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172200" y="1051560"/>
            <a:ext cx="5760720" cy="45720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72200" y="1371600"/>
            <a:ext cx="5760720" cy="137160"/>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3640" y="1051560"/>
            <a:ext cx="5577840" cy="457200"/>
          </a:xfrm>
          <a:prstGeom prst="rect">
            <a:avLst/>
          </a:prstGeom>
          <a:noFill/>
        </p:spPr>
        <p:txBody>
          <a:bodyPr wrap="square" anchor="ctr" lIns="45720" rIns="45720" tIns="18288" bIns="18288"/>
          <a:lstStyle/>
          <a:p>
            <a:pPr algn="l"/>
            <a:r>
              <a:rPr sz="1900" b="1" i="0">
                <a:solidFill>
                  <a:srgbClr val="FFFFFF"/>
                </a:solidFill>
                <a:latin typeface="Calibri"/>
              </a:rPr>
              <a:t>Self-Determination Theory (Deci &amp; Ryan)</a:t>
            </a:r>
          </a:p>
        </p:txBody>
      </p:sp>
      <p:sp>
        <p:nvSpPr>
          <p:cNvPr id="21" name="TextBox 20"/>
          <p:cNvSpPr txBox="1"/>
          <p:nvPr/>
        </p:nvSpPr>
        <p:spPr>
          <a:xfrm>
            <a:off x="6245352" y="1563624"/>
            <a:ext cx="5614416" cy="2468879"/>
          </a:xfrm>
          <a:prstGeom prst="rect">
            <a:avLst/>
          </a:prstGeom>
          <a:noFill/>
        </p:spPr>
        <p:txBody>
          <a:bodyPr wrap="square" anchor="t" lIns="54864" rIns="54864" tIns="27432" bIns="27432"/>
          <a:lstStyle/>
          <a:p>
            <a:pPr>
              <a:spcAft>
                <a:spcPts val="300"/>
              </a:spcAft>
            </a:pPr>
            <a:r>
              <a:rPr sz="1600" b="1" i="0">
                <a:solidFill>
                  <a:srgbClr val="1A1A1A"/>
                </a:solidFill>
                <a:latin typeface="Calibri"/>
              </a:rPr>
              <a:t>• </a:t>
            </a:r>
            <a:r>
              <a:rPr sz="1600" b="0" i="0">
                <a:solidFill>
                  <a:srgbClr val="1A1A1A"/>
                </a:solidFill>
                <a:latin typeface="Calibri"/>
              </a:rPr>
              <a:t>3 </a:t>
            </a:r>
            <a:r>
              <a:rPr sz="1600" b="1" i="0">
                <a:solidFill>
                  <a:srgbClr val="1A1A1A"/>
                </a:solidFill>
                <a:latin typeface="Calibri"/>
              </a:rPr>
              <a:t>innate</a:t>
            </a:r>
            <a:r>
              <a:rPr sz="1600" b="0" i="0">
                <a:solidFill>
                  <a:srgbClr val="1A1A1A"/>
                </a:solidFill>
                <a:latin typeface="Calibri"/>
              </a:rPr>
              <a:t> needs → intrinsic motivation → performance &amp; well-being:</a:t>
            </a:r>
          </a:p>
          <a:p>
            <a:pPr>
              <a:spcAft>
                <a:spcPts val="300"/>
              </a:spcAft>
            </a:pPr>
            <a:r>
              <a:rPr sz="1600" b="1" i="0">
                <a:solidFill>
                  <a:srgbClr val="1A1A1A"/>
                </a:solidFill>
                <a:latin typeface="Calibri"/>
              </a:rPr>
              <a:t>• </a:t>
            </a:r>
            <a:r>
              <a:rPr sz="1600" b="1" i="0">
                <a:solidFill>
                  <a:srgbClr val="1A1A1A"/>
                </a:solidFill>
                <a:latin typeface="Calibri"/>
              </a:rPr>
              <a:t>Competence</a:t>
            </a:r>
            <a:r>
              <a:rPr sz="1600" b="0" i="0">
                <a:solidFill>
                  <a:srgbClr val="1A1A1A"/>
                </a:solidFill>
                <a:latin typeface="Calibri"/>
              </a:rPr>
              <a:t>: 'I need to feel efficacious' → training, tools, coaching (Amazon month-long onboarding)</a:t>
            </a:r>
          </a:p>
          <a:p>
            <a:pPr>
              <a:spcAft>
                <a:spcPts val="300"/>
              </a:spcAft>
            </a:pPr>
            <a:r>
              <a:rPr sz="1600" b="1" i="0">
                <a:solidFill>
                  <a:srgbClr val="1A1A1A"/>
                </a:solidFill>
                <a:latin typeface="Calibri"/>
              </a:rPr>
              <a:t>• </a:t>
            </a:r>
            <a:r>
              <a:rPr sz="1600" b="1" i="0">
                <a:solidFill>
                  <a:srgbClr val="1A1A1A"/>
                </a:solidFill>
                <a:latin typeface="Calibri"/>
              </a:rPr>
              <a:t>Autonomy</a:t>
            </a:r>
            <a:r>
              <a:rPr sz="1600" b="0" i="0">
                <a:solidFill>
                  <a:srgbClr val="1A1A1A"/>
                </a:solidFill>
                <a:latin typeface="Calibri"/>
              </a:rPr>
              <a:t>: 'I need to influence my environment' → empower, delegate (Schneider Electric)</a:t>
            </a:r>
          </a:p>
          <a:p>
            <a:pPr>
              <a:spcAft>
                <a:spcPts val="300"/>
              </a:spcAft>
            </a:pPr>
            <a:r>
              <a:rPr sz="1600" b="1" i="0">
                <a:solidFill>
                  <a:srgbClr val="1A1A1A"/>
                </a:solidFill>
                <a:latin typeface="Calibri"/>
              </a:rPr>
              <a:t>• </a:t>
            </a:r>
            <a:r>
              <a:rPr sz="1600" b="1" i="0">
                <a:solidFill>
                  <a:srgbClr val="1A1A1A"/>
                </a:solidFill>
                <a:latin typeface="Calibri"/>
              </a:rPr>
              <a:t>Relatedness</a:t>
            </a:r>
            <a:r>
              <a:rPr sz="1600" b="0" i="0">
                <a:solidFill>
                  <a:srgbClr val="1A1A1A"/>
                </a:solidFill>
                <a:latin typeface="Calibri"/>
              </a:rPr>
              <a:t>: 'I want to be connected' → fun, camaraderie, vision (23andMe gender balance)</a:t>
            </a:r>
          </a:p>
        </p:txBody>
      </p:sp>
      <p:sp>
        <p:nvSpPr>
          <p:cNvPr id="22" name="Rounded Rectangle 21"/>
          <p:cNvSpPr/>
          <p:nvPr/>
        </p:nvSpPr>
        <p:spPr>
          <a:xfrm>
            <a:off x="6172200" y="4206240"/>
            <a:ext cx="5760720" cy="2331720"/>
          </a:xfrm>
          <a:prstGeom prst="roundRect">
            <a:avLst>
              <a:gd name="adj" fmla="val 6000"/>
            </a:avLst>
          </a:prstGeom>
          <a:solidFill>
            <a:srgbClr val="FFFFFF"/>
          </a:solidFill>
          <a:ln w="19050">
            <a:solidFill>
              <a:srgbClr val="EDA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172200" y="4206240"/>
            <a:ext cx="5760720" cy="45720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2200" y="4526279"/>
            <a:ext cx="5760720" cy="137160"/>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63640" y="4206240"/>
            <a:ext cx="5577840" cy="457200"/>
          </a:xfrm>
          <a:prstGeom prst="rect">
            <a:avLst/>
          </a:prstGeom>
          <a:noFill/>
        </p:spPr>
        <p:txBody>
          <a:bodyPr wrap="square" anchor="ctr" lIns="45720" rIns="45720" tIns="18288" bIns="18288"/>
          <a:lstStyle/>
          <a:p>
            <a:pPr algn="l"/>
            <a:r>
              <a:rPr sz="1900" b="1" i="0">
                <a:solidFill>
                  <a:srgbClr val="FFFFFF"/>
                </a:solidFill>
                <a:latin typeface="Calibri"/>
              </a:rPr>
              <a:t>Warnings &amp; contrast</a:t>
            </a:r>
          </a:p>
        </p:txBody>
      </p:sp>
      <p:sp>
        <p:nvSpPr>
          <p:cNvPr id="26" name="TextBox 25"/>
          <p:cNvSpPr txBox="1"/>
          <p:nvPr/>
        </p:nvSpPr>
        <p:spPr>
          <a:xfrm>
            <a:off x="6245352" y="4718303"/>
            <a:ext cx="5614416" cy="1783079"/>
          </a:xfrm>
          <a:prstGeom prst="rect">
            <a:avLst/>
          </a:prstGeom>
          <a:noFill/>
        </p:spPr>
        <p:txBody>
          <a:bodyPr wrap="square" anchor="t" lIns="54864" rIns="54864" tIns="27432" bIns="27432"/>
          <a:lstStyle/>
          <a:p>
            <a:pPr>
              <a:spcAft>
                <a:spcPts val="300"/>
              </a:spcAft>
            </a:pPr>
            <a:r>
              <a:rPr sz="1800" b="1" i="0">
                <a:solidFill>
                  <a:srgbClr val="1A1A1A"/>
                </a:solidFill>
                <a:latin typeface="Calibri"/>
              </a:rPr>
              <a:t>• </a:t>
            </a:r>
            <a:r>
              <a:rPr sz="1800" b="0" i="0">
                <a:solidFill>
                  <a:srgbClr val="1A1A1A"/>
                </a:solidFill>
                <a:latin typeface="Calibri"/>
              </a:rPr>
              <a:t>Autonomy without resources feels like </a:t>
            </a:r>
            <a:r>
              <a:rPr sz="1800" b="1" i="0">
                <a:solidFill>
                  <a:srgbClr val="1A1A1A"/>
                </a:solidFill>
                <a:latin typeface="Calibri"/>
              </a:rPr>
              <a:t>abandonment</a:t>
            </a:r>
            <a:r>
              <a:rPr sz="1800" b="0" i="0">
                <a:solidFill>
                  <a:srgbClr val="1A1A1A"/>
                </a:solidFill>
                <a:latin typeface="Calibri"/>
              </a:rPr>
              <a:t>; belonging shouldn't require conformity; feedback for learning, not humiliation</a:t>
            </a:r>
          </a:p>
          <a:p>
            <a:pPr>
              <a:spcAft>
                <a:spcPts val="300"/>
              </a:spcAft>
            </a:pPr>
            <a:r>
              <a:rPr sz="1800" b="1" i="0">
                <a:solidFill>
                  <a:srgbClr val="1A1A1A"/>
                </a:solidFill>
                <a:latin typeface="Calibri"/>
              </a:rPr>
              <a:t>• </a:t>
            </a:r>
            <a:r>
              <a:rPr sz="1800" b="0" i="0">
                <a:solidFill>
                  <a:srgbClr val="1A1A1A"/>
                </a:solidFill>
                <a:latin typeface="Calibri"/>
              </a:rPr>
              <a:t>McClelland = learned; SDT = innate. Neither covers lower-order needs (Fig 5.5)</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600" b="1" i="0">
                <a:solidFill>
                  <a:srgbClr val="FFFFFF"/>
                </a:solidFill>
                <a:latin typeface="Calibri"/>
              </a:rPr>
              <a:t>Herzberg's motivator–hygiene theory: two separate continua</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F5D1C0"/>
                </a:solidFill>
                <a:latin typeface="Calibri"/>
              </a:rPr>
              <a:t>MODULE 4 · EMPLOYEE MOTIVATION</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Ch 5 pp. 174–177 · Fig 5.4–5.5</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42</a:t>
            </a:r>
          </a:p>
        </p:txBody>
      </p:sp>
      <p:sp>
        <p:nvSpPr>
          <p:cNvPr id="7" name="TextBox 6"/>
          <p:cNvSpPr txBox="1"/>
          <p:nvPr/>
        </p:nvSpPr>
        <p:spPr>
          <a:xfrm>
            <a:off x="274320" y="1005840"/>
            <a:ext cx="5852160" cy="365760"/>
          </a:xfrm>
          <a:prstGeom prst="rect">
            <a:avLst/>
          </a:prstGeom>
          <a:noFill/>
        </p:spPr>
        <p:txBody>
          <a:bodyPr wrap="square" anchor="t" lIns="45720" rIns="45720" tIns="18288" bIns="18288"/>
          <a:lstStyle/>
          <a:p>
            <a:pPr algn="l"/>
            <a:r>
              <a:rPr sz="1300" b="1" i="0">
                <a:solidFill>
                  <a:srgbClr val="D84A05"/>
                </a:solidFill>
                <a:latin typeface="Calibri"/>
              </a:rPr>
              <a:t>203 accountants &amp; engineers: satisfaction &amp; dissatisfaction are NOT opposites</a:t>
            </a:r>
          </a:p>
        </p:txBody>
      </p:sp>
      <p:sp>
        <p:nvSpPr>
          <p:cNvPr id="8" name="Rounded Rectangle 7"/>
          <p:cNvSpPr/>
          <p:nvPr/>
        </p:nvSpPr>
        <p:spPr>
          <a:xfrm>
            <a:off x="274320" y="1417320"/>
            <a:ext cx="2834640" cy="548640"/>
          </a:xfrm>
          <a:prstGeom prst="roundRect">
            <a:avLst>
              <a:gd name="adj" fmla="val 6000"/>
            </a:avLst>
          </a:prstGeom>
          <a:solidFill>
            <a:srgbClr val="B7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600" b="1" i="0">
                <a:solidFill>
                  <a:srgbClr val="FFFFFF"/>
                </a:solidFill>
                <a:latin typeface="Calibri"/>
              </a:rPr>
              <a:t>Dissatisfaction</a:t>
            </a:r>
          </a:p>
        </p:txBody>
      </p:sp>
      <p:sp>
        <p:nvSpPr>
          <p:cNvPr id="9" name="Right Arrow 8"/>
          <p:cNvSpPr/>
          <p:nvPr/>
        </p:nvSpPr>
        <p:spPr>
          <a:xfrm>
            <a:off x="3154680" y="1463040"/>
            <a:ext cx="548640" cy="457200"/>
          </a:xfrm>
          <a:prstGeom prst="rightArrow">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749039" y="1417320"/>
            <a:ext cx="2377440" cy="548640"/>
          </a:xfrm>
          <a:prstGeom prst="roundRect">
            <a:avLst>
              <a:gd name="adj" fmla="val 6000"/>
            </a:avLst>
          </a:prstGeom>
          <a:solidFill>
            <a:srgbClr val="3747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600" b="1" i="0">
                <a:solidFill>
                  <a:srgbClr val="FFFFFF"/>
                </a:solidFill>
                <a:latin typeface="Calibri"/>
              </a:rPr>
              <a:t>No dissatisfaction</a:t>
            </a:r>
          </a:p>
        </p:txBody>
      </p:sp>
      <p:sp>
        <p:nvSpPr>
          <p:cNvPr id="11" name="Rounded Rectangle 10"/>
          <p:cNvSpPr/>
          <p:nvPr/>
        </p:nvSpPr>
        <p:spPr>
          <a:xfrm>
            <a:off x="274320" y="2057400"/>
            <a:ext cx="5852160" cy="1828800"/>
          </a:xfrm>
          <a:prstGeom prst="roundRect">
            <a:avLst>
              <a:gd name="adj" fmla="val 6000"/>
            </a:avLst>
          </a:prstGeom>
          <a:solidFill>
            <a:srgbClr val="FFFFFF"/>
          </a:solidFill>
          <a:ln w="19050">
            <a:solidFill>
              <a:srgbClr val="A5AC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74320" y="2057400"/>
            <a:ext cx="5852160" cy="457200"/>
          </a:xfrm>
          <a:prstGeom prst="roundRect">
            <a:avLst>
              <a:gd name="adj" fmla="val 6000"/>
            </a:avLst>
          </a:prstGeom>
          <a:solidFill>
            <a:srgbClr val="374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2377440"/>
            <a:ext cx="5852160" cy="137160"/>
          </a:xfrm>
          <a:prstGeom prst="rect">
            <a:avLst/>
          </a:prstGeom>
          <a:solidFill>
            <a:srgbClr val="374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2057400"/>
            <a:ext cx="5669280" cy="457200"/>
          </a:xfrm>
          <a:prstGeom prst="rect">
            <a:avLst/>
          </a:prstGeom>
          <a:noFill/>
        </p:spPr>
        <p:txBody>
          <a:bodyPr wrap="square" anchor="ctr" lIns="45720" rIns="45720" tIns="18288" bIns="18288"/>
          <a:lstStyle/>
          <a:p>
            <a:pPr algn="l"/>
            <a:r>
              <a:rPr sz="1900" b="1" i="0">
                <a:solidFill>
                  <a:srgbClr val="FFFFFF"/>
                </a:solidFill>
                <a:latin typeface="Calibri"/>
              </a:rPr>
              <a:t>HYGIENE factors = job CONTEXT (extrinsic)</a:t>
            </a:r>
          </a:p>
        </p:txBody>
      </p:sp>
      <p:sp>
        <p:nvSpPr>
          <p:cNvPr id="15" name="TextBox 14"/>
          <p:cNvSpPr txBox="1"/>
          <p:nvPr/>
        </p:nvSpPr>
        <p:spPr>
          <a:xfrm>
            <a:off x="347472" y="2569464"/>
            <a:ext cx="5705856" cy="1280160"/>
          </a:xfrm>
          <a:prstGeom prst="rect">
            <a:avLst/>
          </a:prstGeom>
          <a:noFill/>
        </p:spPr>
        <p:txBody>
          <a:bodyPr wrap="square" anchor="t" lIns="54864" rIns="54864" tIns="27432" bIns="27432"/>
          <a:lstStyle/>
          <a:p>
            <a:pPr>
              <a:spcAft>
                <a:spcPts val="300"/>
              </a:spcAft>
            </a:pPr>
            <a:r>
              <a:rPr sz="1600" b="1" i="0">
                <a:solidFill>
                  <a:srgbClr val="1A1A1A"/>
                </a:solidFill>
                <a:latin typeface="Calibri"/>
              </a:rPr>
              <a:t>• </a:t>
            </a:r>
            <a:r>
              <a:rPr sz="1600" b="0" i="0">
                <a:solidFill>
                  <a:srgbClr val="1A1A1A"/>
                </a:solidFill>
                <a:latin typeface="Calibri"/>
              </a:rPr>
              <a:t>Company policy &amp; administration · technical supervision · salary · interpersonal relations with supervisor · working conditions · job security</a:t>
            </a:r>
          </a:p>
          <a:p>
            <a:pPr>
              <a:spcAft>
                <a:spcPts val="300"/>
              </a:spcAft>
            </a:pPr>
            <a:r>
              <a:rPr sz="1600" b="1" i="0">
                <a:solidFill>
                  <a:srgbClr val="1A1A1A"/>
                </a:solidFill>
                <a:latin typeface="Calibri"/>
              </a:rPr>
              <a:t>• </a:t>
            </a:r>
            <a:r>
              <a:rPr sz="1600" b="0" i="0">
                <a:solidFill>
                  <a:srgbClr val="1A1A1A"/>
                </a:solidFill>
                <a:latin typeface="Calibri"/>
              </a:rPr>
              <a:t>Fixing them only removes dissatisfaction</a:t>
            </a:r>
          </a:p>
        </p:txBody>
      </p:sp>
      <p:sp>
        <p:nvSpPr>
          <p:cNvPr id="16" name="Rounded Rectangle 15"/>
          <p:cNvSpPr/>
          <p:nvPr/>
        </p:nvSpPr>
        <p:spPr>
          <a:xfrm>
            <a:off x="274320" y="4023360"/>
            <a:ext cx="2834640" cy="548640"/>
          </a:xfrm>
          <a:prstGeom prst="roundRect">
            <a:avLst>
              <a:gd name="adj" fmla="val 6000"/>
            </a:avLst>
          </a:prstGeom>
          <a:solidFill>
            <a:srgbClr val="3747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600" b="1" i="0">
                <a:solidFill>
                  <a:srgbClr val="FFFFFF"/>
                </a:solidFill>
                <a:latin typeface="Calibri"/>
              </a:rPr>
              <a:t>No satisfaction</a:t>
            </a:r>
          </a:p>
        </p:txBody>
      </p:sp>
      <p:sp>
        <p:nvSpPr>
          <p:cNvPr id="17" name="Right Arrow 16"/>
          <p:cNvSpPr/>
          <p:nvPr/>
        </p:nvSpPr>
        <p:spPr>
          <a:xfrm>
            <a:off x="3154680" y="4069080"/>
            <a:ext cx="548640" cy="457200"/>
          </a:xfrm>
          <a:prstGeom prst="rightArrow">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749039" y="4023360"/>
            <a:ext cx="2377440" cy="548640"/>
          </a:xfrm>
          <a:prstGeom prst="roundRect">
            <a:avLst>
              <a:gd name="adj" fmla="val 6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600" b="1" i="0">
                <a:solidFill>
                  <a:srgbClr val="FFFFFF"/>
                </a:solidFill>
                <a:latin typeface="Calibri"/>
              </a:rPr>
              <a:t>Satisfaction</a:t>
            </a:r>
          </a:p>
        </p:txBody>
      </p:sp>
      <p:sp>
        <p:nvSpPr>
          <p:cNvPr id="19" name="Rounded Rectangle 18"/>
          <p:cNvSpPr/>
          <p:nvPr/>
        </p:nvSpPr>
        <p:spPr>
          <a:xfrm>
            <a:off x="274320" y="4663440"/>
            <a:ext cx="5852160" cy="1874519"/>
          </a:xfrm>
          <a:prstGeom prst="roundRect">
            <a:avLst>
              <a:gd name="adj" fmla="val 6000"/>
            </a:avLst>
          </a:prstGeom>
          <a:solidFill>
            <a:srgbClr val="FFFFFF"/>
          </a:solidFill>
          <a:ln w="19050">
            <a:solidFill>
              <a:srgbClr val="99C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274320" y="4663440"/>
            <a:ext cx="5852160" cy="457200"/>
          </a:xfrm>
          <a:prstGeom prst="roundRect">
            <a:avLst>
              <a:gd name="adj" fmla="val 6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74320" y="4983479"/>
            <a:ext cx="5852160" cy="137160"/>
          </a:xfrm>
          <a:prstGeom prst="rect">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 y="4663440"/>
            <a:ext cx="5669280" cy="457200"/>
          </a:xfrm>
          <a:prstGeom prst="rect">
            <a:avLst/>
          </a:prstGeom>
          <a:noFill/>
        </p:spPr>
        <p:txBody>
          <a:bodyPr wrap="square" anchor="ctr" lIns="45720" rIns="45720" tIns="18288" bIns="18288"/>
          <a:lstStyle/>
          <a:p>
            <a:pPr algn="l"/>
            <a:r>
              <a:rPr sz="1900" b="1" i="0">
                <a:solidFill>
                  <a:srgbClr val="FFFFFF"/>
                </a:solidFill>
                <a:latin typeface="Calibri"/>
              </a:rPr>
              <a:t>MOTIVATORS = job CONTENT (intrinsic)</a:t>
            </a:r>
          </a:p>
        </p:txBody>
      </p:sp>
      <p:sp>
        <p:nvSpPr>
          <p:cNvPr id="23" name="TextBox 22"/>
          <p:cNvSpPr txBox="1"/>
          <p:nvPr/>
        </p:nvSpPr>
        <p:spPr>
          <a:xfrm>
            <a:off x="347472" y="5175503"/>
            <a:ext cx="5705856" cy="1325879"/>
          </a:xfrm>
          <a:prstGeom prst="rect">
            <a:avLst/>
          </a:prstGeom>
          <a:noFill/>
        </p:spPr>
        <p:txBody>
          <a:bodyPr wrap="square" anchor="t" lIns="54864" rIns="54864" tIns="27432" bIns="27432"/>
          <a:lstStyle/>
          <a:p>
            <a:pPr>
              <a:spcAft>
                <a:spcPts val="300"/>
              </a:spcAft>
            </a:pPr>
            <a:r>
              <a:rPr sz="1800" b="1" i="0">
                <a:solidFill>
                  <a:srgbClr val="1A1A1A"/>
                </a:solidFill>
                <a:latin typeface="Calibri"/>
              </a:rPr>
              <a:t>• </a:t>
            </a:r>
            <a:r>
              <a:rPr sz="1800" b="0" i="0">
                <a:solidFill>
                  <a:srgbClr val="1A1A1A"/>
                </a:solidFill>
                <a:latin typeface="Calibri"/>
              </a:rPr>
              <a:t>Achievement · recognition · the work itself · responsibility · advancement · growth</a:t>
            </a:r>
          </a:p>
          <a:p>
            <a:pPr>
              <a:spcAft>
                <a:spcPts val="300"/>
              </a:spcAft>
            </a:pPr>
            <a:r>
              <a:rPr sz="1800" b="1" i="0">
                <a:solidFill>
                  <a:srgbClr val="1A1A1A"/>
                </a:solidFill>
                <a:latin typeface="Calibri"/>
              </a:rPr>
              <a:t>• </a:t>
            </a:r>
            <a:r>
              <a:rPr sz="1800" b="0" i="0">
                <a:solidFill>
                  <a:srgbClr val="1A1A1A"/>
                </a:solidFill>
                <a:latin typeface="Calibri"/>
              </a:rPr>
              <a:t>Only these create satisfaction &amp; motivation → basis of </a:t>
            </a:r>
            <a:r>
              <a:rPr sz="1800" b="1" i="0">
                <a:solidFill>
                  <a:srgbClr val="1A1A1A"/>
                </a:solidFill>
                <a:latin typeface="Calibri"/>
              </a:rPr>
              <a:t>job enrichment</a:t>
            </a:r>
          </a:p>
        </p:txBody>
      </p:sp>
      <p:sp>
        <p:nvSpPr>
          <p:cNvPr id="24" name="Rounded Rectangle 23"/>
          <p:cNvSpPr/>
          <p:nvPr/>
        </p:nvSpPr>
        <p:spPr>
          <a:xfrm>
            <a:off x="6263640" y="1051560"/>
            <a:ext cx="2743200" cy="3291840"/>
          </a:xfrm>
          <a:prstGeom prst="roundRect">
            <a:avLst>
              <a:gd name="adj" fmla="val 6000"/>
            </a:avLst>
          </a:prstGeom>
          <a:solidFill>
            <a:srgbClr val="FFFFFF"/>
          </a:solidFill>
          <a:ln w="19050">
            <a:solidFill>
              <a:srgbClr val="EDA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263640" y="1051560"/>
            <a:ext cx="2743200" cy="45720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63640" y="1371600"/>
            <a:ext cx="2743200" cy="137160"/>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55079" y="1051560"/>
            <a:ext cx="2560320" cy="457200"/>
          </a:xfrm>
          <a:prstGeom prst="rect">
            <a:avLst/>
          </a:prstGeom>
          <a:noFill/>
        </p:spPr>
        <p:txBody>
          <a:bodyPr wrap="square" anchor="ctr" lIns="45720" rIns="45720" tIns="18288" bIns="18288"/>
          <a:lstStyle/>
          <a:p>
            <a:pPr algn="l"/>
            <a:r>
              <a:rPr sz="1800" b="1" i="0">
                <a:solidFill>
                  <a:srgbClr val="FFFFFF"/>
                </a:solidFill>
                <a:latin typeface="Calibri"/>
              </a:rPr>
              <a:t>Applying it (p. 176)</a:t>
            </a:r>
          </a:p>
        </p:txBody>
      </p:sp>
      <p:sp>
        <p:nvSpPr>
          <p:cNvPr id="28" name="TextBox 27"/>
          <p:cNvSpPr txBox="1"/>
          <p:nvPr/>
        </p:nvSpPr>
        <p:spPr>
          <a:xfrm>
            <a:off x="6336792" y="1563624"/>
            <a:ext cx="2596896" cy="2743200"/>
          </a:xfrm>
          <a:prstGeom prst="rect">
            <a:avLst/>
          </a:prstGeom>
          <a:noFill/>
        </p:spPr>
        <p:txBody>
          <a:bodyPr wrap="square" anchor="t" lIns="54864" rIns="54864" tIns="27432" bIns="27432"/>
          <a:lstStyle/>
          <a:p>
            <a:pPr>
              <a:spcAft>
                <a:spcPts val="300"/>
              </a:spcAft>
            </a:pPr>
            <a:r>
              <a:rPr sz="1300" b="1" i="0">
                <a:solidFill>
                  <a:srgbClr val="1A1A1A"/>
                </a:solidFill>
                <a:latin typeface="Calibri"/>
              </a:rPr>
              <a:t>• </a:t>
            </a:r>
            <a:r>
              <a:rPr sz="1300" b="1" i="0">
                <a:solidFill>
                  <a:srgbClr val="1A1A1A"/>
                </a:solidFill>
                <a:latin typeface="Calibri"/>
              </a:rPr>
              <a:t>1 Hygiene first</a:t>
            </a:r>
            <a:r>
              <a:rPr sz="1300" b="0" i="0">
                <a:solidFill>
                  <a:srgbClr val="1A1A1A"/>
                </a:solidFill>
                <a:latin typeface="Calibri"/>
              </a:rPr>
              <a:t>: fix pay dissatisfaction before motivating</a:t>
            </a:r>
          </a:p>
          <a:p>
            <a:pPr>
              <a:spcAft>
                <a:spcPts val="300"/>
              </a:spcAft>
            </a:pPr>
            <a:r>
              <a:rPr sz="1300" b="1" i="0">
                <a:solidFill>
                  <a:srgbClr val="1A1A1A"/>
                </a:solidFill>
                <a:latin typeface="Calibri"/>
              </a:rPr>
              <a:t>• </a:t>
            </a:r>
            <a:r>
              <a:rPr sz="1300" b="1" i="0">
                <a:solidFill>
                  <a:srgbClr val="1A1A1A"/>
                </a:solidFill>
                <a:latin typeface="Calibri"/>
              </a:rPr>
              <a:t>2 Motivation next</a:t>
            </a:r>
            <a:r>
              <a:rPr sz="1300" b="0" i="0">
                <a:solidFill>
                  <a:srgbClr val="1A1A1A"/>
                </a:solidFill>
                <a:latin typeface="Calibri"/>
              </a:rPr>
              <a:t>: build motivators into jobs</a:t>
            </a:r>
          </a:p>
          <a:p>
            <a:pPr>
              <a:spcAft>
                <a:spcPts val="300"/>
              </a:spcAft>
            </a:pPr>
            <a:r>
              <a:rPr sz="1300" b="1" i="0">
                <a:solidFill>
                  <a:srgbClr val="1A1A1A"/>
                </a:solidFill>
                <a:latin typeface="Calibri"/>
              </a:rPr>
              <a:t>• </a:t>
            </a:r>
            <a:r>
              <a:rPr sz="1300" b="1" i="0">
                <a:solidFill>
                  <a:srgbClr val="1A1A1A"/>
                </a:solidFill>
                <a:latin typeface="Calibri"/>
              </a:rPr>
              <a:t>3 A few well-chosen words</a:t>
            </a:r>
            <a:r>
              <a:rPr sz="1300" b="0" i="0">
                <a:solidFill>
                  <a:srgbClr val="1A1A1A"/>
                </a:solidFill>
                <a:latin typeface="Calibri"/>
              </a:rPr>
              <a:t>: recognition fuels intrinsic motivation</a:t>
            </a:r>
          </a:p>
          <a:p>
            <a:pPr>
              <a:spcAft>
                <a:spcPts val="300"/>
              </a:spcAft>
            </a:pPr>
            <a:r>
              <a:rPr sz="1300" b="1" i="0">
                <a:solidFill>
                  <a:srgbClr val="1A1A1A"/>
                </a:solidFill>
                <a:latin typeface="Calibri"/>
              </a:rPr>
              <a:t>• </a:t>
            </a:r>
            <a:r>
              <a:rPr sz="1300" b="0" i="0">
                <a:solidFill>
                  <a:srgbClr val="1A1A1A"/>
                </a:solidFill>
                <a:latin typeface="Calibri"/>
              </a:rPr>
              <a:t>Authors' critique: good hygiene CAN motivate (REI pays well → low turnover)</a:t>
            </a:r>
          </a:p>
        </p:txBody>
      </p:sp>
      <p:sp>
        <p:nvSpPr>
          <p:cNvPr id="29" name="Rounded Rectangle 28"/>
          <p:cNvSpPr/>
          <p:nvPr/>
        </p:nvSpPr>
        <p:spPr>
          <a:xfrm>
            <a:off x="9144000" y="1051560"/>
            <a:ext cx="2788920" cy="3291840"/>
          </a:xfrm>
          <a:prstGeom prst="roundRect">
            <a:avLst>
              <a:gd name="adj" fmla="val 6000"/>
            </a:avLst>
          </a:prstGeom>
          <a:solidFill>
            <a:srgbClr val="FFFFFF"/>
          </a:solidFill>
          <a:ln w="19050">
            <a:solidFill>
              <a:srgbClr val="EDA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144000" y="1051560"/>
            <a:ext cx="2788920" cy="45720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144000" y="1371600"/>
            <a:ext cx="2788920" cy="137160"/>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35440" y="1051560"/>
            <a:ext cx="2606039" cy="457200"/>
          </a:xfrm>
          <a:prstGeom prst="rect">
            <a:avLst/>
          </a:prstGeom>
          <a:noFill/>
        </p:spPr>
        <p:txBody>
          <a:bodyPr wrap="square" anchor="ctr" lIns="45720" rIns="45720" tIns="18288" bIns="18288"/>
          <a:lstStyle/>
          <a:p>
            <a:pPr algn="l"/>
            <a:r>
              <a:rPr sz="1500" b="1" i="0">
                <a:solidFill>
                  <a:srgbClr val="FFFFFF"/>
                </a:solidFill>
                <a:latin typeface="Calibri"/>
              </a:rPr>
              <a:t>Hospitality example (PPT)</a:t>
            </a:r>
          </a:p>
        </p:txBody>
      </p:sp>
      <p:sp>
        <p:nvSpPr>
          <p:cNvPr id="33" name="TextBox 32"/>
          <p:cNvSpPr txBox="1"/>
          <p:nvPr/>
        </p:nvSpPr>
        <p:spPr>
          <a:xfrm>
            <a:off x="9217152" y="1563624"/>
            <a:ext cx="2642615" cy="2743200"/>
          </a:xfrm>
          <a:prstGeom prst="rect">
            <a:avLst/>
          </a:prstGeom>
          <a:noFill/>
        </p:spPr>
        <p:txBody>
          <a:bodyPr wrap="square" anchor="t" lIns="54864" rIns="54864" tIns="27432" bIns="27432"/>
          <a:lstStyle/>
          <a:p>
            <a:pPr>
              <a:spcAft>
                <a:spcPts val="300"/>
              </a:spcAft>
            </a:pPr>
            <a:r>
              <a:rPr sz="1700" b="1" i="0">
                <a:solidFill>
                  <a:srgbClr val="1A1A1A"/>
                </a:solidFill>
                <a:latin typeface="Calibri"/>
              </a:rPr>
              <a:t>• </a:t>
            </a:r>
            <a:r>
              <a:rPr sz="1700" b="0" i="0">
                <a:solidFill>
                  <a:srgbClr val="1A1A1A"/>
                </a:solidFill>
                <a:latin typeface="Calibri"/>
              </a:rPr>
              <a:t>Hygiene problems: payroll errors, understaffing, unsafe conditions, poor supervision</a:t>
            </a:r>
          </a:p>
          <a:p>
            <a:pPr>
              <a:spcAft>
                <a:spcPts val="300"/>
              </a:spcAft>
            </a:pPr>
            <a:r>
              <a:rPr sz="1700" b="1" i="0">
                <a:solidFill>
                  <a:srgbClr val="1A1A1A"/>
                </a:solidFill>
                <a:latin typeface="Calibri"/>
              </a:rPr>
              <a:t>• </a:t>
            </a:r>
            <a:r>
              <a:rPr sz="1700" b="0" i="0">
                <a:solidFill>
                  <a:srgbClr val="1A1A1A"/>
                </a:solidFill>
                <a:latin typeface="Calibri"/>
              </a:rPr>
              <a:t>Motivators: recognition for guest recovery, responsibility for improvements, development paths</a:t>
            </a:r>
          </a:p>
        </p:txBody>
      </p:sp>
      <p:graphicFrame>
        <p:nvGraphicFramePr>
          <p:cNvPr id="34" name="Table 33"/>
          <p:cNvGraphicFramePr>
            <a:graphicFrameLocks noGrp="1"/>
          </p:cNvGraphicFramePr>
          <p:nvPr/>
        </p:nvGraphicFramePr>
        <p:xfrm>
          <a:off x="6263640" y="4480560"/>
          <a:ext cx="5669280" cy="2057400"/>
        </p:xfrm>
        <a:graphic>
          <a:graphicData uri="http://schemas.openxmlformats.org/drawingml/2006/table">
            <a:tbl>
              <a:tblPr firstRow="1" bandRow="1">
                <a:tableStyleId>{5C22544A-7EE6-4342-B048-85BDC9FD1C3A}</a:tableStyleId>
              </a:tblPr>
              <a:tblGrid>
                <a:gridCol w="1417320"/>
                <a:gridCol w="1417320"/>
                <a:gridCol w="1417320"/>
                <a:gridCol w="1417320"/>
              </a:tblGrid>
              <a:tr h="514350">
                <a:tc>
                  <a:txBody>
                    <a:bodyPr wrap="square"/>
                    <a:lstStyle/>
                    <a:p>
                      <a:r>
                        <a:rPr sz="1300" b="1" i="0">
                          <a:solidFill>
                            <a:srgbClr val="FFFFFF"/>
                          </a:solidFill>
                          <a:latin typeface="Calibri"/>
                        </a:rPr>
                        <a:t>Maslow</a:t>
                      </a:r>
                    </a:p>
                  </a:txBody>
                  <a:tcPr marL="54864" marR="54864" marT="27432" marB="27432" anchor="ctr">
                    <a:solidFill>
                      <a:srgbClr val="D84A05"/>
                    </a:solidFill>
                  </a:tcPr>
                </a:tc>
                <a:tc>
                  <a:txBody>
                    <a:bodyPr wrap="square"/>
                    <a:lstStyle/>
                    <a:p>
                      <a:r>
                        <a:rPr sz="1300" b="1" i="0">
                          <a:solidFill>
                            <a:srgbClr val="FFFFFF"/>
                          </a:solidFill>
                          <a:latin typeface="Calibri"/>
                        </a:rPr>
                        <a:t>McClelland</a:t>
                      </a:r>
                    </a:p>
                  </a:txBody>
                  <a:tcPr marL="54864" marR="54864" marT="27432" marB="27432" anchor="ctr">
                    <a:solidFill>
                      <a:srgbClr val="D84A05"/>
                    </a:solidFill>
                  </a:tcPr>
                </a:tc>
                <a:tc>
                  <a:txBody>
                    <a:bodyPr wrap="square"/>
                    <a:lstStyle/>
                    <a:p>
                      <a:r>
                        <a:rPr sz="1300" b="1" i="0">
                          <a:solidFill>
                            <a:srgbClr val="FFFFFF"/>
                          </a:solidFill>
                          <a:latin typeface="Calibri"/>
                        </a:rPr>
                        <a:t>SDT</a:t>
                      </a:r>
                    </a:p>
                  </a:txBody>
                  <a:tcPr marL="54864" marR="54864" marT="27432" marB="27432" anchor="ctr">
                    <a:solidFill>
                      <a:srgbClr val="D84A05"/>
                    </a:solidFill>
                  </a:tcPr>
                </a:tc>
                <a:tc>
                  <a:txBody>
                    <a:bodyPr wrap="square"/>
                    <a:lstStyle/>
                    <a:p>
                      <a:r>
                        <a:rPr sz="1300" b="1" i="0">
                          <a:solidFill>
                            <a:srgbClr val="FFFFFF"/>
                          </a:solidFill>
                          <a:latin typeface="Calibri"/>
                        </a:rPr>
                        <a:t>Herzberg</a:t>
                      </a:r>
                    </a:p>
                  </a:txBody>
                  <a:tcPr marL="54864" marR="54864" marT="27432" marB="27432" anchor="ctr">
                    <a:solidFill>
                      <a:srgbClr val="D84A05"/>
                    </a:solidFill>
                  </a:tcPr>
                </a:tc>
              </a:tr>
              <a:tr h="514350">
                <a:tc>
                  <a:txBody>
                    <a:bodyPr wrap="square"/>
                    <a:lstStyle/>
                    <a:p>
                      <a:r>
                        <a:rPr sz="1300" b="0" i="0">
                          <a:solidFill>
                            <a:srgbClr val="1A1A1A"/>
                          </a:solidFill>
                          <a:latin typeface="Calibri"/>
                        </a:rPr>
                        <a:t>Self-actualisation, Esteem</a:t>
                      </a:r>
                    </a:p>
                  </a:txBody>
                  <a:tcPr marL="54864" marR="54864" marT="27432" marB="27432" anchor="ctr">
                    <a:solidFill>
                      <a:srgbClr val="FFFFFF"/>
                    </a:solidFill>
                  </a:tcPr>
                </a:tc>
                <a:tc>
                  <a:txBody>
                    <a:bodyPr wrap="square"/>
                    <a:lstStyle/>
                    <a:p>
                      <a:r>
                        <a:rPr sz="1300" b="0" i="0">
                          <a:solidFill>
                            <a:srgbClr val="1A1A1A"/>
                          </a:solidFill>
                          <a:latin typeface="Calibri"/>
                        </a:rPr>
                        <a:t>Achievement, Power</a:t>
                      </a:r>
                    </a:p>
                  </a:txBody>
                  <a:tcPr marL="54864" marR="54864" marT="27432" marB="27432" anchor="ctr">
                    <a:solidFill>
                      <a:srgbClr val="FFFFFF"/>
                    </a:solidFill>
                  </a:tcPr>
                </a:tc>
                <a:tc>
                  <a:txBody>
                    <a:bodyPr wrap="square"/>
                    <a:lstStyle/>
                    <a:p>
                      <a:r>
                        <a:rPr sz="1300" b="0" i="0">
                          <a:solidFill>
                            <a:srgbClr val="1A1A1A"/>
                          </a:solidFill>
                          <a:latin typeface="Calibri"/>
                        </a:rPr>
                        <a:t>Competence, Autonomy</a:t>
                      </a:r>
                    </a:p>
                  </a:txBody>
                  <a:tcPr marL="54864" marR="54864" marT="27432" marB="27432" anchor="ctr">
                    <a:solidFill>
                      <a:srgbClr val="FFFFFF"/>
                    </a:solidFill>
                  </a:tcPr>
                </a:tc>
                <a:tc>
                  <a:txBody>
                    <a:bodyPr wrap="square"/>
                    <a:lstStyle/>
                    <a:p>
                      <a:r>
                        <a:rPr sz="1300" b="0" i="0">
                          <a:solidFill>
                            <a:srgbClr val="1A1A1A"/>
                          </a:solidFill>
                          <a:latin typeface="Calibri"/>
                        </a:rPr>
                        <a:t>Motivators</a:t>
                      </a:r>
                    </a:p>
                  </a:txBody>
                  <a:tcPr marL="54864" marR="54864" marT="27432" marB="27432" anchor="ctr">
                    <a:solidFill>
                      <a:srgbClr val="FFFFFF"/>
                    </a:solidFill>
                  </a:tcPr>
                </a:tc>
              </a:tr>
              <a:tr h="514350">
                <a:tc>
                  <a:txBody>
                    <a:bodyPr wrap="square"/>
                    <a:lstStyle/>
                    <a:p>
                      <a:r>
                        <a:rPr sz="1300" b="0" i="0">
                          <a:solidFill>
                            <a:srgbClr val="1A1A1A"/>
                          </a:solidFill>
                          <a:latin typeface="Calibri"/>
                        </a:rPr>
                        <a:t>Love / belonging</a:t>
                      </a:r>
                    </a:p>
                  </a:txBody>
                  <a:tcPr marL="54864" marR="54864" marT="27432" marB="27432" anchor="ctr">
                    <a:solidFill>
                      <a:srgbClr val="FBECE6"/>
                    </a:solidFill>
                  </a:tcPr>
                </a:tc>
                <a:tc>
                  <a:txBody>
                    <a:bodyPr wrap="square"/>
                    <a:lstStyle/>
                    <a:p>
                      <a:r>
                        <a:rPr sz="1300" b="0" i="0">
                          <a:solidFill>
                            <a:srgbClr val="1A1A1A"/>
                          </a:solidFill>
                          <a:latin typeface="Calibri"/>
                        </a:rPr>
                        <a:t>Affiliation</a:t>
                      </a:r>
                    </a:p>
                  </a:txBody>
                  <a:tcPr marL="54864" marR="54864" marT="27432" marB="27432" anchor="ctr">
                    <a:solidFill>
                      <a:srgbClr val="FBECE6"/>
                    </a:solidFill>
                  </a:tcPr>
                </a:tc>
                <a:tc>
                  <a:txBody>
                    <a:bodyPr wrap="square"/>
                    <a:lstStyle/>
                    <a:p>
                      <a:r>
                        <a:rPr sz="1300" b="0" i="0">
                          <a:solidFill>
                            <a:srgbClr val="1A1A1A"/>
                          </a:solidFill>
                          <a:latin typeface="Calibri"/>
                        </a:rPr>
                        <a:t>Relatedness</a:t>
                      </a:r>
                    </a:p>
                  </a:txBody>
                  <a:tcPr marL="54864" marR="54864" marT="27432" marB="27432" anchor="ctr">
                    <a:solidFill>
                      <a:srgbClr val="FBECE6"/>
                    </a:solidFill>
                  </a:tcPr>
                </a:tc>
                <a:tc>
                  <a:txBody>
                    <a:bodyPr wrap="square"/>
                    <a:lstStyle/>
                    <a:p>
                      <a:r>
                        <a:rPr sz="1300" b="0" i="0">
                          <a:solidFill>
                            <a:srgbClr val="1A1A1A"/>
                          </a:solidFill>
                          <a:latin typeface="Calibri"/>
                        </a:rPr>
                        <a:t>(Hygiene: relations)</a:t>
                      </a:r>
                    </a:p>
                  </a:txBody>
                  <a:tcPr marL="54864" marR="54864" marT="27432" marB="27432" anchor="ctr">
                    <a:solidFill>
                      <a:srgbClr val="FBECE6"/>
                    </a:solidFill>
                  </a:tcPr>
                </a:tc>
              </a:tr>
              <a:tr h="514350">
                <a:tc>
                  <a:txBody>
                    <a:bodyPr wrap="square"/>
                    <a:lstStyle/>
                    <a:p>
                      <a:r>
                        <a:rPr sz="1300" b="0" i="0">
                          <a:solidFill>
                            <a:srgbClr val="1A1A1A"/>
                          </a:solidFill>
                          <a:latin typeface="Calibri"/>
                        </a:rPr>
                        <a:t>Safety, Physiological</a:t>
                      </a:r>
                    </a:p>
                  </a:txBody>
                  <a:tcPr marL="54864" marR="54864" marT="27432" marB="27432" anchor="ctr">
                    <a:solidFill>
                      <a:srgbClr val="FFFFFF"/>
                    </a:solidFill>
                  </a:tcPr>
                </a:tc>
                <a:tc>
                  <a:txBody>
                    <a:bodyPr wrap="square"/>
                    <a:lstStyle/>
                    <a:p>
                      <a:r>
                        <a:rPr sz="1300" b="0" i="0">
                          <a:solidFill>
                            <a:srgbClr val="1A1A1A"/>
                          </a:solidFill>
                          <a:latin typeface="Calibri"/>
                        </a:rPr>
                        <a:t>—</a:t>
                      </a:r>
                    </a:p>
                  </a:txBody>
                  <a:tcPr marL="54864" marR="54864" marT="27432" marB="27432" anchor="ctr">
                    <a:solidFill>
                      <a:srgbClr val="FFFFFF"/>
                    </a:solidFill>
                  </a:tcPr>
                </a:tc>
                <a:tc>
                  <a:txBody>
                    <a:bodyPr wrap="square"/>
                    <a:lstStyle/>
                    <a:p>
                      <a:r>
                        <a:rPr sz="1300" b="0" i="0">
                          <a:solidFill>
                            <a:srgbClr val="1A1A1A"/>
                          </a:solidFill>
                          <a:latin typeface="Calibri"/>
                        </a:rPr>
                        <a:t>—</a:t>
                      </a:r>
                    </a:p>
                  </a:txBody>
                  <a:tcPr marL="54864" marR="54864" marT="27432" marB="27432" anchor="ctr">
                    <a:solidFill>
                      <a:srgbClr val="FFFFFF"/>
                    </a:solidFill>
                  </a:tcPr>
                </a:tc>
                <a:tc>
                  <a:txBody>
                    <a:bodyPr wrap="square"/>
                    <a:lstStyle/>
                    <a:p>
                      <a:r>
                        <a:rPr sz="1300" b="0" i="0">
                          <a:solidFill>
                            <a:srgbClr val="1A1A1A"/>
                          </a:solidFill>
                          <a:latin typeface="Calibri"/>
                        </a:rPr>
                        <a:t>Hygiene factors</a:t>
                      </a:r>
                    </a:p>
                  </a:txBody>
                  <a:tcPr marL="54864" marR="54864" marT="27432" marB="27432" anchor="ctr">
                    <a:solidFill>
                      <a:srgbClr val="FFFFFF"/>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600" b="1" i="0">
                <a:solidFill>
                  <a:srgbClr val="FFFFFF"/>
                </a:solidFill>
                <a:latin typeface="Calibri"/>
              </a:rPr>
              <a:t>5.3 Process theories I: Equity theory (J. Stacy Adams)</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F5D1C0"/>
                </a:solidFill>
                <a:latin typeface="Calibri"/>
              </a:rPr>
              <a:t>MODULE 4 · EMPLOYEE MOTIVATION</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Ch 5 pp. 178–180 · Fig 5.6</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43</a:t>
            </a:r>
          </a:p>
        </p:txBody>
      </p:sp>
      <p:sp>
        <p:nvSpPr>
          <p:cNvPr id="7" name="Rounded Rectangle 6"/>
          <p:cNvSpPr/>
          <p:nvPr/>
        </p:nvSpPr>
        <p:spPr>
          <a:xfrm>
            <a:off x="274320" y="1051560"/>
            <a:ext cx="11658600" cy="685800"/>
          </a:xfrm>
          <a:prstGeom prst="roundRect">
            <a:avLst>
              <a:gd name="adj" fmla="val 6000"/>
            </a:avLst>
          </a:prstGeom>
          <a:solidFill>
            <a:srgbClr val="FFF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69848"/>
            <a:ext cx="11475720" cy="649224"/>
          </a:xfrm>
          <a:prstGeom prst="rect">
            <a:avLst/>
          </a:prstGeom>
          <a:noFill/>
        </p:spPr>
        <p:txBody>
          <a:bodyPr wrap="square" anchor="ctr" lIns="45720" rIns="45720" tIns="18288" bIns="18288"/>
          <a:lstStyle/>
          <a:p>
            <a:pPr algn="l"/>
            <a:r>
              <a:rPr sz="1500" b="1" i="0">
                <a:solidFill>
                  <a:srgbClr val="1A1A1A"/>
                </a:solidFill>
                <a:latin typeface="Calibri"/>
              </a:rPr>
              <a:t>People strive for fairness in give-and-take exchanges. Perceived inequity → cognitive dissonance → motivation to correct it (Tyson poultry workers denied bathroom breaks → pressure → reforms).</a:t>
            </a:r>
          </a:p>
        </p:txBody>
      </p:sp>
      <p:sp>
        <p:nvSpPr>
          <p:cNvPr id="9" name="Rounded Rectangle 8"/>
          <p:cNvSpPr/>
          <p:nvPr/>
        </p:nvSpPr>
        <p:spPr>
          <a:xfrm>
            <a:off x="274320" y="1874519"/>
            <a:ext cx="2560320" cy="137160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2000" b="1" i="0">
                <a:solidFill>
                  <a:srgbClr val="FFFFFF"/>
                </a:solidFill>
                <a:latin typeface="Calibri"/>
              </a:rPr>
              <a:t>MY outcomes</a:t>
            </a:r>
          </a:p>
          <a:p>
            <a:pPr algn="ctr"/>
            <a:r>
              <a:rPr sz="1700" b="0" i="0">
                <a:solidFill>
                  <a:srgbClr val="FFFFFF"/>
                </a:solidFill>
                <a:latin typeface="Calibri"/>
              </a:rPr>
              <a:t>÷ MY inputs</a:t>
            </a:r>
          </a:p>
        </p:txBody>
      </p:sp>
      <p:sp>
        <p:nvSpPr>
          <p:cNvPr id="10" name="Oval 9"/>
          <p:cNvSpPr/>
          <p:nvPr/>
        </p:nvSpPr>
        <p:spPr>
          <a:xfrm>
            <a:off x="2926080" y="2148840"/>
            <a:ext cx="822960" cy="822960"/>
          </a:xfrm>
          <a:prstGeom prst="ellipse">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2200" b="1" i="0">
                <a:solidFill>
                  <a:srgbClr val="FFFFFF"/>
                </a:solidFill>
                <a:latin typeface="Calibri"/>
              </a:rPr>
              <a:t>vs</a:t>
            </a:r>
          </a:p>
        </p:txBody>
      </p:sp>
      <p:sp>
        <p:nvSpPr>
          <p:cNvPr id="11" name="Rounded Rectangle 10"/>
          <p:cNvSpPr/>
          <p:nvPr/>
        </p:nvSpPr>
        <p:spPr>
          <a:xfrm>
            <a:off x="3840480" y="1874519"/>
            <a:ext cx="2560320" cy="1371600"/>
          </a:xfrm>
          <a:prstGeom prst="roundRect">
            <a:avLst>
              <a:gd name="adj" fmla="val 6000"/>
            </a:avLst>
          </a:prstGeom>
          <a:solidFill>
            <a:srgbClr val="E38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2000" b="1" i="0">
                <a:solidFill>
                  <a:srgbClr val="FFFFFF"/>
                </a:solidFill>
                <a:latin typeface="Calibri"/>
              </a:rPr>
              <a:t>OTHERS' outcomes</a:t>
            </a:r>
          </a:p>
          <a:p>
            <a:pPr algn="ctr"/>
            <a:r>
              <a:rPr sz="1700" b="0" i="0">
                <a:solidFill>
                  <a:srgbClr val="FFFFFF"/>
                </a:solidFill>
                <a:latin typeface="Calibri"/>
              </a:rPr>
              <a:t>÷ OTHERS' inputs</a:t>
            </a:r>
          </a:p>
        </p:txBody>
      </p:sp>
      <p:sp>
        <p:nvSpPr>
          <p:cNvPr id="12" name="Rounded Rectangle 11"/>
          <p:cNvSpPr/>
          <p:nvPr/>
        </p:nvSpPr>
        <p:spPr>
          <a:xfrm>
            <a:off x="274320" y="3383280"/>
            <a:ext cx="3063240" cy="3154680"/>
          </a:xfrm>
          <a:prstGeom prst="roundRect">
            <a:avLst>
              <a:gd name="adj" fmla="val 6000"/>
            </a:avLst>
          </a:prstGeom>
          <a:solidFill>
            <a:srgbClr val="FFFFFF"/>
          </a:solidFill>
          <a:ln w="19050">
            <a:solidFill>
              <a:srgbClr val="EDA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74320" y="3383280"/>
            <a:ext cx="3063240" cy="45720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4320" y="3703320"/>
            <a:ext cx="3063240" cy="137160"/>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3383280"/>
            <a:ext cx="2880360" cy="457200"/>
          </a:xfrm>
          <a:prstGeom prst="rect">
            <a:avLst/>
          </a:prstGeom>
          <a:noFill/>
        </p:spPr>
        <p:txBody>
          <a:bodyPr wrap="square" anchor="ctr" lIns="45720" rIns="45720" tIns="18288" bIns="18288"/>
          <a:lstStyle/>
          <a:p>
            <a:pPr algn="l"/>
            <a:r>
              <a:rPr sz="1900" b="1" i="0">
                <a:solidFill>
                  <a:srgbClr val="FFFFFF"/>
                </a:solidFill>
                <a:latin typeface="Calibri"/>
              </a:rPr>
              <a:t>Inputs</a:t>
            </a:r>
          </a:p>
        </p:txBody>
      </p:sp>
      <p:sp>
        <p:nvSpPr>
          <p:cNvPr id="16" name="TextBox 15"/>
          <p:cNvSpPr txBox="1"/>
          <p:nvPr/>
        </p:nvSpPr>
        <p:spPr>
          <a:xfrm>
            <a:off x="347472" y="3895344"/>
            <a:ext cx="2916936" cy="2606040"/>
          </a:xfrm>
          <a:prstGeom prst="rect">
            <a:avLst/>
          </a:prstGeom>
          <a:noFill/>
        </p:spPr>
        <p:txBody>
          <a:bodyPr wrap="square" anchor="t" lIns="54864" rIns="54864" tIns="27432" bIns="27432"/>
          <a:lstStyle/>
          <a:p>
            <a:pPr>
              <a:spcAft>
                <a:spcPts val="300"/>
              </a:spcAft>
            </a:pPr>
            <a:r>
              <a:rPr sz="2200" b="1" i="0">
                <a:solidFill>
                  <a:srgbClr val="1A1A1A"/>
                </a:solidFill>
                <a:latin typeface="Calibri"/>
              </a:rPr>
              <a:t>• </a:t>
            </a:r>
            <a:r>
              <a:rPr sz="2200" b="0" i="0">
                <a:solidFill>
                  <a:srgbClr val="1A1A1A"/>
                </a:solidFill>
                <a:latin typeface="Calibri"/>
              </a:rPr>
              <a:t>Education/training, skills, creativity, seniority, age, personality, </a:t>
            </a:r>
            <a:r>
              <a:rPr sz="2200" b="1" i="0">
                <a:solidFill>
                  <a:srgbClr val="1A1A1A"/>
                </a:solidFill>
                <a:latin typeface="Calibri"/>
              </a:rPr>
              <a:t>effort</a:t>
            </a:r>
            <a:r>
              <a:rPr sz="2200" b="0" i="0">
                <a:solidFill>
                  <a:srgbClr val="1A1A1A"/>
                </a:solidFill>
                <a:latin typeface="Calibri"/>
              </a:rPr>
              <a:t>, experience, appearance, emotional labour</a:t>
            </a:r>
          </a:p>
        </p:txBody>
      </p:sp>
      <p:sp>
        <p:nvSpPr>
          <p:cNvPr id="17" name="Rounded Rectangle 16"/>
          <p:cNvSpPr/>
          <p:nvPr/>
        </p:nvSpPr>
        <p:spPr>
          <a:xfrm>
            <a:off x="3474720" y="3383280"/>
            <a:ext cx="2926080" cy="3154680"/>
          </a:xfrm>
          <a:prstGeom prst="roundRect">
            <a:avLst>
              <a:gd name="adj" fmla="val 6000"/>
            </a:avLst>
          </a:prstGeom>
          <a:solidFill>
            <a:srgbClr val="FFFFFF"/>
          </a:solidFill>
          <a:ln w="19050">
            <a:solidFill>
              <a:srgbClr val="EDA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474720" y="3383280"/>
            <a:ext cx="2926080" cy="45720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74720" y="3703320"/>
            <a:ext cx="2926080" cy="137160"/>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66160" y="3383280"/>
            <a:ext cx="2743200" cy="457200"/>
          </a:xfrm>
          <a:prstGeom prst="rect">
            <a:avLst/>
          </a:prstGeom>
          <a:noFill/>
        </p:spPr>
        <p:txBody>
          <a:bodyPr wrap="square" anchor="ctr" lIns="45720" rIns="45720" tIns="18288" bIns="18288"/>
          <a:lstStyle/>
          <a:p>
            <a:pPr algn="l"/>
            <a:r>
              <a:rPr sz="1900" b="1" i="0">
                <a:solidFill>
                  <a:srgbClr val="FFFFFF"/>
                </a:solidFill>
                <a:latin typeface="Calibri"/>
              </a:rPr>
              <a:t>Outcomes (outputs)</a:t>
            </a:r>
          </a:p>
        </p:txBody>
      </p:sp>
      <p:sp>
        <p:nvSpPr>
          <p:cNvPr id="21" name="TextBox 20"/>
          <p:cNvSpPr txBox="1"/>
          <p:nvPr/>
        </p:nvSpPr>
        <p:spPr>
          <a:xfrm>
            <a:off x="3547872" y="3895344"/>
            <a:ext cx="2779776" cy="2606040"/>
          </a:xfrm>
          <a:prstGeom prst="rect">
            <a:avLst/>
          </a:prstGeom>
          <a:noFill/>
        </p:spPr>
        <p:txBody>
          <a:bodyPr wrap="square" anchor="t" lIns="54864" rIns="54864" tIns="27432" bIns="27432"/>
          <a:lstStyle/>
          <a:p>
            <a:pPr>
              <a:spcAft>
                <a:spcPts val="300"/>
              </a:spcAft>
            </a:pPr>
            <a:r>
              <a:rPr sz="2100" b="1" i="0">
                <a:solidFill>
                  <a:srgbClr val="1A1A1A"/>
                </a:solidFill>
                <a:latin typeface="Calibri"/>
              </a:rPr>
              <a:t>• </a:t>
            </a:r>
            <a:r>
              <a:rPr sz="2100" b="0" i="0">
                <a:solidFill>
                  <a:srgbClr val="1A1A1A"/>
                </a:solidFill>
                <a:latin typeface="Calibri"/>
              </a:rPr>
              <a:t>Pay/bonus, benefits, challenging assignments, job security, promotion, status symbols, recognition, participation, flexibility</a:t>
            </a:r>
          </a:p>
        </p:txBody>
      </p:sp>
      <p:graphicFrame>
        <p:nvGraphicFramePr>
          <p:cNvPr id="22" name="Table 21"/>
          <p:cNvGraphicFramePr>
            <a:graphicFrameLocks noGrp="1"/>
          </p:cNvGraphicFramePr>
          <p:nvPr/>
        </p:nvGraphicFramePr>
        <p:xfrm>
          <a:off x="6537960" y="1874519"/>
          <a:ext cx="5394960" cy="1828800"/>
        </p:xfrm>
        <a:graphic>
          <a:graphicData uri="http://schemas.openxmlformats.org/drawingml/2006/table">
            <a:tbl>
              <a:tblPr firstRow="1" bandRow="1">
                <a:tableStyleId>{5C22544A-7EE6-4342-B048-85BDC9FD1C3A}</a:tableStyleId>
              </a:tblPr>
              <a:tblGrid>
                <a:gridCol w="1463040"/>
                <a:gridCol w="1737360"/>
                <a:gridCol w="2194560"/>
              </a:tblGrid>
              <a:tr h="457200">
                <a:tc>
                  <a:txBody>
                    <a:bodyPr wrap="square"/>
                    <a:lstStyle/>
                    <a:p>
                      <a:r>
                        <a:rPr sz="1300" b="1" i="0">
                          <a:solidFill>
                            <a:srgbClr val="FFFFFF"/>
                          </a:solidFill>
                          <a:latin typeface="Calibri"/>
                        </a:rPr>
                        <a:t>Result</a:t>
                      </a:r>
                    </a:p>
                  </a:txBody>
                  <a:tcPr marL="54864" marR="54864" marT="27432" marB="27432" anchor="ctr">
                    <a:solidFill>
                      <a:srgbClr val="D84A05"/>
                    </a:solidFill>
                  </a:tcPr>
                </a:tc>
                <a:tc>
                  <a:txBody>
                    <a:bodyPr wrap="square"/>
                    <a:lstStyle/>
                    <a:p>
                      <a:r>
                        <a:rPr sz="1300" b="1" i="0">
                          <a:solidFill>
                            <a:srgbClr val="FFFFFF"/>
                          </a:solidFill>
                          <a:latin typeface="Calibri"/>
                        </a:rPr>
                        <a:t>Perception</a:t>
                      </a:r>
                    </a:p>
                  </a:txBody>
                  <a:tcPr marL="54864" marR="54864" marT="27432" marB="27432" anchor="ctr">
                    <a:solidFill>
                      <a:srgbClr val="D84A05"/>
                    </a:solidFill>
                  </a:tcPr>
                </a:tc>
                <a:tc>
                  <a:txBody>
                    <a:bodyPr wrap="square"/>
                    <a:lstStyle/>
                    <a:p>
                      <a:r>
                        <a:rPr sz="1300" b="1" i="0">
                          <a:solidFill>
                            <a:srgbClr val="FFFFFF"/>
                          </a:solidFill>
                          <a:latin typeface="Calibri"/>
                        </a:rPr>
                        <a:t>Typical reaction</a:t>
                      </a:r>
                    </a:p>
                  </a:txBody>
                  <a:tcPr marL="54864" marR="54864" marT="27432" marB="27432" anchor="ctr">
                    <a:solidFill>
                      <a:srgbClr val="D84A05"/>
                    </a:solidFill>
                  </a:tcPr>
                </a:tc>
              </a:tr>
              <a:tr h="457200">
                <a:tc>
                  <a:txBody>
                    <a:bodyPr wrap="square"/>
                    <a:lstStyle/>
                    <a:p>
                      <a:r>
                        <a:rPr sz="1300" b="1" i="0">
                          <a:solidFill>
                            <a:srgbClr val="1A1A1A"/>
                          </a:solidFill>
                          <a:latin typeface="Calibri"/>
                        </a:rPr>
                        <a:t>Equity</a:t>
                      </a:r>
                    </a:p>
                  </a:txBody>
                  <a:tcPr marL="54864" marR="54864" marT="27432" marB="27432" anchor="ctr">
                    <a:solidFill>
                      <a:srgbClr val="FFFFFF"/>
                    </a:solidFill>
                  </a:tcPr>
                </a:tc>
                <a:tc>
                  <a:txBody>
                    <a:bodyPr wrap="square"/>
                    <a:lstStyle/>
                    <a:p>
                      <a:r>
                        <a:rPr sz="1300" b="0" i="0">
                          <a:solidFill>
                            <a:srgbClr val="1A1A1A"/>
                          </a:solidFill>
                          <a:latin typeface="Calibri"/>
                        </a:rPr>
                        <a:t>My ratio = other's</a:t>
                      </a:r>
                    </a:p>
                  </a:txBody>
                  <a:tcPr marL="54864" marR="54864" marT="27432" marB="27432" anchor="ctr">
                    <a:solidFill>
                      <a:srgbClr val="FFFFFF"/>
                    </a:solidFill>
                  </a:tcPr>
                </a:tc>
                <a:tc>
                  <a:txBody>
                    <a:bodyPr wrap="square"/>
                    <a:lstStyle/>
                    <a:p>
                      <a:r>
                        <a:rPr sz="1300" b="0" i="0">
                          <a:solidFill>
                            <a:srgbClr val="1A1A1A"/>
                          </a:solidFill>
                          <a:latin typeface="Calibri"/>
                        </a:rPr>
                        <a:t>Satisfied</a:t>
                      </a:r>
                    </a:p>
                  </a:txBody>
                  <a:tcPr marL="54864" marR="54864" marT="27432" marB="27432" anchor="ctr">
                    <a:solidFill>
                      <a:srgbClr val="FFFFFF"/>
                    </a:solidFill>
                  </a:tcPr>
                </a:tc>
              </a:tr>
              <a:tr h="457200">
                <a:tc>
                  <a:txBody>
                    <a:bodyPr wrap="square"/>
                    <a:lstStyle/>
                    <a:p>
                      <a:r>
                        <a:rPr sz="1300" b="1" i="0">
                          <a:solidFill>
                            <a:srgbClr val="1A1A1A"/>
                          </a:solidFill>
                          <a:latin typeface="Calibri"/>
                        </a:rPr>
                        <a:t>Negative inequity</a:t>
                      </a:r>
                    </a:p>
                  </a:txBody>
                  <a:tcPr marL="54864" marR="54864" marT="27432" marB="27432" anchor="ctr">
                    <a:solidFill>
                      <a:srgbClr val="FBECE6"/>
                    </a:solidFill>
                  </a:tcPr>
                </a:tc>
                <a:tc>
                  <a:txBody>
                    <a:bodyPr wrap="square"/>
                    <a:lstStyle/>
                    <a:p>
                      <a:r>
                        <a:rPr sz="1300" b="0" i="0">
                          <a:solidFill>
                            <a:srgbClr val="1A1A1A"/>
                          </a:solidFill>
                          <a:latin typeface="Calibri"/>
                        </a:rPr>
                        <a:t>I'm under-rewarded</a:t>
                      </a:r>
                    </a:p>
                  </a:txBody>
                  <a:tcPr marL="54864" marR="54864" marT="27432" marB="27432" anchor="ctr">
                    <a:solidFill>
                      <a:srgbClr val="FBECE6"/>
                    </a:solidFill>
                  </a:tcPr>
                </a:tc>
                <a:tc>
                  <a:txBody>
                    <a:bodyPr wrap="square"/>
                    <a:lstStyle/>
                    <a:p>
                      <a:r>
                        <a:rPr sz="1300" b="0" i="0">
                          <a:solidFill>
                            <a:srgbClr val="1A1A1A"/>
                          </a:solidFill>
                          <a:latin typeface="Calibri"/>
                        </a:rPr>
                        <a:t>Dissatisfied, anger, ↓ effort, quit</a:t>
                      </a:r>
                    </a:p>
                  </a:txBody>
                  <a:tcPr marL="54864" marR="54864" marT="27432" marB="27432" anchor="ctr">
                    <a:solidFill>
                      <a:srgbClr val="FBECE6"/>
                    </a:solidFill>
                  </a:tcPr>
                </a:tc>
              </a:tr>
              <a:tr h="457200">
                <a:tc>
                  <a:txBody>
                    <a:bodyPr wrap="square"/>
                    <a:lstStyle/>
                    <a:p>
                      <a:r>
                        <a:rPr sz="1300" b="1" i="0">
                          <a:solidFill>
                            <a:srgbClr val="1A1A1A"/>
                          </a:solidFill>
                          <a:latin typeface="Calibri"/>
                        </a:rPr>
                        <a:t>Positive inequity</a:t>
                      </a:r>
                    </a:p>
                  </a:txBody>
                  <a:tcPr marL="54864" marR="54864" marT="27432" marB="27432" anchor="ctr">
                    <a:solidFill>
                      <a:srgbClr val="FFFFFF"/>
                    </a:solidFill>
                  </a:tcPr>
                </a:tc>
                <a:tc>
                  <a:txBody>
                    <a:bodyPr wrap="square"/>
                    <a:lstStyle/>
                    <a:p>
                      <a:r>
                        <a:rPr sz="1300" b="0" i="0">
                          <a:solidFill>
                            <a:srgbClr val="1A1A1A"/>
                          </a:solidFill>
                          <a:latin typeface="Calibri"/>
                        </a:rPr>
                        <a:t>I'm over-rewarded</a:t>
                      </a:r>
                    </a:p>
                  </a:txBody>
                  <a:tcPr marL="54864" marR="54864" marT="27432" marB="27432" anchor="ctr">
                    <a:solidFill>
                      <a:srgbClr val="FFFFFF"/>
                    </a:solidFill>
                  </a:tcPr>
                </a:tc>
                <a:tc>
                  <a:txBody>
                    <a:bodyPr wrap="square"/>
                    <a:lstStyle/>
                    <a:p>
                      <a:r>
                        <a:rPr sz="1300" b="0" i="0">
                          <a:solidFill>
                            <a:srgbClr val="1A1A1A"/>
                          </a:solidFill>
                          <a:latin typeface="Calibri"/>
                        </a:rPr>
                        <a:t>Guilt (maybe); others see negative inequity</a:t>
                      </a:r>
                    </a:p>
                  </a:txBody>
                  <a:tcPr marL="54864" marR="54864" marT="27432" marB="27432" anchor="ctr">
                    <a:solidFill>
                      <a:srgbClr val="FFFFFF"/>
                    </a:solidFill>
                  </a:tcPr>
                </a:tc>
              </a:tr>
            </a:tbl>
          </a:graphicData>
        </a:graphic>
      </p:graphicFrame>
      <p:sp>
        <p:nvSpPr>
          <p:cNvPr id="23" name="Rounded Rectangle 22"/>
          <p:cNvSpPr/>
          <p:nvPr/>
        </p:nvSpPr>
        <p:spPr>
          <a:xfrm>
            <a:off x="6537960" y="3840480"/>
            <a:ext cx="2651760" cy="2697480"/>
          </a:xfrm>
          <a:prstGeom prst="roundRect">
            <a:avLst>
              <a:gd name="adj" fmla="val 6000"/>
            </a:avLst>
          </a:prstGeom>
          <a:solidFill>
            <a:srgbClr val="FFFFFF"/>
          </a:solidFill>
          <a:ln w="19050">
            <a:solidFill>
              <a:srgbClr val="EDA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537960" y="3840480"/>
            <a:ext cx="2651760" cy="45720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37960" y="4160520"/>
            <a:ext cx="2651760" cy="137160"/>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29400" y="3840480"/>
            <a:ext cx="2468879" cy="457200"/>
          </a:xfrm>
          <a:prstGeom prst="rect">
            <a:avLst/>
          </a:prstGeom>
          <a:noFill/>
        </p:spPr>
        <p:txBody>
          <a:bodyPr wrap="square" anchor="ctr" lIns="45720" rIns="45720" tIns="18288" bIns="18288"/>
          <a:lstStyle/>
          <a:p>
            <a:pPr algn="l"/>
            <a:r>
              <a:rPr sz="1900" b="1" i="0">
                <a:solidFill>
                  <a:srgbClr val="FFFFFF"/>
                </a:solidFill>
                <a:latin typeface="Calibri"/>
              </a:rPr>
              <a:t>Reducing inequity</a:t>
            </a:r>
          </a:p>
        </p:txBody>
      </p:sp>
      <p:sp>
        <p:nvSpPr>
          <p:cNvPr id="27" name="TextBox 26"/>
          <p:cNvSpPr txBox="1"/>
          <p:nvPr/>
        </p:nvSpPr>
        <p:spPr>
          <a:xfrm>
            <a:off x="6611112" y="4352544"/>
            <a:ext cx="2505456" cy="2148840"/>
          </a:xfrm>
          <a:prstGeom prst="rect">
            <a:avLst/>
          </a:prstGeom>
          <a:noFill/>
        </p:spPr>
        <p:txBody>
          <a:bodyPr wrap="square" anchor="t" lIns="54864" rIns="54864" tIns="27432" bIns="27432"/>
          <a:lstStyle/>
          <a:p>
            <a:pPr>
              <a:spcAft>
                <a:spcPts val="300"/>
              </a:spcAft>
            </a:pPr>
            <a:r>
              <a:rPr sz="1400" b="1" i="0">
                <a:solidFill>
                  <a:srgbClr val="1A1A1A"/>
                </a:solidFill>
                <a:latin typeface="Calibri"/>
              </a:rPr>
              <a:t>• </a:t>
            </a:r>
            <a:r>
              <a:rPr sz="1400" b="0" i="0">
                <a:solidFill>
                  <a:srgbClr val="1A1A1A"/>
                </a:solidFill>
                <a:latin typeface="Calibri"/>
              </a:rPr>
              <a:t>Ask for raise/promotion (↑ outcomes)</a:t>
            </a:r>
          </a:p>
          <a:p>
            <a:pPr>
              <a:spcAft>
                <a:spcPts val="300"/>
              </a:spcAft>
            </a:pPr>
            <a:r>
              <a:rPr sz="1400" b="1" i="0">
                <a:solidFill>
                  <a:srgbClr val="1A1A1A"/>
                </a:solidFill>
                <a:latin typeface="Calibri"/>
              </a:rPr>
              <a:t>• </a:t>
            </a:r>
            <a:r>
              <a:rPr sz="1400" b="0" i="0">
                <a:solidFill>
                  <a:srgbClr val="1A1A1A"/>
                </a:solidFill>
                <a:latin typeface="Calibri"/>
              </a:rPr>
              <a:t>Work less (↓ inputs)</a:t>
            </a:r>
          </a:p>
          <a:p>
            <a:pPr>
              <a:spcAft>
                <a:spcPts val="300"/>
              </a:spcAft>
            </a:pPr>
            <a:r>
              <a:rPr sz="1400" b="1" i="0">
                <a:solidFill>
                  <a:srgbClr val="1A1A1A"/>
                </a:solidFill>
                <a:latin typeface="Calibri"/>
              </a:rPr>
              <a:t>• </a:t>
            </a:r>
            <a:r>
              <a:rPr sz="1400" b="0" i="0">
                <a:solidFill>
                  <a:srgbClr val="1A1A1A"/>
                </a:solidFill>
                <a:latin typeface="Calibri"/>
              </a:rPr>
              <a:t>Cognitively re-value outcomes/inputs</a:t>
            </a:r>
          </a:p>
          <a:p>
            <a:pPr>
              <a:spcAft>
                <a:spcPts val="300"/>
              </a:spcAft>
            </a:pPr>
            <a:r>
              <a:rPr sz="1400" b="1" i="0">
                <a:solidFill>
                  <a:srgbClr val="1A1A1A"/>
                </a:solidFill>
                <a:latin typeface="Calibri"/>
              </a:rPr>
              <a:t>• </a:t>
            </a:r>
            <a:r>
              <a:rPr sz="1400" b="0" i="0">
                <a:solidFill>
                  <a:srgbClr val="1A1A1A"/>
                </a:solidFill>
                <a:latin typeface="Calibri"/>
              </a:rPr>
              <a:t>Change comparison person</a:t>
            </a:r>
          </a:p>
          <a:p>
            <a:pPr>
              <a:spcAft>
                <a:spcPts val="300"/>
              </a:spcAft>
            </a:pPr>
            <a:r>
              <a:rPr sz="1400" b="1" i="0">
                <a:solidFill>
                  <a:srgbClr val="1A1A1A"/>
                </a:solidFill>
                <a:latin typeface="Calibri"/>
              </a:rPr>
              <a:t>• </a:t>
            </a:r>
            <a:r>
              <a:rPr sz="1400" b="0" i="0">
                <a:solidFill>
                  <a:srgbClr val="1A1A1A"/>
                </a:solidFill>
                <a:latin typeface="Calibri"/>
              </a:rPr>
              <a:t>Leave</a:t>
            </a:r>
          </a:p>
        </p:txBody>
      </p:sp>
      <p:sp>
        <p:nvSpPr>
          <p:cNvPr id="28" name="Rounded Rectangle 27"/>
          <p:cNvSpPr/>
          <p:nvPr/>
        </p:nvSpPr>
        <p:spPr>
          <a:xfrm>
            <a:off x="9326880" y="3840480"/>
            <a:ext cx="2606040" cy="2697480"/>
          </a:xfrm>
          <a:prstGeom prst="roundRect">
            <a:avLst>
              <a:gd name="adj" fmla="val 6000"/>
            </a:avLst>
          </a:prstGeom>
          <a:solidFill>
            <a:srgbClr val="FFFFFF"/>
          </a:solidFill>
          <a:ln w="19050">
            <a:solidFill>
              <a:srgbClr val="EDA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326880" y="3840480"/>
            <a:ext cx="2606040" cy="45720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326880" y="4160520"/>
            <a:ext cx="2606040" cy="137160"/>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418319" y="3840480"/>
            <a:ext cx="2423160" cy="457200"/>
          </a:xfrm>
          <a:prstGeom prst="rect">
            <a:avLst/>
          </a:prstGeom>
          <a:noFill/>
        </p:spPr>
        <p:txBody>
          <a:bodyPr wrap="square" anchor="ctr" lIns="45720" rIns="45720" tIns="18288" bIns="18288"/>
          <a:lstStyle/>
          <a:p>
            <a:pPr algn="l"/>
            <a:r>
              <a:rPr sz="1900" b="1" i="0">
                <a:solidFill>
                  <a:srgbClr val="FFFFFF"/>
                </a:solidFill>
                <a:latin typeface="Calibri"/>
              </a:rPr>
              <a:t>Key facts</a:t>
            </a:r>
          </a:p>
        </p:txBody>
      </p:sp>
      <p:sp>
        <p:nvSpPr>
          <p:cNvPr id="32" name="TextBox 31"/>
          <p:cNvSpPr txBox="1"/>
          <p:nvPr/>
        </p:nvSpPr>
        <p:spPr>
          <a:xfrm>
            <a:off x="9400032" y="4352544"/>
            <a:ext cx="2459736" cy="2148840"/>
          </a:xfrm>
          <a:prstGeom prst="rect">
            <a:avLst/>
          </a:prstGeom>
          <a:noFill/>
        </p:spPr>
        <p:txBody>
          <a:bodyPr wrap="square" anchor="t" lIns="54864" rIns="54864" tIns="27432" bIns="27432"/>
          <a:lstStyle/>
          <a:p>
            <a:pPr>
              <a:spcAft>
                <a:spcPts val="300"/>
              </a:spcAft>
            </a:pPr>
            <a:r>
              <a:rPr sz="1300" b="1" i="0">
                <a:solidFill>
                  <a:srgbClr val="1A1A1A"/>
                </a:solidFill>
                <a:latin typeface="Calibri"/>
              </a:rPr>
              <a:t>• </a:t>
            </a:r>
            <a:r>
              <a:rPr sz="1300" b="0" i="0">
                <a:solidFill>
                  <a:srgbClr val="1A1A1A"/>
                </a:solidFill>
                <a:latin typeface="Calibri"/>
              </a:rPr>
              <a:t>Compare with </a:t>
            </a:r>
            <a:r>
              <a:rPr sz="1300" b="1" i="0">
                <a:solidFill>
                  <a:srgbClr val="1A1A1A"/>
                </a:solidFill>
                <a:latin typeface="Calibri"/>
              </a:rPr>
              <a:t>similar, close others</a:t>
            </a:r>
          </a:p>
          <a:p>
            <a:pPr>
              <a:spcAft>
                <a:spcPts val="300"/>
              </a:spcAft>
            </a:pPr>
            <a:r>
              <a:rPr sz="1300" b="1" i="0">
                <a:solidFill>
                  <a:srgbClr val="1A1A1A"/>
                </a:solidFill>
                <a:latin typeface="Calibri"/>
              </a:rPr>
              <a:t>• </a:t>
            </a:r>
            <a:r>
              <a:rPr sz="1300" b="0" i="0">
                <a:solidFill>
                  <a:srgbClr val="1A1A1A"/>
                </a:solidFill>
                <a:latin typeface="Calibri"/>
              </a:rPr>
              <a:t>PayScale: ~90% paid ABOVE market think they're underpaid</a:t>
            </a:r>
          </a:p>
          <a:p>
            <a:pPr>
              <a:spcAft>
                <a:spcPts val="300"/>
              </a:spcAft>
            </a:pPr>
            <a:r>
              <a:rPr sz="1300" b="1" i="0">
                <a:solidFill>
                  <a:srgbClr val="1A1A1A"/>
                </a:solidFill>
                <a:latin typeface="Calibri"/>
              </a:rPr>
              <a:t>• </a:t>
            </a:r>
            <a:r>
              <a:rPr sz="1300" b="0" i="0">
                <a:solidFill>
                  <a:srgbClr val="1A1A1A"/>
                </a:solidFill>
                <a:latin typeface="Calibri"/>
              </a:rPr>
              <a:t>Feelings about pay </a:t>
            </a:r>
            <a:r>
              <a:rPr sz="1300" b="1" i="0">
                <a:solidFill>
                  <a:srgbClr val="1A1A1A"/>
                </a:solidFill>
                <a:latin typeface="Calibri"/>
              </a:rPr>
              <a:t>process</a:t>
            </a:r>
            <a:r>
              <a:rPr sz="1300" b="0" i="0">
                <a:solidFill>
                  <a:srgbClr val="1A1A1A"/>
                </a:solidFill>
                <a:latin typeface="Calibri"/>
              </a:rPr>
              <a:t> 5× more impactful than pay level</a:t>
            </a:r>
          </a:p>
          <a:p>
            <a:pPr>
              <a:spcAft>
                <a:spcPts val="300"/>
              </a:spcAft>
            </a:pPr>
            <a:r>
              <a:rPr sz="1300" b="1" i="0">
                <a:solidFill>
                  <a:srgbClr val="1A1A1A"/>
                </a:solidFill>
                <a:latin typeface="Calibri"/>
              </a:rPr>
              <a:t>• </a:t>
            </a:r>
            <a:r>
              <a:rPr sz="1300" b="1" i="0">
                <a:solidFill>
                  <a:srgbClr val="1A1A1A"/>
                </a:solidFill>
                <a:latin typeface="Calibri"/>
              </a:rPr>
              <a:t>Equity sensitivity</a:t>
            </a:r>
            <a:r>
              <a:rPr sz="1300" b="0" i="0">
                <a:solidFill>
                  <a:srgbClr val="1A1A1A"/>
                </a:solidFill>
                <a:latin typeface="Calibri"/>
              </a:rPr>
              <a:t> differs by person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200" b="1" i="0">
                <a:solidFill>
                  <a:srgbClr val="FFFFFF"/>
                </a:solidFill>
                <a:latin typeface="Calibri"/>
              </a:rPr>
              <a:t>Organisational justice: distributive, procedural, interactional</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F5D1C0"/>
                </a:solidFill>
                <a:latin typeface="Calibri"/>
              </a:rPr>
              <a:t>MODULE 4 · EMPLOYEE MOTIVATION</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Ch 5 pp. 180–183 · Fig 5.7</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44</a:t>
            </a:r>
          </a:p>
        </p:txBody>
      </p:sp>
      <p:sp>
        <p:nvSpPr>
          <p:cNvPr id="7" name="Rounded Rectangle 6"/>
          <p:cNvSpPr/>
          <p:nvPr/>
        </p:nvSpPr>
        <p:spPr>
          <a:xfrm>
            <a:off x="274320" y="1051560"/>
            <a:ext cx="3749039" cy="68580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2000" b="1" i="0">
                <a:solidFill>
                  <a:srgbClr val="FFFFFF"/>
                </a:solidFill>
                <a:latin typeface="Calibri"/>
              </a:rPr>
              <a:t>DISTRIBUTIVE</a:t>
            </a:r>
          </a:p>
        </p:txBody>
      </p:sp>
      <p:sp>
        <p:nvSpPr>
          <p:cNvPr id="8" name="Rounded Rectangle 7"/>
          <p:cNvSpPr/>
          <p:nvPr/>
        </p:nvSpPr>
        <p:spPr>
          <a:xfrm>
            <a:off x="274320" y="1783080"/>
            <a:ext cx="3749039" cy="1463040"/>
          </a:xfrm>
          <a:prstGeom prst="roundRect">
            <a:avLst>
              <a:gd name="adj" fmla="val 6000"/>
            </a:avLst>
          </a:prstGeom>
          <a:solidFill>
            <a:srgbClr val="FFFFFF"/>
          </a:solidFill>
          <a:ln w="19050">
            <a:solidFill>
              <a:srgbClr val="EDA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472" y="1837943"/>
            <a:ext cx="3602735" cy="1371600"/>
          </a:xfrm>
          <a:prstGeom prst="rect">
            <a:avLst/>
          </a:prstGeom>
          <a:noFill/>
        </p:spPr>
        <p:txBody>
          <a:bodyPr wrap="square" anchor="t" lIns="54864" rIns="54864" tIns="27432" bIns="27432"/>
          <a:lstStyle/>
          <a:p>
            <a:pPr>
              <a:spcAft>
                <a:spcPts val="300"/>
              </a:spcAft>
            </a:pPr>
            <a:r>
              <a:rPr sz="1700" b="1" i="0">
                <a:solidFill>
                  <a:srgbClr val="1A1A1A"/>
                </a:solidFill>
                <a:latin typeface="Calibri"/>
              </a:rPr>
              <a:t>• </a:t>
            </a:r>
            <a:r>
              <a:rPr sz="1700" b="0" i="0">
                <a:solidFill>
                  <a:srgbClr val="1A1A1A"/>
                </a:solidFill>
                <a:latin typeface="Calibri"/>
              </a:rPr>
              <a:t>Perceived fairness of how resources &amp; rewards are ALLOCATED</a:t>
            </a:r>
          </a:p>
          <a:p>
            <a:pPr>
              <a:spcAft>
                <a:spcPts val="300"/>
              </a:spcAft>
            </a:pPr>
            <a:r>
              <a:rPr sz="1700" b="1" i="0">
                <a:solidFill>
                  <a:srgbClr val="1A1A1A"/>
                </a:solidFill>
                <a:latin typeface="Calibri"/>
              </a:rPr>
              <a:t>• </a:t>
            </a:r>
            <a:r>
              <a:rPr sz="1700" b="1" i="0">
                <a:solidFill>
                  <a:srgbClr val="1A1A1A"/>
                </a:solidFill>
                <a:latin typeface="Calibri"/>
              </a:rPr>
              <a:t>e.g.</a:t>
            </a:r>
            <a:r>
              <a:rPr sz="1700" b="0" i="0">
                <a:solidFill>
                  <a:srgbClr val="1A1A1A"/>
                </a:solidFill>
                <a:latin typeface="Calibri"/>
              </a:rPr>
              <a:t> Robert W. Baird: everyone's office the same size</a:t>
            </a:r>
          </a:p>
        </p:txBody>
      </p:sp>
      <p:sp>
        <p:nvSpPr>
          <p:cNvPr id="10" name="Rounded Rectangle 9"/>
          <p:cNvSpPr/>
          <p:nvPr/>
        </p:nvSpPr>
        <p:spPr>
          <a:xfrm>
            <a:off x="4160520" y="1051560"/>
            <a:ext cx="3749039" cy="685800"/>
          </a:xfrm>
          <a:prstGeom prst="roundRect">
            <a:avLst>
              <a:gd name="adj" fmla="val 6000"/>
            </a:avLst>
          </a:prstGeom>
          <a:solidFill>
            <a:srgbClr val="DF6E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2000" b="1" i="0">
                <a:solidFill>
                  <a:srgbClr val="FFFFFF"/>
                </a:solidFill>
                <a:latin typeface="Calibri"/>
              </a:rPr>
              <a:t>PROCEDURAL</a:t>
            </a:r>
          </a:p>
        </p:txBody>
      </p:sp>
      <p:sp>
        <p:nvSpPr>
          <p:cNvPr id="11" name="Rounded Rectangle 10"/>
          <p:cNvSpPr/>
          <p:nvPr/>
        </p:nvSpPr>
        <p:spPr>
          <a:xfrm>
            <a:off x="4160520" y="1783080"/>
            <a:ext cx="3749039" cy="1463040"/>
          </a:xfrm>
          <a:prstGeom prst="roundRect">
            <a:avLst>
              <a:gd name="adj" fmla="val 6000"/>
            </a:avLst>
          </a:prstGeom>
          <a:solidFill>
            <a:srgbClr val="FFFFFF"/>
          </a:solidFill>
          <a:ln w="19050">
            <a:solidFill>
              <a:srgbClr val="EDA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33672" y="1837943"/>
            <a:ext cx="3602735" cy="1371600"/>
          </a:xfrm>
          <a:prstGeom prst="rect">
            <a:avLst/>
          </a:prstGeom>
          <a:noFill/>
        </p:spPr>
        <p:txBody>
          <a:bodyPr wrap="square" anchor="t" lIns="54864" rIns="54864" tIns="27432" bIns="27432"/>
          <a:lstStyle/>
          <a:p>
            <a:pPr>
              <a:spcAft>
                <a:spcPts val="300"/>
              </a:spcAft>
            </a:pPr>
            <a:r>
              <a:rPr sz="1700" b="1" i="0">
                <a:solidFill>
                  <a:srgbClr val="1A1A1A"/>
                </a:solidFill>
                <a:latin typeface="Calibri"/>
              </a:rPr>
              <a:t>• </a:t>
            </a:r>
            <a:r>
              <a:rPr sz="1700" b="0" i="0">
                <a:solidFill>
                  <a:srgbClr val="1A1A1A"/>
                </a:solidFill>
                <a:latin typeface="Calibri"/>
              </a:rPr>
              <a:t>Perceived fairness of the PROCESS used to make allocation decisions</a:t>
            </a:r>
          </a:p>
          <a:p>
            <a:pPr>
              <a:spcAft>
                <a:spcPts val="300"/>
              </a:spcAft>
            </a:pPr>
            <a:r>
              <a:rPr sz="1700" b="1" i="0">
                <a:solidFill>
                  <a:srgbClr val="1A1A1A"/>
                </a:solidFill>
                <a:latin typeface="Calibri"/>
              </a:rPr>
              <a:t>• </a:t>
            </a:r>
            <a:r>
              <a:rPr sz="1700" b="1" i="0">
                <a:solidFill>
                  <a:srgbClr val="1A1A1A"/>
                </a:solidFill>
                <a:latin typeface="Calibri"/>
              </a:rPr>
              <a:t>e.g.</a:t>
            </a:r>
            <a:r>
              <a:rPr sz="1700" b="0" i="0">
                <a:solidFill>
                  <a:srgbClr val="1A1A1A"/>
                </a:solidFill>
                <a:latin typeface="Calibri"/>
              </a:rPr>
              <a:t> Consistent criteria, voice, appeals</a:t>
            </a:r>
          </a:p>
        </p:txBody>
      </p:sp>
      <p:sp>
        <p:nvSpPr>
          <p:cNvPr id="13" name="Rounded Rectangle 12"/>
          <p:cNvSpPr/>
          <p:nvPr/>
        </p:nvSpPr>
        <p:spPr>
          <a:xfrm>
            <a:off x="8046720" y="1051560"/>
            <a:ext cx="3749039" cy="685800"/>
          </a:xfrm>
          <a:prstGeom prst="roundRect">
            <a:avLst>
              <a:gd name="adj" fmla="val 6000"/>
            </a:avLst>
          </a:prstGeom>
          <a:solidFill>
            <a:srgbClr val="E792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2000" b="1" i="0">
                <a:solidFill>
                  <a:srgbClr val="FFFFFF"/>
                </a:solidFill>
                <a:latin typeface="Calibri"/>
              </a:rPr>
              <a:t>INTERACTIONAL</a:t>
            </a:r>
          </a:p>
        </p:txBody>
      </p:sp>
      <p:sp>
        <p:nvSpPr>
          <p:cNvPr id="14" name="Rounded Rectangle 13"/>
          <p:cNvSpPr/>
          <p:nvPr/>
        </p:nvSpPr>
        <p:spPr>
          <a:xfrm>
            <a:off x="8046720" y="1783080"/>
            <a:ext cx="3749039" cy="1463040"/>
          </a:xfrm>
          <a:prstGeom prst="roundRect">
            <a:avLst>
              <a:gd name="adj" fmla="val 6000"/>
            </a:avLst>
          </a:prstGeom>
          <a:solidFill>
            <a:srgbClr val="FFFFFF"/>
          </a:solidFill>
          <a:ln w="19050">
            <a:solidFill>
              <a:srgbClr val="EDA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19872" y="1837943"/>
            <a:ext cx="3602735" cy="1371600"/>
          </a:xfrm>
          <a:prstGeom prst="rect">
            <a:avLst/>
          </a:prstGeom>
          <a:noFill/>
        </p:spPr>
        <p:txBody>
          <a:bodyPr wrap="square" anchor="t" lIns="54864" rIns="54864" tIns="27432" bIns="27432"/>
          <a:lstStyle/>
          <a:p>
            <a:pPr>
              <a:spcAft>
                <a:spcPts val="300"/>
              </a:spcAft>
            </a:pPr>
            <a:r>
              <a:rPr sz="1800" b="1" i="0">
                <a:solidFill>
                  <a:srgbClr val="1A1A1A"/>
                </a:solidFill>
                <a:latin typeface="Calibri"/>
              </a:rPr>
              <a:t>• </a:t>
            </a:r>
            <a:r>
              <a:rPr sz="1800" b="0" i="0">
                <a:solidFill>
                  <a:srgbClr val="1A1A1A"/>
                </a:solidFill>
                <a:latin typeface="Calibri"/>
              </a:rPr>
              <a:t>Quality of interpersonal TREATMENT when procedures are implemented</a:t>
            </a:r>
          </a:p>
          <a:p>
            <a:pPr>
              <a:spcAft>
                <a:spcPts val="300"/>
              </a:spcAft>
            </a:pPr>
            <a:r>
              <a:rPr sz="1800" b="1" i="0">
                <a:solidFill>
                  <a:srgbClr val="1A1A1A"/>
                </a:solidFill>
                <a:latin typeface="Calibri"/>
              </a:rPr>
              <a:t>• </a:t>
            </a:r>
            <a:r>
              <a:rPr sz="1800" b="1" i="0">
                <a:solidFill>
                  <a:srgbClr val="1A1A1A"/>
                </a:solidFill>
                <a:latin typeface="Calibri"/>
              </a:rPr>
              <a:t>e.g.</a:t>
            </a:r>
            <a:r>
              <a:rPr sz="1800" b="0" i="0">
                <a:solidFill>
                  <a:srgbClr val="1A1A1A"/>
                </a:solidFill>
                <a:latin typeface="Calibri"/>
              </a:rPr>
              <a:t> Dignity, respect, explanations</a:t>
            </a:r>
          </a:p>
        </p:txBody>
      </p:sp>
      <p:sp>
        <p:nvSpPr>
          <p:cNvPr id="16" name="Rounded Rectangle 15"/>
          <p:cNvSpPr/>
          <p:nvPr/>
        </p:nvSpPr>
        <p:spPr>
          <a:xfrm>
            <a:off x="274320" y="3383280"/>
            <a:ext cx="3749039" cy="3154680"/>
          </a:xfrm>
          <a:prstGeom prst="roundRect">
            <a:avLst>
              <a:gd name="adj" fmla="val 6000"/>
            </a:avLst>
          </a:prstGeom>
          <a:solidFill>
            <a:srgbClr val="FFFFFF"/>
          </a:solidFill>
          <a:ln w="19050">
            <a:solidFill>
              <a:srgbClr val="EDA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74320" y="3383280"/>
            <a:ext cx="3749039" cy="45720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3703320"/>
            <a:ext cx="3749039" cy="137160"/>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3383280"/>
            <a:ext cx="3566159" cy="457200"/>
          </a:xfrm>
          <a:prstGeom prst="rect">
            <a:avLst/>
          </a:prstGeom>
          <a:noFill/>
        </p:spPr>
        <p:txBody>
          <a:bodyPr wrap="square" anchor="ctr" lIns="45720" rIns="45720" tIns="18288" bIns="18288"/>
          <a:lstStyle/>
          <a:p>
            <a:pPr algn="l"/>
            <a:r>
              <a:rPr sz="1900" b="1" i="0">
                <a:solidFill>
                  <a:srgbClr val="FFFFFF"/>
                </a:solidFill>
                <a:latin typeface="Calibri"/>
              </a:rPr>
              <a:t>Research (Fig 5.7)</a:t>
            </a:r>
          </a:p>
        </p:txBody>
      </p:sp>
      <p:sp>
        <p:nvSpPr>
          <p:cNvPr id="20" name="TextBox 19"/>
          <p:cNvSpPr txBox="1"/>
          <p:nvPr/>
        </p:nvSpPr>
        <p:spPr>
          <a:xfrm>
            <a:off x="347472" y="3895344"/>
            <a:ext cx="3602735" cy="2606040"/>
          </a:xfrm>
          <a:prstGeom prst="rect">
            <a:avLst/>
          </a:prstGeom>
          <a:noFill/>
        </p:spPr>
        <p:txBody>
          <a:bodyPr wrap="square" anchor="t" lIns="54864" rIns="54864" tIns="27432" bIns="27432"/>
          <a:lstStyle/>
          <a:p>
            <a:pPr>
              <a:spcAft>
                <a:spcPts val="300"/>
              </a:spcAft>
            </a:pPr>
            <a:r>
              <a:rPr sz="1800" b="1" i="0">
                <a:solidFill>
                  <a:srgbClr val="1A1A1A"/>
                </a:solidFill>
                <a:latin typeface="Calibri"/>
              </a:rPr>
              <a:t>• </a:t>
            </a:r>
            <a:r>
              <a:rPr sz="1800" b="0" i="0">
                <a:solidFill>
                  <a:srgbClr val="1A1A1A"/>
                </a:solidFill>
                <a:latin typeface="Calibri"/>
              </a:rPr>
              <a:t>Distributive &amp; procedural justice have the </a:t>
            </a:r>
            <a:r>
              <a:rPr sz="1800" b="1" i="0">
                <a:solidFill>
                  <a:srgbClr val="1A1A1A"/>
                </a:solidFill>
                <a:latin typeface="Calibri"/>
              </a:rPr>
              <a:t>strongest</a:t>
            </a:r>
            <a:r>
              <a:rPr sz="1800" b="0" i="0">
                <a:solidFill>
                  <a:srgbClr val="1A1A1A"/>
                </a:solidFill>
                <a:latin typeface="Calibri"/>
              </a:rPr>
              <a:t> links to outcomes; interactional weakest</a:t>
            </a:r>
          </a:p>
          <a:p>
            <a:pPr>
              <a:spcAft>
                <a:spcPts val="300"/>
              </a:spcAft>
            </a:pPr>
            <a:r>
              <a:rPr sz="1800" b="1" i="0">
                <a:solidFill>
                  <a:srgbClr val="1A1A1A"/>
                </a:solidFill>
                <a:latin typeface="Calibri"/>
              </a:rPr>
              <a:t>• </a:t>
            </a:r>
            <a:r>
              <a:rPr sz="1800" b="0" i="0">
                <a:solidFill>
                  <a:srgbClr val="1A1A1A"/>
                </a:solidFill>
                <a:latin typeface="Calibri"/>
              </a:rPr>
              <a:t>Strongest outcomes: </a:t>
            </a:r>
            <a:r>
              <a:rPr sz="1800" b="1" i="0">
                <a:solidFill>
                  <a:srgbClr val="1A1A1A"/>
                </a:solidFill>
                <a:latin typeface="Calibri"/>
              </a:rPr>
              <a:t>job satisfaction &amp; organisational commitment</a:t>
            </a:r>
          </a:p>
          <a:p>
            <a:pPr>
              <a:spcAft>
                <a:spcPts val="300"/>
              </a:spcAft>
            </a:pPr>
            <a:r>
              <a:rPr sz="1800" b="1" i="0">
                <a:solidFill>
                  <a:srgbClr val="1A1A1A"/>
                </a:solidFill>
                <a:latin typeface="Calibri"/>
              </a:rPr>
              <a:t>• </a:t>
            </a:r>
            <a:r>
              <a:rPr sz="1800" b="0" i="0">
                <a:solidFill>
                  <a:srgbClr val="1A1A1A"/>
                </a:solidFill>
                <a:latin typeface="Calibri"/>
              </a:rPr>
              <a:t>Most links weak → justice works for some outcomes, not all</a:t>
            </a:r>
          </a:p>
        </p:txBody>
      </p:sp>
      <p:sp>
        <p:nvSpPr>
          <p:cNvPr id="21" name="Rounded Rectangle 20"/>
          <p:cNvSpPr/>
          <p:nvPr/>
        </p:nvSpPr>
        <p:spPr>
          <a:xfrm>
            <a:off x="4160520" y="3383280"/>
            <a:ext cx="3886200" cy="3154680"/>
          </a:xfrm>
          <a:prstGeom prst="roundRect">
            <a:avLst>
              <a:gd name="adj" fmla="val 6000"/>
            </a:avLst>
          </a:prstGeom>
          <a:solidFill>
            <a:srgbClr val="FFFFFF"/>
          </a:solidFill>
          <a:ln w="19050">
            <a:solidFill>
              <a:srgbClr val="EDA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160520" y="3383280"/>
            <a:ext cx="3886200" cy="45720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160520" y="3703320"/>
            <a:ext cx="3886200" cy="137160"/>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51959" y="3383280"/>
            <a:ext cx="3703320" cy="457200"/>
          </a:xfrm>
          <a:prstGeom prst="rect">
            <a:avLst/>
          </a:prstGeom>
          <a:noFill/>
        </p:spPr>
        <p:txBody>
          <a:bodyPr wrap="square" anchor="ctr" lIns="45720" rIns="45720" tIns="18288" bIns="18288"/>
          <a:lstStyle/>
          <a:p>
            <a:pPr algn="l"/>
            <a:r>
              <a:rPr sz="1900" b="1" i="0">
                <a:solidFill>
                  <a:srgbClr val="FFFFFF"/>
                </a:solidFill>
                <a:latin typeface="Calibri"/>
              </a:rPr>
              <a:t>5 practical lessons</a:t>
            </a:r>
          </a:p>
        </p:txBody>
      </p:sp>
      <p:sp>
        <p:nvSpPr>
          <p:cNvPr id="25" name="TextBox 24"/>
          <p:cNvSpPr txBox="1"/>
          <p:nvPr/>
        </p:nvSpPr>
        <p:spPr>
          <a:xfrm>
            <a:off x="4233672" y="3895344"/>
            <a:ext cx="3739896" cy="2606040"/>
          </a:xfrm>
          <a:prstGeom prst="rect">
            <a:avLst/>
          </a:prstGeom>
          <a:noFill/>
        </p:spPr>
        <p:txBody>
          <a:bodyPr wrap="square" anchor="t" lIns="54864" rIns="54864" tIns="27432" bIns="27432"/>
          <a:lstStyle/>
          <a:p>
            <a:pPr>
              <a:spcAft>
                <a:spcPts val="300"/>
              </a:spcAft>
            </a:pPr>
            <a:r>
              <a:rPr sz="1400" b="1" i="0">
                <a:solidFill>
                  <a:srgbClr val="1A1A1A"/>
                </a:solidFill>
                <a:latin typeface="Calibri"/>
              </a:rPr>
              <a:t>• </a:t>
            </a:r>
            <a:r>
              <a:rPr sz="1400" b="1" i="0">
                <a:solidFill>
                  <a:srgbClr val="1A1A1A"/>
                </a:solidFill>
                <a:latin typeface="Calibri"/>
              </a:rPr>
              <a:t>1 Perceptions count</a:t>
            </a:r>
            <a:r>
              <a:rPr sz="1400" b="0" i="0">
                <a:solidFill>
                  <a:srgbClr val="1A1A1A"/>
                </a:solidFill>
                <a:latin typeface="Calibri"/>
              </a:rPr>
              <a:t> (survey regularly; men more sensitive to pay inequity)</a:t>
            </a:r>
          </a:p>
          <a:p>
            <a:pPr>
              <a:spcAft>
                <a:spcPts val="300"/>
              </a:spcAft>
            </a:pPr>
            <a:r>
              <a:rPr sz="1400" b="1" i="0">
                <a:solidFill>
                  <a:srgbClr val="1A1A1A"/>
                </a:solidFill>
                <a:latin typeface="Calibri"/>
              </a:rPr>
              <a:t>• </a:t>
            </a:r>
            <a:r>
              <a:rPr sz="1400" b="1" i="0">
                <a:solidFill>
                  <a:srgbClr val="1A1A1A"/>
                </a:solidFill>
                <a:latin typeface="Calibri"/>
              </a:rPr>
              <a:t>2 Give voice</a:t>
            </a:r>
            <a:r>
              <a:rPr sz="1400" b="0" i="0">
                <a:solidFill>
                  <a:srgbClr val="1A1A1A"/>
                </a:solidFill>
                <a:latin typeface="Calibri"/>
              </a:rPr>
              <a:t> &amp; create a voice climate (Salesforce Office of Ethical Use)</a:t>
            </a:r>
          </a:p>
          <a:p>
            <a:pPr>
              <a:spcAft>
                <a:spcPts val="300"/>
              </a:spcAft>
            </a:pPr>
            <a:r>
              <a:rPr sz="1400" b="1" i="0">
                <a:solidFill>
                  <a:srgbClr val="1A1A1A"/>
                </a:solidFill>
                <a:latin typeface="Calibri"/>
              </a:rPr>
              <a:t>• </a:t>
            </a:r>
            <a:r>
              <a:rPr sz="1400" b="1" i="0">
                <a:solidFill>
                  <a:srgbClr val="1A1A1A"/>
                </a:solidFill>
                <a:latin typeface="Calibri"/>
              </a:rPr>
              <a:t>3 Appeals process</a:t>
            </a:r>
          </a:p>
          <a:p>
            <a:pPr>
              <a:spcAft>
                <a:spcPts val="300"/>
              </a:spcAft>
            </a:pPr>
            <a:r>
              <a:rPr sz="1400" b="1" i="0">
                <a:solidFill>
                  <a:srgbClr val="1A1A1A"/>
                </a:solidFill>
                <a:latin typeface="Calibri"/>
              </a:rPr>
              <a:t>• </a:t>
            </a:r>
            <a:r>
              <a:rPr sz="1400" b="1" i="0">
                <a:solidFill>
                  <a:srgbClr val="1A1A1A"/>
                </a:solidFill>
                <a:latin typeface="Calibri"/>
              </a:rPr>
              <a:t>4 Leader behaviour matters</a:t>
            </a:r>
            <a:r>
              <a:rPr sz="1400" b="0" i="0">
                <a:solidFill>
                  <a:srgbClr val="1A1A1A"/>
                </a:solidFill>
                <a:latin typeface="Calibri"/>
              </a:rPr>
              <a:t> (Merck CEO Frazier resigned from council)</a:t>
            </a:r>
          </a:p>
          <a:p>
            <a:pPr>
              <a:spcAft>
                <a:spcPts val="300"/>
              </a:spcAft>
            </a:pPr>
            <a:r>
              <a:rPr sz="1400" b="1" i="0">
                <a:solidFill>
                  <a:srgbClr val="1A1A1A"/>
                </a:solidFill>
                <a:latin typeface="Calibri"/>
              </a:rPr>
              <a:t>• </a:t>
            </a:r>
            <a:r>
              <a:rPr sz="1400" b="1" i="0">
                <a:solidFill>
                  <a:srgbClr val="1A1A1A"/>
                </a:solidFill>
                <a:latin typeface="Calibri"/>
              </a:rPr>
              <a:t>5 Climate for justice</a:t>
            </a:r>
            <a:r>
              <a:rPr sz="1400" b="0" i="0">
                <a:solidFill>
                  <a:srgbClr val="1A1A1A"/>
                </a:solidFill>
                <a:latin typeface="Calibri"/>
              </a:rPr>
              <a:t>: don't let customers abuse staff</a:t>
            </a:r>
          </a:p>
        </p:txBody>
      </p:sp>
      <p:sp>
        <p:nvSpPr>
          <p:cNvPr id="26" name="Rounded Rectangle 25"/>
          <p:cNvSpPr/>
          <p:nvPr/>
        </p:nvSpPr>
        <p:spPr>
          <a:xfrm>
            <a:off x="8183879" y="3383280"/>
            <a:ext cx="3749039" cy="3154680"/>
          </a:xfrm>
          <a:prstGeom prst="roundRect">
            <a:avLst>
              <a:gd name="adj" fmla="val 6000"/>
            </a:avLst>
          </a:prstGeom>
          <a:solidFill>
            <a:srgbClr val="FFFFFF"/>
          </a:solidFill>
          <a:ln w="19050">
            <a:solidFill>
              <a:srgbClr val="EDA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83879" y="3383280"/>
            <a:ext cx="3749039" cy="45720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183879" y="3703320"/>
            <a:ext cx="3749039" cy="137160"/>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75319" y="3383280"/>
            <a:ext cx="3566159" cy="457200"/>
          </a:xfrm>
          <a:prstGeom prst="rect">
            <a:avLst/>
          </a:prstGeom>
          <a:noFill/>
        </p:spPr>
        <p:txBody>
          <a:bodyPr wrap="square" anchor="ctr" lIns="45720" rIns="45720" tIns="18288" bIns="18288"/>
          <a:lstStyle/>
          <a:p>
            <a:pPr algn="l"/>
            <a:r>
              <a:rPr sz="1500" b="1" i="0">
                <a:solidFill>
                  <a:srgbClr val="FFFFFF"/>
                </a:solidFill>
                <a:latin typeface="Calibri"/>
              </a:rPr>
              <a:t>PPT: justice during restructuring</a:t>
            </a:r>
          </a:p>
        </p:txBody>
      </p:sp>
      <p:sp>
        <p:nvSpPr>
          <p:cNvPr id="30" name="TextBox 29"/>
          <p:cNvSpPr txBox="1"/>
          <p:nvPr/>
        </p:nvSpPr>
        <p:spPr>
          <a:xfrm>
            <a:off x="8257031" y="3895344"/>
            <a:ext cx="3602735" cy="2606040"/>
          </a:xfrm>
          <a:prstGeom prst="rect">
            <a:avLst/>
          </a:prstGeom>
          <a:noFill/>
        </p:spPr>
        <p:txBody>
          <a:bodyPr wrap="square" anchor="t" lIns="54864" rIns="54864" tIns="27432" bIns="27432"/>
          <a:lstStyle/>
          <a:p>
            <a:pPr>
              <a:spcAft>
                <a:spcPts val="300"/>
              </a:spcAft>
            </a:pPr>
            <a:r>
              <a:rPr sz="1600" b="1" i="0">
                <a:solidFill>
                  <a:srgbClr val="1A1A1A"/>
                </a:solidFill>
                <a:latin typeface="Calibri"/>
              </a:rPr>
              <a:t>• </a:t>
            </a:r>
            <a:r>
              <a:rPr sz="1600" b="0" i="0">
                <a:solidFill>
                  <a:srgbClr val="1A1A1A"/>
                </a:solidFill>
                <a:latin typeface="Calibri"/>
              </a:rPr>
              <a:t>Roles removed; staff got different notice/explanation</a:t>
            </a:r>
          </a:p>
          <a:p>
            <a:pPr>
              <a:spcAft>
                <a:spcPts val="300"/>
              </a:spcAft>
            </a:pPr>
            <a:r>
              <a:rPr sz="1600" b="1" i="0">
                <a:solidFill>
                  <a:srgbClr val="1A1A1A"/>
                </a:solidFill>
                <a:latin typeface="Calibri"/>
              </a:rPr>
              <a:t>• </a:t>
            </a:r>
            <a:r>
              <a:rPr sz="1600" b="0" i="0">
                <a:solidFill>
                  <a:srgbClr val="1A1A1A"/>
                </a:solidFill>
                <a:latin typeface="Calibri"/>
              </a:rPr>
              <a:t>Distributive: who lost jobs/roles? Procedural: criteria, consultation, appeal? Interactional: respectful, honest communication</a:t>
            </a:r>
          </a:p>
          <a:p>
            <a:pPr>
              <a:spcAft>
                <a:spcPts val="300"/>
              </a:spcAft>
            </a:pPr>
            <a:r>
              <a:rPr sz="1600" b="1" i="0">
                <a:solidFill>
                  <a:srgbClr val="1A1A1A"/>
                </a:solidFill>
                <a:latin typeface="Calibri"/>
              </a:rPr>
              <a:t>• </a:t>
            </a:r>
            <a:r>
              <a:rPr sz="1600" b="0" i="0">
                <a:solidFill>
                  <a:srgbClr val="1A1A1A"/>
                </a:solidFill>
                <a:latin typeface="Calibri"/>
              </a:rPr>
              <a:t>Voice: consult, explain criteria; Appeals: grievance, no retaliation, close the loop</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3000" b="1" i="0">
                <a:solidFill>
                  <a:srgbClr val="FFFFFF"/>
                </a:solidFill>
                <a:latin typeface="Calibri"/>
              </a:rPr>
              <a:t>Expectancy theory (Vroom): Motivation = E × I × V</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F5D1C0"/>
                </a:solidFill>
                <a:latin typeface="Calibri"/>
              </a:rPr>
              <a:t>MODULE 4 · EMPLOYEE MOTIVATION</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Ch 5 pp. 183–187 · Fig 5.8</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45</a:t>
            </a:r>
          </a:p>
        </p:txBody>
      </p:sp>
      <p:sp>
        <p:nvSpPr>
          <p:cNvPr id="7" name="Rounded Rectangle 6"/>
          <p:cNvSpPr/>
          <p:nvPr/>
        </p:nvSpPr>
        <p:spPr>
          <a:xfrm>
            <a:off x="274320" y="1051560"/>
            <a:ext cx="1920240" cy="1097280"/>
          </a:xfrm>
          <a:prstGeom prst="roundRect">
            <a:avLst>
              <a:gd name="adj" fmla="val 6000"/>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2200" b="1" i="0">
                <a:solidFill>
                  <a:srgbClr val="FFFFFF"/>
                </a:solidFill>
                <a:latin typeface="Calibri"/>
              </a:rPr>
              <a:t>EFFORT</a:t>
            </a:r>
          </a:p>
        </p:txBody>
      </p:sp>
      <p:sp>
        <p:nvSpPr>
          <p:cNvPr id="8" name="Right Arrow 7"/>
          <p:cNvSpPr/>
          <p:nvPr/>
        </p:nvSpPr>
        <p:spPr>
          <a:xfrm>
            <a:off x="2240280" y="1325880"/>
            <a:ext cx="457200" cy="548640"/>
          </a:xfrm>
          <a:prstGeom prst="rightArrow">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743200" y="1051560"/>
            <a:ext cx="2194560" cy="1097280"/>
          </a:xfrm>
          <a:prstGeom prst="roundRect">
            <a:avLst>
              <a:gd name="adj" fmla="val 6000"/>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2200" b="1" i="0">
                <a:solidFill>
                  <a:srgbClr val="FFFFFF"/>
                </a:solidFill>
                <a:latin typeface="Calibri"/>
              </a:rPr>
              <a:t>PERFORMANCE</a:t>
            </a:r>
          </a:p>
        </p:txBody>
      </p:sp>
      <p:sp>
        <p:nvSpPr>
          <p:cNvPr id="10" name="Right Arrow 9"/>
          <p:cNvSpPr/>
          <p:nvPr/>
        </p:nvSpPr>
        <p:spPr>
          <a:xfrm>
            <a:off x="4983480" y="1325880"/>
            <a:ext cx="457200" cy="548640"/>
          </a:xfrm>
          <a:prstGeom prst="rightArrow">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0" y="1051560"/>
            <a:ext cx="2194560" cy="1097280"/>
          </a:xfrm>
          <a:prstGeom prst="roundRect">
            <a:avLst>
              <a:gd name="adj" fmla="val 6000"/>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2200" b="1" i="0">
                <a:solidFill>
                  <a:srgbClr val="FFFFFF"/>
                </a:solidFill>
                <a:latin typeface="Calibri"/>
              </a:rPr>
              <a:t>OUTCOMES</a:t>
            </a:r>
          </a:p>
        </p:txBody>
      </p:sp>
      <p:sp>
        <p:nvSpPr>
          <p:cNvPr id="12" name="Right Arrow 11"/>
          <p:cNvSpPr/>
          <p:nvPr/>
        </p:nvSpPr>
        <p:spPr>
          <a:xfrm>
            <a:off x="7726679" y="1325880"/>
            <a:ext cx="457200" cy="548640"/>
          </a:xfrm>
          <a:prstGeom prst="rightArrow">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29600" y="1051560"/>
            <a:ext cx="3703320" cy="1097280"/>
          </a:xfrm>
          <a:prstGeom prst="roundRect">
            <a:avLst>
              <a:gd name="adj" fmla="val 6000"/>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2200" b="1" i="0">
                <a:solidFill>
                  <a:srgbClr val="FFFFFF"/>
                </a:solidFill>
                <a:latin typeface="Calibri"/>
              </a:rPr>
              <a:t>VALUE to me?</a:t>
            </a:r>
          </a:p>
          <a:p>
            <a:pPr algn="ctr"/>
            <a:r>
              <a:rPr sz="1900" b="0" i="0">
                <a:solidFill>
                  <a:srgbClr val="FFFFFF"/>
                </a:solidFill>
                <a:latin typeface="Calibri"/>
              </a:rPr>
              <a:t>→ effort decision</a:t>
            </a:r>
          </a:p>
        </p:txBody>
      </p:sp>
      <p:sp>
        <p:nvSpPr>
          <p:cNvPr id="14" name="Rounded Rectangle 13"/>
          <p:cNvSpPr/>
          <p:nvPr/>
        </p:nvSpPr>
        <p:spPr>
          <a:xfrm>
            <a:off x="274320" y="2286000"/>
            <a:ext cx="3749039" cy="2331720"/>
          </a:xfrm>
          <a:prstGeom prst="roundRect">
            <a:avLst>
              <a:gd name="adj" fmla="val 6000"/>
            </a:avLst>
          </a:prstGeom>
          <a:solidFill>
            <a:srgbClr val="FFFFFF"/>
          </a:solidFill>
          <a:ln w="19050">
            <a:solidFill>
              <a:srgbClr val="EDA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74320" y="2286000"/>
            <a:ext cx="3749039" cy="45720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74320" y="2606040"/>
            <a:ext cx="3749039" cy="137160"/>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2286000"/>
            <a:ext cx="3566159" cy="457200"/>
          </a:xfrm>
          <a:prstGeom prst="rect">
            <a:avLst/>
          </a:prstGeom>
          <a:noFill/>
        </p:spPr>
        <p:txBody>
          <a:bodyPr wrap="square" anchor="ctr" lIns="45720" rIns="45720" tIns="18288" bIns="18288"/>
          <a:lstStyle/>
          <a:p>
            <a:pPr algn="l"/>
            <a:r>
              <a:rPr sz="1900" b="1" i="0">
                <a:solidFill>
                  <a:srgbClr val="FFFFFF"/>
                </a:solidFill>
                <a:latin typeface="Calibri"/>
              </a:rPr>
              <a:t>EXPECTANCY (E)</a:t>
            </a:r>
          </a:p>
        </p:txBody>
      </p:sp>
      <p:sp>
        <p:nvSpPr>
          <p:cNvPr id="18" name="TextBox 17"/>
          <p:cNvSpPr txBox="1"/>
          <p:nvPr/>
        </p:nvSpPr>
        <p:spPr>
          <a:xfrm>
            <a:off x="347472" y="2798064"/>
            <a:ext cx="3602735" cy="1783079"/>
          </a:xfrm>
          <a:prstGeom prst="rect">
            <a:avLst/>
          </a:prstGeom>
          <a:noFill/>
        </p:spPr>
        <p:txBody>
          <a:bodyPr wrap="square" anchor="t" lIns="54864" rIns="54864" tIns="27432" bIns="27432"/>
          <a:lstStyle/>
          <a:p>
            <a:pPr>
              <a:spcAft>
                <a:spcPts val="300"/>
              </a:spcAft>
            </a:pPr>
            <a:r>
              <a:rPr sz="1600" b="1" i="0">
                <a:solidFill>
                  <a:srgbClr val="1A1A1A"/>
                </a:solidFill>
                <a:latin typeface="Calibri"/>
              </a:rPr>
              <a:t>• </a:t>
            </a:r>
            <a:r>
              <a:rPr sz="1600" b="1" i="0">
                <a:solidFill>
                  <a:srgbClr val="1A1A1A"/>
                </a:solidFill>
                <a:latin typeface="Calibri"/>
              </a:rPr>
              <a:t>'Can I achieve the performance?'</a:t>
            </a:r>
          </a:p>
          <a:p>
            <a:pPr>
              <a:spcAft>
                <a:spcPts val="300"/>
              </a:spcAft>
            </a:pPr>
            <a:r>
              <a:rPr sz="1600" b="1" i="0">
                <a:solidFill>
                  <a:srgbClr val="1A1A1A"/>
                </a:solidFill>
                <a:latin typeface="Calibri"/>
              </a:rPr>
              <a:t>• </a:t>
            </a:r>
            <a:r>
              <a:rPr sz="1600" b="0" i="0">
                <a:solidFill>
                  <a:srgbClr val="1A1A1A"/>
                </a:solidFill>
                <a:latin typeface="Calibri"/>
              </a:rPr>
              <a:t>Effort → performance belief (probability 0–1). Raised by self-efficacy, ability, resources, training, support. Excel example: 0 → ~1 after training</a:t>
            </a:r>
          </a:p>
        </p:txBody>
      </p:sp>
      <p:sp>
        <p:nvSpPr>
          <p:cNvPr id="19" name="Rounded Rectangle 18"/>
          <p:cNvSpPr/>
          <p:nvPr/>
        </p:nvSpPr>
        <p:spPr>
          <a:xfrm>
            <a:off x="4160520" y="2286000"/>
            <a:ext cx="3749039" cy="2331720"/>
          </a:xfrm>
          <a:prstGeom prst="roundRect">
            <a:avLst>
              <a:gd name="adj" fmla="val 6000"/>
            </a:avLst>
          </a:prstGeom>
          <a:solidFill>
            <a:srgbClr val="FFFFFF"/>
          </a:solidFill>
          <a:ln w="19050">
            <a:solidFill>
              <a:srgbClr val="EDA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160520" y="2286000"/>
            <a:ext cx="3749039" cy="45720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60520" y="2606040"/>
            <a:ext cx="3749039" cy="137160"/>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51959" y="2286000"/>
            <a:ext cx="3566159" cy="457200"/>
          </a:xfrm>
          <a:prstGeom prst="rect">
            <a:avLst/>
          </a:prstGeom>
          <a:noFill/>
        </p:spPr>
        <p:txBody>
          <a:bodyPr wrap="square" anchor="ctr" lIns="45720" rIns="45720" tIns="18288" bIns="18288"/>
          <a:lstStyle/>
          <a:p>
            <a:pPr algn="l"/>
            <a:r>
              <a:rPr sz="1900" b="1" i="0">
                <a:solidFill>
                  <a:srgbClr val="FFFFFF"/>
                </a:solidFill>
                <a:latin typeface="Calibri"/>
              </a:rPr>
              <a:t>INSTRUMENTALITY (I)</a:t>
            </a:r>
          </a:p>
        </p:txBody>
      </p:sp>
      <p:sp>
        <p:nvSpPr>
          <p:cNvPr id="23" name="TextBox 22"/>
          <p:cNvSpPr txBox="1"/>
          <p:nvPr/>
        </p:nvSpPr>
        <p:spPr>
          <a:xfrm>
            <a:off x="4233672" y="2798064"/>
            <a:ext cx="3602735" cy="1783079"/>
          </a:xfrm>
          <a:prstGeom prst="rect">
            <a:avLst/>
          </a:prstGeom>
          <a:noFill/>
        </p:spPr>
        <p:txBody>
          <a:bodyPr wrap="square" anchor="t" lIns="54864" rIns="54864" tIns="27432" bIns="27432"/>
          <a:lstStyle/>
          <a:p>
            <a:pPr>
              <a:spcAft>
                <a:spcPts val="300"/>
              </a:spcAft>
            </a:pPr>
            <a:r>
              <a:rPr sz="1900" b="1" i="0">
                <a:solidFill>
                  <a:srgbClr val="1A1A1A"/>
                </a:solidFill>
                <a:latin typeface="Calibri"/>
              </a:rPr>
              <a:t>• </a:t>
            </a:r>
            <a:r>
              <a:rPr sz="1900" b="1" i="0">
                <a:solidFill>
                  <a:srgbClr val="1A1A1A"/>
                </a:solidFill>
                <a:latin typeface="Calibri"/>
              </a:rPr>
              <a:t>'Will performance get me the reward?'</a:t>
            </a:r>
          </a:p>
          <a:p>
            <a:pPr>
              <a:spcAft>
                <a:spcPts val="300"/>
              </a:spcAft>
            </a:pPr>
            <a:r>
              <a:rPr sz="1900" b="1" i="0">
                <a:solidFill>
                  <a:srgbClr val="1A1A1A"/>
                </a:solidFill>
                <a:latin typeface="Calibri"/>
              </a:rPr>
              <a:t>• </a:t>
            </a:r>
            <a:r>
              <a:rPr sz="1900" b="0" i="0">
                <a:solidFill>
                  <a:srgbClr val="1A1A1A"/>
                </a:solidFill>
                <a:latin typeface="Calibri"/>
              </a:rPr>
              <a:t>Performance → outcome link. Broken by delayed/changed incentive rules. Navy bonuses $5K–$25K+</a:t>
            </a:r>
          </a:p>
        </p:txBody>
      </p:sp>
      <p:sp>
        <p:nvSpPr>
          <p:cNvPr id="24" name="Rounded Rectangle 23"/>
          <p:cNvSpPr/>
          <p:nvPr/>
        </p:nvSpPr>
        <p:spPr>
          <a:xfrm>
            <a:off x="8046720" y="2286000"/>
            <a:ext cx="3749039" cy="2331720"/>
          </a:xfrm>
          <a:prstGeom prst="roundRect">
            <a:avLst>
              <a:gd name="adj" fmla="val 6000"/>
            </a:avLst>
          </a:prstGeom>
          <a:solidFill>
            <a:srgbClr val="FFFFFF"/>
          </a:solidFill>
          <a:ln w="19050">
            <a:solidFill>
              <a:srgbClr val="EDA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046720" y="2286000"/>
            <a:ext cx="3749039" cy="45720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46720" y="2606040"/>
            <a:ext cx="3749039" cy="137160"/>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38160" y="2286000"/>
            <a:ext cx="3566159" cy="457200"/>
          </a:xfrm>
          <a:prstGeom prst="rect">
            <a:avLst/>
          </a:prstGeom>
          <a:noFill/>
        </p:spPr>
        <p:txBody>
          <a:bodyPr wrap="square" anchor="ctr" lIns="45720" rIns="45720" tIns="18288" bIns="18288"/>
          <a:lstStyle/>
          <a:p>
            <a:pPr algn="l"/>
            <a:r>
              <a:rPr sz="1900" b="1" i="0">
                <a:solidFill>
                  <a:srgbClr val="FFFFFF"/>
                </a:solidFill>
                <a:latin typeface="Calibri"/>
              </a:rPr>
              <a:t>VALENCE (V)</a:t>
            </a:r>
          </a:p>
        </p:txBody>
      </p:sp>
      <p:sp>
        <p:nvSpPr>
          <p:cNvPr id="28" name="TextBox 27"/>
          <p:cNvSpPr txBox="1"/>
          <p:nvPr/>
        </p:nvSpPr>
        <p:spPr>
          <a:xfrm>
            <a:off x="8119872" y="2798064"/>
            <a:ext cx="3602735" cy="1783079"/>
          </a:xfrm>
          <a:prstGeom prst="rect">
            <a:avLst/>
          </a:prstGeom>
          <a:noFill/>
        </p:spPr>
        <p:txBody>
          <a:bodyPr wrap="square" anchor="t" lIns="54864" rIns="54864" tIns="27432" bIns="27432"/>
          <a:lstStyle/>
          <a:p>
            <a:pPr>
              <a:spcAft>
                <a:spcPts val="300"/>
              </a:spcAft>
            </a:pPr>
            <a:r>
              <a:rPr sz="2000" b="1" i="0">
                <a:solidFill>
                  <a:srgbClr val="1A1A1A"/>
                </a:solidFill>
                <a:latin typeface="Calibri"/>
              </a:rPr>
              <a:t>• </a:t>
            </a:r>
            <a:r>
              <a:rPr sz="2000" b="1" i="0">
                <a:solidFill>
                  <a:srgbClr val="1A1A1A"/>
                </a:solidFill>
                <a:latin typeface="Calibri"/>
              </a:rPr>
              <a:t>'Do I value the reward?'</a:t>
            </a:r>
          </a:p>
          <a:p>
            <a:pPr>
              <a:spcAft>
                <a:spcPts val="300"/>
              </a:spcAft>
            </a:pPr>
            <a:r>
              <a:rPr sz="2000" b="1" i="0">
                <a:solidFill>
                  <a:srgbClr val="1A1A1A"/>
                </a:solidFill>
                <a:latin typeface="Calibri"/>
              </a:rPr>
              <a:t>• </a:t>
            </a:r>
            <a:r>
              <a:rPr sz="2000" b="0" i="0">
                <a:solidFill>
                  <a:srgbClr val="1A1A1A"/>
                </a:solidFill>
                <a:latin typeface="Calibri"/>
              </a:rPr>
              <a:t>Positive/negative value of outcomes; personal preferences (Aflac appreciation week)</a:t>
            </a:r>
          </a:p>
        </p:txBody>
      </p:sp>
      <p:sp>
        <p:nvSpPr>
          <p:cNvPr id="29" name="Rounded Rectangle 28"/>
          <p:cNvSpPr/>
          <p:nvPr/>
        </p:nvSpPr>
        <p:spPr>
          <a:xfrm>
            <a:off x="274320" y="4754880"/>
            <a:ext cx="3749039" cy="1783080"/>
          </a:xfrm>
          <a:prstGeom prst="roundRect">
            <a:avLst>
              <a:gd name="adj" fmla="val 6000"/>
            </a:avLst>
          </a:prstGeom>
          <a:solidFill>
            <a:srgbClr val="FFFFFF"/>
          </a:solidFill>
          <a:ln w="19050">
            <a:solidFill>
              <a:srgbClr val="EDA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74320" y="4754880"/>
            <a:ext cx="3749039" cy="45720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74320" y="5074920"/>
            <a:ext cx="3749039" cy="137160"/>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4754880"/>
            <a:ext cx="3566159" cy="457200"/>
          </a:xfrm>
          <a:prstGeom prst="rect">
            <a:avLst/>
          </a:prstGeom>
          <a:noFill/>
        </p:spPr>
        <p:txBody>
          <a:bodyPr wrap="square" anchor="ctr" lIns="45720" rIns="45720" tIns="18288" bIns="18288"/>
          <a:lstStyle/>
          <a:p>
            <a:pPr algn="l"/>
            <a:r>
              <a:rPr sz="1900" b="1" i="0">
                <a:solidFill>
                  <a:srgbClr val="FFFFFF"/>
                </a:solidFill>
                <a:latin typeface="Calibri"/>
              </a:rPr>
              <a:t>PPT case: sales incentives</a:t>
            </a:r>
          </a:p>
        </p:txBody>
      </p:sp>
      <p:sp>
        <p:nvSpPr>
          <p:cNvPr id="33" name="TextBox 32"/>
          <p:cNvSpPr txBox="1"/>
          <p:nvPr/>
        </p:nvSpPr>
        <p:spPr>
          <a:xfrm>
            <a:off x="347472" y="5266944"/>
            <a:ext cx="3602735" cy="1234439"/>
          </a:xfrm>
          <a:prstGeom prst="rect">
            <a:avLst/>
          </a:prstGeom>
          <a:noFill/>
        </p:spPr>
        <p:txBody>
          <a:bodyPr wrap="square" anchor="t" lIns="54864" rIns="54864" tIns="27432" bIns="27432"/>
          <a:lstStyle/>
          <a:p>
            <a:pPr>
              <a:spcAft>
                <a:spcPts val="300"/>
              </a:spcAft>
            </a:pPr>
            <a:r>
              <a:rPr sz="1300" b="1" i="0">
                <a:solidFill>
                  <a:srgbClr val="1A1A1A"/>
                </a:solidFill>
                <a:latin typeface="Calibri"/>
              </a:rPr>
              <a:t>• </a:t>
            </a:r>
            <a:r>
              <a:rPr sz="1300" b="0" i="0">
                <a:solidFill>
                  <a:srgbClr val="1A1A1A"/>
                </a:solidFill>
                <a:latin typeface="Calibri"/>
              </a:rPr>
              <a:t>E ✔ staff believe effort raises sales · </a:t>
            </a:r>
            <a:r>
              <a:rPr sz="1300" b="1" i="0">
                <a:solidFill>
                  <a:srgbClr val="1A1A1A"/>
                </a:solidFill>
                <a:latin typeface="Calibri"/>
              </a:rPr>
              <a:t>I ✘</a:t>
            </a:r>
            <a:r>
              <a:rPr sz="1300" b="0" i="0">
                <a:solidFill>
                  <a:srgbClr val="1A1A1A"/>
                </a:solidFill>
                <a:latin typeface="Calibri"/>
              </a:rPr>
              <a:t> rules change, payouts delayed · </a:t>
            </a:r>
            <a:r>
              <a:rPr sz="1300" b="1" i="0">
                <a:solidFill>
                  <a:srgbClr val="1A1A1A"/>
                </a:solidFill>
                <a:latin typeface="Calibri"/>
              </a:rPr>
              <a:t>V ✘</a:t>
            </a:r>
            <a:r>
              <a:rPr sz="1300" b="0" i="0">
                <a:solidFill>
                  <a:srgbClr val="1A1A1A"/>
                </a:solidFill>
                <a:latin typeface="Calibri"/>
              </a:rPr>
              <a:t> some don't value reward</a:t>
            </a:r>
          </a:p>
          <a:p>
            <a:pPr>
              <a:spcAft>
                <a:spcPts val="300"/>
              </a:spcAft>
            </a:pPr>
            <a:r>
              <a:rPr sz="1300" b="1" i="0">
                <a:solidFill>
                  <a:srgbClr val="1A1A1A"/>
                </a:solidFill>
                <a:latin typeface="Calibri"/>
              </a:rPr>
              <a:t>• </a:t>
            </a:r>
            <a:r>
              <a:rPr sz="1300" b="0" i="0">
                <a:solidFill>
                  <a:srgbClr val="1A1A1A"/>
                </a:solidFill>
                <a:latin typeface="Calibri"/>
              </a:rPr>
              <a:t>Fix: stable, timely, credible payouts; let employees choose rewards</a:t>
            </a:r>
          </a:p>
        </p:txBody>
      </p:sp>
      <p:sp>
        <p:nvSpPr>
          <p:cNvPr id="34" name="Rounded Rectangle 33"/>
          <p:cNvSpPr/>
          <p:nvPr/>
        </p:nvSpPr>
        <p:spPr>
          <a:xfrm>
            <a:off x="4160520" y="4754880"/>
            <a:ext cx="3886200" cy="1783080"/>
          </a:xfrm>
          <a:prstGeom prst="roundRect">
            <a:avLst>
              <a:gd name="adj" fmla="val 6000"/>
            </a:avLst>
          </a:prstGeom>
          <a:solidFill>
            <a:srgbClr val="FFFFFF"/>
          </a:solidFill>
          <a:ln w="19050">
            <a:solidFill>
              <a:srgbClr val="EDA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4160520" y="4754880"/>
            <a:ext cx="3886200" cy="45720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160520" y="5074920"/>
            <a:ext cx="3886200" cy="137160"/>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251959" y="4754880"/>
            <a:ext cx="3703320" cy="457200"/>
          </a:xfrm>
          <a:prstGeom prst="rect">
            <a:avLst/>
          </a:prstGeom>
          <a:noFill/>
        </p:spPr>
        <p:txBody>
          <a:bodyPr wrap="square" anchor="ctr" lIns="45720" rIns="45720" tIns="18288" bIns="18288"/>
          <a:lstStyle/>
          <a:p>
            <a:pPr algn="l"/>
            <a:r>
              <a:rPr sz="1900" b="1" i="0">
                <a:solidFill>
                  <a:srgbClr val="FFFFFF"/>
                </a:solidFill>
                <a:latin typeface="Calibri"/>
              </a:rPr>
              <a:t>Book cases</a:t>
            </a:r>
          </a:p>
        </p:txBody>
      </p:sp>
      <p:sp>
        <p:nvSpPr>
          <p:cNvPr id="38" name="TextBox 37"/>
          <p:cNvSpPr txBox="1"/>
          <p:nvPr/>
        </p:nvSpPr>
        <p:spPr>
          <a:xfrm>
            <a:off x="4233672" y="5266944"/>
            <a:ext cx="3739896" cy="1234439"/>
          </a:xfrm>
          <a:prstGeom prst="rect">
            <a:avLst/>
          </a:prstGeom>
          <a:noFill/>
        </p:spPr>
        <p:txBody>
          <a:bodyPr wrap="square" anchor="t" lIns="54864" rIns="54864" tIns="27432" bIns="27432"/>
          <a:lstStyle/>
          <a:p>
            <a:pPr>
              <a:spcAft>
                <a:spcPts val="300"/>
              </a:spcAft>
            </a:pPr>
            <a:r>
              <a:rPr sz="1300" b="1" i="0">
                <a:solidFill>
                  <a:srgbClr val="1A1A1A"/>
                </a:solidFill>
                <a:latin typeface="Calibri"/>
              </a:rPr>
              <a:t>• </a:t>
            </a:r>
            <a:r>
              <a:rPr sz="1300" b="1" i="0">
                <a:solidFill>
                  <a:srgbClr val="1A1A1A"/>
                </a:solidFill>
                <a:latin typeface="Calibri"/>
              </a:rPr>
              <a:t>Chicago Symphony strike</a:t>
            </a:r>
            <a:r>
              <a:rPr sz="1300" b="0" i="0">
                <a:solidFill>
                  <a:srgbClr val="1A1A1A"/>
                </a:solidFill>
                <a:latin typeface="Calibri"/>
              </a:rPr>
              <a:t>: pension cut breaks instrumentality/valence</a:t>
            </a:r>
          </a:p>
          <a:p>
            <a:pPr>
              <a:spcAft>
                <a:spcPts val="300"/>
              </a:spcAft>
            </a:pPr>
            <a:r>
              <a:rPr sz="1300" b="1" i="0">
                <a:solidFill>
                  <a:srgbClr val="1A1A1A"/>
                </a:solidFill>
                <a:latin typeface="Calibri"/>
              </a:rPr>
              <a:t>• </a:t>
            </a:r>
            <a:r>
              <a:rPr sz="1300" b="1" i="0">
                <a:solidFill>
                  <a:srgbClr val="1A1A1A"/>
                </a:solidFill>
                <a:latin typeface="Calibri"/>
              </a:rPr>
              <a:t>Principal Tim Richard</a:t>
            </a:r>
            <a:r>
              <a:rPr sz="1300" b="0" i="0">
                <a:solidFill>
                  <a:srgbClr val="1A1A1A"/>
                </a:solidFill>
                <a:latin typeface="Calibri"/>
              </a:rPr>
              <a:t> 'Celebration': link valued reward (28 min outside) to no Fs → 1,200 → 900 failing</a:t>
            </a:r>
          </a:p>
        </p:txBody>
      </p:sp>
      <p:sp>
        <p:nvSpPr>
          <p:cNvPr id="39" name="Rounded Rectangle 38"/>
          <p:cNvSpPr/>
          <p:nvPr/>
        </p:nvSpPr>
        <p:spPr>
          <a:xfrm>
            <a:off x="8183879" y="4754880"/>
            <a:ext cx="3749039" cy="1783080"/>
          </a:xfrm>
          <a:prstGeom prst="roundRect">
            <a:avLst>
              <a:gd name="adj" fmla="val 6000"/>
            </a:avLst>
          </a:prstGeom>
          <a:solidFill>
            <a:srgbClr val="FFF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75319" y="4773168"/>
            <a:ext cx="3566159" cy="1746504"/>
          </a:xfrm>
          <a:prstGeom prst="rect">
            <a:avLst/>
          </a:prstGeom>
          <a:noFill/>
        </p:spPr>
        <p:txBody>
          <a:bodyPr wrap="square" anchor="ctr" lIns="45720" rIns="45720" tIns="18288" bIns="18288"/>
          <a:lstStyle/>
          <a:p>
            <a:pPr algn="l"/>
            <a:r>
              <a:rPr sz="1500" b="1" i="0">
                <a:solidFill>
                  <a:srgbClr val="1A1A1A"/>
                </a:solidFill>
                <a:latin typeface="Calibri"/>
              </a:rPr>
              <a:t>Any ONE link at zero → motivation collapses (multiplicative). In a case, diagnose E, I and V separately.</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3000" b="1" i="0">
                <a:solidFill>
                  <a:srgbClr val="FFFFFF"/>
                </a:solidFill>
                <a:latin typeface="Calibri"/>
              </a:rPr>
              <a:t>Goal-setting theory (Locke &amp; Latham)</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F5D1C0"/>
                </a:solidFill>
                <a:latin typeface="Calibri"/>
              </a:rPr>
              <a:t>MODULE 4 · EMPLOYEE MOTIVATION</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Ch 5 pp. 187–189 · PPT 27–29</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46</a:t>
            </a:r>
          </a:p>
        </p:txBody>
      </p:sp>
      <p:sp>
        <p:nvSpPr>
          <p:cNvPr id="7" name="Rounded Rectangle 6"/>
          <p:cNvSpPr/>
          <p:nvPr/>
        </p:nvSpPr>
        <p:spPr>
          <a:xfrm>
            <a:off x="274320" y="1051560"/>
            <a:ext cx="3931920" cy="3291840"/>
          </a:xfrm>
          <a:prstGeom prst="roundRect">
            <a:avLst>
              <a:gd name="adj" fmla="val 6000"/>
            </a:avLst>
          </a:prstGeom>
          <a:solidFill>
            <a:srgbClr val="FFFFFF"/>
          </a:solidFill>
          <a:ln w="19050">
            <a:solidFill>
              <a:srgbClr val="EDA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74320" y="1051560"/>
            <a:ext cx="3931920" cy="45720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371600"/>
            <a:ext cx="3931920" cy="137160"/>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051560"/>
            <a:ext cx="3749039" cy="457200"/>
          </a:xfrm>
          <a:prstGeom prst="rect">
            <a:avLst/>
          </a:prstGeom>
          <a:noFill/>
        </p:spPr>
        <p:txBody>
          <a:bodyPr wrap="square" anchor="ctr" lIns="45720" rIns="45720" tIns="18288" bIns="18288"/>
          <a:lstStyle/>
          <a:p>
            <a:pPr algn="l"/>
            <a:r>
              <a:rPr sz="1900" b="1" i="0">
                <a:solidFill>
                  <a:srgbClr val="FFFFFF"/>
                </a:solidFill>
                <a:latin typeface="Calibri"/>
              </a:rPr>
              <a:t>The theory (1,000+ studies)</a:t>
            </a:r>
          </a:p>
        </p:txBody>
      </p:sp>
      <p:sp>
        <p:nvSpPr>
          <p:cNvPr id="11" name="TextBox 10"/>
          <p:cNvSpPr txBox="1"/>
          <p:nvPr/>
        </p:nvSpPr>
        <p:spPr>
          <a:xfrm>
            <a:off x="347472" y="1563624"/>
            <a:ext cx="3785615" cy="2743200"/>
          </a:xfrm>
          <a:prstGeom prst="rect">
            <a:avLst/>
          </a:prstGeom>
          <a:noFill/>
        </p:spPr>
        <p:txBody>
          <a:bodyPr wrap="square" anchor="t" lIns="54864" rIns="54864" tIns="27432" bIns="27432"/>
          <a:lstStyle/>
          <a:p>
            <a:pPr>
              <a:spcAft>
                <a:spcPts val="300"/>
              </a:spcAft>
            </a:pPr>
            <a:r>
              <a:rPr sz="1500" b="1" i="0">
                <a:solidFill>
                  <a:srgbClr val="1A1A1A"/>
                </a:solidFill>
                <a:latin typeface="Calibri"/>
              </a:rPr>
              <a:t>• </a:t>
            </a:r>
            <a:r>
              <a:rPr sz="1500" b="1" i="0">
                <a:solidFill>
                  <a:srgbClr val="1A1A1A"/>
                </a:solidFill>
                <a:latin typeface="Calibri"/>
              </a:rPr>
              <a:t>Specific &amp; difficult</a:t>
            </a:r>
            <a:r>
              <a:rPr sz="1500" b="0" i="0">
                <a:solidFill>
                  <a:srgbClr val="1A1A1A"/>
                </a:solidFill>
                <a:latin typeface="Calibri"/>
              </a:rPr>
              <a:t> goals → higher performance than 'do your best'</a:t>
            </a:r>
          </a:p>
          <a:p>
            <a:pPr>
              <a:spcAft>
                <a:spcPts val="300"/>
              </a:spcAft>
            </a:pPr>
            <a:r>
              <a:rPr sz="1500" b="1" i="0">
                <a:solidFill>
                  <a:srgbClr val="1A1A1A"/>
                </a:solidFill>
                <a:latin typeface="Calibri"/>
              </a:rPr>
              <a:t>• </a:t>
            </a:r>
            <a:r>
              <a:rPr sz="1500" b="0" i="0">
                <a:solidFill>
                  <a:srgbClr val="1A1A1A"/>
                </a:solidFill>
                <a:latin typeface="Calibri"/>
              </a:rPr>
              <a:t>Necessary conditions: </a:t>
            </a:r>
            <a:r>
              <a:rPr sz="1500" b="1" i="0">
                <a:solidFill>
                  <a:srgbClr val="1A1A1A"/>
                </a:solidFill>
                <a:latin typeface="Calibri"/>
              </a:rPr>
              <a:t>ability, resources, commitment</a:t>
            </a:r>
          </a:p>
          <a:p>
            <a:pPr>
              <a:spcAft>
                <a:spcPts val="300"/>
              </a:spcAft>
            </a:pPr>
            <a:r>
              <a:rPr sz="1500" b="1" i="0">
                <a:solidFill>
                  <a:srgbClr val="1A1A1A"/>
                </a:solidFill>
                <a:latin typeface="Calibri"/>
              </a:rPr>
              <a:t>• </a:t>
            </a:r>
            <a:r>
              <a:rPr sz="1500" b="0" i="0">
                <a:solidFill>
                  <a:srgbClr val="1A1A1A"/>
                </a:solidFill>
                <a:latin typeface="Calibri"/>
              </a:rPr>
              <a:t>Feedback &amp; participation help only if they produce commitment to a specific, difficult goal (PwC's Julia Lamm)</a:t>
            </a:r>
          </a:p>
          <a:p>
            <a:pPr>
              <a:spcAft>
                <a:spcPts val="300"/>
              </a:spcAft>
            </a:pPr>
            <a:r>
              <a:rPr sz="1500" b="1" i="0">
                <a:solidFill>
                  <a:srgbClr val="1A1A1A"/>
                </a:solidFill>
                <a:latin typeface="Calibri"/>
              </a:rPr>
              <a:t>• </a:t>
            </a:r>
            <a:r>
              <a:rPr sz="1500" b="0" i="0">
                <a:solidFill>
                  <a:srgbClr val="1A1A1A"/>
                </a:solidFill>
                <a:latin typeface="Calibri"/>
              </a:rPr>
              <a:t>Goal achievement → satisfaction → higher goals (upward cycle)</a:t>
            </a:r>
          </a:p>
        </p:txBody>
      </p:sp>
      <p:sp>
        <p:nvSpPr>
          <p:cNvPr id="12" name="Rounded Rectangle 11"/>
          <p:cNvSpPr/>
          <p:nvPr/>
        </p:nvSpPr>
        <p:spPr>
          <a:xfrm>
            <a:off x="4343400" y="1051560"/>
            <a:ext cx="2377440" cy="749808"/>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i="0">
                <a:solidFill>
                  <a:srgbClr val="FFFFFF"/>
                </a:solidFill>
                <a:latin typeface="Calibri"/>
              </a:rPr>
              <a:t>1 DIRECT ATTENTION</a:t>
            </a:r>
          </a:p>
        </p:txBody>
      </p:sp>
      <p:sp>
        <p:nvSpPr>
          <p:cNvPr id="13" name="TextBox 12"/>
          <p:cNvSpPr txBox="1"/>
          <p:nvPr/>
        </p:nvSpPr>
        <p:spPr>
          <a:xfrm>
            <a:off x="6766560" y="1051560"/>
            <a:ext cx="2286000" cy="749808"/>
          </a:xfrm>
          <a:prstGeom prst="rect">
            <a:avLst/>
          </a:prstGeom>
          <a:noFill/>
        </p:spPr>
        <p:txBody>
          <a:bodyPr wrap="square" anchor="ctr" lIns="45720" rIns="45720" tIns="18288" bIns="18288"/>
          <a:lstStyle/>
          <a:p>
            <a:pPr algn="l"/>
            <a:r>
              <a:rPr sz="1300" b="0" i="0">
                <a:solidFill>
                  <a:srgbClr val="1A1A1A"/>
                </a:solidFill>
                <a:latin typeface="Calibri"/>
              </a:rPr>
              <a:t>Focus on relevant tasks; prioritise (KFC packaging goal)</a:t>
            </a:r>
          </a:p>
        </p:txBody>
      </p:sp>
      <p:sp>
        <p:nvSpPr>
          <p:cNvPr id="14" name="Rounded Rectangle 13"/>
          <p:cNvSpPr/>
          <p:nvPr/>
        </p:nvSpPr>
        <p:spPr>
          <a:xfrm>
            <a:off x="4343400" y="1874519"/>
            <a:ext cx="2377440" cy="749808"/>
          </a:xfrm>
          <a:prstGeom prst="roundRect">
            <a:avLst>
              <a:gd name="adj" fmla="val 6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i="0">
                <a:solidFill>
                  <a:srgbClr val="FFFFFF"/>
                </a:solidFill>
                <a:latin typeface="Calibri"/>
              </a:rPr>
              <a:t>2 REGULATE EFFORT</a:t>
            </a:r>
          </a:p>
        </p:txBody>
      </p:sp>
      <p:sp>
        <p:nvSpPr>
          <p:cNvPr id="15" name="TextBox 14"/>
          <p:cNvSpPr txBox="1"/>
          <p:nvPr/>
        </p:nvSpPr>
        <p:spPr>
          <a:xfrm>
            <a:off x="6766560" y="1874519"/>
            <a:ext cx="2286000" cy="749808"/>
          </a:xfrm>
          <a:prstGeom prst="rect">
            <a:avLst/>
          </a:prstGeom>
          <a:noFill/>
        </p:spPr>
        <p:txBody>
          <a:bodyPr wrap="square" anchor="ctr" lIns="45720" rIns="45720" tIns="18288" bIns="18288"/>
          <a:lstStyle/>
          <a:p>
            <a:pPr algn="l"/>
            <a:r>
              <a:rPr sz="1300" b="0" i="0">
                <a:solidFill>
                  <a:srgbClr val="1A1A1A"/>
                </a:solidFill>
                <a:latin typeface="Calibri"/>
              </a:rPr>
              <a:t>Harder goals &amp; deadlines → more effort</a:t>
            </a:r>
          </a:p>
        </p:txBody>
      </p:sp>
      <p:sp>
        <p:nvSpPr>
          <p:cNvPr id="16" name="Rounded Rectangle 15"/>
          <p:cNvSpPr/>
          <p:nvPr/>
        </p:nvSpPr>
        <p:spPr>
          <a:xfrm>
            <a:off x="4343400" y="2697480"/>
            <a:ext cx="2377440" cy="749808"/>
          </a:xfrm>
          <a:prstGeom prst="roundRect">
            <a:avLst>
              <a:gd name="adj" fmla="val 6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i="0">
                <a:solidFill>
                  <a:srgbClr val="FFFFFF"/>
                </a:solidFill>
                <a:latin typeface="Calibri"/>
              </a:rPr>
              <a:t>3 INCREASE PERSISTENCE</a:t>
            </a:r>
          </a:p>
        </p:txBody>
      </p:sp>
      <p:sp>
        <p:nvSpPr>
          <p:cNvPr id="17" name="TextBox 16"/>
          <p:cNvSpPr txBox="1"/>
          <p:nvPr/>
        </p:nvSpPr>
        <p:spPr>
          <a:xfrm>
            <a:off x="6766560" y="2697480"/>
            <a:ext cx="2286000" cy="749808"/>
          </a:xfrm>
          <a:prstGeom prst="rect">
            <a:avLst/>
          </a:prstGeom>
          <a:noFill/>
        </p:spPr>
        <p:txBody>
          <a:bodyPr wrap="square" anchor="ctr" lIns="45720" rIns="45720" tIns="18288" bIns="18288"/>
          <a:lstStyle/>
          <a:p>
            <a:pPr algn="l"/>
            <a:r>
              <a:rPr sz="1300" b="0" i="0">
                <a:solidFill>
                  <a:srgbClr val="1A1A1A"/>
                </a:solidFill>
                <a:latin typeface="Calibri"/>
              </a:rPr>
              <a:t>Effort over time (Kinicki's marathon)</a:t>
            </a:r>
          </a:p>
        </p:txBody>
      </p:sp>
      <p:sp>
        <p:nvSpPr>
          <p:cNvPr id="18" name="Rounded Rectangle 17"/>
          <p:cNvSpPr/>
          <p:nvPr/>
        </p:nvSpPr>
        <p:spPr>
          <a:xfrm>
            <a:off x="4343400" y="3520440"/>
            <a:ext cx="2377440" cy="749808"/>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i="0">
                <a:solidFill>
                  <a:srgbClr val="FFFFFF"/>
                </a:solidFill>
                <a:latin typeface="Calibri"/>
              </a:rPr>
              <a:t>4 FOSTER STRATEGIES</a:t>
            </a:r>
          </a:p>
        </p:txBody>
      </p:sp>
      <p:sp>
        <p:nvSpPr>
          <p:cNvPr id="19" name="TextBox 18"/>
          <p:cNvSpPr txBox="1"/>
          <p:nvPr/>
        </p:nvSpPr>
        <p:spPr>
          <a:xfrm>
            <a:off x="6766560" y="3520440"/>
            <a:ext cx="2286000" cy="749808"/>
          </a:xfrm>
          <a:prstGeom prst="rect">
            <a:avLst/>
          </a:prstGeom>
          <a:noFill/>
        </p:spPr>
        <p:txBody>
          <a:bodyPr wrap="square" anchor="ctr" lIns="45720" rIns="45720" tIns="18288" bIns="18288"/>
          <a:lstStyle/>
          <a:p>
            <a:pPr algn="l"/>
            <a:r>
              <a:rPr sz="1300" b="0" i="0">
                <a:solidFill>
                  <a:srgbClr val="1A1A1A"/>
                </a:solidFill>
                <a:latin typeface="Calibri"/>
              </a:rPr>
              <a:t>Action plans (Memphis 800 Initiative); subgoals beat procrastination</a:t>
            </a:r>
          </a:p>
        </p:txBody>
      </p:sp>
      <p:sp>
        <p:nvSpPr>
          <p:cNvPr id="20" name="Rounded Rectangle 19"/>
          <p:cNvSpPr/>
          <p:nvPr/>
        </p:nvSpPr>
        <p:spPr>
          <a:xfrm>
            <a:off x="9144000" y="1051560"/>
            <a:ext cx="2788920" cy="3291840"/>
          </a:xfrm>
          <a:prstGeom prst="roundRect">
            <a:avLst>
              <a:gd name="adj" fmla="val 6000"/>
            </a:avLst>
          </a:prstGeom>
          <a:solidFill>
            <a:srgbClr val="FFFFFF"/>
          </a:solidFill>
          <a:ln w="19050">
            <a:solidFill>
              <a:srgbClr val="EDA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144000" y="1051560"/>
            <a:ext cx="2788920" cy="45720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0" y="1371600"/>
            <a:ext cx="2788920" cy="137160"/>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35440" y="1051560"/>
            <a:ext cx="2606039" cy="457200"/>
          </a:xfrm>
          <a:prstGeom prst="rect">
            <a:avLst/>
          </a:prstGeom>
          <a:noFill/>
        </p:spPr>
        <p:txBody>
          <a:bodyPr wrap="square" anchor="ctr" lIns="45720" rIns="45720" tIns="18288" bIns="18288"/>
          <a:lstStyle/>
          <a:p>
            <a:pPr algn="l"/>
            <a:r>
              <a:rPr sz="1900" b="1" i="0">
                <a:solidFill>
                  <a:srgbClr val="FFFFFF"/>
                </a:solidFill>
                <a:latin typeface="Calibri"/>
              </a:rPr>
              <a:t>SMART (PPT)</a:t>
            </a:r>
          </a:p>
        </p:txBody>
      </p:sp>
      <p:sp>
        <p:nvSpPr>
          <p:cNvPr id="24" name="TextBox 23"/>
          <p:cNvSpPr txBox="1"/>
          <p:nvPr/>
        </p:nvSpPr>
        <p:spPr>
          <a:xfrm>
            <a:off x="9217152" y="1563624"/>
            <a:ext cx="2642615" cy="2743200"/>
          </a:xfrm>
          <a:prstGeom prst="rect">
            <a:avLst/>
          </a:prstGeom>
          <a:noFill/>
        </p:spPr>
        <p:txBody>
          <a:bodyPr wrap="square" anchor="t" lIns="54864" rIns="54864" tIns="27432" bIns="27432"/>
          <a:lstStyle/>
          <a:p>
            <a:pPr>
              <a:spcAft>
                <a:spcPts val="300"/>
              </a:spcAft>
            </a:pPr>
            <a:r>
              <a:rPr sz="1800" b="1" i="0">
                <a:solidFill>
                  <a:srgbClr val="1A1A1A"/>
                </a:solidFill>
                <a:latin typeface="Calibri"/>
              </a:rPr>
              <a:t>• </a:t>
            </a:r>
            <a:r>
              <a:rPr sz="1800" b="0" i="0">
                <a:solidFill>
                  <a:srgbClr val="1A1A1A"/>
                </a:solidFill>
                <a:latin typeface="Calibri"/>
              </a:rPr>
              <a:t>Vague: 'improve customer service'</a:t>
            </a:r>
          </a:p>
          <a:p>
            <a:pPr>
              <a:spcAft>
                <a:spcPts val="300"/>
              </a:spcAft>
            </a:pPr>
            <a:r>
              <a:rPr sz="1800" b="1" i="0">
                <a:solidFill>
                  <a:srgbClr val="1A1A1A"/>
                </a:solidFill>
                <a:latin typeface="Calibri"/>
              </a:rPr>
              <a:t>• </a:t>
            </a:r>
            <a:r>
              <a:rPr sz="1800" b="0" i="0">
                <a:solidFill>
                  <a:srgbClr val="1A1A1A"/>
                </a:solidFill>
                <a:latin typeface="Calibri"/>
              </a:rPr>
              <a:t>SMART: 'raise post-stay score from 4.1 to 4.4 next quarter'</a:t>
            </a:r>
          </a:p>
          <a:p>
            <a:pPr>
              <a:spcAft>
                <a:spcPts val="300"/>
              </a:spcAft>
            </a:pPr>
            <a:r>
              <a:rPr sz="1800" b="1" i="0">
                <a:solidFill>
                  <a:srgbClr val="1A1A1A"/>
                </a:solidFill>
                <a:latin typeface="Calibri"/>
              </a:rPr>
              <a:t>• </a:t>
            </a:r>
            <a:r>
              <a:rPr sz="1800" b="0" i="0">
                <a:solidFill>
                  <a:srgbClr val="1A1A1A"/>
                </a:solidFill>
                <a:latin typeface="Calibri"/>
              </a:rPr>
              <a:t>+ staffing, training, feedback safeguards</a:t>
            </a:r>
          </a:p>
        </p:txBody>
      </p:sp>
      <p:sp>
        <p:nvSpPr>
          <p:cNvPr id="25" name="Rounded Rectangle 24"/>
          <p:cNvSpPr/>
          <p:nvPr/>
        </p:nvSpPr>
        <p:spPr>
          <a:xfrm>
            <a:off x="274320" y="4480560"/>
            <a:ext cx="5760720" cy="2057400"/>
          </a:xfrm>
          <a:prstGeom prst="roundRect">
            <a:avLst>
              <a:gd name="adj" fmla="val 6000"/>
            </a:avLst>
          </a:prstGeom>
          <a:solidFill>
            <a:srgbClr val="FFFFFF"/>
          </a:solidFill>
          <a:ln w="19050">
            <a:solidFill>
              <a:srgbClr val="EDA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274320" y="4480560"/>
            <a:ext cx="5760720" cy="45720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4320" y="4800600"/>
            <a:ext cx="5760720" cy="137160"/>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4480560"/>
            <a:ext cx="5577840" cy="457200"/>
          </a:xfrm>
          <a:prstGeom prst="rect">
            <a:avLst/>
          </a:prstGeom>
          <a:noFill/>
        </p:spPr>
        <p:txBody>
          <a:bodyPr wrap="square" anchor="ctr" lIns="45720" rIns="45720" tIns="18288" bIns="18288"/>
          <a:lstStyle/>
          <a:p>
            <a:pPr algn="l"/>
            <a:r>
              <a:rPr sz="1900" b="1" i="0">
                <a:solidFill>
                  <a:srgbClr val="FFFFFF"/>
                </a:solidFill>
                <a:latin typeface="Calibri"/>
              </a:rPr>
              <a:t>Risks: targets can distort behaviour</a:t>
            </a:r>
          </a:p>
        </p:txBody>
      </p:sp>
      <p:sp>
        <p:nvSpPr>
          <p:cNvPr id="29" name="TextBox 28"/>
          <p:cNvSpPr txBox="1"/>
          <p:nvPr/>
        </p:nvSpPr>
        <p:spPr>
          <a:xfrm>
            <a:off x="347472" y="4992624"/>
            <a:ext cx="5614416" cy="1508760"/>
          </a:xfrm>
          <a:prstGeom prst="rect">
            <a:avLst/>
          </a:prstGeom>
          <a:noFill/>
        </p:spPr>
        <p:txBody>
          <a:bodyPr wrap="square" anchor="t" lIns="54864" rIns="54864" tIns="27432" bIns="27432"/>
          <a:lstStyle/>
          <a:p>
            <a:pPr>
              <a:spcAft>
                <a:spcPts val="300"/>
              </a:spcAft>
            </a:pPr>
            <a:r>
              <a:rPr sz="1700" b="1" i="0">
                <a:solidFill>
                  <a:srgbClr val="1A1A1A"/>
                </a:solidFill>
                <a:latin typeface="Calibri"/>
              </a:rPr>
              <a:t>• </a:t>
            </a:r>
            <a:r>
              <a:rPr sz="1700" b="0" i="0">
                <a:solidFill>
                  <a:srgbClr val="1A1A1A"/>
                </a:solidFill>
                <a:latin typeface="Calibri"/>
              </a:rPr>
              <a:t>Gaming metrics · unethical shortcuts · stress · neglect of unmeasured work · harmful competition</a:t>
            </a:r>
          </a:p>
          <a:p>
            <a:pPr>
              <a:spcAft>
                <a:spcPts val="300"/>
              </a:spcAft>
            </a:pPr>
            <a:r>
              <a:rPr sz="1700" b="1" i="0">
                <a:solidFill>
                  <a:srgbClr val="1A1A1A"/>
                </a:solidFill>
                <a:latin typeface="Calibri"/>
              </a:rPr>
              <a:t>• </a:t>
            </a:r>
            <a:r>
              <a:rPr sz="1700" b="1" i="0">
                <a:solidFill>
                  <a:srgbClr val="1A1A1A"/>
                </a:solidFill>
                <a:latin typeface="Calibri"/>
              </a:rPr>
              <a:t>Volkswagen</a:t>
            </a:r>
            <a:r>
              <a:rPr sz="1700" b="0" i="0">
                <a:solidFill>
                  <a:srgbClr val="1A1A1A"/>
                </a:solidFill>
                <a:latin typeface="Calibri"/>
              </a:rPr>
              <a:t> emissions cheating (&gt;$35B) from impossible CEO targets · </a:t>
            </a:r>
            <a:r>
              <a:rPr sz="1700" b="1" i="0">
                <a:solidFill>
                  <a:srgbClr val="1A1A1A"/>
                </a:solidFill>
                <a:latin typeface="Calibri"/>
              </a:rPr>
              <a:t>Bank of Baroda</a:t>
            </a:r>
            <a:r>
              <a:rPr sz="1700" b="0" i="0">
                <a:solidFill>
                  <a:srgbClr val="1A1A1A"/>
                </a:solidFill>
                <a:latin typeface="Calibri"/>
              </a:rPr>
              <a:t> app quotas (Ch 1)</a:t>
            </a:r>
          </a:p>
        </p:txBody>
      </p:sp>
      <p:sp>
        <p:nvSpPr>
          <p:cNvPr id="30" name="Rounded Rectangle 29"/>
          <p:cNvSpPr/>
          <p:nvPr/>
        </p:nvSpPr>
        <p:spPr>
          <a:xfrm>
            <a:off x="6172200" y="4480560"/>
            <a:ext cx="5760720" cy="2057400"/>
          </a:xfrm>
          <a:prstGeom prst="roundRect">
            <a:avLst>
              <a:gd name="adj" fmla="val 6000"/>
            </a:avLst>
          </a:prstGeom>
          <a:solidFill>
            <a:srgbClr val="FFFFFF"/>
          </a:solidFill>
          <a:ln w="19050">
            <a:solidFill>
              <a:srgbClr val="EDA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172200" y="4480560"/>
            <a:ext cx="5760720" cy="45720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72200" y="4800600"/>
            <a:ext cx="5760720" cy="137160"/>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63640" y="4480560"/>
            <a:ext cx="5577840" cy="457200"/>
          </a:xfrm>
          <a:prstGeom prst="rect">
            <a:avLst/>
          </a:prstGeom>
          <a:noFill/>
        </p:spPr>
        <p:txBody>
          <a:bodyPr wrap="square" anchor="ctr" lIns="45720" rIns="45720" tIns="18288" bIns="18288"/>
          <a:lstStyle/>
          <a:p>
            <a:pPr algn="l"/>
            <a:r>
              <a:rPr sz="1900" b="1" i="0">
                <a:solidFill>
                  <a:srgbClr val="FFFFFF"/>
                </a:solidFill>
                <a:latin typeface="Calibri"/>
              </a:rPr>
              <a:t>Managerial response</a:t>
            </a:r>
          </a:p>
        </p:txBody>
      </p:sp>
      <p:sp>
        <p:nvSpPr>
          <p:cNvPr id="34" name="TextBox 33"/>
          <p:cNvSpPr txBox="1"/>
          <p:nvPr/>
        </p:nvSpPr>
        <p:spPr>
          <a:xfrm>
            <a:off x="6245352" y="4992624"/>
            <a:ext cx="5614416" cy="1508760"/>
          </a:xfrm>
          <a:prstGeom prst="rect">
            <a:avLst/>
          </a:prstGeom>
          <a:noFill/>
        </p:spPr>
        <p:txBody>
          <a:bodyPr wrap="square" anchor="t" lIns="54864" rIns="54864" tIns="27432" bIns="27432"/>
          <a:lstStyle/>
          <a:p>
            <a:pPr>
              <a:spcAft>
                <a:spcPts val="300"/>
              </a:spcAft>
            </a:pPr>
            <a:r>
              <a:rPr sz="1800" b="1" i="0">
                <a:solidFill>
                  <a:srgbClr val="1A1A1A"/>
                </a:solidFill>
                <a:latin typeface="Calibri"/>
              </a:rPr>
              <a:t>• </a:t>
            </a:r>
            <a:r>
              <a:rPr sz="1800" b="0" i="0">
                <a:solidFill>
                  <a:srgbClr val="1A1A1A"/>
                </a:solidFill>
                <a:latin typeface="Calibri"/>
              </a:rPr>
              <a:t>Balanced measures · review HOW targets are met · allow learning &amp; adjustment · reward collaboration</a:t>
            </a:r>
          </a:p>
          <a:p>
            <a:pPr>
              <a:spcAft>
                <a:spcPts val="300"/>
              </a:spcAft>
            </a:pPr>
            <a:r>
              <a:rPr sz="1800" b="1" i="0">
                <a:solidFill>
                  <a:srgbClr val="1A1A1A"/>
                </a:solidFill>
                <a:latin typeface="Calibri"/>
              </a:rPr>
              <a:t>• </a:t>
            </a:r>
            <a:r>
              <a:rPr sz="1800" b="0" i="0">
                <a:solidFill>
                  <a:srgbClr val="1A1A1A"/>
                </a:solidFill>
                <a:latin typeface="Calibri"/>
              </a:rPr>
              <a:t>Set </a:t>
            </a:r>
            <a:r>
              <a:rPr sz="1800" b="1" i="0">
                <a:solidFill>
                  <a:srgbClr val="1A1A1A"/>
                </a:solidFill>
                <a:latin typeface="Calibri"/>
              </a:rPr>
              <a:t>challenging but attainable</a:t>
            </a:r>
            <a:r>
              <a:rPr sz="1800" b="0" i="0">
                <a:solidFill>
                  <a:srgbClr val="1A1A1A"/>
                </a:solidFill>
                <a:latin typeface="Calibri"/>
              </a:rPr>
              <a:t> goals (Simone Biles sets specific medal goals)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200" b="1" i="0">
                <a:solidFill>
                  <a:srgbClr val="FFFFFF"/>
                </a:solidFill>
                <a:latin typeface="Calibri"/>
              </a:rPr>
              <a:t>5.4 Job design I: top-down approaches &amp; the Job Characteristics Model</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F5D1C0"/>
                </a:solidFill>
                <a:latin typeface="Calibri"/>
              </a:rPr>
              <a:t>MODULE 4 · EMPLOYEE MOTIVATION</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Ch 5 pp. 190–194 · Fig 5.9–5.10</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47</a:t>
            </a:r>
          </a:p>
        </p:txBody>
      </p:sp>
      <p:sp>
        <p:nvSpPr>
          <p:cNvPr id="7" name="Rounded Rectangle 6"/>
          <p:cNvSpPr/>
          <p:nvPr/>
        </p:nvSpPr>
        <p:spPr>
          <a:xfrm>
            <a:off x="274320" y="1051560"/>
            <a:ext cx="3749039" cy="5486400"/>
          </a:xfrm>
          <a:prstGeom prst="roundRect">
            <a:avLst>
              <a:gd name="adj" fmla="val 6000"/>
            </a:avLst>
          </a:prstGeom>
          <a:solidFill>
            <a:srgbClr val="FFFFFF"/>
          </a:solidFill>
          <a:ln w="19050">
            <a:solidFill>
              <a:srgbClr val="EDA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74320" y="1051560"/>
            <a:ext cx="3749039" cy="45720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371600"/>
            <a:ext cx="3749039" cy="137160"/>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051560"/>
            <a:ext cx="3566159" cy="457200"/>
          </a:xfrm>
          <a:prstGeom prst="rect">
            <a:avLst/>
          </a:prstGeom>
          <a:noFill/>
        </p:spPr>
        <p:txBody>
          <a:bodyPr wrap="square" anchor="ctr" lIns="45720" rIns="45720" tIns="18288" bIns="18288"/>
          <a:lstStyle/>
          <a:p>
            <a:pPr algn="l"/>
            <a:r>
              <a:rPr sz="1800" b="1" i="0">
                <a:solidFill>
                  <a:srgbClr val="FFFFFF"/>
                </a:solidFill>
                <a:latin typeface="Calibri"/>
              </a:rPr>
              <a:t>Top-down (management designs)</a:t>
            </a:r>
          </a:p>
        </p:txBody>
      </p:sp>
      <p:sp>
        <p:nvSpPr>
          <p:cNvPr id="11" name="TextBox 10"/>
          <p:cNvSpPr txBox="1"/>
          <p:nvPr/>
        </p:nvSpPr>
        <p:spPr>
          <a:xfrm>
            <a:off x="347472" y="1563624"/>
            <a:ext cx="3602735" cy="4937760"/>
          </a:xfrm>
          <a:prstGeom prst="rect">
            <a:avLst/>
          </a:prstGeom>
          <a:noFill/>
        </p:spPr>
        <p:txBody>
          <a:bodyPr wrap="square" anchor="t" lIns="54864" rIns="54864" tIns="27432" bIns="27432"/>
          <a:lstStyle/>
          <a:p>
            <a:pPr>
              <a:spcAft>
                <a:spcPts val="300"/>
              </a:spcAft>
            </a:pPr>
            <a:r>
              <a:rPr sz="1700" b="1" i="0">
                <a:solidFill>
                  <a:srgbClr val="1A1A1A"/>
                </a:solidFill>
                <a:latin typeface="Calibri"/>
              </a:rPr>
              <a:t>• </a:t>
            </a:r>
            <a:r>
              <a:rPr sz="1700" b="1" i="0">
                <a:solidFill>
                  <a:srgbClr val="1A1A1A"/>
                </a:solidFill>
                <a:latin typeface="Calibri"/>
              </a:rPr>
              <a:t>Scientific management</a:t>
            </a:r>
            <a:r>
              <a:rPr sz="1700" b="0" i="0">
                <a:solidFill>
                  <a:srgbClr val="1A1A1A"/>
                </a:solidFill>
                <a:latin typeface="Calibri"/>
              </a:rPr>
              <a:t> (Taylor): most efficient way; ↑ productivity but repetitive → dissatisfaction, stress</a:t>
            </a:r>
          </a:p>
          <a:p>
            <a:pPr>
              <a:spcAft>
                <a:spcPts val="300"/>
              </a:spcAft>
            </a:pPr>
            <a:r>
              <a:rPr sz="1700" b="1" i="0">
                <a:solidFill>
                  <a:srgbClr val="1A1A1A"/>
                </a:solidFill>
                <a:latin typeface="Calibri"/>
              </a:rPr>
              <a:t>• </a:t>
            </a:r>
            <a:r>
              <a:rPr sz="1700" b="1" i="0">
                <a:solidFill>
                  <a:srgbClr val="1A1A1A"/>
                </a:solidFill>
                <a:latin typeface="Calibri"/>
              </a:rPr>
              <a:t>Job enlargement</a:t>
            </a:r>
            <a:r>
              <a:rPr sz="1700" b="0" i="0">
                <a:solidFill>
                  <a:srgbClr val="1A1A1A"/>
                </a:solidFill>
                <a:latin typeface="Calibri"/>
              </a:rPr>
              <a:t> = </a:t>
            </a:r>
            <a:r>
              <a:rPr sz="1700" b="1" i="0">
                <a:solidFill>
                  <a:srgbClr val="1A1A1A"/>
                </a:solidFill>
                <a:latin typeface="Calibri"/>
              </a:rPr>
              <a:t>horizontal</a:t>
            </a:r>
            <a:r>
              <a:rPr sz="1700" b="0" i="0">
                <a:solidFill>
                  <a:srgbClr val="1A1A1A"/>
                </a:solidFill>
                <a:latin typeface="Calibri"/>
              </a:rPr>
              <a:t> loading: more tasks of similar difficulty; little lasting effect alone</a:t>
            </a:r>
          </a:p>
          <a:p>
            <a:pPr>
              <a:spcAft>
                <a:spcPts val="300"/>
              </a:spcAft>
            </a:pPr>
            <a:r>
              <a:rPr sz="1700" b="1" i="0">
                <a:solidFill>
                  <a:srgbClr val="1A1A1A"/>
                </a:solidFill>
                <a:latin typeface="Calibri"/>
              </a:rPr>
              <a:t>• </a:t>
            </a:r>
            <a:r>
              <a:rPr sz="1700" b="1" i="0">
                <a:solidFill>
                  <a:srgbClr val="1A1A1A"/>
                </a:solidFill>
                <a:latin typeface="Calibri"/>
              </a:rPr>
              <a:t>Job rotation</a:t>
            </a:r>
            <a:r>
              <a:rPr sz="1700" b="0" i="0">
                <a:solidFill>
                  <a:srgbClr val="1A1A1A"/>
                </a:solidFill>
                <a:latin typeface="Calibri"/>
              </a:rPr>
              <a:t>: move across jobs → broader view, cross-training, flexible scheduling, talent pipeline (rotational programs, job swaps)</a:t>
            </a:r>
          </a:p>
          <a:p>
            <a:pPr>
              <a:spcAft>
                <a:spcPts val="300"/>
              </a:spcAft>
            </a:pPr>
            <a:r>
              <a:rPr sz="1700" b="1" i="0">
                <a:solidFill>
                  <a:srgbClr val="1A1A1A"/>
                </a:solidFill>
                <a:latin typeface="Calibri"/>
              </a:rPr>
              <a:t>• </a:t>
            </a:r>
            <a:r>
              <a:rPr sz="1700" b="1" i="0">
                <a:solidFill>
                  <a:srgbClr val="1A1A1A"/>
                </a:solidFill>
                <a:latin typeface="Calibri"/>
              </a:rPr>
              <a:t>Job enrichment</a:t>
            </a:r>
            <a:r>
              <a:rPr sz="1700" b="0" i="0">
                <a:solidFill>
                  <a:srgbClr val="1A1A1A"/>
                </a:solidFill>
                <a:latin typeface="Calibri"/>
              </a:rPr>
              <a:t> = </a:t>
            </a:r>
            <a:r>
              <a:rPr sz="1700" b="1" i="0">
                <a:solidFill>
                  <a:srgbClr val="1A1A1A"/>
                </a:solidFill>
                <a:latin typeface="Calibri"/>
              </a:rPr>
              <a:t>vertical</a:t>
            </a:r>
            <a:r>
              <a:rPr sz="1700" b="0" i="0">
                <a:solidFill>
                  <a:srgbClr val="1A1A1A"/>
                </a:solidFill>
                <a:latin typeface="Calibri"/>
              </a:rPr>
              <a:t> loading (Herzberg): more responsibility, autonomy, recognition ('Final Friday' free project days; bank employee owns full customer journey)</a:t>
            </a:r>
          </a:p>
        </p:txBody>
      </p:sp>
      <p:sp>
        <p:nvSpPr>
          <p:cNvPr id="12" name="TextBox 11"/>
          <p:cNvSpPr txBox="1"/>
          <p:nvPr/>
        </p:nvSpPr>
        <p:spPr>
          <a:xfrm>
            <a:off x="4160520" y="1005840"/>
            <a:ext cx="7772400" cy="365760"/>
          </a:xfrm>
          <a:prstGeom prst="rect">
            <a:avLst/>
          </a:prstGeom>
          <a:noFill/>
        </p:spPr>
        <p:txBody>
          <a:bodyPr wrap="square" anchor="t" lIns="45720" rIns="45720" tIns="18288" bIns="18288"/>
          <a:lstStyle/>
          <a:p>
            <a:pPr algn="l"/>
            <a:r>
              <a:rPr sz="1600" b="1" i="0">
                <a:solidFill>
                  <a:srgbClr val="D84A05"/>
                </a:solidFill>
                <a:latin typeface="Calibri"/>
              </a:rPr>
              <a:t>Job Characteristics Model (Hackman &amp; Oldham)</a:t>
            </a:r>
          </a:p>
        </p:txBody>
      </p:sp>
      <p:sp>
        <p:nvSpPr>
          <p:cNvPr id="13" name="Rounded Rectangle 12"/>
          <p:cNvSpPr/>
          <p:nvPr/>
        </p:nvSpPr>
        <p:spPr>
          <a:xfrm>
            <a:off x="4160520" y="1417320"/>
            <a:ext cx="2103120" cy="530352"/>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500" b="1" i="0">
                <a:solidFill>
                  <a:srgbClr val="FFFFFF"/>
                </a:solidFill>
                <a:latin typeface="Calibri"/>
              </a:rPr>
              <a:t>Skill variety</a:t>
            </a:r>
          </a:p>
        </p:txBody>
      </p:sp>
      <p:sp>
        <p:nvSpPr>
          <p:cNvPr id="14" name="Rounded Rectangle 13"/>
          <p:cNvSpPr/>
          <p:nvPr/>
        </p:nvSpPr>
        <p:spPr>
          <a:xfrm>
            <a:off x="4160520" y="2020824"/>
            <a:ext cx="2103120" cy="530352"/>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500" b="1" i="0">
                <a:solidFill>
                  <a:srgbClr val="FFFFFF"/>
                </a:solidFill>
                <a:latin typeface="Calibri"/>
              </a:rPr>
              <a:t>Task identity</a:t>
            </a:r>
          </a:p>
        </p:txBody>
      </p:sp>
      <p:sp>
        <p:nvSpPr>
          <p:cNvPr id="15" name="Rounded Rectangle 14"/>
          <p:cNvSpPr/>
          <p:nvPr/>
        </p:nvSpPr>
        <p:spPr>
          <a:xfrm>
            <a:off x="4160520" y="2624328"/>
            <a:ext cx="2103120" cy="530352"/>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500" b="1" i="0">
                <a:solidFill>
                  <a:srgbClr val="FFFFFF"/>
                </a:solidFill>
                <a:latin typeface="Calibri"/>
              </a:rPr>
              <a:t>Task significance</a:t>
            </a:r>
          </a:p>
        </p:txBody>
      </p:sp>
      <p:sp>
        <p:nvSpPr>
          <p:cNvPr id="16" name="Rounded Rectangle 15"/>
          <p:cNvSpPr/>
          <p:nvPr/>
        </p:nvSpPr>
        <p:spPr>
          <a:xfrm>
            <a:off x="4160520" y="3227832"/>
            <a:ext cx="2103120" cy="530352"/>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500" b="1" i="0">
                <a:solidFill>
                  <a:srgbClr val="FFFFFF"/>
                </a:solidFill>
                <a:latin typeface="Calibri"/>
              </a:rPr>
              <a:t>Autonomy</a:t>
            </a:r>
          </a:p>
        </p:txBody>
      </p:sp>
      <p:sp>
        <p:nvSpPr>
          <p:cNvPr id="17" name="Rounded Rectangle 16"/>
          <p:cNvSpPr/>
          <p:nvPr/>
        </p:nvSpPr>
        <p:spPr>
          <a:xfrm>
            <a:off x="4160520" y="3831336"/>
            <a:ext cx="2103120" cy="530352"/>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500" b="1" i="0">
                <a:solidFill>
                  <a:srgbClr val="FFFFFF"/>
                </a:solidFill>
                <a:latin typeface="Calibri"/>
              </a:rPr>
              <a:t>Feedback</a:t>
            </a:r>
          </a:p>
        </p:txBody>
      </p:sp>
      <p:sp>
        <p:nvSpPr>
          <p:cNvPr id="18" name="Rounded Rectangle 17"/>
          <p:cNvSpPr/>
          <p:nvPr/>
        </p:nvSpPr>
        <p:spPr>
          <a:xfrm>
            <a:off x="6492240" y="1417320"/>
            <a:ext cx="2468880" cy="1737360"/>
          </a:xfrm>
          <a:prstGeom prst="roundRect">
            <a:avLst>
              <a:gd name="adj" fmla="val 6000"/>
            </a:avLst>
          </a:prstGeom>
          <a:solidFill>
            <a:srgbClr val="E38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500" b="1" i="0">
                <a:solidFill>
                  <a:srgbClr val="FFFFFF"/>
                </a:solidFill>
                <a:latin typeface="Calibri"/>
              </a:rPr>
              <a:t>Experienced</a:t>
            </a:r>
          </a:p>
          <a:p>
            <a:pPr algn="ctr"/>
            <a:r>
              <a:rPr sz="1200" b="0" i="0">
                <a:solidFill>
                  <a:srgbClr val="FFFFFF"/>
                </a:solidFill>
                <a:latin typeface="Calibri"/>
              </a:rPr>
              <a:t>MEANINGFULNESS of work</a:t>
            </a:r>
          </a:p>
        </p:txBody>
      </p:sp>
      <p:sp>
        <p:nvSpPr>
          <p:cNvPr id="19" name="Rounded Rectangle 18"/>
          <p:cNvSpPr/>
          <p:nvPr/>
        </p:nvSpPr>
        <p:spPr>
          <a:xfrm>
            <a:off x="6492240" y="3227832"/>
            <a:ext cx="2468880" cy="566928"/>
          </a:xfrm>
          <a:prstGeom prst="roundRect">
            <a:avLst>
              <a:gd name="adj" fmla="val 6000"/>
            </a:avLst>
          </a:prstGeom>
          <a:solidFill>
            <a:srgbClr val="E38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i="0">
                <a:solidFill>
                  <a:srgbClr val="FFFFFF"/>
                </a:solidFill>
                <a:latin typeface="Calibri"/>
              </a:rPr>
              <a:t>RESPONSIBILITY for outcomes</a:t>
            </a:r>
          </a:p>
        </p:txBody>
      </p:sp>
      <p:sp>
        <p:nvSpPr>
          <p:cNvPr id="20" name="Rounded Rectangle 19"/>
          <p:cNvSpPr/>
          <p:nvPr/>
        </p:nvSpPr>
        <p:spPr>
          <a:xfrm>
            <a:off x="6492240" y="3831336"/>
            <a:ext cx="2468880" cy="566928"/>
          </a:xfrm>
          <a:prstGeom prst="roundRect">
            <a:avLst>
              <a:gd name="adj" fmla="val 6000"/>
            </a:avLst>
          </a:prstGeom>
          <a:solidFill>
            <a:srgbClr val="E38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i="0">
                <a:solidFill>
                  <a:srgbClr val="FFFFFF"/>
                </a:solidFill>
                <a:latin typeface="Calibri"/>
              </a:rPr>
              <a:t>KNOWLEDGE of results</a:t>
            </a:r>
          </a:p>
        </p:txBody>
      </p:sp>
      <p:sp>
        <p:nvSpPr>
          <p:cNvPr id="21" name="Right Arrow 20"/>
          <p:cNvSpPr/>
          <p:nvPr/>
        </p:nvSpPr>
        <p:spPr>
          <a:xfrm>
            <a:off x="6281927" y="2011680"/>
            <a:ext cx="201168" cy="320040"/>
          </a:xfrm>
          <a:prstGeom prst="rightArrow">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ight Arrow 21"/>
          <p:cNvSpPr/>
          <p:nvPr/>
        </p:nvSpPr>
        <p:spPr>
          <a:xfrm>
            <a:off x="6281927" y="3310128"/>
            <a:ext cx="201168" cy="320040"/>
          </a:xfrm>
          <a:prstGeom prst="rightArrow">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ight Arrow 22"/>
          <p:cNvSpPr/>
          <p:nvPr/>
        </p:nvSpPr>
        <p:spPr>
          <a:xfrm>
            <a:off x="6281927" y="3913632"/>
            <a:ext cx="201168" cy="320040"/>
          </a:xfrm>
          <a:prstGeom prst="rightArrow">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189720" y="1417320"/>
            <a:ext cx="2743200" cy="2980944"/>
          </a:xfrm>
          <a:prstGeom prst="roundRect">
            <a:avLst>
              <a:gd name="adj" fmla="val 6000"/>
            </a:avLst>
          </a:prstGeom>
          <a:solidFill>
            <a:srgbClr val="EDAD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600" b="1" i="0">
                <a:solidFill>
                  <a:srgbClr val="1A1A1A"/>
                </a:solidFill>
                <a:latin typeface="Calibri"/>
              </a:rPr>
              <a:t>OUTCOMES</a:t>
            </a:r>
          </a:p>
          <a:p>
            <a:pPr algn="ctr"/>
            <a:r>
              <a:rPr sz="1300" b="0" i="0">
                <a:solidFill>
                  <a:srgbClr val="1A1A1A"/>
                </a:solidFill>
                <a:latin typeface="Calibri"/>
              </a:rPr>
              <a:t>High intrinsic motivation
High growth satisfaction
High job satisfaction
High work effectiveness</a:t>
            </a:r>
          </a:p>
        </p:txBody>
      </p:sp>
      <p:sp>
        <p:nvSpPr>
          <p:cNvPr id="25" name="Right Arrow 24"/>
          <p:cNvSpPr/>
          <p:nvPr/>
        </p:nvSpPr>
        <p:spPr>
          <a:xfrm>
            <a:off x="8979408" y="2697480"/>
            <a:ext cx="201168" cy="365760"/>
          </a:xfrm>
          <a:prstGeom prst="rightArrow">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160520" y="4572000"/>
            <a:ext cx="3840480" cy="1965960"/>
          </a:xfrm>
          <a:prstGeom prst="roundRect">
            <a:avLst>
              <a:gd name="adj" fmla="val 6000"/>
            </a:avLst>
          </a:prstGeom>
          <a:solidFill>
            <a:srgbClr val="FFFFFF"/>
          </a:solidFill>
          <a:ln w="19050">
            <a:solidFill>
              <a:srgbClr val="EDA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4160520" y="4572000"/>
            <a:ext cx="3840480" cy="45720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160520" y="4892040"/>
            <a:ext cx="3840480" cy="137160"/>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51959" y="4572000"/>
            <a:ext cx="3657600" cy="457200"/>
          </a:xfrm>
          <a:prstGeom prst="rect">
            <a:avLst/>
          </a:prstGeom>
          <a:noFill/>
        </p:spPr>
        <p:txBody>
          <a:bodyPr wrap="square" anchor="ctr" lIns="45720" rIns="45720" tIns="18288" bIns="18288"/>
          <a:lstStyle/>
          <a:p>
            <a:pPr algn="l"/>
            <a:r>
              <a:rPr sz="1500" b="1" i="0">
                <a:solidFill>
                  <a:srgbClr val="FFFFFF"/>
                </a:solidFill>
                <a:latin typeface="Calibri"/>
              </a:rPr>
              <a:t>Moderators (not everyone wants it)</a:t>
            </a:r>
          </a:p>
        </p:txBody>
      </p:sp>
      <p:sp>
        <p:nvSpPr>
          <p:cNvPr id="30" name="TextBox 29"/>
          <p:cNvSpPr txBox="1"/>
          <p:nvPr/>
        </p:nvSpPr>
        <p:spPr>
          <a:xfrm>
            <a:off x="4233672" y="5084064"/>
            <a:ext cx="3694176" cy="1417319"/>
          </a:xfrm>
          <a:prstGeom prst="rect">
            <a:avLst/>
          </a:prstGeom>
          <a:noFill/>
        </p:spPr>
        <p:txBody>
          <a:bodyPr wrap="square" anchor="t" lIns="54864" rIns="54864" tIns="27432" bIns="27432"/>
          <a:lstStyle/>
          <a:p>
            <a:pPr>
              <a:spcAft>
                <a:spcPts val="300"/>
              </a:spcAft>
            </a:pPr>
            <a:r>
              <a:rPr sz="2000" b="1" i="0">
                <a:solidFill>
                  <a:srgbClr val="1A1A1A"/>
                </a:solidFill>
                <a:latin typeface="Calibri"/>
              </a:rPr>
              <a:t>• </a:t>
            </a:r>
            <a:r>
              <a:rPr sz="2000" b="0" i="0">
                <a:solidFill>
                  <a:srgbClr val="1A1A1A"/>
                </a:solidFill>
                <a:latin typeface="Calibri"/>
              </a:rPr>
              <a:t>1 Knowledge &amp; skill · 2 </a:t>
            </a:r>
            <a:r>
              <a:rPr sz="2000" b="1" i="0">
                <a:solidFill>
                  <a:srgbClr val="1A1A1A"/>
                </a:solidFill>
                <a:latin typeface="Calibri"/>
              </a:rPr>
              <a:t>Growth need strength</a:t>
            </a:r>
            <a:r>
              <a:rPr sz="2000" b="0" i="0">
                <a:solidFill>
                  <a:srgbClr val="1A1A1A"/>
                </a:solidFill>
                <a:latin typeface="Calibri"/>
              </a:rPr>
              <a:t> · 3 Context satisfactions (pay, coworkers, supervision)</a:t>
            </a:r>
          </a:p>
        </p:txBody>
      </p:sp>
      <p:sp>
        <p:nvSpPr>
          <p:cNvPr id="31" name="Rounded Rectangle 30"/>
          <p:cNvSpPr/>
          <p:nvPr/>
        </p:nvSpPr>
        <p:spPr>
          <a:xfrm>
            <a:off x="8138159" y="4572000"/>
            <a:ext cx="3794760" cy="1965960"/>
          </a:xfrm>
          <a:prstGeom prst="roundRect">
            <a:avLst>
              <a:gd name="adj" fmla="val 6000"/>
            </a:avLst>
          </a:prstGeom>
          <a:solidFill>
            <a:srgbClr val="FFFFFF"/>
          </a:solidFill>
          <a:ln w="19050">
            <a:solidFill>
              <a:srgbClr val="EDA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138159" y="4572000"/>
            <a:ext cx="3794760" cy="45720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38159" y="4892040"/>
            <a:ext cx="3794760" cy="137160"/>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599" y="4572000"/>
            <a:ext cx="3611880" cy="457200"/>
          </a:xfrm>
          <a:prstGeom prst="rect">
            <a:avLst/>
          </a:prstGeom>
          <a:noFill/>
        </p:spPr>
        <p:txBody>
          <a:bodyPr wrap="square" anchor="ctr" lIns="45720" rIns="45720" tIns="18288" bIns="18288"/>
          <a:lstStyle/>
          <a:p>
            <a:pPr algn="l"/>
            <a:r>
              <a:rPr sz="1900" b="1" i="0">
                <a:solidFill>
                  <a:srgbClr val="FFFFFF"/>
                </a:solidFill>
                <a:latin typeface="Calibri"/>
              </a:rPr>
              <a:t>Evidence &amp; tips</a:t>
            </a:r>
          </a:p>
        </p:txBody>
      </p:sp>
      <p:sp>
        <p:nvSpPr>
          <p:cNvPr id="35" name="TextBox 34"/>
          <p:cNvSpPr txBox="1"/>
          <p:nvPr/>
        </p:nvSpPr>
        <p:spPr>
          <a:xfrm>
            <a:off x="8211311" y="5084064"/>
            <a:ext cx="3648456" cy="1417319"/>
          </a:xfrm>
          <a:prstGeom prst="rect">
            <a:avLst/>
          </a:prstGeom>
          <a:noFill/>
        </p:spPr>
        <p:txBody>
          <a:bodyPr wrap="square" anchor="t" lIns="54864" rIns="54864" tIns="27432" bIns="27432"/>
          <a:lstStyle/>
          <a:p>
            <a:pPr>
              <a:spcAft>
                <a:spcPts val="300"/>
              </a:spcAft>
            </a:pPr>
            <a:r>
              <a:rPr sz="1500" b="1" i="0">
                <a:solidFill>
                  <a:srgbClr val="1A1A1A"/>
                </a:solidFill>
                <a:latin typeface="Calibri"/>
              </a:rPr>
              <a:t>• </a:t>
            </a:r>
            <a:r>
              <a:rPr sz="1500" b="0" i="0">
                <a:solidFill>
                  <a:srgbClr val="1A1A1A"/>
                </a:solidFill>
                <a:latin typeface="Calibri"/>
              </a:rPr>
              <a:t>Dropbox: no annual reviews, real-time feedback; redesign → +28% performance quality</a:t>
            </a:r>
          </a:p>
          <a:p>
            <a:pPr>
              <a:spcAft>
                <a:spcPts val="300"/>
              </a:spcAft>
            </a:pPr>
            <a:r>
              <a:rPr sz="1500" b="1" i="0">
                <a:solidFill>
                  <a:srgbClr val="1A1A1A"/>
                </a:solidFill>
                <a:latin typeface="Calibri"/>
              </a:rPr>
              <a:t>• </a:t>
            </a:r>
            <a:r>
              <a:rPr sz="1500" b="0" i="0">
                <a:solidFill>
                  <a:srgbClr val="1A1A1A"/>
                </a:solidFill>
                <a:latin typeface="Calibri"/>
              </a:rPr>
              <a:t>MPS = (SV+TI+TS)/3 × A × F (autonomy &amp; feedback are critical)</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600" b="1" i="0">
                <a:solidFill>
                  <a:srgbClr val="FFFFFF"/>
                </a:solidFill>
                <a:latin typeface="Calibri"/>
              </a:rPr>
              <a:t>Job design II: job crafting (bottom-up) &amp; i-deals (negotiated)</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F5D1C0"/>
                </a:solidFill>
                <a:latin typeface="Calibri"/>
              </a:rPr>
              <a:t>MODULE 4 · EMPLOYEE MOTIVATION</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Ch 5 pp. 194–198 · Table 5.2</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48</a:t>
            </a:r>
          </a:p>
        </p:txBody>
      </p:sp>
      <p:graphicFrame>
        <p:nvGraphicFramePr>
          <p:cNvPr id="7" name="Table 6"/>
          <p:cNvGraphicFramePr>
            <a:graphicFrameLocks noGrp="1"/>
          </p:cNvGraphicFramePr>
          <p:nvPr/>
        </p:nvGraphicFramePr>
        <p:xfrm>
          <a:off x="274320" y="1051560"/>
          <a:ext cx="6949440" cy="2651760"/>
        </p:xfrm>
        <a:graphic>
          <a:graphicData uri="http://schemas.openxmlformats.org/drawingml/2006/table">
            <a:tbl>
              <a:tblPr firstRow="1" bandRow="1">
                <a:tableStyleId>{5C22544A-7EE6-4342-B048-85BDC9FD1C3A}</a:tableStyleId>
              </a:tblPr>
              <a:tblGrid>
                <a:gridCol w="1645920"/>
                <a:gridCol w="2103120"/>
                <a:gridCol w="3200400"/>
              </a:tblGrid>
              <a:tr h="662940">
                <a:tc>
                  <a:txBody>
                    <a:bodyPr wrap="square"/>
                    <a:lstStyle/>
                    <a:p>
                      <a:r>
                        <a:rPr sz="1300" b="1" i="0">
                          <a:solidFill>
                            <a:srgbClr val="FFFFFF"/>
                          </a:solidFill>
                          <a:latin typeface="Calibri"/>
                        </a:rPr>
                        <a:t>Form of job crafting</a:t>
                      </a:r>
                    </a:p>
                  </a:txBody>
                  <a:tcPr marL="54864" marR="54864" marT="27432" marB="27432" anchor="ctr">
                    <a:solidFill>
                      <a:srgbClr val="D84A05"/>
                    </a:solidFill>
                  </a:tcPr>
                </a:tc>
                <a:tc>
                  <a:txBody>
                    <a:bodyPr wrap="square"/>
                    <a:lstStyle/>
                    <a:p>
                      <a:r>
                        <a:rPr sz="1300" b="1" i="0">
                          <a:solidFill>
                            <a:srgbClr val="FFFFFF"/>
                          </a:solidFill>
                          <a:latin typeface="Calibri"/>
                        </a:rPr>
                        <a:t>Change</a:t>
                      </a:r>
                    </a:p>
                  </a:txBody>
                  <a:tcPr marL="54864" marR="54864" marT="27432" marB="27432" anchor="ctr">
                    <a:solidFill>
                      <a:srgbClr val="D84A05"/>
                    </a:solidFill>
                  </a:tcPr>
                </a:tc>
                <a:tc>
                  <a:txBody>
                    <a:bodyPr wrap="square"/>
                    <a:lstStyle/>
                    <a:p>
                      <a:r>
                        <a:rPr sz="1300" b="1" i="0">
                          <a:solidFill>
                            <a:srgbClr val="FFFFFF"/>
                          </a:solidFill>
                          <a:latin typeface="Calibri"/>
                        </a:rPr>
                        <a:t>Example (Table 5.2)</a:t>
                      </a:r>
                    </a:p>
                  </a:txBody>
                  <a:tcPr marL="54864" marR="54864" marT="27432" marB="27432" anchor="ctr">
                    <a:solidFill>
                      <a:srgbClr val="D84A05"/>
                    </a:solidFill>
                  </a:tcPr>
                </a:tc>
              </a:tr>
              <a:tr h="662940">
                <a:tc>
                  <a:txBody>
                    <a:bodyPr wrap="square"/>
                    <a:lstStyle/>
                    <a:p>
                      <a:r>
                        <a:rPr sz="1300" b="1" i="0">
                          <a:solidFill>
                            <a:srgbClr val="1A1A1A"/>
                          </a:solidFill>
                          <a:latin typeface="Calibri"/>
                        </a:rPr>
                        <a:t>Task crafting</a:t>
                      </a:r>
                    </a:p>
                  </a:txBody>
                  <a:tcPr marL="54864" marR="54864" marT="27432" marB="27432" anchor="ctr">
                    <a:solidFill>
                      <a:srgbClr val="FFFFFF"/>
                    </a:solidFill>
                  </a:tcPr>
                </a:tc>
                <a:tc>
                  <a:txBody>
                    <a:bodyPr wrap="square"/>
                    <a:lstStyle/>
                    <a:p>
                      <a:r>
                        <a:rPr sz="1300" b="0" i="0">
                          <a:solidFill>
                            <a:srgbClr val="1A1A1A"/>
                          </a:solidFill>
                          <a:latin typeface="Calibri"/>
                        </a:rPr>
                        <a:t>Number, scope, type of tasks</a:t>
                      </a:r>
                    </a:p>
                  </a:txBody>
                  <a:tcPr marL="54864" marR="54864" marT="27432" marB="27432" anchor="ctr">
                    <a:solidFill>
                      <a:srgbClr val="FFFFFF"/>
                    </a:solidFill>
                  </a:tcPr>
                </a:tc>
                <a:tc>
                  <a:txBody>
                    <a:bodyPr wrap="square"/>
                    <a:lstStyle/>
                    <a:p>
                      <a:r>
                        <a:rPr sz="1300" b="0" i="0">
                          <a:solidFill>
                            <a:srgbClr val="1A1A1A"/>
                          </a:solidFill>
                          <a:latin typeface="Calibri"/>
                        </a:rPr>
                        <a:t>Design engineers move projects to completion faster</a:t>
                      </a:r>
                    </a:p>
                  </a:txBody>
                  <a:tcPr marL="54864" marR="54864" marT="27432" marB="27432" anchor="ctr">
                    <a:solidFill>
                      <a:srgbClr val="FFFFFF"/>
                    </a:solidFill>
                  </a:tcPr>
                </a:tc>
              </a:tr>
              <a:tr h="662940">
                <a:tc>
                  <a:txBody>
                    <a:bodyPr wrap="square"/>
                    <a:lstStyle/>
                    <a:p>
                      <a:r>
                        <a:rPr sz="1300" b="1" i="0">
                          <a:solidFill>
                            <a:srgbClr val="1A1A1A"/>
                          </a:solidFill>
                          <a:latin typeface="Calibri"/>
                        </a:rPr>
                        <a:t>Relational crafting</a:t>
                      </a:r>
                    </a:p>
                  </a:txBody>
                  <a:tcPr marL="54864" marR="54864" marT="27432" marB="27432" anchor="ctr">
                    <a:solidFill>
                      <a:srgbClr val="FBECE6"/>
                    </a:solidFill>
                  </a:tcPr>
                </a:tc>
                <a:tc>
                  <a:txBody>
                    <a:bodyPr wrap="square"/>
                    <a:lstStyle/>
                    <a:p>
                      <a:r>
                        <a:rPr sz="1300" b="0" i="0">
                          <a:solidFill>
                            <a:srgbClr val="1A1A1A"/>
                          </a:solidFill>
                          <a:latin typeface="Calibri"/>
                        </a:rPr>
                        <a:t>Quality/amount of interactions</a:t>
                      </a:r>
                    </a:p>
                  </a:txBody>
                  <a:tcPr marL="54864" marR="54864" marT="27432" marB="27432" anchor="ctr">
                    <a:solidFill>
                      <a:srgbClr val="FBECE6"/>
                    </a:solidFill>
                  </a:tcPr>
                </a:tc>
                <a:tc>
                  <a:txBody>
                    <a:bodyPr wrap="square"/>
                    <a:lstStyle/>
                    <a:p>
                      <a:r>
                        <a:rPr sz="1300" b="0" i="0">
                          <a:solidFill>
                            <a:srgbClr val="1A1A1A"/>
                          </a:solidFill>
                          <a:latin typeface="Calibri"/>
                        </a:rPr>
                        <a:t>Hospital cleaners care for patients &amp; join floor workflow</a:t>
                      </a:r>
                    </a:p>
                  </a:txBody>
                  <a:tcPr marL="54864" marR="54864" marT="27432" marB="27432" anchor="ctr">
                    <a:solidFill>
                      <a:srgbClr val="FBECE6"/>
                    </a:solidFill>
                  </a:tcPr>
                </a:tc>
              </a:tr>
              <a:tr h="662940">
                <a:tc>
                  <a:txBody>
                    <a:bodyPr wrap="square"/>
                    <a:lstStyle/>
                    <a:p>
                      <a:r>
                        <a:rPr sz="1300" b="1" i="0">
                          <a:solidFill>
                            <a:srgbClr val="1A1A1A"/>
                          </a:solidFill>
                          <a:latin typeface="Calibri"/>
                        </a:rPr>
                        <a:t>Cognitive crafting</a:t>
                      </a:r>
                    </a:p>
                  </a:txBody>
                  <a:tcPr marL="54864" marR="54864" marT="27432" marB="27432" anchor="ctr">
                    <a:solidFill>
                      <a:srgbClr val="FFFFFF"/>
                    </a:solidFill>
                  </a:tcPr>
                </a:tc>
                <a:tc>
                  <a:txBody>
                    <a:bodyPr wrap="square"/>
                    <a:lstStyle/>
                    <a:p>
                      <a:r>
                        <a:rPr sz="1300" b="0" i="0">
                          <a:solidFill>
                            <a:srgbClr val="1A1A1A"/>
                          </a:solidFill>
                          <a:latin typeface="Calibri"/>
                        </a:rPr>
                        <a:t>How you think about tasks/relationships</a:t>
                      </a:r>
                    </a:p>
                  </a:txBody>
                  <a:tcPr marL="54864" marR="54864" marT="27432" marB="27432" anchor="ctr">
                    <a:solidFill>
                      <a:srgbClr val="FFFFFF"/>
                    </a:solidFill>
                  </a:tcPr>
                </a:tc>
                <a:tc>
                  <a:txBody>
                    <a:bodyPr wrap="square"/>
                    <a:lstStyle/>
                    <a:p>
                      <a:r>
                        <a:rPr sz="1300" b="0" i="0">
                          <a:solidFill>
                            <a:srgbClr val="1A1A1A"/>
                          </a:solidFill>
                          <a:latin typeface="Calibri"/>
                        </a:rPr>
                        <a:t>Nurses see 'insignificant' tasks as patient advocacy; hotel cleaner = 'creating a safe welcome' (PPT)</a:t>
                      </a:r>
                    </a:p>
                  </a:txBody>
                  <a:tcPr marL="54864" marR="54864" marT="27432" marB="27432" anchor="ctr">
                    <a:solidFill>
                      <a:srgbClr val="FFFFFF"/>
                    </a:solidFill>
                  </a:tcPr>
                </a:tc>
              </a:tr>
            </a:tbl>
          </a:graphicData>
        </a:graphic>
      </p:graphicFrame>
      <p:sp>
        <p:nvSpPr>
          <p:cNvPr id="8" name="Rounded Rectangle 7"/>
          <p:cNvSpPr/>
          <p:nvPr/>
        </p:nvSpPr>
        <p:spPr>
          <a:xfrm>
            <a:off x="274320" y="3840480"/>
            <a:ext cx="3429000" cy="2697480"/>
          </a:xfrm>
          <a:prstGeom prst="roundRect">
            <a:avLst>
              <a:gd name="adj" fmla="val 6000"/>
            </a:avLst>
          </a:prstGeom>
          <a:solidFill>
            <a:srgbClr val="FFFFFF"/>
          </a:solidFill>
          <a:ln w="19050">
            <a:solidFill>
              <a:srgbClr val="EDA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74320" y="3840480"/>
            <a:ext cx="3429000" cy="45720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4160520"/>
            <a:ext cx="3429000" cy="137160"/>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3840480"/>
            <a:ext cx="3246120" cy="457200"/>
          </a:xfrm>
          <a:prstGeom prst="rect">
            <a:avLst/>
          </a:prstGeom>
          <a:noFill/>
        </p:spPr>
        <p:txBody>
          <a:bodyPr wrap="square" anchor="ctr" lIns="45720" rIns="45720" tIns="18288" bIns="18288"/>
          <a:lstStyle/>
          <a:p>
            <a:pPr algn="l"/>
            <a:r>
              <a:rPr sz="1900" b="1" i="0">
                <a:solidFill>
                  <a:srgbClr val="FFFFFF"/>
                </a:solidFill>
                <a:latin typeface="Calibri"/>
              </a:rPr>
              <a:t>Job crafting facts</a:t>
            </a:r>
          </a:p>
        </p:txBody>
      </p:sp>
      <p:sp>
        <p:nvSpPr>
          <p:cNvPr id="12" name="TextBox 11"/>
          <p:cNvSpPr txBox="1"/>
          <p:nvPr/>
        </p:nvSpPr>
        <p:spPr>
          <a:xfrm>
            <a:off x="347472" y="4352544"/>
            <a:ext cx="3282696" cy="2148840"/>
          </a:xfrm>
          <a:prstGeom prst="rect">
            <a:avLst/>
          </a:prstGeom>
          <a:noFill/>
        </p:spPr>
        <p:txBody>
          <a:bodyPr wrap="square" anchor="t" lIns="54864" rIns="54864" tIns="27432" bIns="27432"/>
          <a:lstStyle/>
          <a:p>
            <a:pPr>
              <a:spcAft>
                <a:spcPts val="300"/>
              </a:spcAft>
            </a:pPr>
            <a:r>
              <a:rPr sz="1500" b="1" i="0">
                <a:solidFill>
                  <a:srgbClr val="1A1A1A"/>
                </a:solidFill>
                <a:latin typeface="Calibri"/>
              </a:rPr>
              <a:t>• </a:t>
            </a:r>
            <a:r>
              <a:rPr sz="1500" b="0" i="0">
                <a:solidFill>
                  <a:srgbClr val="1A1A1A"/>
                </a:solidFill>
                <a:latin typeface="Calibri"/>
              </a:rPr>
              <a:t>Employee-driven; based on empowerment &amp; intrinsic motivation; goal: meaning</a:t>
            </a:r>
          </a:p>
          <a:p>
            <a:pPr>
              <a:spcAft>
                <a:spcPts val="300"/>
              </a:spcAft>
            </a:pPr>
            <a:r>
              <a:rPr sz="1500" b="1" i="0">
                <a:solidFill>
                  <a:srgbClr val="1A1A1A"/>
                </a:solidFill>
                <a:latin typeface="Calibri"/>
              </a:rPr>
              <a:t>• </a:t>
            </a:r>
            <a:r>
              <a:rPr sz="1500" b="0" i="0">
                <a:solidFill>
                  <a:srgbClr val="1A1A1A"/>
                </a:solidFill>
                <a:latin typeface="Calibri"/>
              </a:rPr>
              <a:t>90% would earn ~23% less for meaningful work</a:t>
            </a:r>
          </a:p>
          <a:p>
            <a:pPr>
              <a:spcAft>
                <a:spcPts val="300"/>
              </a:spcAft>
            </a:pPr>
            <a:r>
              <a:rPr sz="1500" b="1" i="0">
                <a:solidFill>
                  <a:srgbClr val="1A1A1A"/>
                </a:solidFill>
                <a:latin typeface="Calibri"/>
              </a:rPr>
              <a:t>• </a:t>
            </a:r>
            <a:r>
              <a:rPr sz="1500" b="0" i="0">
                <a:solidFill>
                  <a:srgbClr val="1A1A1A"/>
                </a:solidFill>
                <a:latin typeface="Calibri"/>
              </a:rPr>
              <a:t>Logitech pilot → engagement; manager support: safe experiments, no invisible extra work</a:t>
            </a:r>
          </a:p>
        </p:txBody>
      </p:sp>
      <p:sp>
        <p:nvSpPr>
          <p:cNvPr id="13" name="Rounded Rectangle 12"/>
          <p:cNvSpPr/>
          <p:nvPr/>
        </p:nvSpPr>
        <p:spPr>
          <a:xfrm>
            <a:off x="3840480" y="3840480"/>
            <a:ext cx="3383280" cy="2697480"/>
          </a:xfrm>
          <a:prstGeom prst="roundRect">
            <a:avLst>
              <a:gd name="adj" fmla="val 6000"/>
            </a:avLst>
          </a:prstGeom>
          <a:solidFill>
            <a:srgbClr val="FFFFFF"/>
          </a:solidFill>
          <a:ln w="19050">
            <a:solidFill>
              <a:srgbClr val="EDA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840480" y="3840480"/>
            <a:ext cx="3383280" cy="45720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840480" y="4160520"/>
            <a:ext cx="3383280" cy="137160"/>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931920" y="3840480"/>
            <a:ext cx="3200400" cy="457200"/>
          </a:xfrm>
          <a:prstGeom prst="rect">
            <a:avLst/>
          </a:prstGeom>
          <a:noFill/>
        </p:spPr>
        <p:txBody>
          <a:bodyPr wrap="square" anchor="ctr" lIns="45720" rIns="45720" tIns="18288" bIns="18288"/>
          <a:lstStyle/>
          <a:p>
            <a:pPr algn="l"/>
            <a:r>
              <a:rPr sz="1600" b="1" i="0">
                <a:solidFill>
                  <a:srgbClr val="FFFFFF"/>
                </a:solidFill>
                <a:latin typeface="Calibri"/>
              </a:rPr>
              <a:t>Idiosyncratic deals (i-deals)</a:t>
            </a:r>
          </a:p>
        </p:txBody>
      </p:sp>
      <p:sp>
        <p:nvSpPr>
          <p:cNvPr id="17" name="TextBox 16"/>
          <p:cNvSpPr txBox="1"/>
          <p:nvPr/>
        </p:nvSpPr>
        <p:spPr>
          <a:xfrm>
            <a:off x="3913632" y="4352544"/>
            <a:ext cx="3236976" cy="2148840"/>
          </a:xfrm>
          <a:prstGeom prst="rect">
            <a:avLst/>
          </a:prstGeom>
          <a:noFill/>
        </p:spPr>
        <p:txBody>
          <a:bodyPr wrap="square" anchor="t" lIns="54864" rIns="54864" tIns="27432" bIns="27432"/>
          <a:lstStyle/>
          <a:p>
            <a:pPr>
              <a:spcAft>
                <a:spcPts val="300"/>
              </a:spcAft>
            </a:pPr>
            <a:r>
              <a:rPr sz="1600" b="1" i="0">
                <a:solidFill>
                  <a:srgbClr val="1A1A1A"/>
                </a:solidFill>
                <a:latin typeface="Calibri"/>
              </a:rPr>
              <a:t>• </a:t>
            </a:r>
            <a:r>
              <a:rPr sz="1600" b="0" i="0">
                <a:solidFill>
                  <a:srgbClr val="1A1A1A"/>
                </a:solidFill>
                <a:latin typeface="Calibri"/>
              </a:rPr>
              <a:t>Employment terms </a:t>
            </a:r>
            <a:r>
              <a:rPr sz="1600" b="1" i="0">
                <a:solidFill>
                  <a:srgbClr val="1A1A1A"/>
                </a:solidFill>
                <a:latin typeface="Calibri"/>
              </a:rPr>
              <a:t>individually negotiated</a:t>
            </a:r>
            <a:r>
              <a:rPr sz="1600" b="0" i="0">
                <a:solidFill>
                  <a:srgbClr val="1A1A1A"/>
                </a:solidFill>
                <a:latin typeface="Calibri"/>
              </a:rPr>
              <a:t> (Rousseau): tasks, schedule, location, pay, development</a:t>
            </a:r>
          </a:p>
          <a:p>
            <a:pPr>
              <a:spcAft>
                <a:spcPts val="300"/>
              </a:spcAft>
            </a:pPr>
            <a:r>
              <a:rPr sz="1600" b="1" i="0">
                <a:solidFill>
                  <a:srgbClr val="1A1A1A"/>
                </a:solidFill>
                <a:latin typeface="Calibri"/>
              </a:rPr>
              <a:t>• </a:t>
            </a:r>
            <a:r>
              <a:rPr sz="1600" b="0" i="0">
                <a:solidFill>
                  <a:srgbClr val="1A1A1A"/>
                </a:solidFill>
                <a:latin typeface="Calibri"/>
              </a:rPr>
              <a:t>↑ POS, satisfaction, voice; ↓ quitting (RSM)</a:t>
            </a:r>
          </a:p>
          <a:p>
            <a:pPr>
              <a:spcAft>
                <a:spcPts val="300"/>
              </a:spcAft>
            </a:pPr>
            <a:r>
              <a:rPr sz="1600" b="1" i="0">
                <a:solidFill>
                  <a:srgbClr val="1A1A1A"/>
                </a:solidFill>
                <a:latin typeface="Calibri"/>
              </a:rPr>
              <a:t>• </a:t>
            </a:r>
            <a:r>
              <a:rPr sz="1600" b="0" i="0">
                <a:solidFill>
                  <a:srgbClr val="1A1A1A"/>
                </a:solidFill>
                <a:latin typeface="Calibri"/>
              </a:rPr>
              <a:t>Caution: transparency &amp; </a:t>
            </a:r>
            <a:r>
              <a:rPr sz="1600" b="1" i="0">
                <a:solidFill>
                  <a:srgbClr val="1A1A1A"/>
                </a:solidFill>
                <a:latin typeface="Calibri"/>
              </a:rPr>
              <a:t>perceived fairness</a:t>
            </a:r>
            <a:r>
              <a:rPr sz="1600" b="0" i="0">
                <a:solidFill>
                  <a:srgbClr val="1A1A1A"/>
                </a:solidFill>
                <a:latin typeface="Calibri"/>
              </a:rPr>
              <a:t> (equity!)</a:t>
            </a:r>
          </a:p>
        </p:txBody>
      </p:sp>
      <p:sp>
        <p:nvSpPr>
          <p:cNvPr id="18" name="Rounded Rectangle 17"/>
          <p:cNvSpPr/>
          <p:nvPr/>
        </p:nvSpPr>
        <p:spPr>
          <a:xfrm>
            <a:off x="7360920" y="1051560"/>
            <a:ext cx="4572000" cy="2743200"/>
          </a:xfrm>
          <a:prstGeom prst="roundRect">
            <a:avLst>
              <a:gd name="adj" fmla="val 6000"/>
            </a:avLst>
          </a:prstGeom>
          <a:solidFill>
            <a:srgbClr val="FFFFFF"/>
          </a:solidFill>
          <a:ln w="19050">
            <a:solidFill>
              <a:srgbClr val="EDA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60920" y="1051560"/>
            <a:ext cx="4572000" cy="45720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60920" y="1371600"/>
            <a:ext cx="4572000" cy="137160"/>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52360" y="1051560"/>
            <a:ext cx="4389120" cy="457200"/>
          </a:xfrm>
          <a:prstGeom prst="rect">
            <a:avLst/>
          </a:prstGeom>
          <a:noFill/>
        </p:spPr>
        <p:txBody>
          <a:bodyPr wrap="square" anchor="ctr" lIns="45720" rIns="45720" tIns="18288" bIns="18288"/>
          <a:lstStyle/>
          <a:p>
            <a:pPr algn="l"/>
            <a:r>
              <a:rPr sz="1400" b="1" i="0">
                <a:solidFill>
                  <a:srgbClr val="FFFFFF"/>
                </a:solidFill>
                <a:latin typeface="Calibri"/>
              </a:rPr>
              <a:t>India: HCL 'Employees First, Customers Second'</a:t>
            </a:r>
          </a:p>
        </p:txBody>
      </p:sp>
      <p:sp>
        <p:nvSpPr>
          <p:cNvPr id="22" name="TextBox 21"/>
          <p:cNvSpPr txBox="1"/>
          <p:nvPr/>
        </p:nvSpPr>
        <p:spPr>
          <a:xfrm>
            <a:off x="7434072" y="1563624"/>
            <a:ext cx="4425696" cy="2194560"/>
          </a:xfrm>
          <a:prstGeom prst="rect">
            <a:avLst/>
          </a:prstGeom>
          <a:noFill/>
        </p:spPr>
        <p:txBody>
          <a:bodyPr wrap="square" anchor="t" lIns="54864" rIns="54864" tIns="27432" bIns="27432"/>
          <a:lstStyle/>
          <a:p>
            <a:pPr>
              <a:spcAft>
                <a:spcPts val="300"/>
              </a:spcAft>
            </a:pPr>
            <a:r>
              <a:rPr sz="2000" b="1" i="0">
                <a:solidFill>
                  <a:srgbClr val="1A1A1A"/>
                </a:solidFill>
                <a:latin typeface="Calibri"/>
              </a:rPr>
              <a:t>• </a:t>
            </a:r>
            <a:r>
              <a:rPr sz="2000" b="0" i="0">
                <a:solidFill>
                  <a:srgbClr val="1A1A1A"/>
                </a:solidFill>
                <a:latin typeface="Calibri"/>
              </a:rPr>
              <a:t>Radical transparency: open financial dashboards, employee problem-solving forums, decentralised decisions</a:t>
            </a:r>
          </a:p>
          <a:p>
            <a:pPr>
              <a:spcAft>
                <a:spcPts val="300"/>
              </a:spcAft>
            </a:pPr>
            <a:r>
              <a:rPr sz="2000" b="1" i="0">
                <a:solidFill>
                  <a:srgbClr val="1A1A1A"/>
                </a:solidFill>
                <a:latin typeface="Calibri"/>
              </a:rPr>
              <a:t>• </a:t>
            </a:r>
            <a:r>
              <a:rPr sz="2000" b="0" i="0">
                <a:solidFill>
                  <a:srgbClr val="1A1A1A"/>
                </a:solidFill>
                <a:latin typeface="Calibri"/>
              </a:rPr>
              <a:t>Builds autonomy, trust, ownership → engagement, role clarity, intrinsic motivation</a:t>
            </a:r>
          </a:p>
        </p:txBody>
      </p:sp>
      <p:sp>
        <p:nvSpPr>
          <p:cNvPr id="23" name="Rounded Rectangle 22"/>
          <p:cNvSpPr/>
          <p:nvPr/>
        </p:nvSpPr>
        <p:spPr>
          <a:xfrm>
            <a:off x="7360920" y="3931920"/>
            <a:ext cx="4572000" cy="2606040"/>
          </a:xfrm>
          <a:prstGeom prst="roundRect">
            <a:avLst>
              <a:gd name="adj" fmla="val 6000"/>
            </a:avLst>
          </a:prstGeom>
          <a:solidFill>
            <a:srgbClr val="FFFFFF"/>
          </a:solidFill>
          <a:ln w="19050">
            <a:solidFill>
              <a:srgbClr val="EDA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360920" y="3931920"/>
            <a:ext cx="4572000" cy="45720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20" y="4251959"/>
            <a:ext cx="4572000" cy="137160"/>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2360" y="3931920"/>
            <a:ext cx="4389120" cy="457200"/>
          </a:xfrm>
          <a:prstGeom prst="rect">
            <a:avLst/>
          </a:prstGeom>
          <a:noFill/>
        </p:spPr>
        <p:txBody>
          <a:bodyPr wrap="square" anchor="ctr" lIns="45720" rIns="45720" tIns="18288" bIns="18288"/>
          <a:lstStyle/>
          <a:p>
            <a:pPr algn="l"/>
            <a:r>
              <a:rPr sz="1600" b="1" i="0">
                <a:solidFill>
                  <a:srgbClr val="FFFFFF"/>
                </a:solidFill>
                <a:latin typeface="Calibri"/>
              </a:rPr>
              <a:t>Flexible work in India (Saini &amp; Yadav)</a:t>
            </a:r>
          </a:p>
        </p:txBody>
      </p:sp>
      <p:sp>
        <p:nvSpPr>
          <p:cNvPr id="27" name="TextBox 26"/>
          <p:cNvSpPr txBox="1"/>
          <p:nvPr/>
        </p:nvSpPr>
        <p:spPr>
          <a:xfrm>
            <a:off x="7434072" y="4443983"/>
            <a:ext cx="4425696" cy="2057400"/>
          </a:xfrm>
          <a:prstGeom prst="rect">
            <a:avLst/>
          </a:prstGeom>
          <a:noFill/>
        </p:spPr>
        <p:txBody>
          <a:bodyPr wrap="square" anchor="t" lIns="54864" rIns="54864" tIns="27432" bIns="27432"/>
          <a:lstStyle/>
          <a:p>
            <a:pPr>
              <a:spcAft>
                <a:spcPts val="300"/>
              </a:spcAft>
            </a:pPr>
            <a:r>
              <a:rPr sz="1700" b="1" i="0">
                <a:solidFill>
                  <a:srgbClr val="1A1A1A"/>
                </a:solidFill>
                <a:latin typeface="Calibri"/>
              </a:rPr>
              <a:t>• </a:t>
            </a:r>
            <a:r>
              <a:rPr sz="1700" b="0" i="0">
                <a:solidFill>
                  <a:srgbClr val="1A1A1A"/>
                </a:solidFill>
                <a:latin typeface="Calibri"/>
              </a:rPr>
              <a:t>Commutes &amp; family stress → flexibility supports work-life balance, autonomy, well-being</a:t>
            </a:r>
          </a:p>
          <a:p>
            <a:pPr>
              <a:spcAft>
                <a:spcPts val="300"/>
              </a:spcAft>
            </a:pPr>
            <a:r>
              <a:rPr sz="1700" b="1" i="0">
                <a:solidFill>
                  <a:srgbClr val="1A1A1A"/>
                </a:solidFill>
                <a:latin typeface="Calibri"/>
              </a:rPr>
              <a:t>• </a:t>
            </a:r>
            <a:r>
              <a:rPr sz="1700" b="0" i="0">
                <a:solidFill>
                  <a:srgbClr val="1A1A1A"/>
                </a:solidFill>
                <a:latin typeface="Calibri"/>
              </a:rPr>
              <a:t>Needs manager support, communication, trust-based (not control-based) management</a:t>
            </a:r>
          </a:p>
          <a:p>
            <a:pPr>
              <a:spcAft>
                <a:spcPts val="300"/>
              </a:spcAft>
            </a:pPr>
            <a:r>
              <a:rPr sz="1700" b="1" i="0">
                <a:solidFill>
                  <a:srgbClr val="1A1A1A"/>
                </a:solidFill>
                <a:latin typeface="Calibri"/>
              </a:rPr>
              <a:t>• </a:t>
            </a:r>
            <a:r>
              <a:rPr sz="1700" b="0" i="0">
                <a:solidFill>
                  <a:srgbClr val="1A1A1A"/>
                </a:solidFill>
                <a:latin typeface="Calibri"/>
              </a:rPr>
              <a:t>Risk without support: isolation, work escalation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200" b="1" i="0">
                <a:solidFill>
                  <a:srgbClr val="FFFFFF"/>
                </a:solidFill>
                <a:latin typeface="Calibri"/>
              </a:rPr>
              <a:t>Putting it together: motivation diagnosis &amp; manager's checklist</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F5D1C0"/>
                </a:solidFill>
                <a:latin typeface="Calibri"/>
              </a:rPr>
              <a:t>MODULE 4 · EMPLOYEE MOTIVATION</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Motivation PPT slides 39–51 · Ch 5 p. 198</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49</a:t>
            </a:r>
          </a:p>
        </p:txBody>
      </p:sp>
      <p:graphicFrame>
        <p:nvGraphicFramePr>
          <p:cNvPr id="7" name="Table 6"/>
          <p:cNvGraphicFramePr>
            <a:graphicFrameLocks noGrp="1"/>
          </p:cNvGraphicFramePr>
          <p:nvPr/>
        </p:nvGraphicFramePr>
        <p:xfrm>
          <a:off x="274320" y="1051560"/>
          <a:ext cx="7315200" cy="4023355"/>
        </p:xfrm>
        <a:graphic>
          <a:graphicData uri="http://schemas.openxmlformats.org/drawingml/2006/table">
            <a:tbl>
              <a:tblPr firstRow="1" bandRow="1">
                <a:tableStyleId>{5C22544A-7EE6-4342-B048-85BDC9FD1C3A}</a:tableStyleId>
              </a:tblPr>
              <a:tblGrid>
                <a:gridCol w="2743200"/>
                <a:gridCol w="2103120"/>
                <a:gridCol w="2468880"/>
              </a:tblGrid>
              <a:tr h="574765">
                <a:tc>
                  <a:txBody>
                    <a:bodyPr wrap="square"/>
                    <a:lstStyle/>
                    <a:p>
                      <a:r>
                        <a:rPr sz="1400" b="1" i="0">
                          <a:solidFill>
                            <a:srgbClr val="FFFFFF"/>
                          </a:solidFill>
                          <a:latin typeface="Calibri"/>
                        </a:rPr>
                        <a:t>Diagnostic question</a:t>
                      </a:r>
                    </a:p>
                  </a:txBody>
                  <a:tcPr marL="54864" marR="54864" marT="27432" marB="27432" anchor="ctr">
                    <a:solidFill>
                      <a:srgbClr val="D84A05"/>
                    </a:solidFill>
                  </a:tcPr>
                </a:tc>
                <a:tc>
                  <a:txBody>
                    <a:bodyPr wrap="square"/>
                    <a:lstStyle/>
                    <a:p>
                      <a:r>
                        <a:rPr sz="1400" b="1" i="0">
                          <a:solidFill>
                            <a:srgbClr val="FFFFFF"/>
                          </a:solidFill>
                          <a:latin typeface="Calibri"/>
                        </a:rPr>
                        <a:t>If NO → root cause</a:t>
                      </a:r>
                    </a:p>
                  </a:txBody>
                  <a:tcPr marL="54864" marR="54864" marT="27432" marB="27432" anchor="ctr">
                    <a:solidFill>
                      <a:srgbClr val="D84A05"/>
                    </a:solidFill>
                  </a:tcPr>
                </a:tc>
                <a:tc>
                  <a:txBody>
                    <a:bodyPr wrap="square"/>
                    <a:lstStyle/>
                    <a:p>
                      <a:r>
                        <a:rPr sz="1400" b="1" i="0">
                          <a:solidFill>
                            <a:srgbClr val="FFFFFF"/>
                          </a:solidFill>
                          <a:latin typeface="Calibri"/>
                        </a:rPr>
                        <a:t>Theory / fix</a:t>
                      </a:r>
                    </a:p>
                  </a:txBody>
                  <a:tcPr marL="54864" marR="54864" marT="27432" marB="27432" anchor="ctr">
                    <a:solidFill>
                      <a:srgbClr val="D84A05"/>
                    </a:solidFill>
                  </a:tcPr>
                </a:tc>
              </a:tr>
              <a:tr h="574765">
                <a:tc>
                  <a:txBody>
                    <a:bodyPr wrap="square"/>
                    <a:lstStyle/>
                    <a:p>
                      <a:r>
                        <a:rPr sz="1400" b="1" i="0">
                          <a:solidFill>
                            <a:srgbClr val="1A1A1A"/>
                          </a:solidFill>
                          <a:latin typeface="Calibri"/>
                        </a:rPr>
                        <a:t>Does the employee know what is expected?</a:t>
                      </a:r>
                    </a:p>
                  </a:txBody>
                  <a:tcPr marL="54864" marR="54864" marT="27432" marB="27432" anchor="ctr">
                    <a:solidFill>
                      <a:srgbClr val="FFFFFF"/>
                    </a:solidFill>
                  </a:tcPr>
                </a:tc>
                <a:tc>
                  <a:txBody>
                    <a:bodyPr wrap="square"/>
                    <a:lstStyle/>
                    <a:p>
                      <a:r>
                        <a:rPr sz="1400" b="0" i="0">
                          <a:solidFill>
                            <a:srgbClr val="1A1A1A"/>
                          </a:solidFill>
                          <a:latin typeface="Calibri"/>
                        </a:rPr>
                        <a:t>Role ambiguity</a:t>
                      </a:r>
                    </a:p>
                  </a:txBody>
                  <a:tcPr marL="54864" marR="54864" marT="27432" marB="27432" anchor="ctr">
                    <a:solidFill>
                      <a:srgbClr val="FFFFFF"/>
                    </a:solidFill>
                  </a:tcPr>
                </a:tc>
                <a:tc>
                  <a:txBody>
                    <a:bodyPr wrap="square"/>
                    <a:lstStyle/>
                    <a:p>
                      <a:r>
                        <a:rPr sz="1400" b="0" i="0">
                          <a:solidFill>
                            <a:srgbClr val="1A1A1A"/>
                          </a:solidFill>
                          <a:latin typeface="Calibri"/>
                        </a:rPr>
                        <a:t>Goal setting (SMART), feedback</a:t>
                      </a:r>
                    </a:p>
                  </a:txBody>
                  <a:tcPr marL="54864" marR="54864" marT="27432" marB="27432" anchor="ctr">
                    <a:solidFill>
                      <a:srgbClr val="FFFFFF"/>
                    </a:solidFill>
                  </a:tcPr>
                </a:tc>
              </a:tr>
              <a:tr h="574765">
                <a:tc>
                  <a:txBody>
                    <a:bodyPr wrap="square"/>
                    <a:lstStyle/>
                    <a:p>
                      <a:r>
                        <a:rPr sz="1400" b="1" i="0">
                          <a:solidFill>
                            <a:srgbClr val="1A1A1A"/>
                          </a:solidFill>
                          <a:latin typeface="Calibri"/>
                        </a:rPr>
                        <a:t>Do they have ability &amp; resources?</a:t>
                      </a:r>
                    </a:p>
                  </a:txBody>
                  <a:tcPr marL="54864" marR="54864" marT="27432" marB="27432" anchor="ctr">
                    <a:solidFill>
                      <a:srgbClr val="FBECE6"/>
                    </a:solidFill>
                  </a:tcPr>
                </a:tc>
                <a:tc>
                  <a:txBody>
                    <a:bodyPr wrap="square"/>
                    <a:lstStyle/>
                    <a:p>
                      <a:r>
                        <a:rPr sz="1400" b="0" i="0">
                          <a:solidFill>
                            <a:srgbClr val="1A1A1A"/>
                          </a:solidFill>
                          <a:latin typeface="Calibri"/>
                        </a:rPr>
                        <a:t>Capability / resource gap</a:t>
                      </a:r>
                    </a:p>
                  </a:txBody>
                  <a:tcPr marL="54864" marR="54864" marT="27432" marB="27432" anchor="ctr">
                    <a:solidFill>
                      <a:srgbClr val="FBECE6"/>
                    </a:solidFill>
                  </a:tcPr>
                </a:tc>
                <a:tc>
                  <a:txBody>
                    <a:bodyPr wrap="square"/>
                    <a:lstStyle/>
                    <a:p>
                      <a:r>
                        <a:rPr sz="1400" b="0" i="0">
                          <a:solidFill>
                            <a:srgbClr val="1A1A1A"/>
                          </a:solidFill>
                          <a:latin typeface="Calibri"/>
                        </a:rPr>
                        <a:t>Expectancy (E), SDT competence, training</a:t>
                      </a:r>
                    </a:p>
                  </a:txBody>
                  <a:tcPr marL="54864" marR="54864" marT="27432" marB="27432" anchor="ctr">
                    <a:solidFill>
                      <a:srgbClr val="FBECE6"/>
                    </a:solidFill>
                  </a:tcPr>
                </a:tc>
              </a:tr>
              <a:tr h="574765">
                <a:tc>
                  <a:txBody>
                    <a:bodyPr wrap="square"/>
                    <a:lstStyle/>
                    <a:p>
                      <a:r>
                        <a:rPr sz="1400" b="1" i="0">
                          <a:solidFill>
                            <a:srgbClr val="1A1A1A"/>
                          </a:solidFill>
                          <a:latin typeface="Calibri"/>
                        </a:rPr>
                        <a:t>Are rewards credible &amp; valued?</a:t>
                      </a:r>
                    </a:p>
                  </a:txBody>
                  <a:tcPr marL="54864" marR="54864" marT="27432" marB="27432" anchor="ctr">
                    <a:solidFill>
                      <a:srgbClr val="FFFFFF"/>
                    </a:solidFill>
                  </a:tcPr>
                </a:tc>
                <a:tc>
                  <a:txBody>
                    <a:bodyPr wrap="square"/>
                    <a:lstStyle/>
                    <a:p>
                      <a:r>
                        <a:rPr sz="1400" b="0" i="0">
                          <a:solidFill>
                            <a:srgbClr val="1A1A1A"/>
                          </a:solidFill>
                          <a:latin typeface="Calibri"/>
                        </a:rPr>
                        <a:t>Broken I or V</a:t>
                      </a:r>
                    </a:p>
                  </a:txBody>
                  <a:tcPr marL="54864" marR="54864" marT="27432" marB="27432" anchor="ctr">
                    <a:solidFill>
                      <a:srgbClr val="FFFFFF"/>
                    </a:solidFill>
                  </a:tcPr>
                </a:tc>
                <a:tc>
                  <a:txBody>
                    <a:bodyPr wrap="square"/>
                    <a:lstStyle/>
                    <a:p>
                      <a:r>
                        <a:rPr sz="1400" b="0" i="0">
                          <a:solidFill>
                            <a:srgbClr val="1A1A1A"/>
                          </a:solidFill>
                          <a:latin typeface="Calibri"/>
                        </a:rPr>
                        <a:t>Expectancy, McClelland, Maslow, i-deals</a:t>
                      </a:r>
                    </a:p>
                  </a:txBody>
                  <a:tcPr marL="54864" marR="54864" marT="27432" marB="27432" anchor="ctr">
                    <a:solidFill>
                      <a:srgbClr val="FFFFFF"/>
                    </a:solidFill>
                  </a:tcPr>
                </a:tc>
              </a:tr>
              <a:tr h="574765">
                <a:tc>
                  <a:txBody>
                    <a:bodyPr wrap="square"/>
                    <a:lstStyle/>
                    <a:p>
                      <a:r>
                        <a:rPr sz="1400" b="1" i="0">
                          <a:solidFill>
                            <a:srgbClr val="1A1A1A"/>
                          </a:solidFill>
                          <a:latin typeface="Calibri"/>
                        </a:rPr>
                        <a:t>Is the process fair?</a:t>
                      </a:r>
                    </a:p>
                  </a:txBody>
                  <a:tcPr marL="54864" marR="54864" marT="27432" marB="27432" anchor="ctr">
                    <a:solidFill>
                      <a:srgbClr val="FBECE6"/>
                    </a:solidFill>
                  </a:tcPr>
                </a:tc>
                <a:tc>
                  <a:txBody>
                    <a:bodyPr wrap="square"/>
                    <a:lstStyle/>
                    <a:p>
                      <a:r>
                        <a:rPr sz="1400" b="0" i="0">
                          <a:solidFill>
                            <a:srgbClr val="1A1A1A"/>
                          </a:solidFill>
                          <a:latin typeface="Calibri"/>
                        </a:rPr>
                        <a:t>Inequity / injustice</a:t>
                      </a:r>
                    </a:p>
                  </a:txBody>
                  <a:tcPr marL="54864" marR="54864" marT="27432" marB="27432" anchor="ctr">
                    <a:solidFill>
                      <a:srgbClr val="FBECE6"/>
                    </a:solidFill>
                  </a:tcPr>
                </a:tc>
                <a:tc>
                  <a:txBody>
                    <a:bodyPr wrap="square"/>
                    <a:lstStyle/>
                    <a:p>
                      <a:r>
                        <a:rPr sz="1400" b="0" i="0">
                          <a:solidFill>
                            <a:srgbClr val="1A1A1A"/>
                          </a:solidFill>
                          <a:latin typeface="Calibri"/>
                        </a:rPr>
                        <a:t>Equity, procedural justice, voice</a:t>
                      </a:r>
                    </a:p>
                  </a:txBody>
                  <a:tcPr marL="54864" marR="54864" marT="27432" marB="27432" anchor="ctr">
                    <a:solidFill>
                      <a:srgbClr val="FBECE6"/>
                    </a:solidFill>
                  </a:tcPr>
                </a:tc>
              </a:tr>
              <a:tr h="574765">
                <a:tc>
                  <a:txBody>
                    <a:bodyPr wrap="square"/>
                    <a:lstStyle/>
                    <a:p>
                      <a:r>
                        <a:rPr sz="1400" b="1" i="0">
                          <a:solidFill>
                            <a:srgbClr val="1A1A1A"/>
                          </a:solidFill>
                          <a:latin typeface="Calibri"/>
                        </a:rPr>
                        <a:t>Is the job well designed?</a:t>
                      </a:r>
                    </a:p>
                  </a:txBody>
                  <a:tcPr marL="54864" marR="54864" marT="27432" marB="27432" anchor="ctr">
                    <a:solidFill>
                      <a:srgbClr val="FFFFFF"/>
                    </a:solidFill>
                  </a:tcPr>
                </a:tc>
                <a:tc>
                  <a:txBody>
                    <a:bodyPr wrap="square"/>
                    <a:lstStyle/>
                    <a:p>
                      <a:r>
                        <a:rPr sz="1400" b="0" i="0">
                          <a:solidFill>
                            <a:srgbClr val="1A1A1A"/>
                          </a:solidFill>
                          <a:latin typeface="Calibri"/>
                        </a:rPr>
                        <a:t>Low meaning, autonomy, feedback</a:t>
                      </a:r>
                    </a:p>
                  </a:txBody>
                  <a:tcPr marL="54864" marR="54864" marT="27432" marB="27432" anchor="ctr">
                    <a:solidFill>
                      <a:srgbClr val="FFFFFF"/>
                    </a:solidFill>
                  </a:tcPr>
                </a:tc>
                <a:tc>
                  <a:txBody>
                    <a:bodyPr wrap="square"/>
                    <a:lstStyle/>
                    <a:p>
                      <a:r>
                        <a:rPr sz="1400" b="0" i="0">
                          <a:solidFill>
                            <a:srgbClr val="1A1A1A"/>
                          </a:solidFill>
                          <a:latin typeface="Calibri"/>
                        </a:rPr>
                        <a:t>JCM, enrichment, crafting</a:t>
                      </a:r>
                    </a:p>
                  </a:txBody>
                  <a:tcPr marL="54864" marR="54864" marT="27432" marB="27432" anchor="ctr">
                    <a:solidFill>
                      <a:srgbClr val="FFFFFF"/>
                    </a:solidFill>
                  </a:tcPr>
                </a:tc>
              </a:tr>
              <a:tr h="574765">
                <a:tc>
                  <a:txBody>
                    <a:bodyPr wrap="square"/>
                    <a:lstStyle/>
                    <a:p>
                      <a:r>
                        <a:rPr sz="1400" b="1" i="0">
                          <a:solidFill>
                            <a:srgbClr val="1A1A1A"/>
                          </a:solidFill>
                          <a:latin typeface="Calibri"/>
                        </a:rPr>
                        <a:t>Are basic conditions OK?</a:t>
                      </a:r>
                    </a:p>
                  </a:txBody>
                  <a:tcPr marL="54864" marR="54864" marT="27432" marB="27432" anchor="ctr">
                    <a:solidFill>
                      <a:srgbClr val="FBECE6"/>
                    </a:solidFill>
                  </a:tcPr>
                </a:tc>
                <a:tc>
                  <a:txBody>
                    <a:bodyPr wrap="square"/>
                    <a:lstStyle/>
                    <a:p>
                      <a:r>
                        <a:rPr sz="1400" b="0" i="0">
                          <a:solidFill>
                            <a:srgbClr val="1A1A1A"/>
                          </a:solidFill>
                          <a:latin typeface="Calibri"/>
                        </a:rPr>
                        <a:t>Hygiene dissatisfaction</a:t>
                      </a:r>
                    </a:p>
                  </a:txBody>
                  <a:tcPr marL="54864" marR="54864" marT="27432" marB="27432" anchor="ctr">
                    <a:solidFill>
                      <a:srgbClr val="FBECE6"/>
                    </a:solidFill>
                  </a:tcPr>
                </a:tc>
                <a:tc>
                  <a:txBody>
                    <a:bodyPr wrap="square"/>
                    <a:lstStyle/>
                    <a:p>
                      <a:r>
                        <a:rPr sz="1400" b="0" i="0">
                          <a:solidFill>
                            <a:srgbClr val="1A1A1A"/>
                          </a:solidFill>
                          <a:latin typeface="Calibri"/>
                        </a:rPr>
                        <a:t>Herzberg: hygiene first</a:t>
                      </a:r>
                    </a:p>
                  </a:txBody>
                  <a:tcPr marL="54864" marR="54864" marT="27432" marB="27432" anchor="ctr">
                    <a:solidFill>
                      <a:srgbClr val="FBECE6"/>
                    </a:solidFill>
                  </a:tcPr>
                </a:tc>
              </a:tr>
            </a:tbl>
          </a:graphicData>
        </a:graphic>
      </p:graphicFrame>
      <p:sp>
        <p:nvSpPr>
          <p:cNvPr id="8" name="Rounded Rectangle 7"/>
          <p:cNvSpPr/>
          <p:nvPr/>
        </p:nvSpPr>
        <p:spPr>
          <a:xfrm>
            <a:off x="7726679" y="1051560"/>
            <a:ext cx="4206240" cy="4023360"/>
          </a:xfrm>
          <a:prstGeom prst="roundRect">
            <a:avLst>
              <a:gd name="adj" fmla="val 6000"/>
            </a:avLst>
          </a:prstGeom>
          <a:solidFill>
            <a:srgbClr val="FFFFFF"/>
          </a:solidFill>
          <a:ln w="19050">
            <a:solidFill>
              <a:srgbClr val="EDA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26679" y="1051560"/>
            <a:ext cx="4206240" cy="45720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26679" y="1371600"/>
            <a:ext cx="4206240" cy="137160"/>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18119" y="1051560"/>
            <a:ext cx="4023359" cy="457200"/>
          </a:xfrm>
          <a:prstGeom prst="rect">
            <a:avLst/>
          </a:prstGeom>
          <a:noFill/>
        </p:spPr>
        <p:txBody>
          <a:bodyPr wrap="square" anchor="ctr" lIns="45720" rIns="45720" tIns="18288" bIns="18288"/>
          <a:lstStyle/>
          <a:p>
            <a:pPr algn="l"/>
            <a:r>
              <a:rPr sz="1900" b="1" i="0">
                <a:solidFill>
                  <a:srgbClr val="FFFFFF"/>
                </a:solidFill>
                <a:latin typeface="Calibri"/>
              </a:rPr>
              <a:t>Common manager mistakes</a:t>
            </a:r>
          </a:p>
        </p:txBody>
      </p:sp>
      <p:sp>
        <p:nvSpPr>
          <p:cNvPr id="12" name="TextBox 11"/>
          <p:cNvSpPr txBox="1"/>
          <p:nvPr/>
        </p:nvSpPr>
        <p:spPr>
          <a:xfrm>
            <a:off x="7799831" y="1563624"/>
            <a:ext cx="4059935" cy="3474720"/>
          </a:xfrm>
          <a:prstGeom prst="rect">
            <a:avLst/>
          </a:prstGeom>
          <a:noFill/>
        </p:spPr>
        <p:txBody>
          <a:bodyPr wrap="square" anchor="t" lIns="54864" rIns="54864" tIns="27432" bIns="27432"/>
          <a:lstStyle/>
          <a:p>
            <a:pPr>
              <a:spcAft>
                <a:spcPts val="300"/>
              </a:spcAft>
            </a:pPr>
            <a:r>
              <a:rPr sz="1800" b="1" i="0">
                <a:solidFill>
                  <a:srgbClr val="1A1A1A"/>
                </a:solidFill>
                <a:latin typeface="Calibri"/>
              </a:rPr>
              <a:t>• </a:t>
            </a:r>
            <a:r>
              <a:rPr sz="1800" b="0" i="0">
                <a:solidFill>
                  <a:srgbClr val="1A1A1A"/>
                </a:solidFill>
                <a:latin typeface="Calibri"/>
              </a:rPr>
              <a:t>Assuming money motivates everyone</a:t>
            </a:r>
          </a:p>
          <a:p>
            <a:pPr>
              <a:spcAft>
                <a:spcPts val="300"/>
              </a:spcAft>
            </a:pPr>
            <a:r>
              <a:rPr sz="1800" b="1" i="0">
                <a:solidFill>
                  <a:srgbClr val="1A1A1A"/>
                </a:solidFill>
                <a:latin typeface="Calibri"/>
              </a:rPr>
              <a:t>• </a:t>
            </a:r>
            <a:r>
              <a:rPr sz="1800" b="0" i="0">
                <a:solidFill>
                  <a:srgbClr val="1A1A1A"/>
                </a:solidFill>
                <a:latin typeface="Calibri"/>
              </a:rPr>
              <a:t>Targets without resources</a:t>
            </a:r>
          </a:p>
          <a:p>
            <a:pPr>
              <a:spcAft>
                <a:spcPts val="300"/>
              </a:spcAft>
            </a:pPr>
            <a:r>
              <a:rPr sz="1800" b="1" i="0">
                <a:solidFill>
                  <a:srgbClr val="1A1A1A"/>
                </a:solidFill>
                <a:latin typeface="Calibri"/>
              </a:rPr>
              <a:t>• </a:t>
            </a:r>
            <a:r>
              <a:rPr sz="1800" b="0" i="0">
                <a:solidFill>
                  <a:srgbClr val="1A1A1A"/>
                </a:solidFill>
                <a:latin typeface="Calibri"/>
              </a:rPr>
              <a:t>Autonomy without support</a:t>
            </a:r>
          </a:p>
          <a:p>
            <a:pPr>
              <a:spcAft>
                <a:spcPts val="300"/>
              </a:spcAft>
            </a:pPr>
            <a:r>
              <a:rPr sz="1800" b="1" i="0">
                <a:solidFill>
                  <a:srgbClr val="1A1A1A"/>
                </a:solidFill>
                <a:latin typeface="Calibri"/>
              </a:rPr>
              <a:t>• </a:t>
            </a:r>
            <a:r>
              <a:rPr sz="1800" b="0" i="0">
                <a:solidFill>
                  <a:srgbClr val="1A1A1A"/>
                </a:solidFill>
                <a:latin typeface="Calibri"/>
              </a:rPr>
              <a:t>Ignoring unfairness</a:t>
            </a:r>
          </a:p>
          <a:p>
            <a:pPr>
              <a:spcAft>
                <a:spcPts val="300"/>
              </a:spcAft>
            </a:pPr>
            <a:r>
              <a:rPr sz="1800" b="1" i="0">
                <a:solidFill>
                  <a:srgbClr val="1A1A1A"/>
                </a:solidFill>
                <a:latin typeface="Calibri"/>
              </a:rPr>
              <a:t>• </a:t>
            </a:r>
            <a:r>
              <a:rPr sz="1800" b="0" i="0">
                <a:solidFill>
                  <a:srgbClr val="1A1A1A"/>
                </a:solidFill>
                <a:latin typeface="Calibri"/>
              </a:rPr>
              <a:t>Rewarding outcomes, ignoring methods</a:t>
            </a:r>
          </a:p>
          <a:p>
            <a:pPr>
              <a:spcAft>
                <a:spcPts val="300"/>
              </a:spcAft>
            </a:pPr>
            <a:r>
              <a:rPr sz="1800" b="1" i="0">
                <a:solidFill>
                  <a:srgbClr val="1A1A1A"/>
                </a:solidFill>
                <a:latin typeface="Calibri"/>
              </a:rPr>
              <a:t>• </a:t>
            </a:r>
            <a:r>
              <a:rPr sz="1800" b="0" i="0">
                <a:solidFill>
                  <a:srgbClr val="1A1A1A"/>
                </a:solidFill>
                <a:latin typeface="Calibri"/>
              </a:rPr>
              <a:t>Treating everyone identically</a:t>
            </a:r>
          </a:p>
          <a:p>
            <a:pPr>
              <a:spcAft>
                <a:spcPts val="300"/>
              </a:spcAft>
            </a:pPr>
            <a:r>
              <a:rPr sz="1800" b="1" i="0">
                <a:solidFill>
                  <a:srgbClr val="1A1A1A"/>
                </a:solidFill>
                <a:latin typeface="Calibri"/>
              </a:rPr>
              <a:t>• </a:t>
            </a:r>
            <a:r>
              <a:rPr sz="1800" b="1" i="0">
                <a:solidFill>
                  <a:srgbClr val="1A1A1A"/>
                </a:solidFill>
                <a:latin typeface="Calibri"/>
              </a:rPr>
              <a:t>Better</a:t>
            </a:r>
            <a:r>
              <a:rPr sz="1800" b="0" i="0">
                <a:solidFill>
                  <a:srgbClr val="1A1A1A"/>
                </a:solidFill>
                <a:latin typeface="Calibri"/>
              </a:rPr>
              <a:t>: diagnose first, use voice, adapt to individuals, evaluate over time</a:t>
            </a:r>
          </a:p>
        </p:txBody>
      </p:sp>
      <p:sp>
        <p:nvSpPr>
          <p:cNvPr id="13" name="Rounded Rectangle 12"/>
          <p:cNvSpPr/>
          <p:nvPr/>
        </p:nvSpPr>
        <p:spPr>
          <a:xfrm>
            <a:off x="274320" y="5212080"/>
            <a:ext cx="3749039" cy="132588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700" b="1" i="0">
                <a:solidFill>
                  <a:srgbClr val="FFFFFF"/>
                </a:solidFill>
                <a:latin typeface="Calibri"/>
              </a:rPr>
              <a:t>INPUTS</a:t>
            </a:r>
          </a:p>
          <a:p>
            <a:pPr algn="ctr"/>
            <a:r>
              <a:rPr sz="1400" b="0" i="0">
                <a:solidFill>
                  <a:srgbClr val="FFFFFF"/>
                </a:solidFill>
                <a:latin typeface="Calibri"/>
              </a:rPr>
              <a:t>needs, values, job characteristics, leadership, climate, resources</a:t>
            </a:r>
          </a:p>
        </p:txBody>
      </p:sp>
      <p:sp>
        <p:nvSpPr>
          <p:cNvPr id="14" name="Right Arrow 13"/>
          <p:cNvSpPr/>
          <p:nvPr/>
        </p:nvSpPr>
        <p:spPr>
          <a:xfrm>
            <a:off x="4069080" y="5669280"/>
            <a:ext cx="320040" cy="411480"/>
          </a:xfrm>
          <a:prstGeom prst="rightArrow">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434840" y="5212080"/>
            <a:ext cx="3749039" cy="1325880"/>
          </a:xfrm>
          <a:prstGeom prst="roundRect">
            <a:avLst>
              <a:gd name="adj" fmla="val 6000"/>
            </a:avLst>
          </a:prstGeom>
          <a:solidFill>
            <a:srgbClr val="E177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700" b="1" i="0">
                <a:solidFill>
                  <a:srgbClr val="FFFFFF"/>
                </a:solidFill>
                <a:latin typeface="Calibri"/>
              </a:rPr>
              <a:t>PROCESSES</a:t>
            </a:r>
          </a:p>
          <a:p>
            <a:pPr algn="ctr"/>
            <a:r>
              <a:rPr sz="1400" b="0" i="0">
                <a:solidFill>
                  <a:srgbClr val="FFFFFF"/>
                </a:solidFill>
                <a:latin typeface="Calibri"/>
              </a:rPr>
              <a:t>fairness comparisons, expectancy judgements, goal commitment, feedback, voice</a:t>
            </a:r>
          </a:p>
        </p:txBody>
      </p:sp>
      <p:sp>
        <p:nvSpPr>
          <p:cNvPr id="16" name="Right Arrow 15"/>
          <p:cNvSpPr/>
          <p:nvPr/>
        </p:nvSpPr>
        <p:spPr>
          <a:xfrm>
            <a:off x="8229600" y="5669280"/>
            <a:ext cx="320040" cy="411480"/>
          </a:xfrm>
          <a:prstGeom prst="rightArrow">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595360" y="5212080"/>
            <a:ext cx="3337560" cy="1325880"/>
          </a:xfrm>
          <a:prstGeom prst="roundRect">
            <a:avLst>
              <a:gd name="adj" fmla="val 6000"/>
            </a:avLst>
          </a:prstGeom>
          <a:solidFill>
            <a:srgbClr val="E99B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700" b="1" i="0">
                <a:solidFill>
                  <a:srgbClr val="1A1A1A"/>
                </a:solidFill>
                <a:latin typeface="Calibri"/>
              </a:rPr>
              <a:t>OUTCOMES</a:t>
            </a:r>
          </a:p>
          <a:p>
            <a:pPr algn="ctr"/>
            <a:r>
              <a:rPr sz="1400" b="0" i="0">
                <a:solidFill>
                  <a:srgbClr val="1A1A1A"/>
                </a:solidFill>
                <a:latin typeface="Calibri"/>
              </a:rPr>
              <a:t>effort, performance, engagement, OCB/CWB, turnover</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200" b="1" i="0">
                <a:solidFill>
                  <a:srgbClr val="FFFFFF"/>
                </a:solidFill>
                <a:latin typeface="Calibri"/>
              </a:rPr>
              <a:t>Case 5: Orix Geoscience: Scaling Up Employee Engagement (Ivey 2018)</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F5D1C0"/>
                </a:solidFill>
                <a:latin typeface="Calibri"/>
              </a:rPr>
              <a:t>MODULE 4 · EMPLOYEE MOTIVATION</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Motivation case · Session 11–12</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50</a:t>
            </a:r>
          </a:p>
        </p:txBody>
      </p:sp>
      <p:sp>
        <p:nvSpPr>
          <p:cNvPr id="7" name="Rounded Rectangle 6"/>
          <p:cNvSpPr/>
          <p:nvPr/>
        </p:nvSpPr>
        <p:spPr>
          <a:xfrm>
            <a:off x="274320" y="1051560"/>
            <a:ext cx="3840480" cy="2743200"/>
          </a:xfrm>
          <a:prstGeom prst="roundRect">
            <a:avLst>
              <a:gd name="adj" fmla="val 6000"/>
            </a:avLst>
          </a:prstGeom>
          <a:solidFill>
            <a:srgbClr val="FFFFFF"/>
          </a:solidFill>
          <a:ln w="19050">
            <a:solidFill>
              <a:srgbClr val="EDA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74320" y="1051560"/>
            <a:ext cx="3840480" cy="45720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371600"/>
            <a:ext cx="3840480" cy="137160"/>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051560"/>
            <a:ext cx="3657600" cy="457200"/>
          </a:xfrm>
          <a:prstGeom prst="rect">
            <a:avLst/>
          </a:prstGeom>
          <a:noFill/>
        </p:spPr>
        <p:txBody>
          <a:bodyPr wrap="square" anchor="ctr" lIns="45720" rIns="45720" tIns="18288" bIns="18288"/>
          <a:lstStyle/>
          <a:p>
            <a:pPr algn="l"/>
            <a:r>
              <a:rPr sz="1900" b="1" i="0">
                <a:solidFill>
                  <a:srgbClr val="FFFFFF"/>
                </a:solidFill>
                <a:latin typeface="Calibri"/>
              </a:rPr>
              <a:t>Context</a:t>
            </a:r>
          </a:p>
        </p:txBody>
      </p:sp>
      <p:sp>
        <p:nvSpPr>
          <p:cNvPr id="11" name="TextBox 10"/>
          <p:cNvSpPr txBox="1"/>
          <p:nvPr/>
        </p:nvSpPr>
        <p:spPr>
          <a:xfrm>
            <a:off x="347472" y="1563624"/>
            <a:ext cx="3694176" cy="2194560"/>
          </a:xfrm>
          <a:prstGeom prst="rect">
            <a:avLst/>
          </a:prstGeom>
          <a:noFill/>
        </p:spPr>
        <p:txBody>
          <a:bodyPr wrap="square" anchor="t" lIns="54864" rIns="54864" tIns="27432" bIns="27432"/>
          <a:lstStyle/>
          <a:p>
            <a:pPr>
              <a:spcAft>
                <a:spcPts val="300"/>
              </a:spcAft>
            </a:pPr>
            <a:r>
              <a:rPr sz="1600" b="1" i="0">
                <a:solidFill>
                  <a:srgbClr val="1A1A1A"/>
                </a:solidFill>
                <a:latin typeface="Calibri"/>
              </a:rPr>
              <a:t>• </a:t>
            </a:r>
            <a:r>
              <a:rPr sz="1600" b="0" i="0">
                <a:solidFill>
                  <a:srgbClr val="1A1A1A"/>
                </a:solidFill>
                <a:latin typeface="Calibri"/>
              </a:rPr>
              <a:t>Toronto geological consulting (Organise, Rethink, Interpret, Explore); founded 2012 by </a:t>
            </a:r>
            <a:r>
              <a:rPr sz="1600" b="1" i="0">
                <a:solidFill>
                  <a:srgbClr val="1A1A1A"/>
                </a:solidFill>
                <a:latin typeface="Calibri"/>
              </a:rPr>
              <a:t>Shastri Ramnath</a:t>
            </a:r>
            <a:r>
              <a:rPr sz="1600" b="0" i="0">
                <a:solidFill>
                  <a:srgbClr val="1A1A1A"/>
                </a:solidFill>
                <a:latin typeface="Calibri"/>
              </a:rPr>
              <a:t> &amp; Ashley Kirwan</a:t>
            </a:r>
          </a:p>
          <a:p>
            <a:pPr>
              <a:spcAft>
                <a:spcPts val="300"/>
              </a:spcAft>
            </a:pPr>
            <a:r>
              <a:rPr sz="1600" b="1" i="0">
                <a:solidFill>
                  <a:srgbClr val="1A1A1A"/>
                </a:solidFill>
                <a:latin typeface="Calibri"/>
              </a:rPr>
              <a:t>• </a:t>
            </a:r>
            <a:r>
              <a:rPr sz="1600" b="0" i="0">
                <a:solidFill>
                  <a:srgbClr val="1A1A1A"/>
                </a:solidFill>
                <a:latin typeface="Calibri"/>
              </a:rPr>
              <a:t>Mining = cyclical; talent war in upturn; stable rosters = advantage</a:t>
            </a:r>
          </a:p>
          <a:p>
            <a:pPr>
              <a:spcAft>
                <a:spcPts val="300"/>
              </a:spcAft>
            </a:pPr>
            <a:r>
              <a:rPr sz="1600" b="1" i="0">
                <a:solidFill>
                  <a:srgbClr val="1A1A1A"/>
                </a:solidFill>
                <a:latin typeface="Calibri"/>
              </a:rPr>
              <a:t>• </a:t>
            </a:r>
            <a:r>
              <a:rPr sz="1600" b="0" i="0">
                <a:solidFill>
                  <a:srgbClr val="1A1A1A"/>
                </a:solidFill>
                <a:latin typeface="Calibri"/>
              </a:rPr>
              <a:t>~50% women (was 75%) in a male industry</a:t>
            </a:r>
          </a:p>
        </p:txBody>
      </p:sp>
      <p:graphicFrame>
        <p:nvGraphicFramePr>
          <p:cNvPr id="12" name="Table 11"/>
          <p:cNvGraphicFramePr>
            <a:graphicFrameLocks noGrp="1"/>
          </p:cNvGraphicFramePr>
          <p:nvPr/>
        </p:nvGraphicFramePr>
        <p:xfrm>
          <a:off x="274320" y="3931920"/>
          <a:ext cx="3840480" cy="2606040"/>
        </p:xfrm>
        <a:graphic>
          <a:graphicData uri="http://schemas.openxmlformats.org/drawingml/2006/table">
            <a:tbl>
              <a:tblPr firstRow="1" bandRow="1">
                <a:tableStyleId>{5C22544A-7EE6-4342-B048-85BDC9FD1C3A}</a:tableStyleId>
              </a:tblPr>
              <a:tblGrid>
                <a:gridCol w="1645920"/>
                <a:gridCol w="1097280"/>
                <a:gridCol w="1097280"/>
              </a:tblGrid>
              <a:tr h="521208">
                <a:tc>
                  <a:txBody>
                    <a:bodyPr wrap="square"/>
                    <a:lstStyle/>
                    <a:p>
                      <a:r>
                        <a:rPr sz="1400" b="1" i="0">
                          <a:solidFill>
                            <a:srgbClr val="FFFFFF"/>
                          </a:solidFill>
                          <a:latin typeface="Calibri"/>
                        </a:rPr>
                        <a:t>Exhibit 1</a:t>
                      </a:r>
                    </a:p>
                  </a:txBody>
                  <a:tcPr marL="54864" marR="54864" marT="27432" marB="27432" anchor="ctr">
                    <a:solidFill>
                      <a:srgbClr val="D84A05"/>
                    </a:solidFill>
                  </a:tcPr>
                </a:tc>
                <a:tc>
                  <a:txBody>
                    <a:bodyPr wrap="square"/>
                    <a:lstStyle/>
                    <a:p>
                      <a:r>
                        <a:rPr sz="1400" b="1" i="0">
                          <a:solidFill>
                            <a:srgbClr val="FFFFFF"/>
                          </a:solidFill>
                          <a:latin typeface="Calibri"/>
                        </a:rPr>
                        <a:t>2015</a:t>
                      </a:r>
                    </a:p>
                  </a:txBody>
                  <a:tcPr marL="54864" marR="54864" marT="27432" marB="27432" anchor="ctr">
                    <a:solidFill>
                      <a:srgbClr val="D84A05"/>
                    </a:solidFill>
                  </a:tcPr>
                </a:tc>
                <a:tc>
                  <a:txBody>
                    <a:bodyPr wrap="square"/>
                    <a:lstStyle/>
                    <a:p>
                      <a:r>
                        <a:rPr sz="1400" b="1" i="0">
                          <a:solidFill>
                            <a:srgbClr val="FFFFFF"/>
                          </a:solidFill>
                          <a:latin typeface="Calibri"/>
                        </a:rPr>
                        <a:t>2016</a:t>
                      </a:r>
                    </a:p>
                  </a:txBody>
                  <a:tcPr marL="54864" marR="54864" marT="27432" marB="27432" anchor="ctr">
                    <a:solidFill>
                      <a:srgbClr val="D84A05"/>
                    </a:solidFill>
                  </a:tcPr>
                </a:tc>
              </a:tr>
              <a:tr h="521208">
                <a:tc>
                  <a:txBody>
                    <a:bodyPr wrap="square"/>
                    <a:lstStyle/>
                    <a:p>
                      <a:r>
                        <a:rPr sz="1400" b="1" i="0">
                          <a:solidFill>
                            <a:srgbClr val="1A1A1A"/>
                          </a:solidFill>
                          <a:latin typeface="Calibri"/>
                        </a:rPr>
                        <a:t>Employees</a:t>
                      </a:r>
                    </a:p>
                  </a:txBody>
                  <a:tcPr marL="54864" marR="54864" marT="27432" marB="27432" anchor="ctr">
                    <a:solidFill>
                      <a:srgbClr val="FFFFFF"/>
                    </a:solidFill>
                  </a:tcPr>
                </a:tc>
                <a:tc>
                  <a:txBody>
                    <a:bodyPr wrap="square"/>
                    <a:lstStyle/>
                    <a:p>
                      <a:r>
                        <a:rPr sz="1400" b="0" i="0">
                          <a:solidFill>
                            <a:srgbClr val="1A1A1A"/>
                          </a:solidFill>
                          <a:latin typeface="Calibri"/>
                        </a:rPr>
                        <a:t>23 (text) / 27 FT</a:t>
                      </a:r>
                    </a:p>
                  </a:txBody>
                  <a:tcPr marL="54864" marR="54864" marT="27432" marB="27432" anchor="ctr">
                    <a:solidFill>
                      <a:srgbClr val="FFFFFF"/>
                    </a:solidFill>
                  </a:tcPr>
                </a:tc>
                <a:tc>
                  <a:txBody>
                    <a:bodyPr wrap="square"/>
                    <a:lstStyle/>
                    <a:p>
                      <a:r>
                        <a:rPr sz="1400" b="0" i="0">
                          <a:solidFill>
                            <a:srgbClr val="1A1A1A"/>
                          </a:solidFill>
                          <a:latin typeface="Calibri"/>
                        </a:rPr>
                        <a:t>36</a:t>
                      </a:r>
                    </a:p>
                  </a:txBody>
                  <a:tcPr marL="54864" marR="54864" marT="27432" marB="27432" anchor="ctr">
                    <a:solidFill>
                      <a:srgbClr val="FFFFFF"/>
                    </a:solidFill>
                  </a:tcPr>
                </a:tc>
              </a:tr>
              <a:tr h="521208">
                <a:tc>
                  <a:txBody>
                    <a:bodyPr wrap="square"/>
                    <a:lstStyle/>
                    <a:p>
                      <a:r>
                        <a:rPr sz="1400" b="1" i="0">
                          <a:solidFill>
                            <a:srgbClr val="1A1A1A"/>
                          </a:solidFill>
                          <a:latin typeface="Calibri"/>
                        </a:rPr>
                        <a:t>Revenue (CA$)</a:t>
                      </a:r>
                    </a:p>
                  </a:txBody>
                  <a:tcPr marL="54864" marR="54864" marT="27432" marB="27432" anchor="ctr">
                    <a:solidFill>
                      <a:srgbClr val="FBECE6"/>
                    </a:solidFill>
                  </a:tcPr>
                </a:tc>
                <a:tc>
                  <a:txBody>
                    <a:bodyPr wrap="square"/>
                    <a:lstStyle/>
                    <a:p>
                      <a:r>
                        <a:rPr sz="1400" b="0" i="0">
                          <a:solidFill>
                            <a:srgbClr val="1A1A1A"/>
                          </a:solidFill>
                          <a:latin typeface="Calibri"/>
                        </a:rPr>
                        <a:t>2.55M</a:t>
                      </a:r>
                    </a:p>
                  </a:txBody>
                  <a:tcPr marL="54864" marR="54864" marT="27432" marB="27432" anchor="ctr">
                    <a:solidFill>
                      <a:srgbClr val="FBECE6"/>
                    </a:solidFill>
                  </a:tcPr>
                </a:tc>
                <a:tc>
                  <a:txBody>
                    <a:bodyPr wrap="square"/>
                    <a:lstStyle/>
                    <a:p>
                      <a:r>
                        <a:rPr sz="1400" b="0" i="0">
                          <a:solidFill>
                            <a:srgbClr val="1A1A1A"/>
                          </a:solidFill>
                          <a:latin typeface="Calibri"/>
                        </a:rPr>
                        <a:t>3.14M</a:t>
                      </a:r>
                    </a:p>
                  </a:txBody>
                  <a:tcPr marL="54864" marR="54864" marT="27432" marB="27432" anchor="ctr">
                    <a:solidFill>
                      <a:srgbClr val="FBECE6"/>
                    </a:solidFill>
                  </a:tcPr>
                </a:tc>
              </a:tr>
              <a:tr h="521208">
                <a:tc>
                  <a:txBody>
                    <a:bodyPr wrap="square"/>
                    <a:lstStyle/>
                    <a:p>
                      <a:r>
                        <a:rPr sz="1400" b="1" i="0">
                          <a:solidFill>
                            <a:srgbClr val="1A1A1A"/>
                          </a:solidFill>
                          <a:latin typeface="Calibri"/>
                        </a:rPr>
                        <a:t>Net margin</a:t>
                      </a:r>
                    </a:p>
                  </a:txBody>
                  <a:tcPr marL="54864" marR="54864" marT="27432" marB="27432" anchor="ctr">
                    <a:solidFill>
                      <a:srgbClr val="FFFFFF"/>
                    </a:solidFill>
                  </a:tcPr>
                </a:tc>
                <a:tc>
                  <a:txBody>
                    <a:bodyPr wrap="square"/>
                    <a:lstStyle/>
                    <a:p>
                      <a:r>
                        <a:rPr sz="1400" b="0" i="0">
                          <a:solidFill>
                            <a:srgbClr val="1A1A1A"/>
                          </a:solidFill>
                          <a:latin typeface="Calibri"/>
                        </a:rPr>
                        <a:t>14.5%</a:t>
                      </a:r>
                    </a:p>
                  </a:txBody>
                  <a:tcPr marL="54864" marR="54864" marT="27432" marB="27432" anchor="ctr">
                    <a:solidFill>
                      <a:srgbClr val="FFFFFF"/>
                    </a:solidFill>
                  </a:tcPr>
                </a:tc>
                <a:tc>
                  <a:txBody>
                    <a:bodyPr wrap="square"/>
                    <a:lstStyle/>
                    <a:p>
                      <a:r>
                        <a:rPr sz="1400" b="0" i="0">
                          <a:solidFill>
                            <a:srgbClr val="1A1A1A"/>
                          </a:solidFill>
                          <a:latin typeface="Calibri"/>
                        </a:rPr>
                        <a:t>8.2%</a:t>
                      </a:r>
                    </a:p>
                  </a:txBody>
                  <a:tcPr marL="54864" marR="54864" marT="27432" marB="27432" anchor="ctr">
                    <a:solidFill>
                      <a:srgbClr val="FFFFFF"/>
                    </a:solidFill>
                  </a:tcPr>
                </a:tc>
              </a:tr>
              <a:tr h="521208">
                <a:tc>
                  <a:txBody>
                    <a:bodyPr wrap="square"/>
                    <a:lstStyle/>
                    <a:p>
                      <a:r>
                        <a:rPr sz="1400" b="1" i="0">
                          <a:solidFill>
                            <a:srgbClr val="1A1A1A"/>
                          </a:solidFill>
                          <a:latin typeface="Calibri"/>
                        </a:rPr>
                        <a:t>Clients · exits</a:t>
                      </a:r>
                    </a:p>
                  </a:txBody>
                  <a:tcPr marL="54864" marR="54864" marT="27432" marB="27432" anchor="ctr">
                    <a:solidFill>
                      <a:srgbClr val="FBECE6"/>
                    </a:solidFill>
                  </a:tcPr>
                </a:tc>
                <a:tc>
                  <a:txBody>
                    <a:bodyPr wrap="square"/>
                    <a:lstStyle/>
                    <a:p>
                      <a:r>
                        <a:rPr sz="1400" b="0" i="0">
                          <a:solidFill>
                            <a:srgbClr val="1A1A1A"/>
                          </a:solidFill>
                          <a:latin typeface="Calibri"/>
                        </a:rPr>
                        <a:t>7 · 2</a:t>
                      </a:r>
                    </a:p>
                  </a:txBody>
                  <a:tcPr marL="54864" marR="54864" marT="27432" marB="27432" anchor="ctr">
                    <a:solidFill>
                      <a:srgbClr val="FBECE6"/>
                    </a:solidFill>
                  </a:tcPr>
                </a:tc>
                <a:tc>
                  <a:txBody>
                    <a:bodyPr wrap="square"/>
                    <a:lstStyle/>
                    <a:p>
                      <a:r>
                        <a:rPr sz="1400" b="0" i="0">
                          <a:solidFill>
                            <a:srgbClr val="1A1A1A"/>
                          </a:solidFill>
                          <a:latin typeface="Calibri"/>
                        </a:rPr>
                        <a:t>13 · 2</a:t>
                      </a:r>
                    </a:p>
                  </a:txBody>
                  <a:tcPr marL="54864" marR="54864" marT="27432" marB="27432" anchor="ctr">
                    <a:solidFill>
                      <a:srgbClr val="FBECE6"/>
                    </a:solidFill>
                  </a:tcPr>
                </a:tc>
              </a:tr>
            </a:tbl>
          </a:graphicData>
        </a:graphic>
      </p:graphicFrame>
      <p:sp>
        <p:nvSpPr>
          <p:cNvPr id="13" name="Rounded Rectangle 12"/>
          <p:cNvSpPr/>
          <p:nvPr/>
        </p:nvSpPr>
        <p:spPr>
          <a:xfrm>
            <a:off x="4251960" y="1051560"/>
            <a:ext cx="3840480" cy="5486400"/>
          </a:xfrm>
          <a:prstGeom prst="roundRect">
            <a:avLst>
              <a:gd name="adj" fmla="val 6000"/>
            </a:avLst>
          </a:prstGeom>
          <a:solidFill>
            <a:srgbClr val="FFFFFF"/>
          </a:solidFill>
          <a:ln w="19050">
            <a:solidFill>
              <a:srgbClr val="EDA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251960" y="1051560"/>
            <a:ext cx="3840480" cy="45720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51960" y="1371600"/>
            <a:ext cx="3840480" cy="137160"/>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43400" y="1051560"/>
            <a:ext cx="3657600" cy="457200"/>
          </a:xfrm>
          <a:prstGeom prst="rect">
            <a:avLst/>
          </a:prstGeom>
          <a:noFill/>
        </p:spPr>
        <p:txBody>
          <a:bodyPr wrap="square" anchor="ctr" lIns="45720" rIns="45720" tIns="18288" bIns="18288"/>
          <a:lstStyle/>
          <a:p>
            <a:pPr algn="l"/>
            <a:r>
              <a:rPr sz="1900" b="1" i="0">
                <a:solidFill>
                  <a:srgbClr val="FFFFFF"/>
                </a:solidFill>
                <a:latin typeface="Calibri"/>
              </a:rPr>
              <a:t>What Ramnath did</a:t>
            </a:r>
          </a:p>
        </p:txBody>
      </p:sp>
      <p:sp>
        <p:nvSpPr>
          <p:cNvPr id="17" name="TextBox 16"/>
          <p:cNvSpPr txBox="1"/>
          <p:nvPr/>
        </p:nvSpPr>
        <p:spPr>
          <a:xfrm>
            <a:off x="4325112" y="1563624"/>
            <a:ext cx="3694176" cy="4937760"/>
          </a:xfrm>
          <a:prstGeom prst="rect">
            <a:avLst/>
          </a:prstGeom>
          <a:noFill/>
        </p:spPr>
        <p:txBody>
          <a:bodyPr wrap="square" anchor="t" lIns="54864" rIns="54864" tIns="27432" bIns="27432"/>
          <a:lstStyle/>
          <a:p>
            <a:pPr>
              <a:spcAft>
                <a:spcPts val="300"/>
              </a:spcAft>
            </a:pPr>
            <a:r>
              <a:rPr sz="1700" b="1" i="0">
                <a:solidFill>
                  <a:srgbClr val="1A1A1A"/>
                </a:solidFill>
                <a:latin typeface="Calibri"/>
              </a:rPr>
              <a:t>• </a:t>
            </a:r>
            <a:r>
              <a:rPr sz="1700" b="0" i="0">
                <a:solidFill>
                  <a:srgbClr val="1A1A1A"/>
                </a:solidFill>
                <a:latin typeface="Calibri"/>
              </a:rPr>
              <a:t>'</a:t>
            </a:r>
            <a:r>
              <a:rPr sz="1700" b="1" i="0">
                <a:solidFill>
                  <a:srgbClr val="1A1A1A"/>
                </a:solidFill>
                <a:latin typeface="Calibri"/>
              </a:rPr>
              <a:t>Culture is the currency of employee retention</a:t>
            </a:r>
            <a:r>
              <a:rPr sz="1700" b="0" i="0">
                <a:solidFill>
                  <a:srgbClr val="1A1A1A"/>
                </a:solidFill>
                <a:latin typeface="Calibri"/>
              </a:rPr>
              <a:t>'; money per se cannot retain</a:t>
            </a:r>
          </a:p>
          <a:p>
            <a:pPr>
              <a:spcAft>
                <a:spcPts val="300"/>
              </a:spcAft>
            </a:pPr>
            <a:r>
              <a:rPr sz="1700" b="1" i="0">
                <a:solidFill>
                  <a:srgbClr val="1A1A1A"/>
                </a:solidFill>
                <a:latin typeface="Calibri"/>
              </a:rPr>
              <a:t>• </a:t>
            </a:r>
            <a:r>
              <a:rPr sz="1700" b="0" i="0">
                <a:solidFill>
                  <a:srgbClr val="1A1A1A"/>
                </a:solidFill>
                <a:latin typeface="Calibri"/>
              </a:rPr>
              <a:t>Flat structure, fluid roles, </a:t>
            </a:r>
            <a:r>
              <a:rPr sz="1700" b="1" i="0">
                <a:solidFill>
                  <a:srgbClr val="1A1A1A"/>
                </a:solidFill>
                <a:latin typeface="Calibri"/>
              </a:rPr>
              <a:t>O-Code</a:t>
            </a:r>
            <a:r>
              <a:rPr sz="1700" b="0" i="0">
                <a:solidFill>
                  <a:srgbClr val="1A1A1A"/>
                </a:solidFill>
                <a:latin typeface="Calibri"/>
              </a:rPr>
              <a:t> (10 values: selflessness, honesty, passion, courage, innovation, curiosity, impact, communication, judgement, respect)</a:t>
            </a:r>
          </a:p>
          <a:p>
            <a:pPr>
              <a:spcAft>
                <a:spcPts val="300"/>
              </a:spcAft>
            </a:pPr>
            <a:r>
              <a:rPr sz="1700" b="1" i="0">
                <a:solidFill>
                  <a:srgbClr val="1A1A1A"/>
                </a:solidFill>
                <a:latin typeface="Calibri"/>
              </a:rPr>
              <a:t>• </a:t>
            </a:r>
            <a:r>
              <a:rPr sz="1700" b="1" i="0">
                <a:solidFill>
                  <a:srgbClr val="1A1A1A"/>
                </a:solidFill>
                <a:latin typeface="Calibri"/>
              </a:rPr>
              <a:t>Baseline pay = industry average</a:t>
            </a:r>
            <a:r>
              <a:rPr sz="1700" b="0" i="0">
                <a:solidFill>
                  <a:srgbClr val="1A1A1A"/>
                </a:solidFill>
                <a:latin typeface="Calibri"/>
              </a:rPr>
              <a:t>; rest of total comp </a:t>
            </a:r>
            <a:r>
              <a:rPr sz="1700" b="1" i="0">
                <a:solidFill>
                  <a:srgbClr val="1A1A1A"/>
                </a:solidFill>
                <a:latin typeface="Calibri"/>
              </a:rPr>
              <a:t>customised &amp; negotiable</a:t>
            </a:r>
            <a:r>
              <a:rPr sz="1700" b="0" i="0">
                <a:solidFill>
                  <a:srgbClr val="1A1A1A"/>
                </a:solidFill>
                <a:latin typeface="Calibri"/>
              </a:rPr>
              <a:t> (4-day week, 4 weeks travel, split $3,500 course, $35K EMBA, babies at office, $1,000 charity)</a:t>
            </a:r>
          </a:p>
          <a:p>
            <a:pPr>
              <a:spcAft>
                <a:spcPts val="300"/>
              </a:spcAft>
            </a:pPr>
            <a:r>
              <a:rPr sz="1700" b="1" i="0">
                <a:solidFill>
                  <a:srgbClr val="1A1A1A"/>
                </a:solidFill>
                <a:latin typeface="Calibri"/>
              </a:rPr>
              <a:t>• </a:t>
            </a:r>
            <a:r>
              <a:rPr sz="1700" b="0" i="0">
                <a:solidFill>
                  <a:srgbClr val="1A1A1A"/>
                </a:solidFill>
                <a:latin typeface="Calibri"/>
              </a:rPr>
              <a:t>Peer review of all work incl. CEO; Monday calls</a:t>
            </a:r>
          </a:p>
          <a:p>
            <a:pPr>
              <a:spcAft>
                <a:spcPts val="300"/>
              </a:spcAft>
            </a:pPr>
            <a:r>
              <a:rPr sz="1700" b="1" i="0">
                <a:solidFill>
                  <a:srgbClr val="1A1A1A"/>
                </a:solidFill>
                <a:latin typeface="Calibri"/>
              </a:rPr>
              <a:t>• </a:t>
            </a:r>
            <a:r>
              <a:rPr sz="1700" b="0" i="0">
                <a:solidFill>
                  <a:srgbClr val="1A1A1A"/>
                </a:solidFill>
                <a:latin typeface="Calibri"/>
              </a:rPr>
              <a:t>Annual </a:t>
            </a:r>
            <a:r>
              <a:rPr sz="1700" b="1" i="0">
                <a:solidFill>
                  <a:srgbClr val="1A1A1A"/>
                </a:solidFill>
                <a:latin typeface="Calibri"/>
              </a:rPr>
              <a:t>$100,000 Cuba retreat</a:t>
            </a:r>
            <a:r>
              <a:rPr sz="1700" b="0" i="0">
                <a:solidFill>
                  <a:srgbClr val="1A1A1A"/>
                </a:solidFill>
                <a:latin typeface="Calibri"/>
              </a:rPr>
              <a:t> instead of bonuses</a:t>
            </a:r>
          </a:p>
        </p:txBody>
      </p:sp>
      <p:sp>
        <p:nvSpPr>
          <p:cNvPr id="18" name="Rounded Rectangle 17"/>
          <p:cNvSpPr/>
          <p:nvPr/>
        </p:nvSpPr>
        <p:spPr>
          <a:xfrm>
            <a:off x="8229600" y="1051560"/>
            <a:ext cx="3703320" cy="5486400"/>
          </a:xfrm>
          <a:prstGeom prst="roundRect">
            <a:avLst>
              <a:gd name="adj" fmla="val 6000"/>
            </a:avLst>
          </a:prstGeom>
          <a:solidFill>
            <a:srgbClr val="FFFFFF"/>
          </a:solidFill>
          <a:ln w="19050">
            <a:solidFill>
              <a:srgbClr val="EDA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29600" y="1051560"/>
            <a:ext cx="3703320" cy="45720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0" y="1371600"/>
            <a:ext cx="3703320" cy="137160"/>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1040" y="1051560"/>
            <a:ext cx="3520439" cy="457200"/>
          </a:xfrm>
          <a:prstGeom prst="rect">
            <a:avLst/>
          </a:prstGeom>
          <a:noFill/>
        </p:spPr>
        <p:txBody>
          <a:bodyPr wrap="square" anchor="ctr" lIns="45720" rIns="45720" tIns="18288" bIns="18288"/>
          <a:lstStyle/>
          <a:p>
            <a:pPr algn="l"/>
            <a:r>
              <a:rPr sz="1900" b="1" i="0">
                <a:solidFill>
                  <a:srgbClr val="FFFFFF"/>
                </a:solidFill>
                <a:latin typeface="Calibri"/>
              </a:rPr>
              <a:t>The dilemma</a:t>
            </a:r>
          </a:p>
        </p:txBody>
      </p:sp>
      <p:sp>
        <p:nvSpPr>
          <p:cNvPr id="22" name="TextBox 21"/>
          <p:cNvSpPr txBox="1"/>
          <p:nvPr/>
        </p:nvSpPr>
        <p:spPr>
          <a:xfrm>
            <a:off x="8302752" y="1563624"/>
            <a:ext cx="3557015" cy="4937760"/>
          </a:xfrm>
          <a:prstGeom prst="rect">
            <a:avLst/>
          </a:prstGeom>
          <a:noFill/>
        </p:spPr>
        <p:txBody>
          <a:bodyPr wrap="square" anchor="t" lIns="54864" rIns="54864" tIns="27432" bIns="27432"/>
          <a:lstStyle/>
          <a:p>
            <a:pPr>
              <a:spcAft>
                <a:spcPts val="300"/>
              </a:spcAft>
            </a:pPr>
            <a:r>
              <a:rPr sz="1800" b="1" i="0">
                <a:solidFill>
                  <a:srgbClr val="1A1A1A"/>
                </a:solidFill>
                <a:latin typeface="Calibri"/>
              </a:rPr>
              <a:t>• </a:t>
            </a:r>
            <a:r>
              <a:rPr sz="1800" b="0" i="0">
                <a:solidFill>
                  <a:srgbClr val="1A1A1A"/>
                </a:solidFill>
                <a:latin typeface="Calibri"/>
              </a:rPr>
              <a:t>Dec 2015 survey: </a:t>
            </a:r>
            <a:r>
              <a:rPr sz="1800" b="1" i="0">
                <a:solidFill>
                  <a:srgbClr val="1A1A1A"/>
                </a:solidFill>
                <a:latin typeface="Calibri"/>
              </a:rPr>
              <a:t>65% ranked salary increase #1</a:t>
            </a:r>
            <a:r>
              <a:rPr sz="1800" b="0" i="0">
                <a:solidFill>
                  <a:srgbClr val="1A1A1A"/>
                </a:solidFill>
                <a:latin typeface="Calibri"/>
              </a:rPr>
              <a:t>, then pension, training, vacation, daycare</a:t>
            </a:r>
          </a:p>
          <a:p>
            <a:pPr>
              <a:spcAft>
                <a:spcPts val="300"/>
              </a:spcAft>
            </a:pPr>
            <a:r>
              <a:rPr sz="1800" b="1" i="0">
                <a:solidFill>
                  <a:srgbClr val="1A1A1A"/>
                </a:solidFill>
                <a:latin typeface="Calibri"/>
              </a:rPr>
              <a:t>• </a:t>
            </a:r>
            <a:r>
              <a:rPr sz="1800" b="0" i="0">
                <a:solidFill>
                  <a:srgbClr val="1A1A1A"/>
                </a:solidFill>
                <a:latin typeface="Calibri"/>
              </a:rPr>
              <a:t>She went AGAINST the survey → non-financial rewards</a:t>
            </a:r>
          </a:p>
          <a:p>
            <a:pPr>
              <a:spcAft>
                <a:spcPts val="300"/>
              </a:spcAft>
            </a:pPr>
            <a:r>
              <a:rPr sz="1800" b="1" i="0">
                <a:solidFill>
                  <a:srgbClr val="1A1A1A"/>
                </a:solidFill>
                <a:latin typeface="Calibri"/>
              </a:rPr>
              <a:t>• </a:t>
            </a:r>
            <a:r>
              <a:rPr sz="1800" b="0" i="0">
                <a:solidFill>
                  <a:srgbClr val="1A1A1A"/>
                </a:solidFill>
                <a:latin typeface="Calibri"/>
              </a:rPr>
              <a:t>Proof?: senior manager rejected a poacher: 'You don't have annual retreats?'</a:t>
            </a:r>
          </a:p>
          <a:p>
            <a:pPr>
              <a:spcAft>
                <a:spcPts val="300"/>
              </a:spcAft>
            </a:pPr>
            <a:r>
              <a:rPr sz="1800" b="1" i="0">
                <a:solidFill>
                  <a:srgbClr val="1A1A1A"/>
                </a:solidFill>
                <a:latin typeface="Calibri"/>
              </a:rPr>
              <a:t>• </a:t>
            </a:r>
            <a:r>
              <a:rPr sz="1800" b="0" i="0">
                <a:solidFill>
                  <a:srgbClr val="1A1A1A"/>
                </a:solidFill>
                <a:latin typeface="Calibri"/>
              </a:rPr>
              <a:t>Now: scaling up (10 team leads, HR hire). Bigger firms need common structures, appraisal, pay systems seen as </a:t>
            </a:r>
            <a:r>
              <a:rPr sz="1800" b="1" i="0">
                <a:solidFill>
                  <a:srgbClr val="1A1A1A"/>
                </a:solidFill>
                <a:latin typeface="Calibri"/>
              </a:rPr>
              <a:t>fair</a:t>
            </a:r>
            <a:r>
              <a:rPr sz="1800" b="0" i="0">
                <a:solidFill>
                  <a:srgbClr val="1A1A1A"/>
                </a:solidFill>
                <a:latin typeface="Calibri"/>
              </a:rPr>
              <a:t>; customisation → </a:t>
            </a:r>
            <a:r>
              <a:rPr sz="1800" b="1" i="0">
                <a:solidFill>
                  <a:srgbClr val="1A1A1A"/>
                </a:solidFill>
                <a:latin typeface="Calibri"/>
              </a:rPr>
              <a:t>inequity</a:t>
            </a:r>
            <a:r>
              <a:rPr sz="1800" b="0" i="0">
                <a:solidFill>
                  <a:srgbClr val="1A1A1A"/>
                </a:solidFill>
                <a:latin typeface="Calibri"/>
              </a:rPr>
              <a:t> risk</a:t>
            </a:r>
          </a:p>
          <a:p>
            <a:pPr>
              <a:spcAft>
                <a:spcPts val="300"/>
              </a:spcAft>
            </a:pPr>
            <a:r>
              <a:rPr sz="1800" b="1" i="0">
                <a:solidFill>
                  <a:srgbClr val="1A1A1A"/>
                </a:solidFill>
                <a:latin typeface="Calibri"/>
              </a:rPr>
              <a:t>• </a:t>
            </a:r>
            <a:r>
              <a:rPr sz="1800" b="0" i="0">
                <a:solidFill>
                  <a:srgbClr val="1A1A1A"/>
                </a:solidFill>
                <a:latin typeface="Calibri"/>
              </a:rPr>
              <a:t>Q: Keep direction? How to sustain authenticity at scale?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600" b="1" i="0">
                <a:solidFill>
                  <a:srgbClr val="FFFFFF"/>
                </a:solidFill>
                <a:latin typeface="Calibri"/>
              </a:rPr>
              <a:t>Case 5 Orix: theory-by-theory analysis &amp; recommendations</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F5D1C0"/>
                </a:solidFill>
                <a:latin typeface="Calibri"/>
              </a:rPr>
              <a:t>MODULE 4 · EMPLOYEE MOTIVATION</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Model answer</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51</a:t>
            </a:r>
          </a:p>
        </p:txBody>
      </p:sp>
      <p:graphicFrame>
        <p:nvGraphicFramePr>
          <p:cNvPr id="7" name="Table 6"/>
          <p:cNvGraphicFramePr>
            <a:graphicFrameLocks noGrp="1"/>
          </p:cNvGraphicFramePr>
          <p:nvPr/>
        </p:nvGraphicFramePr>
        <p:xfrm>
          <a:off x="274320" y="1051560"/>
          <a:ext cx="7589520" cy="5486400"/>
        </p:xfrm>
        <a:graphic>
          <a:graphicData uri="http://schemas.openxmlformats.org/drawingml/2006/table">
            <a:tbl>
              <a:tblPr firstRow="1" bandRow="1">
                <a:tableStyleId>{5C22544A-7EE6-4342-B048-85BDC9FD1C3A}</a:tableStyleId>
              </a:tblPr>
              <a:tblGrid>
                <a:gridCol w="1554480"/>
                <a:gridCol w="6035040"/>
              </a:tblGrid>
              <a:tr h="685800">
                <a:tc>
                  <a:txBody>
                    <a:bodyPr wrap="square"/>
                    <a:lstStyle/>
                    <a:p>
                      <a:r>
                        <a:rPr sz="1400" b="1" i="0">
                          <a:solidFill>
                            <a:srgbClr val="FFFFFF"/>
                          </a:solidFill>
                          <a:latin typeface="Calibri"/>
                        </a:rPr>
                        <a:t>Theory</a:t>
                      </a:r>
                    </a:p>
                  </a:txBody>
                  <a:tcPr marL="54864" marR="54864" marT="27432" marB="27432" anchor="ctr">
                    <a:solidFill>
                      <a:srgbClr val="D84A05"/>
                    </a:solidFill>
                  </a:tcPr>
                </a:tc>
                <a:tc>
                  <a:txBody>
                    <a:bodyPr wrap="square"/>
                    <a:lstStyle/>
                    <a:p>
                      <a:r>
                        <a:rPr sz="1400" b="1" i="0">
                          <a:solidFill>
                            <a:srgbClr val="FFFFFF"/>
                          </a:solidFill>
                          <a:latin typeface="Calibri"/>
                        </a:rPr>
                        <a:t>What it says about Orix</a:t>
                      </a:r>
                    </a:p>
                  </a:txBody>
                  <a:tcPr marL="54864" marR="54864" marT="27432" marB="27432" anchor="ctr">
                    <a:solidFill>
                      <a:srgbClr val="D84A05"/>
                    </a:solidFill>
                  </a:tcPr>
                </a:tc>
              </a:tr>
              <a:tr h="685800">
                <a:tc>
                  <a:txBody>
                    <a:bodyPr wrap="square"/>
                    <a:lstStyle/>
                    <a:p>
                      <a:r>
                        <a:rPr sz="1400" b="1" i="0">
                          <a:solidFill>
                            <a:srgbClr val="1A1A1A"/>
                          </a:solidFill>
                          <a:latin typeface="Calibri"/>
                        </a:rPr>
                        <a:t>Herzberg</a:t>
                      </a:r>
                    </a:p>
                  </a:txBody>
                  <a:tcPr marL="54864" marR="54864" marT="27432" marB="27432" anchor="ctr">
                    <a:solidFill>
                      <a:srgbClr val="FFFFFF"/>
                    </a:solidFill>
                  </a:tcPr>
                </a:tc>
                <a:tc>
                  <a:txBody>
                    <a:bodyPr wrap="square"/>
                    <a:lstStyle/>
                    <a:p>
                      <a:r>
                        <a:rPr sz="1400" b="0" i="0">
                          <a:solidFill>
                            <a:srgbClr val="1A1A1A"/>
                          </a:solidFill>
                          <a:latin typeface="Calibri"/>
                        </a:rPr>
                        <a:t>Pay at industry avg = hygiene (no dissatisfaction); retreats, growth, responsibility = motivators → satisfaction. But survey shows pay still a live hygiene concern as market heats up</a:t>
                      </a:r>
                    </a:p>
                  </a:txBody>
                  <a:tcPr marL="54864" marR="54864" marT="27432" marB="27432" anchor="ctr">
                    <a:solidFill>
                      <a:srgbClr val="FFFFFF"/>
                    </a:solidFill>
                  </a:tcPr>
                </a:tc>
              </a:tr>
              <a:tr h="685800">
                <a:tc>
                  <a:txBody>
                    <a:bodyPr wrap="square"/>
                    <a:lstStyle/>
                    <a:p>
                      <a:r>
                        <a:rPr sz="1400" b="1" i="0">
                          <a:solidFill>
                            <a:srgbClr val="1A1A1A"/>
                          </a:solidFill>
                          <a:latin typeface="Calibri"/>
                        </a:rPr>
                        <a:t>Maslow / McClelland</a:t>
                      </a:r>
                    </a:p>
                  </a:txBody>
                  <a:tcPr marL="54864" marR="54864" marT="27432" marB="27432" anchor="ctr">
                    <a:solidFill>
                      <a:srgbClr val="FBECE6"/>
                    </a:solidFill>
                  </a:tcPr>
                </a:tc>
                <a:tc>
                  <a:txBody>
                    <a:bodyPr wrap="square"/>
                    <a:lstStyle/>
                    <a:p>
                      <a:r>
                        <a:rPr sz="1400" b="0" i="0">
                          <a:solidFill>
                            <a:srgbClr val="1A1A1A"/>
                          </a:solidFill>
                          <a:latin typeface="Calibri"/>
                        </a:rPr>
                        <a:t>Needs differ: young parents (safety, belonging) vs high-achievers (esteem, achievement); customised packages fit this</a:t>
                      </a:r>
                    </a:p>
                  </a:txBody>
                  <a:tcPr marL="54864" marR="54864" marT="27432" marB="27432" anchor="ctr">
                    <a:solidFill>
                      <a:srgbClr val="FBECE6"/>
                    </a:solidFill>
                  </a:tcPr>
                </a:tc>
              </a:tr>
              <a:tr h="685800">
                <a:tc>
                  <a:txBody>
                    <a:bodyPr wrap="square"/>
                    <a:lstStyle/>
                    <a:p>
                      <a:r>
                        <a:rPr sz="1400" b="1" i="0">
                          <a:solidFill>
                            <a:srgbClr val="1A1A1A"/>
                          </a:solidFill>
                          <a:latin typeface="Calibri"/>
                        </a:rPr>
                        <a:t>SDT</a:t>
                      </a:r>
                    </a:p>
                  </a:txBody>
                  <a:tcPr marL="54864" marR="54864" marT="27432" marB="27432" anchor="ctr">
                    <a:solidFill>
                      <a:srgbClr val="FFFFFF"/>
                    </a:solidFill>
                  </a:tcPr>
                </a:tc>
                <a:tc>
                  <a:txBody>
                    <a:bodyPr wrap="square"/>
                    <a:lstStyle/>
                    <a:p>
                      <a:r>
                        <a:rPr sz="1400" b="0" i="0">
                          <a:solidFill>
                            <a:srgbClr val="1A1A1A"/>
                          </a:solidFill>
                          <a:latin typeface="Calibri"/>
                        </a:rPr>
                        <a:t>Autonomy (prioritise own work), competence (training, EMBA, peer review), relatedness (retreats, family culture)</a:t>
                      </a:r>
                    </a:p>
                  </a:txBody>
                  <a:tcPr marL="54864" marR="54864" marT="27432" marB="27432" anchor="ctr">
                    <a:solidFill>
                      <a:srgbClr val="FFFFFF"/>
                    </a:solidFill>
                  </a:tcPr>
                </a:tc>
              </a:tr>
              <a:tr h="685800">
                <a:tc>
                  <a:txBody>
                    <a:bodyPr wrap="square"/>
                    <a:lstStyle/>
                    <a:p>
                      <a:r>
                        <a:rPr sz="1400" b="1" i="0">
                          <a:solidFill>
                            <a:srgbClr val="1A1A1A"/>
                          </a:solidFill>
                          <a:latin typeface="Calibri"/>
                        </a:rPr>
                        <a:t>Expectancy</a:t>
                      </a:r>
                    </a:p>
                  </a:txBody>
                  <a:tcPr marL="54864" marR="54864" marT="27432" marB="27432" anchor="ctr">
                    <a:solidFill>
                      <a:srgbClr val="FBECE6"/>
                    </a:solidFill>
                  </a:tcPr>
                </a:tc>
                <a:tc>
                  <a:txBody>
                    <a:bodyPr wrap="square"/>
                    <a:lstStyle/>
                    <a:p>
                      <a:r>
                        <a:rPr sz="1400" b="0" i="0">
                          <a:solidFill>
                            <a:srgbClr val="1A1A1A"/>
                          </a:solidFill>
                          <a:latin typeface="Calibri"/>
                        </a:rPr>
                        <a:t>Negotiated rewards have high VALENCE; but INSTRUMENTALITY unclear (discretionary, 'ask &amp; you get')</a:t>
                      </a:r>
                    </a:p>
                  </a:txBody>
                  <a:tcPr marL="54864" marR="54864" marT="27432" marB="27432" anchor="ctr">
                    <a:solidFill>
                      <a:srgbClr val="FBECE6"/>
                    </a:solidFill>
                  </a:tcPr>
                </a:tc>
              </a:tr>
              <a:tr h="685800">
                <a:tc>
                  <a:txBody>
                    <a:bodyPr wrap="square"/>
                    <a:lstStyle/>
                    <a:p>
                      <a:r>
                        <a:rPr sz="1400" b="1" i="0">
                          <a:solidFill>
                            <a:srgbClr val="1A1A1A"/>
                          </a:solidFill>
                          <a:latin typeface="Calibri"/>
                        </a:rPr>
                        <a:t>Equity / justice</a:t>
                      </a:r>
                    </a:p>
                  </a:txBody>
                  <a:tcPr marL="54864" marR="54864" marT="27432" marB="27432" anchor="ctr">
                    <a:solidFill>
                      <a:srgbClr val="FFFFFF"/>
                    </a:solidFill>
                  </a:tcPr>
                </a:tc>
                <a:tc>
                  <a:txBody>
                    <a:bodyPr wrap="square"/>
                    <a:lstStyle/>
                    <a:p>
                      <a:r>
                        <a:rPr sz="1400" b="0" i="0">
                          <a:solidFill>
                            <a:srgbClr val="1A1A1A"/>
                          </a:solidFill>
                          <a:latin typeface="Calibri"/>
                        </a:rPr>
                        <a:t>Customised comp → some get more; low procedural transparency → inequity perceptions as firm grows</a:t>
                      </a:r>
                    </a:p>
                  </a:txBody>
                  <a:tcPr marL="54864" marR="54864" marT="27432" marB="27432" anchor="ctr">
                    <a:solidFill>
                      <a:srgbClr val="FFFFFF"/>
                    </a:solidFill>
                  </a:tcPr>
                </a:tc>
              </a:tr>
              <a:tr h="685800">
                <a:tc>
                  <a:txBody>
                    <a:bodyPr wrap="square"/>
                    <a:lstStyle/>
                    <a:p>
                      <a:r>
                        <a:rPr sz="1400" b="1" i="0">
                          <a:solidFill>
                            <a:srgbClr val="1A1A1A"/>
                          </a:solidFill>
                          <a:latin typeface="Calibri"/>
                        </a:rPr>
                        <a:t>i-deals</a:t>
                      </a:r>
                    </a:p>
                  </a:txBody>
                  <a:tcPr marL="54864" marR="54864" marT="27432" marB="27432" anchor="ctr">
                    <a:solidFill>
                      <a:srgbClr val="FBECE6"/>
                    </a:solidFill>
                  </a:tcPr>
                </a:tc>
                <a:tc>
                  <a:txBody>
                    <a:bodyPr wrap="square"/>
                    <a:lstStyle/>
                    <a:p>
                      <a:r>
                        <a:rPr sz="1400" b="0" i="0">
                          <a:solidFill>
                            <a:srgbClr val="1A1A1A"/>
                          </a:solidFill>
                          <a:latin typeface="Calibri"/>
                        </a:rPr>
                        <a:t>Orix runs on i-deals; benefits (POS, retention) but fairness risk</a:t>
                      </a:r>
                    </a:p>
                  </a:txBody>
                  <a:tcPr marL="54864" marR="54864" marT="27432" marB="27432" anchor="ctr">
                    <a:solidFill>
                      <a:srgbClr val="FBECE6"/>
                    </a:solidFill>
                  </a:tcPr>
                </a:tc>
              </a:tr>
              <a:tr h="685800">
                <a:tc>
                  <a:txBody>
                    <a:bodyPr wrap="square"/>
                    <a:lstStyle/>
                    <a:p>
                      <a:r>
                        <a:rPr sz="1400" b="1" i="0">
                          <a:solidFill>
                            <a:srgbClr val="1A1A1A"/>
                          </a:solidFill>
                          <a:latin typeface="Calibri"/>
                        </a:rPr>
                        <a:t>Values / P-O fit</a:t>
                      </a:r>
                    </a:p>
                  </a:txBody>
                  <a:tcPr marL="54864" marR="54864" marT="27432" marB="27432" anchor="ctr">
                    <a:solidFill>
                      <a:srgbClr val="FFFFFF"/>
                    </a:solidFill>
                  </a:tcPr>
                </a:tc>
                <a:tc>
                  <a:txBody>
                    <a:bodyPr wrap="square"/>
                    <a:lstStyle/>
                    <a:p>
                      <a:r>
                        <a:rPr sz="1400" b="0" i="0">
                          <a:solidFill>
                            <a:srgbClr val="1A1A1A"/>
                          </a:solidFill>
                          <a:latin typeface="Calibri"/>
                        </a:rPr>
                        <a:t>O-Code hiring &amp; renewal = strong person-culture fit, commitment</a:t>
                      </a:r>
                    </a:p>
                  </a:txBody>
                  <a:tcPr marL="54864" marR="54864" marT="27432" marB="27432" anchor="ctr">
                    <a:solidFill>
                      <a:srgbClr val="FFFFFF"/>
                    </a:solidFill>
                  </a:tcPr>
                </a:tc>
              </a:tr>
            </a:tbl>
          </a:graphicData>
        </a:graphic>
      </p:graphicFrame>
      <p:sp>
        <p:nvSpPr>
          <p:cNvPr id="8" name="Rounded Rectangle 7"/>
          <p:cNvSpPr/>
          <p:nvPr/>
        </p:nvSpPr>
        <p:spPr>
          <a:xfrm>
            <a:off x="8001000" y="1051560"/>
            <a:ext cx="3931920" cy="5486400"/>
          </a:xfrm>
          <a:prstGeom prst="roundRect">
            <a:avLst>
              <a:gd name="adj" fmla="val 6000"/>
            </a:avLst>
          </a:prstGeom>
          <a:solidFill>
            <a:srgbClr val="FFFFFF"/>
          </a:solidFill>
          <a:ln w="19050">
            <a:solidFill>
              <a:srgbClr val="EDA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01000" y="1051560"/>
            <a:ext cx="3931920" cy="45720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001000" y="1371600"/>
            <a:ext cx="3931920" cy="137160"/>
          </a:xfrm>
          <a:prstGeom prst="rect">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92440" y="1051560"/>
            <a:ext cx="3749039" cy="457200"/>
          </a:xfrm>
          <a:prstGeom prst="rect">
            <a:avLst/>
          </a:prstGeom>
          <a:noFill/>
        </p:spPr>
        <p:txBody>
          <a:bodyPr wrap="square" anchor="ctr" lIns="45720" rIns="45720" tIns="18288" bIns="18288"/>
          <a:lstStyle/>
          <a:p>
            <a:pPr algn="l"/>
            <a:r>
              <a:rPr sz="1900" b="1" i="0">
                <a:solidFill>
                  <a:srgbClr val="FFFFFF"/>
                </a:solidFill>
                <a:latin typeface="Calibri"/>
              </a:rPr>
              <a:t>Recommendations</a:t>
            </a:r>
          </a:p>
        </p:txBody>
      </p:sp>
      <p:sp>
        <p:nvSpPr>
          <p:cNvPr id="12" name="TextBox 11"/>
          <p:cNvSpPr txBox="1"/>
          <p:nvPr/>
        </p:nvSpPr>
        <p:spPr>
          <a:xfrm>
            <a:off x="8074152" y="1563624"/>
            <a:ext cx="3785615" cy="4937760"/>
          </a:xfrm>
          <a:prstGeom prst="rect">
            <a:avLst/>
          </a:prstGeom>
          <a:noFill/>
        </p:spPr>
        <p:txBody>
          <a:bodyPr wrap="square" anchor="t" lIns="54864" rIns="54864" tIns="27432" bIns="27432"/>
          <a:lstStyle/>
          <a:p>
            <a:pPr>
              <a:spcAft>
                <a:spcPts val="300"/>
              </a:spcAft>
            </a:pPr>
            <a:r>
              <a:rPr sz="1800" b="1" i="0">
                <a:solidFill>
                  <a:srgbClr val="1A1A1A"/>
                </a:solidFill>
                <a:latin typeface="Calibri"/>
              </a:rPr>
              <a:t>• </a:t>
            </a:r>
            <a:r>
              <a:rPr sz="1800" b="1" i="0">
                <a:solidFill>
                  <a:srgbClr val="1A1A1A"/>
                </a:solidFill>
                <a:latin typeface="Calibri"/>
              </a:rPr>
              <a:t>Keep culture-first</a:t>
            </a:r>
            <a:r>
              <a:rPr sz="1800" b="0" i="0">
                <a:solidFill>
                  <a:srgbClr val="1A1A1A"/>
                </a:solidFill>
                <a:latin typeface="Calibri"/>
              </a:rPr>
              <a:t> strategy, but do not ignore pay: benchmark to stay at/above market as talent war grows (hygiene)</a:t>
            </a:r>
          </a:p>
          <a:p>
            <a:pPr>
              <a:spcAft>
                <a:spcPts val="300"/>
              </a:spcAft>
            </a:pPr>
            <a:r>
              <a:rPr sz="1800" b="1" i="0">
                <a:solidFill>
                  <a:srgbClr val="1A1A1A"/>
                </a:solidFill>
                <a:latin typeface="Calibri"/>
              </a:rPr>
              <a:t>• </a:t>
            </a:r>
            <a:r>
              <a:rPr sz="1800" b="1" i="0">
                <a:solidFill>
                  <a:srgbClr val="1A1A1A"/>
                </a:solidFill>
                <a:latin typeface="Calibri"/>
              </a:rPr>
              <a:t>Formalise fairness</a:t>
            </a:r>
            <a:r>
              <a:rPr sz="1800" b="0" i="0">
                <a:solidFill>
                  <a:srgbClr val="1A1A1A"/>
                </a:solidFill>
                <a:latin typeface="Calibri"/>
              </a:rPr>
              <a:t>: transparent criteria &amp; caps for i-deals; menu-based 'cafeteria' benefits; appeals (procedural justice)</a:t>
            </a:r>
          </a:p>
          <a:p>
            <a:pPr>
              <a:spcAft>
                <a:spcPts val="300"/>
              </a:spcAft>
            </a:pPr>
            <a:r>
              <a:rPr sz="1800" b="1" i="0">
                <a:solidFill>
                  <a:srgbClr val="1A1A1A"/>
                </a:solidFill>
                <a:latin typeface="Calibri"/>
              </a:rPr>
              <a:t>• </a:t>
            </a:r>
            <a:r>
              <a:rPr sz="1800" b="0" i="0">
                <a:solidFill>
                  <a:srgbClr val="1A1A1A"/>
                </a:solidFill>
                <a:latin typeface="Calibri"/>
              </a:rPr>
              <a:t>Codify O-Code into hiring, appraisal &amp; promotion; train 10 team leads as culture carriers</a:t>
            </a:r>
          </a:p>
          <a:p>
            <a:pPr>
              <a:spcAft>
                <a:spcPts val="300"/>
              </a:spcAft>
            </a:pPr>
            <a:r>
              <a:rPr sz="1800" b="1" i="0">
                <a:solidFill>
                  <a:srgbClr val="1A1A1A"/>
                </a:solidFill>
                <a:latin typeface="Calibri"/>
              </a:rPr>
              <a:t>• </a:t>
            </a:r>
            <a:r>
              <a:rPr sz="1800" b="0" i="0">
                <a:solidFill>
                  <a:srgbClr val="1A1A1A"/>
                </a:solidFill>
                <a:latin typeface="Calibri"/>
              </a:rPr>
              <a:t>Keep retreats; add career paths &amp; recognition</a:t>
            </a:r>
          </a:p>
          <a:p>
            <a:pPr>
              <a:spcAft>
                <a:spcPts val="300"/>
              </a:spcAft>
            </a:pPr>
            <a:r>
              <a:rPr sz="1800" b="1" i="0">
                <a:solidFill>
                  <a:srgbClr val="1A1A1A"/>
                </a:solidFill>
                <a:latin typeface="Calibri"/>
              </a:rPr>
              <a:t>• </a:t>
            </a:r>
            <a:r>
              <a:rPr sz="1800" b="0" i="0">
                <a:solidFill>
                  <a:srgbClr val="1A1A1A"/>
                </a:solidFill>
                <a:latin typeface="Calibri"/>
              </a:rPr>
              <a:t>Re-survey engagement; track exits &amp; offers declined</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3000" b="1" i="0">
                <a:solidFill>
                  <a:srgbClr val="FFFFFF"/>
                </a:solidFill>
                <a:latin typeface="Calibri"/>
              </a:rPr>
              <a:t>MODULE 5: Positive Organisational Behaviour (POB)</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BFE0E3"/>
                </a:solidFill>
                <a:latin typeface="Calibri"/>
              </a:rPr>
              <a:t>MODULE 5 · POSITIVE OB</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Ch 7 pp. 257–295 · Positive OB PPT</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52</a:t>
            </a:r>
          </a:p>
        </p:txBody>
      </p:sp>
      <p:sp>
        <p:nvSpPr>
          <p:cNvPr id="7" name="Rounded Rectangle 6"/>
          <p:cNvSpPr/>
          <p:nvPr/>
        </p:nvSpPr>
        <p:spPr>
          <a:xfrm>
            <a:off x="274320" y="1051560"/>
            <a:ext cx="11658600" cy="868680"/>
          </a:xfrm>
          <a:prstGeom prst="roundRect">
            <a:avLst>
              <a:gd name="adj" fmla="val 6000"/>
            </a:avLst>
          </a:prstGeom>
          <a:solidFill>
            <a:srgbClr val="FFF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69848"/>
            <a:ext cx="11475720" cy="832103"/>
          </a:xfrm>
          <a:prstGeom prst="rect">
            <a:avLst/>
          </a:prstGeom>
          <a:noFill/>
        </p:spPr>
        <p:txBody>
          <a:bodyPr wrap="square" anchor="ctr" lIns="45720" rIns="45720" tIns="18288" bIns="18288"/>
          <a:lstStyle/>
          <a:p>
            <a:pPr algn="l"/>
            <a:r>
              <a:rPr sz="1700" b="1" i="0">
                <a:solidFill>
                  <a:srgbClr val="1A1A1A"/>
                </a:solidFill>
                <a:latin typeface="Calibri"/>
              </a:rPr>
              <a:t>POB = the study and application of positively oriented human-resource strengths and psychological capacities that can be MEASURED, DEVELOPED and effectively MANAGED for performance improvement (Luthans). Flourishing is its destination.</a:t>
            </a:r>
          </a:p>
        </p:txBody>
      </p:sp>
      <p:graphicFrame>
        <p:nvGraphicFramePr>
          <p:cNvPr id="9" name="Table 8"/>
          <p:cNvGraphicFramePr>
            <a:graphicFrameLocks noGrp="1"/>
          </p:cNvGraphicFramePr>
          <p:nvPr/>
        </p:nvGraphicFramePr>
        <p:xfrm>
          <a:off x="274320" y="2057400"/>
          <a:ext cx="5760720" cy="1737360"/>
        </p:xfrm>
        <a:graphic>
          <a:graphicData uri="http://schemas.openxmlformats.org/drawingml/2006/table">
            <a:tbl>
              <a:tblPr firstRow="1" bandRow="1">
                <a:tableStyleId>{5C22544A-7EE6-4342-B048-85BDC9FD1C3A}</a:tableStyleId>
              </a:tblPr>
              <a:tblGrid>
                <a:gridCol w="2880360"/>
                <a:gridCol w="2880360"/>
              </a:tblGrid>
              <a:tr h="579120">
                <a:tc>
                  <a:txBody>
                    <a:bodyPr wrap="square"/>
                    <a:lstStyle/>
                    <a:p>
                      <a:r>
                        <a:rPr sz="1500" b="1" i="0">
                          <a:solidFill>
                            <a:srgbClr val="FFFFFF"/>
                          </a:solidFill>
                          <a:latin typeface="Calibri"/>
                        </a:rPr>
                        <a:t>Traditional OB asks…</a:t>
                      </a:r>
                    </a:p>
                  </a:txBody>
                  <a:tcPr marL="54864" marR="54864" marT="27432" marB="27432" anchor="ctr">
                    <a:solidFill>
                      <a:srgbClr val="00838F"/>
                    </a:solidFill>
                  </a:tcPr>
                </a:tc>
                <a:tc>
                  <a:txBody>
                    <a:bodyPr wrap="square"/>
                    <a:lstStyle/>
                    <a:p>
                      <a:r>
                        <a:rPr sz="1500" b="1" i="0">
                          <a:solidFill>
                            <a:srgbClr val="FFFFFF"/>
                          </a:solidFill>
                          <a:latin typeface="Calibri"/>
                        </a:rPr>
                        <a:t>Positive OB asks…</a:t>
                      </a:r>
                    </a:p>
                  </a:txBody>
                  <a:tcPr marL="54864" marR="54864" marT="27432" marB="27432" anchor="ctr">
                    <a:solidFill>
                      <a:srgbClr val="00838F"/>
                    </a:solidFill>
                  </a:tcPr>
                </a:tc>
              </a:tr>
              <a:tr h="579120">
                <a:tc>
                  <a:txBody>
                    <a:bodyPr wrap="square"/>
                    <a:lstStyle/>
                    <a:p>
                      <a:r>
                        <a:rPr sz="1500" b="0" i="0">
                          <a:solidFill>
                            <a:srgbClr val="1A1A1A"/>
                          </a:solidFill>
                          <a:latin typeface="Calibri"/>
                        </a:rPr>
                        <a:t>'What is wrong with the employee?'</a:t>
                      </a:r>
                    </a:p>
                  </a:txBody>
                  <a:tcPr marL="54864" marR="54864" marT="27432" marB="27432" anchor="ctr">
                    <a:solidFill>
                      <a:srgbClr val="FFFFFF"/>
                    </a:solidFill>
                  </a:tcPr>
                </a:tc>
                <a:tc>
                  <a:txBody>
                    <a:bodyPr wrap="square"/>
                    <a:lstStyle/>
                    <a:p>
                      <a:r>
                        <a:rPr sz="1500" b="0" i="0">
                          <a:solidFill>
                            <a:srgbClr val="1A1A1A"/>
                          </a:solidFill>
                          <a:latin typeface="Calibri"/>
                        </a:rPr>
                        <a:t>'What psychological strengths can we develop?'</a:t>
                      </a:r>
                    </a:p>
                  </a:txBody>
                  <a:tcPr marL="54864" marR="54864" marT="27432" marB="27432" anchor="ctr">
                    <a:solidFill>
                      <a:srgbClr val="FFFFFF"/>
                    </a:solidFill>
                  </a:tcPr>
                </a:tc>
              </a:tr>
              <a:tr h="579120">
                <a:tc>
                  <a:txBody>
                    <a:bodyPr wrap="square"/>
                    <a:lstStyle/>
                    <a:p>
                      <a:r>
                        <a:rPr sz="1500" b="0" i="0">
                          <a:solidFill>
                            <a:srgbClr val="1A1A1A"/>
                          </a:solidFill>
                          <a:latin typeface="Calibri"/>
                        </a:rPr>
                        <a:t>'How do we reduce problems?'</a:t>
                      </a:r>
                    </a:p>
                  </a:txBody>
                  <a:tcPr marL="54864" marR="54864" marT="27432" marB="27432" anchor="ctr">
                    <a:solidFill>
                      <a:srgbClr val="E5F2F3"/>
                    </a:solidFill>
                  </a:tcPr>
                </a:tc>
                <a:tc>
                  <a:txBody>
                    <a:bodyPr wrap="square"/>
                    <a:lstStyle/>
                    <a:p>
                      <a:r>
                        <a:rPr sz="1500" b="0" i="0">
                          <a:solidFill>
                            <a:srgbClr val="1A1A1A"/>
                          </a:solidFill>
                          <a:latin typeface="Calibri"/>
                        </a:rPr>
                        <a:t>'How do we build resources &amp; flourishing?'</a:t>
                      </a:r>
                    </a:p>
                  </a:txBody>
                  <a:tcPr marL="54864" marR="54864" marT="27432" marB="27432" anchor="ctr">
                    <a:solidFill>
                      <a:srgbClr val="E5F2F3"/>
                    </a:solidFill>
                  </a:tcPr>
                </a:tc>
              </a:tr>
            </a:tbl>
          </a:graphicData>
        </a:graphic>
      </p:graphicFrame>
      <p:graphicFrame>
        <p:nvGraphicFramePr>
          <p:cNvPr id="10" name="Table 9"/>
          <p:cNvGraphicFramePr>
            <a:graphicFrameLocks noGrp="1"/>
          </p:cNvGraphicFramePr>
          <p:nvPr/>
        </p:nvGraphicFramePr>
        <p:xfrm>
          <a:off x="6172200" y="2057400"/>
          <a:ext cx="5760720" cy="1737360"/>
        </p:xfrm>
        <a:graphic>
          <a:graphicData uri="http://schemas.openxmlformats.org/drawingml/2006/table">
            <a:tbl>
              <a:tblPr firstRow="1" bandRow="1">
                <a:tableStyleId>{5C22544A-7EE6-4342-B048-85BDC9FD1C3A}</a:tableStyleId>
              </a:tblPr>
              <a:tblGrid>
                <a:gridCol w="2880360"/>
                <a:gridCol w="2880360"/>
              </a:tblGrid>
              <a:tr h="579120">
                <a:tc>
                  <a:txBody>
                    <a:bodyPr wrap="square"/>
                    <a:lstStyle/>
                    <a:p>
                      <a:r>
                        <a:rPr sz="1400" b="1" i="0">
                          <a:solidFill>
                            <a:srgbClr val="FFFFFF"/>
                          </a:solidFill>
                          <a:latin typeface="Calibri"/>
                        </a:rPr>
                        <a:t>Blind positivity ✘</a:t>
                      </a:r>
                    </a:p>
                  </a:txBody>
                  <a:tcPr marL="54864" marR="54864" marT="27432" marB="27432" anchor="ctr">
                    <a:solidFill>
                      <a:srgbClr val="00838F"/>
                    </a:solidFill>
                  </a:tcPr>
                </a:tc>
                <a:tc>
                  <a:txBody>
                    <a:bodyPr wrap="square"/>
                    <a:lstStyle/>
                    <a:p>
                      <a:r>
                        <a:rPr sz="1400" b="1" i="0">
                          <a:solidFill>
                            <a:srgbClr val="FFFFFF"/>
                          </a:solidFill>
                          <a:latin typeface="Calibri"/>
                        </a:rPr>
                        <a:t>Positive OB ✔</a:t>
                      </a:r>
                    </a:p>
                  </a:txBody>
                  <a:tcPr marL="54864" marR="54864" marT="27432" marB="27432" anchor="ctr">
                    <a:solidFill>
                      <a:srgbClr val="00838F"/>
                    </a:solidFill>
                  </a:tcPr>
                </a:tc>
              </a:tr>
              <a:tr h="579120">
                <a:tc>
                  <a:txBody>
                    <a:bodyPr wrap="square"/>
                    <a:lstStyle/>
                    <a:p>
                      <a:r>
                        <a:rPr sz="1400" b="0" i="0">
                          <a:solidFill>
                            <a:srgbClr val="1A1A1A"/>
                          </a:solidFill>
                          <a:latin typeface="Calibri"/>
                        </a:rPr>
                        <a:t>'Everything will be fine!' Ignores obstacles, no action path</a:t>
                      </a:r>
                    </a:p>
                  </a:txBody>
                  <a:tcPr marL="54864" marR="54864" marT="27432" marB="27432" anchor="ctr">
                    <a:solidFill>
                      <a:srgbClr val="FFFFFF"/>
                    </a:solidFill>
                  </a:tcPr>
                </a:tc>
                <a:tc>
                  <a:txBody>
                    <a:bodyPr wrap="square"/>
                    <a:lstStyle/>
                    <a:p>
                      <a:r>
                        <a:rPr sz="1400" b="0" i="0">
                          <a:solidFill>
                            <a:srgbClr val="1A1A1A"/>
                          </a:solidFill>
                          <a:latin typeface="Calibri"/>
                        </a:rPr>
                        <a:t>'The proposal failed. I'll learn, find another approach, try again'</a:t>
                      </a:r>
                    </a:p>
                  </a:txBody>
                  <a:tcPr marL="54864" marR="54864" marT="27432" marB="27432" anchor="ctr">
                    <a:solidFill>
                      <a:srgbClr val="FFFFFF"/>
                    </a:solidFill>
                  </a:tcPr>
                </a:tc>
              </a:tr>
              <a:tr h="579120">
                <a:tc>
                  <a:txBody>
                    <a:bodyPr wrap="square"/>
                    <a:lstStyle/>
                    <a:p>
                      <a:r>
                        <a:rPr sz="1400" b="0" i="0">
                          <a:solidFill>
                            <a:srgbClr val="1A1A1A"/>
                          </a:solidFill>
                          <a:latin typeface="Calibri"/>
                        </a:rPr>
                        <a:t>Fake happiness</a:t>
                      </a:r>
                    </a:p>
                  </a:txBody>
                  <a:tcPr marL="54864" marR="54864" marT="27432" marB="27432" anchor="ctr">
                    <a:solidFill>
                      <a:srgbClr val="E5F2F3"/>
                    </a:solidFill>
                  </a:tcPr>
                </a:tc>
                <a:tc>
                  <a:txBody>
                    <a:bodyPr wrap="square"/>
                    <a:lstStyle/>
                    <a:p>
                      <a:r>
                        <a:rPr sz="1400" b="0" i="0">
                          <a:solidFill>
                            <a:srgbClr val="1A1A1A"/>
                          </a:solidFill>
                          <a:latin typeface="Calibri"/>
                        </a:rPr>
                        <a:t>Acknowledges reality + builds resources → action</a:t>
                      </a:r>
                    </a:p>
                  </a:txBody>
                  <a:tcPr marL="54864" marR="54864" marT="27432" marB="27432" anchor="ctr">
                    <a:solidFill>
                      <a:srgbClr val="E5F2F3"/>
                    </a:solidFill>
                  </a:tcPr>
                </a:tc>
              </a:tr>
            </a:tbl>
          </a:graphicData>
        </a:graphic>
      </p:graphicFrame>
      <p:sp>
        <p:nvSpPr>
          <p:cNvPr id="11" name="Rounded Rectangle 10"/>
          <p:cNvSpPr/>
          <p:nvPr/>
        </p:nvSpPr>
        <p:spPr>
          <a:xfrm>
            <a:off x="274320" y="3931920"/>
            <a:ext cx="3794760" cy="2606040"/>
          </a:xfrm>
          <a:prstGeom prst="roundRect">
            <a:avLst>
              <a:gd name="adj" fmla="val 6000"/>
            </a:avLst>
          </a:prstGeom>
          <a:solidFill>
            <a:srgbClr val="FFFFFF"/>
          </a:solidFill>
          <a:ln w="19050">
            <a:solidFill>
              <a:srgbClr val="8CC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74320" y="3931920"/>
            <a:ext cx="3794760" cy="457200"/>
          </a:xfrm>
          <a:prstGeom prst="roundRect">
            <a:avLst>
              <a:gd name="adj" fmla="val 6000"/>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4251959"/>
            <a:ext cx="3794760" cy="137160"/>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3931920"/>
            <a:ext cx="3611880" cy="457200"/>
          </a:xfrm>
          <a:prstGeom prst="rect">
            <a:avLst/>
          </a:prstGeom>
          <a:noFill/>
        </p:spPr>
        <p:txBody>
          <a:bodyPr wrap="square" anchor="ctr" lIns="45720" rIns="45720" tIns="18288" bIns="18288"/>
          <a:lstStyle/>
          <a:p>
            <a:pPr algn="l"/>
            <a:r>
              <a:rPr sz="1500" b="1" i="0">
                <a:solidFill>
                  <a:srgbClr val="FFFFFF"/>
                </a:solidFill>
                <a:latin typeface="Calibri"/>
              </a:rPr>
              <a:t>How positivity works (7.1, p. 260)</a:t>
            </a:r>
          </a:p>
        </p:txBody>
      </p:sp>
      <p:sp>
        <p:nvSpPr>
          <p:cNvPr id="15" name="TextBox 14"/>
          <p:cNvSpPr txBox="1"/>
          <p:nvPr/>
        </p:nvSpPr>
        <p:spPr>
          <a:xfrm>
            <a:off x="347472" y="4443983"/>
            <a:ext cx="3648456" cy="2057400"/>
          </a:xfrm>
          <a:prstGeom prst="rect">
            <a:avLst/>
          </a:prstGeom>
          <a:noFill/>
        </p:spPr>
        <p:txBody>
          <a:bodyPr wrap="square" anchor="t" lIns="54864" rIns="54864" tIns="27432" bIns="27432"/>
          <a:lstStyle/>
          <a:p>
            <a:pPr>
              <a:spcAft>
                <a:spcPts val="300"/>
              </a:spcAft>
            </a:pPr>
            <a:r>
              <a:rPr sz="1700" b="1" i="0">
                <a:solidFill>
                  <a:srgbClr val="1A1A1A"/>
                </a:solidFill>
                <a:latin typeface="Calibri"/>
              </a:rPr>
              <a:t>• </a:t>
            </a:r>
            <a:r>
              <a:rPr sz="1700" b="0" i="0">
                <a:solidFill>
                  <a:srgbClr val="1A1A1A"/>
                </a:solidFill>
                <a:latin typeface="Calibri"/>
              </a:rPr>
              <a:t>POB works across all 3 levels via </a:t>
            </a:r>
            <a:r>
              <a:rPr sz="1700" b="1" i="0">
                <a:solidFill>
                  <a:srgbClr val="1A1A1A"/>
                </a:solidFill>
                <a:latin typeface="Calibri"/>
              </a:rPr>
              <a:t>amplifying</a:t>
            </a:r>
            <a:r>
              <a:rPr sz="1700" b="0" i="0">
                <a:solidFill>
                  <a:srgbClr val="1A1A1A"/>
                </a:solidFill>
                <a:latin typeface="Calibri"/>
              </a:rPr>
              <a:t> (positive effects multiply), </a:t>
            </a:r>
            <a:r>
              <a:rPr sz="1700" b="1" i="0">
                <a:solidFill>
                  <a:srgbClr val="1A1A1A"/>
                </a:solidFill>
                <a:latin typeface="Calibri"/>
              </a:rPr>
              <a:t>buffering</a:t>
            </a:r>
            <a:r>
              <a:rPr sz="1700" b="0" i="0">
                <a:solidFill>
                  <a:srgbClr val="1A1A1A"/>
                </a:solidFill>
                <a:latin typeface="Calibri"/>
              </a:rPr>
              <a:t> (protects against negatives) and </a:t>
            </a:r>
            <a:r>
              <a:rPr sz="1700" b="1" i="0">
                <a:solidFill>
                  <a:srgbClr val="1A1A1A"/>
                </a:solidFill>
                <a:latin typeface="Calibri"/>
              </a:rPr>
              <a:t>positivity</a:t>
            </a:r>
          </a:p>
          <a:p>
            <a:pPr>
              <a:spcAft>
                <a:spcPts val="300"/>
              </a:spcAft>
            </a:pPr>
            <a:r>
              <a:rPr sz="1700" b="1" i="0">
                <a:solidFill>
                  <a:srgbClr val="1A1A1A"/>
                </a:solidFill>
                <a:latin typeface="Calibri"/>
              </a:rPr>
              <a:t>• </a:t>
            </a:r>
            <a:r>
              <a:rPr sz="1700" b="0" i="0">
                <a:solidFill>
                  <a:srgbClr val="1A1A1A"/>
                </a:solidFill>
                <a:latin typeface="Calibri"/>
              </a:rPr>
              <a:t>Positivity &gt; positive thinking: improves health, relationships, performance</a:t>
            </a:r>
          </a:p>
        </p:txBody>
      </p:sp>
      <p:sp>
        <p:nvSpPr>
          <p:cNvPr id="16" name="Rounded Rectangle 15"/>
          <p:cNvSpPr/>
          <p:nvPr/>
        </p:nvSpPr>
        <p:spPr>
          <a:xfrm>
            <a:off x="4206240" y="3931920"/>
            <a:ext cx="3794760" cy="2606040"/>
          </a:xfrm>
          <a:prstGeom prst="roundRect">
            <a:avLst>
              <a:gd name="adj" fmla="val 6000"/>
            </a:avLst>
          </a:prstGeom>
          <a:solidFill>
            <a:srgbClr val="FFFFFF"/>
          </a:solidFill>
          <a:ln w="19050">
            <a:solidFill>
              <a:srgbClr val="8CC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206240" y="3931920"/>
            <a:ext cx="3794760" cy="457200"/>
          </a:xfrm>
          <a:prstGeom prst="roundRect">
            <a:avLst>
              <a:gd name="adj" fmla="val 6000"/>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06240" y="4251959"/>
            <a:ext cx="3794760" cy="137160"/>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97679" y="3931920"/>
            <a:ext cx="3611880" cy="457200"/>
          </a:xfrm>
          <a:prstGeom prst="rect">
            <a:avLst/>
          </a:prstGeom>
          <a:noFill/>
        </p:spPr>
        <p:txBody>
          <a:bodyPr wrap="square" anchor="ctr" lIns="45720" rIns="45720" tIns="18288" bIns="18288"/>
          <a:lstStyle/>
          <a:p>
            <a:pPr algn="l"/>
            <a:r>
              <a:rPr sz="1900" b="1" i="0">
                <a:solidFill>
                  <a:srgbClr val="FFFFFF"/>
                </a:solidFill>
                <a:latin typeface="Calibri"/>
              </a:rPr>
              <a:t>Benefits of POB (p. 261)</a:t>
            </a:r>
          </a:p>
        </p:txBody>
      </p:sp>
      <p:sp>
        <p:nvSpPr>
          <p:cNvPr id="20" name="TextBox 19"/>
          <p:cNvSpPr txBox="1"/>
          <p:nvPr/>
        </p:nvSpPr>
        <p:spPr>
          <a:xfrm>
            <a:off x="4279392" y="4443983"/>
            <a:ext cx="3648456" cy="2057400"/>
          </a:xfrm>
          <a:prstGeom prst="rect">
            <a:avLst/>
          </a:prstGeom>
          <a:noFill/>
        </p:spPr>
        <p:txBody>
          <a:bodyPr wrap="square" anchor="t" lIns="54864" rIns="54864" tIns="27432" bIns="27432"/>
          <a:lstStyle/>
          <a:p>
            <a:pPr>
              <a:spcAft>
                <a:spcPts val="300"/>
              </a:spcAft>
            </a:pPr>
            <a:r>
              <a:rPr sz="1900" b="1" i="0">
                <a:solidFill>
                  <a:srgbClr val="1A1A1A"/>
                </a:solidFill>
                <a:latin typeface="Calibri"/>
              </a:rPr>
              <a:t>• </a:t>
            </a:r>
            <a:r>
              <a:rPr sz="1900" b="1" i="0">
                <a:solidFill>
                  <a:srgbClr val="1A1A1A"/>
                </a:solidFill>
                <a:latin typeface="Calibri"/>
              </a:rPr>
              <a:t>Positive deviance</a:t>
            </a:r>
            <a:r>
              <a:rPr sz="1900" b="0" i="0">
                <a:solidFill>
                  <a:srgbClr val="1A1A1A"/>
                </a:solidFill>
                <a:latin typeface="Calibri"/>
              </a:rPr>
              <a:t>: performance that dramatically exceeds the norm in a positive direction</a:t>
            </a:r>
          </a:p>
          <a:p>
            <a:pPr>
              <a:spcAft>
                <a:spcPts val="300"/>
              </a:spcAft>
            </a:pPr>
            <a:r>
              <a:rPr sz="1900" b="1" i="0">
                <a:solidFill>
                  <a:srgbClr val="1A1A1A"/>
                </a:solidFill>
                <a:latin typeface="Calibri"/>
              </a:rPr>
              <a:t>• </a:t>
            </a:r>
            <a:r>
              <a:rPr sz="1900" b="0" i="0">
                <a:solidFill>
                  <a:srgbClr val="1A1A1A"/>
                </a:solidFill>
                <a:latin typeface="Calibri"/>
              </a:rPr>
              <a:t>↑ job performance, commitment, satisfaction · ↓ burnout, sick days</a:t>
            </a:r>
          </a:p>
        </p:txBody>
      </p:sp>
      <p:sp>
        <p:nvSpPr>
          <p:cNvPr id="21" name="Rounded Rectangle 20"/>
          <p:cNvSpPr/>
          <p:nvPr/>
        </p:nvSpPr>
        <p:spPr>
          <a:xfrm>
            <a:off x="8138160" y="3931920"/>
            <a:ext cx="3794760" cy="2606040"/>
          </a:xfrm>
          <a:prstGeom prst="roundRect">
            <a:avLst>
              <a:gd name="adj" fmla="val 6000"/>
            </a:avLst>
          </a:prstGeom>
          <a:solidFill>
            <a:srgbClr val="FFFFFF"/>
          </a:solidFill>
          <a:ln w="19050">
            <a:solidFill>
              <a:srgbClr val="8CC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138160" y="3931920"/>
            <a:ext cx="3794760" cy="457200"/>
          </a:xfrm>
          <a:prstGeom prst="roundRect">
            <a:avLst>
              <a:gd name="adj" fmla="val 6000"/>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138160" y="4251959"/>
            <a:ext cx="3794760" cy="137160"/>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0" y="3931920"/>
            <a:ext cx="3611880" cy="457200"/>
          </a:xfrm>
          <a:prstGeom prst="rect">
            <a:avLst/>
          </a:prstGeom>
          <a:noFill/>
        </p:spPr>
        <p:txBody>
          <a:bodyPr wrap="square" anchor="ctr" lIns="45720" rIns="45720" tIns="18288" bIns="18288"/>
          <a:lstStyle/>
          <a:p>
            <a:pPr algn="l"/>
            <a:r>
              <a:rPr sz="1900" b="1" i="0">
                <a:solidFill>
                  <a:srgbClr val="FFFFFF"/>
                </a:solidFill>
                <a:latin typeface="Calibri"/>
              </a:rPr>
              <a:t>Book boxes to tab (TOC)</a:t>
            </a:r>
          </a:p>
        </p:txBody>
      </p:sp>
      <p:sp>
        <p:nvSpPr>
          <p:cNvPr id="25" name="TextBox 24"/>
          <p:cNvSpPr txBox="1"/>
          <p:nvPr/>
        </p:nvSpPr>
        <p:spPr>
          <a:xfrm>
            <a:off x="8211312" y="4443983"/>
            <a:ext cx="3648456" cy="2057400"/>
          </a:xfrm>
          <a:prstGeom prst="rect">
            <a:avLst/>
          </a:prstGeom>
          <a:noFill/>
        </p:spPr>
        <p:txBody>
          <a:bodyPr wrap="square" anchor="t" lIns="54864" rIns="54864" tIns="27432" bIns="27432"/>
          <a:lstStyle/>
          <a:p>
            <a:pPr>
              <a:spcAft>
                <a:spcPts val="300"/>
              </a:spcAft>
            </a:pPr>
            <a:r>
              <a:rPr sz="2000" b="1" i="0">
                <a:solidFill>
                  <a:srgbClr val="1A1A1A"/>
                </a:solidFill>
                <a:latin typeface="Calibri"/>
              </a:rPr>
              <a:t>• </a:t>
            </a:r>
            <a:r>
              <a:rPr sz="2000" b="0" i="0">
                <a:solidFill>
                  <a:srgbClr val="1A1A1A"/>
                </a:solidFill>
                <a:latin typeface="Calibri"/>
              </a:rPr>
              <a:t>How to build positivity p. 262 · ESG p. 265 · What Indian companies are doing p. 265</a:t>
            </a:r>
          </a:p>
          <a:p>
            <a:pPr>
              <a:spcAft>
                <a:spcPts val="300"/>
              </a:spcAft>
            </a:pPr>
            <a:r>
              <a:rPr sz="2000" b="1" i="0">
                <a:solidFill>
                  <a:srgbClr val="1A1A1A"/>
                </a:solidFill>
                <a:latin typeface="Calibri"/>
              </a:rPr>
              <a:t>• </a:t>
            </a:r>
            <a:r>
              <a:rPr sz="2000" b="0" i="0">
                <a:solidFill>
                  <a:srgbClr val="1A1A1A"/>
                </a:solidFill>
                <a:latin typeface="Calibri"/>
              </a:rPr>
              <a:t>M&amp;A stress p. 267 · Boost positivity with fun p. 272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600" b="1" i="0">
                <a:solidFill>
                  <a:srgbClr val="FFFFFF"/>
                </a:solidFill>
                <a:latin typeface="Calibri"/>
              </a:rPr>
              <a:t>7.2–7.3 The power of positive emotions &amp; fostering mindfulness</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BFE0E3"/>
                </a:solidFill>
                <a:latin typeface="Calibri"/>
              </a:rPr>
              <a:t>MODULE 5 · POSITIVE OB</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Ch 7 pp. 268–279</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53</a:t>
            </a:r>
          </a:p>
        </p:txBody>
      </p:sp>
      <p:sp>
        <p:nvSpPr>
          <p:cNvPr id="7" name="Rounded Rectangle 6"/>
          <p:cNvSpPr/>
          <p:nvPr/>
        </p:nvSpPr>
        <p:spPr>
          <a:xfrm>
            <a:off x="274320" y="1051560"/>
            <a:ext cx="3840480" cy="3108960"/>
          </a:xfrm>
          <a:prstGeom prst="roundRect">
            <a:avLst>
              <a:gd name="adj" fmla="val 6000"/>
            </a:avLst>
          </a:prstGeom>
          <a:solidFill>
            <a:srgbClr val="FFFFFF"/>
          </a:solidFill>
          <a:ln w="19050">
            <a:solidFill>
              <a:srgbClr val="8CC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74320" y="1051560"/>
            <a:ext cx="3840480" cy="457200"/>
          </a:xfrm>
          <a:prstGeom prst="roundRect">
            <a:avLst>
              <a:gd name="adj" fmla="val 6000"/>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371600"/>
            <a:ext cx="3840480" cy="137160"/>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051560"/>
            <a:ext cx="3657600" cy="457200"/>
          </a:xfrm>
          <a:prstGeom prst="rect">
            <a:avLst/>
          </a:prstGeom>
          <a:noFill/>
        </p:spPr>
        <p:txBody>
          <a:bodyPr wrap="square" anchor="ctr" lIns="45720" rIns="45720" tIns="18288" bIns="18288"/>
          <a:lstStyle/>
          <a:p>
            <a:pPr algn="l"/>
            <a:r>
              <a:rPr sz="1700" b="1" i="0">
                <a:solidFill>
                  <a:srgbClr val="FFFFFF"/>
                </a:solidFill>
                <a:latin typeface="Calibri"/>
              </a:rPr>
              <a:t>Broaden-and-build (Fredrickson)</a:t>
            </a:r>
          </a:p>
        </p:txBody>
      </p:sp>
      <p:sp>
        <p:nvSpPr>
          <p:cNvPr id="11" name="TextBox 10"/>
          <p:cNvSpPr txBox="1"/>
          <p:nvPr/>
        </p:nvSpPr>
        <p:spPr>
          <a:xfrm>
            <a:off x="347472" y="1563624"/>
            <a:ext cx="3694176" cy="2560320"/>
          </a:xfrm>
          <a:prstGeom prst="rect">
            <a:avLst/>
          </a:prstGeom>
          <a:noFill/>
        </p:spPr>
        <p:txBody>
          <a:bodyPr wrap="square" anchor="t" lIns="54864" rIns="54864" tIns="27432" bIns="27432"/>
          <a:lstStyle/>
          <a:p>
            <a:pPr>
              <a:spcAft>
                <a:spcPts val="300"/>
              </a:spcAft>
            </a:pPr>
            <a:r>
              <a:rPr sz="1600" b="1" i="0">
                <a:solidFill>
                  <a:srgbClr val="1A1A1A"/>
                </a:solidFill>
                <a:latin typeface="Calibri"/>
              </a:rPr>
              <a:t>• </a:t>
            </a:r>
            <a:r>
              <a:rPr sz="1600" b="1" i="0">
                <a:solidFill>
                  <a:srgbClr val="1A1A1A"/>
                </a:solidFill>
                <a:latin typeface="Calibri"/>
              </a:rPr>
              <a:t>Positive</a:t>
            </a:r>
            <a:r>
              <a:rPr sz="1600" b="0" i="0">
                <a:solidFill>
                  <a:srgbClr val="1A1A1A"/>
                </a:solidFill>
                <a:latin typeface="Calibri"/>
              </a:rPr>
              <a:t> emotions = resources: </a:t>
            </a:r>
            <a:r>
              <a:rPr sz="1600" b="1" i="0">
                <a:solidFill>
                  <a:srgbClr val="1A1A1A"/>
                </a:solidFill>
                <a:latin typeface="Calibri"/>
              </a:rPr>
              <a:t>broaden</a:t>
            </a:r>
            <a:r>
              <a:rPr sz="1600" b="0" i="0">
                <a:solidFill>
                  <a:srgbClr val="1A1A1A"/>
                </a:solidFill>
                <a:latin typeface="Calibri"/>
              </a:rPr>
              <a:t> mindset, open to new ideas, build social, psychological &amp; physical resources; benefits endure</a:t>
            </a:r>
          </a:p>
          <a:p>
            <a:pPr>
              <a:spcAft>
                <a:spcPts val="300"/>
              </a:spcAft>
            </a:pPr>
            <a:r>
              <a:rPr sz="1600" b="1" i="0">
                <a:solidFill>
                  <a:srgbClr val="1A1A1A"/>
                </a:solidFill>
                <a:latin typeface="Calibri"/>
              </a:rPr>
              <a:t>• </a:t>
            </a:r>
            <a:r>
              <a:rPr sz="1600" b="1" i="0">
                <a:solidFill>
                  <a:srgbClr val="1A1A1A"/>
                </a:solidFill>
                <a:latin typeface="Calibri"/>
              </a:rPr>
              <a:t>Negative</a:t>
            </a:r>
            <a:r>
              <a:rPr sz="1600" b="0" i="0">
                <a:solidFill>
                  <a:srgbClr val="1A1A1A"/>
                </a:solidFill>
                <a:latin typeface="Calibri"/>
              </a:rPr>
              <a:t> emotions </a:t>
            </a:r>
            <a:r>
              <a:rPr sz="1600" b="1" i="0">
                <a:solidFill>
                  <a:srgbClr val="1A1A1A"/>
                </a:solidFill>
                <a:latin typeface="Calibri"/>
              </a:rPr>
              <a:t>narrow</a:t>
            </a:r>
            <a:r>
              <a:rPr sz="1600" b="0" i="0">
                <a:solidFill>
                  <a:srgbClr val="1A1A1A"/>
                </a:solidFill>
                <a:latin typeface="Calibri"/>
              </a:rPr>
              <a:t> focus → specific, limited actions</a:t>
            </a:r>
          </a:p>
          <a:p>
            <a:pPr>
              <a:spcAft>
                <a:spcPts val="300"/>
              </a:spcAft>
            </a:pPr>
            <a:r>
              <a:rPr sz="1600" b="1" i="0">
                <a:solidFill>
                  <a:srgbClr val="1A1A1A"/>
                </a:solidFill>
                <a:latin typeface="Calibri"/>
              </a:rPr>
              <a:t>• </a:t>
            </a:r>
            <a:r>
              <a:rPr sz="1600" b="0" i="0">
                <a:solidFill>
                  <a:srgbClr val="1A1A1A"/>
                </a:solidFill>
                <a:latin typeface="Calibri"/>
              </a:rPr>
              <a:t>Effects on commitment, creativity, decisions, quit intentions, performance, stress</a:t>
            </a:r>
          </a:p>
        </p:txBody>
      </p:sp>
      <p:sp>
        <p:nvSpPr>
          <p:cNvPr id="12" name="Rounded Rectangle 11"/>
          <p:cNvSpPr/>
          <p:nvPr/>
        </p:nvSpPr>
        <p:spPr>
          <a:xfrm>
            <a:off x="274320" y="4297680"/>
            <a:ext cx="3840480" cy="2240280"/>
          </a:xfrm>
          <a:prstGeom prst="roundRect">
            <a:avLst>
              <a:gd name="adj" fmla="val 6000"/>
            </a:avLst>
          </a:prstGeom>
          <a:solidFill>
            <a:srgbClr val="FFFFFF"/>
          </a:solidFill>
          <a:ln w="19050">
            <a:solidFill>
              <a:srgbClr val="8CC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74320" y="4297680"/>
            <a:ext cx="3840480" cy="457200"/>
          </a:xfrm>
          <a:prstGeom prst="roundRect">
            <a:avLst>
              <a:gd name="adj" fmla="val 6000"/>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4320" y="4617720"/>
            <a:ext cx="3840480" cy="137160"/>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4297680"/>
            <a:ext cx="3657600" cy="457200"/>
          </a:xfrm>
          <a:prstGeom prst="rect">
            <a:avLst/>
          </a:prstGeom>
          <a:noFill/>
        </p:spPr>
        <p:txBody>
          <a:bodyPr wrap="square" anchor="ctr" lIns="45720" rIns="45720" tIns="18288" bIns="18288"/>
          <a:lstStyle/>
          <a:p>
            <a:pPr algn="l"/>
            <a:r>
              <a:rPr sz="1900" b="1" i="0">
                <a:solidFill>
                  <a:srgbClr val="FFFFFF"/>
                </a:solidFill>
                <a:latin typeface="Calibri"/>
              </a:rPr>
              <a:t>Contagion &amp; ratio</a:t>
            </a:r>
          </a:p>
        </p:txBody>
      </p:sp>
      <p:sp>
        <p:nvSpPr>
          <p:cNvPr id="16" name="TextBox 15"/>
          <p:cNvSpPr txBox="1"/>
          <p:nvPr/>
        </p:nvSpPr>
        <p:spPr>
          <a:xfrm>
            <a:off x="347472" y="4809744"/>
            <a:ext cx="3694176" cy="1691640"/>
          </a:xfrm>
          <a:prstGeom prst="rect">
            <a:avLst/>
          </a:prstGeom>
          <a:noFill/>
        </p:spPr>
        <p:txBody>
          <a:bodyPr wrap="square" anchor="t" lIns="54864" rIns="54864" tIns="27432" bIns="27432"/>
          <a:lstStyle/>
          <a:p>
            <a:pPr>
              <a:spcAft>
                <a:spcPts val="300"/>
              </a:spcAft>
            </a:pPr>
            <a:r>
              <a:rPr sz="1800" b="1" i="0">
                <a:solidFill>
                  <a:srgbClr val="1A1A1A"/>
                </a:solidFill>
                <a:latin typeface="Calibri"/>
              </a:rPr>
              <a:t>• </a:t>
            </a:r>
            <a:r>
              <a:rPr sz="1800" b="0" i="0">
                <a:solidFill>
                  <a:srgbClr val="1A1A1A"/>
                </a:solidFill>
                <a:latin typeface="Calibri"/>
              </a:rPr>
              <a:t>Positive emotions are </a:t>
            </a:r>
            <a:r>
              <a:rPr sz="1800" b="1" i="0">
                <a:solidFill>
                  <a:srgbClr val="1A1A1A"/>
                </a:solidFill>
                <a:latin typeface="Calibri"/>
              </a:rPr>
              <a:t>contagious</a:t>
            </a:r>
            <a:r>
              <a:rPr sz="1800" b="0" i="0">
                <a:solidFill>
                  <a:srgbClr val="1A1A1A"/>
                </a:solidFill>
                <a:latin typeface="Calibri"/>
              </a:rPr>
              <a:t> → upward spirals</a:t>
            </a:r>
          </a:p>
          <a:p>
            <a:pPr>
              <a:spcAft>
                <a:spcPts val="300"/>
              </a:spcAft>
            </a:pPr>
            <a:r>
              <a:rPr sz="1800" b="1" i="0">
                <a:solidFill>
                  <a:srgbClr val="1A1A1A"/>
                </a:solidFill>
                <a:latin typeface="Calibri"/>
              </a:rPr>
              <a:t>• </a:t>
            </a:r>
            <a:r>
              <a:rPr sz="1800" b="0" i="0">
                <a:solidFill>
                  <a:srgbClr val="1A1A1A"/>
                </a:solidFill>
                <a:latin typeface="Calibri"/>
              </a:rPr>
              <a:t>Need </a:t>
            </a:r>
            <a:r>
              <a:rPr sz="1800" b="1" i="0">
                <a:solidFill>
                  <a:srgbClr val="1A1A1A"/>
                </a:solidFill>
                <a:latin typeface="Calibri"/>
              </a:rPr>
              <a:t>multiple positives to offset one negative</a:t>
            </a:r>
            <a:r>
              <a:rPr sz="1800" b="0" i="0">
                <a:solidFill>
                  <a:srgbClr val="1A1A1A"/>
                </a:solidFill>
                <a:latin typeface="Calibri"/>
              </a:rPr>
              <a:t> (positivity ratio, SA 7.1 p. 274)</a:t>
            </a:r>
          </a:p>
        </p:txBody>
      </p:sp>
      <p:sp>
        <p:nvSpPr>
          <p:cNvPr id="17" name="Rounded Rectangle 16"/>
          <p:cNvSpPr/>
          <p:nvPr/>
        </p:nvSpPr>
        <p:spPr>
          <a:xfrm>
            <a:off x="4251960" y="1051560"/>
            <a:ext cx="3749039" cy="3108960"/>
          </a:xfrm>
          <a:prstGeom prst="roundRect">
            <a:avLst>
              <a:gd name="adj" fmla="val 6000"/>
            </a:avLst>
          </a:prstGeom>
          <a:solidFill>
            <a:srgbClr val="FFFFFF"/>
          </a:solidFill>
          <a:ln w="19050">
            <a:solidFill>
              <a:srgbClr val="8CC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251960" y="1051560"/>
            <a:ext cx="3749039" cy="457200"/>
          </a:xfrm>
          <a:prstGeom prst="roundRect">
            <a:avLst>
              <a:gd name="adj" fmla="val 6000"/>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51960" y="1371600"/>
            <a:ext cx="3749039" cy="137160"/>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43400" y="1051560"/>
            <a:ext cx="3566159" cy="457200"/>
          </a:xfrm>
          <a:prstGeom prst="rect">
            <a:avLst/>
          </a:prstGeom>
          <a:noFill/>
        </p:spPr>
        <p:txBody>
          <a:bodyPr wrap="square" anchor="ctr" lIns="45720" rIns="45720" tIns="18288" bIns="18288"/>
          <a:lstStyle/>
          <a:p>
            <a:pPr algn="l"/>
            <a:r>
              <a:rPr sz="1400" b="1" i="0">
                <a:solidFill>
                  <a:srgbClr val="FFFFFF"/>
                </a:solidFill>
                <a:latin typeface="Calibri"/>
              </a:rPr>
              <a:t>4 strategies to increase positivity</a:t>
            </a:r>
          </a:p>
        </p:txBody>
      </p:sp>
      <p:sp>
        <p:nvSpPr>
          <p:cNvPr id="21" name="TextBox 20"/>
          <p:cNvSpPr txBox="1"/>
          <p:nvPr/>
        </p:nvSpPr>
        <p:spPr>
          <a:xfrm>
            <a:off x="4325112" y="1563624"/>
            <a:ext cx="3602735" cy="2560320"/>
          </a:xfrm>
          <a:prstGeom prst="rect">
            <a:avLst/>
          </a:prstGeom>
          <a:noFill/>
        </p:spPr>
        <p:txBody>
          <a:bodyPr wrap="square" anchor="t" lIns="54864" rIns="54864" tIns="27432" bIns="27432"/>
          <a:lstStyle/>
          <a:p>
            <a:pPr>
              <a:spcAft>
                <a:spcPts val="300"/>
              </a:spcAft>
            </a:pPr>
            <a:r>
              <a:rPr sz="1800" b="1" i="0">
                <a:solidFill>
                  <a:srgbClr val="1A1A1A"/>
                </a:solidFill>
                <a:latin typeface="Calibri"/>
              </a:rPr>
              <a:t>• </a:t>
            </a:r>
            <a:r>
              <a:rPr sz="1800" b="0" i="0">
                <a:solidFill>
                  <a:srgbClr val="1A1A1A"/>
                </a:solidFill>
                <a:latin typeface="Calibri"/>
              </a:rPr>
              <a:t>1 Create </a:t>
            </a:r>
            <a:r>
              <a:rPr sz="1800" b="1" i="0">
                <a:solidFill>
                  <a:srgbClr val="1A1A1A"/>
                </a:solidFill>
                <a:latin typeface="Calibri"/>
              </a:rPr>
              <a:t>high-quality connections</a:t>
            </a:r>
          </a:p>
          <a:p>
            <a:pPr>
              <a:spcAft>
                <a:spcPts val="300"/>
              </a:spcAft>
            </a:pPr>
            <a:r>
              <a:rPr sz="1800" b="1" i="0">
                <a:solidFill>
                  <a:srgbClr val="1A1A1A"/>
                </a:solidFill>
                <a:latin typeface="Calibri"/>
              </a:rPr>
              <a:t>• </a:t>
            </a:r>
            <a:r>
              <a:rPr sz="1800" b="0" i="0">
                <a:solidFill>
                  <a:srgbClr val="1A1A1A"/>
                </a:solidFill>
                <a:latin typeface="Calibri"/>
              </a:rPr>
              <a:t>2 Cultivate </a:t>
            </a:r>
            <a:r>
              <a:rPr sz="1800" b="1" i="0">
                <a:solidFill>
                  <a:srgbClr val="1A1A1A"/>
                </a:solidFill>
                <a:latin typeface="Calibri"/>
              </a:rPr>
              <a:t>kindness</a:t>
            </a:r>
          </a:p>
          <a:p>
            <a:pPr>
              <a:spcAft>
                <a:spcPts val="300"/>
              </a:spcAft>
            </a:pPr>
            <a:r>
              <a:rPr sz="1800" b="1" i="0">
                <a:solidFill>
                  <a:srgbClr val="1A1A1A"/>
                </a:solidFill>
                <a:latin typeface="Calibri"/>
              </a:rPr>
              <a:t>• </a:t>
            </a:r>
            <a:r>
              <a:rPr sz="1800" b="0" i="0">
                <a:solidFill>
                  <a:srgbClr val="1A1A1A"/>
                </a:solidFill>
                <a:latin typeface="Calibri"/>
              </a:rPr>
              <a:t>3 Develop </a:t>
            </a:r>
            <a:r>
              <a:rPr sz="1800" b="1" i="0">
                <a:solidFill>
                  <a:srgbClr val="1A1A1A"/>
                </a:solidFill>
                <a:latin typeface="Calibri"/>
              </a:rPr>
              <a:t>distractions</a:t>
            </a:r>
            <a:r>
              <a:rPr sz="1800" b="0" i="0">
                <a:solidFill>
                  <a:srgbClr val="1A1A1A"/>
                </a:solidFill>
                <a:latin typeface="Calibri"/>
              </a:rPr>
              <a:t> (e.g., go for a run)</a:t>
            </a:r>
          </a:p>
          <a:p>
            <a:pPr>
              <a:spcAft>
                <a:spcPts val="300"/>
              </a:spcAft>
            </a:pPr>
            <a:r>
              <a:rPr sz="1800" b="1" i="0">
                <a:solidFill>
                  <a:srgbClr val="1A1A1A"/>
                </a:solidFill>
                <a:latin typeface="Calibri"/>
              </a:rPr>
              <a:t>• </a:t>
            </a:r>
            <a:r>
              <a:rPr sz="1800" b="0" i="0">
                <a:solidFill>
                  <a:srgbClr val="1A1A1A"/>
                </a:solidFill>
                <a:latin typeface="Calibri"/>
              </a:rPr>
              <a:t>4 </a:t>
            </a:r>
            <a:r>
              <a:rPr sz="1800" b="1" i="0">
                <a:solidFill>
                  <a:srgbClr val="1A1A1A"/>
                </a:solidFill>
                <a:latin typeface="Calibri"/>
              </a:rPr>
              <a:t>Dispute</a:t>
            </a:r>
            <a:r>
              <a:rPr sz="1800" b="0" i="0">
                <a:solidFill>
                  <a:srgbClr val="1A1A1A"/>
                </a:solidFill>
                <a:latin typeface="Calibri"/>
              </a:rPr>
              <a:t> negative self-talk</a:t>
            </a:r>
          </a:p>
          <a:p>
            <a:pPr>
              <a:spcAft>
                <a:spcPts val="300"/>
              </a:spcAft>
            </a:pPr>
            <a:r>
              <a:rPr sz="1800" b="1" i="0">
                <a:solidFill>
                  <a:srgbClr val="1A1A1A"/>
                </a:solidFill>
                <a:latin typeface="Calibri"/>
              </a:rPr>
              <a:t>• </a:t>
            </a:r>
            <a:r>
              <a:rPr sz="1800" b="0" i="0">
                <a:solidFill>
                  <a:srgbClr val="1A1A1A"/>
                </a:solidFill>
                <a:latin typeface="Calibri"/>
              </a:rPr>
              <a:t>✘ NOT: fake happiness (class quiz)</a:t>
            </a:r>
          </a:p>
        </p:txBody>
      </p:sp>
      <p:sp>
        <p:nvSpPr>
          <p:cNvPr id="22" name="Rounded Rectangle 21"/>
          <p:cNvSpPr/>
          <p:nvPr/>
        </p:nvSpPr>
        <p:spPr>
          <a:xfrm>
            <a:off x="4251960" y="4297680"/>
            <a:ext cx="3749039" cy="2240280"/>
          </a:xfrm>
          <a:prstGeom prst="roundRect">
            <a:avLst>
              <a:gd name="adj" fmla="val 6000"/>
            </a:avLst>
          </a:prstGeom>
          <a:solidFill>
            <a:srgbClr val="FFFFFF"/>
          </a:solidFill>
          <a:ln w="19050">
            <a:solidFill>
              <a:srgbClr val="8CC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251960" y="4297680"/>
            <a:ext cx="3749039" cy="457200"/>
          </a:xfrm>
          <a:prstGeom prst="roundRect">
            <a:avLst>
              <a:gd name="adj" fmla="val 6000"/>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251960" y="4617720"/>
            <a:ext cx="3749039" cy="137160"/>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43400" y="4297680"/>
            <a:ext cx="3566159" cy="457200"/>
          </a:xfrm>
          <a:prstGeom prst="rect">
            <a:avLst/>
          </a:prstGeom>
          <a:noFill/>
        </p:spPr>
        <p:txBody>
          <a:bodyPr wrap="square" anchor="ctr" lIns="45720" rIns="45720" tIns="18288" bIns="18288"/>
          <a:lstStyle/>
          <a:p>
            <a:pPr algn="l"/>
            <a:r>
              <a:rPr sz="1900" b="1" i="0">
                <a:solidFill>
                  <a:srgbClr val="FFFFFF"/>
                </a:solidFill>
                <a:latin typeface="Calibri"/>
              </a:rPr>
              <a:t>Indian application (PPT)</a:t>
            </a:r>
          </a:p>
        </p:txBody>
      </p:sp>
      <p:sp>
        <p:nvSpPr>
          <p:cNvPr id="26" name="TextBox 25"/>
          <p:cNvSpPr txBox="1"/>
          <p:nvPr/>
        </p:nvSpPr>
        <p:spPr>
          <a:xfrm>
            <a:off x="4325112" y="4809744"/>
            <a:ext cx="3602735" cy="1691640"/>
          </a:xfrm>
          <a:prstGeom prst="rect">
            <a:avLst/>
          </a:prstGeom>
          <a:noFill/>
        </p:spPr>
        <p:txBody>
          <a:bodyPr wrap="square" anchor="t" lIns="54864" rIns="54864" tIns="27432" bIns="27432"/>
          <a:lstStyle/>
          <a:p>
            <a:pPr>
              <a:spcAft>
                <a:spcPts val="300"/>
              </a:spcAft>
            </a:pPr>
            <a:r>
              <a:rPr sz="1800" b="1" i="0">
                <a:solidFill>
                  <a:srgbClr val="1A1A1A"/>
                </a:solidFill>
                <a:latin typeface="Calibri"/>
              </a:rPr>
              <a:t>• </a:t>
            </a:r>
            <a:r>
              <a:rPr sz="1800" b="1" i="0">
                <a:solidFill>
                  <a:srgbClr val="1A1A1A"/>
                </a:solidFill>
                <a:latin typeface="Calibri"/>
              </a:rPr>
              <a:t>Tata Group in COVID</a:t>
            </a:r>
            <a:r>
              <a:rPr sz="1800" b="0" i="0">
                <a:solidFill>
                  <a:srgbClr val="1A1A1A"/>
                </a:solidFill>
                <a:latin typeface="Calibri"/>
              </a:rPr>
              <a:t> (April 2020): anxious staff, disrupted ops → build hope, efficacy, resilience, optimism; Tata Trusts supported healthcare</a:t>
            </a:r>
          </a:p>
        </p:txBody>
      </p:sp>
      <p:graphicFrame>
        <p:nvGraphicFramePr>
          <p:cNvPr id="27" name="Table 26"/>
          <p:cNvGraphicFramePr>
            <a:graphicFrameLocks noGrp="1"/>
          </p:cNvGraphicFramePr>
          <p:nvPr/>
        </p:nvGraphicFramePr>
        <p:xfrm>
          <a:off x="8138160" y="1051560"/>
          <a:ext cx="3794760" cy="2743200"/>
        </p:xfrm>
        <a:graphic>
          <a:graphicData uri="http://schemas.openxmlformats.org/drawingml/2006/table">
            <a:tbl>
              <a:tblPr firstRow="1" bandRow="1">
                <a:tableStyleId>{5C22544A-7EE6-4342-B048-85BDC9FD1C3A}</a:tableStyleId>
              </a:tblPr>
              <a:tblGrid>
                <a:gridCol w="1897380"/>
                <a:gridCol w="1897380"/>
              </a:tblGrid>
              <a:tr h="685800">
                <a:tc>
                  <a:txBody>
                    <a:bodyPr wrap="square"/>
                    <a:lstStyle/>
                    <a:p>
                      <a:r>
                        <a:rPr sz="1300" b="1" i="0">
                          <a:solidFill>
                            <a:srgbClr val="FFFFFF"/>
                          </a:solidFill>
                          <a:latin typeface="Calibri"/>
                        </a:rPr>
                        <a:t>Mindlessness</a:t>
                      </a:r>
                    </a:p>
                  </a:txBody>
                  <a:tcPr marL="54864" marR="54864" marT="27432" marB="27432" anchor="ctr">
                    <a:solidFill>
                      <a:srgbClr val="00838F"/>
                    </a:solidFill>
                  </a:tcPr>
                </a:tc>
                <a:tc>
                  <a:txBody>
                    <a:bodyPr wrap="square"/>
                    <a:lstStyle/>
                    <a:p>
                      <a:r>
                        <a:rPr sz="1300" b="1" i="0">
                          <a:solidFill>
                            <a:srgbClr val="FFFFFF"/>
                          </a:solidFill>
                          <a:latin typeface="Calibri"/>
                        </a:rPr>
                        <a:t>Mindfulness</a:t>
                      </a:r>
                    </a:p>
                  </a:txBody>
                  <a:tcPr marL="54864" marR="54864" marT="27432" marB="27432" anchor="ctr">
                    <a:solidFill>
                      <a:srgbClr val="00838F"/>
                    </a:solidFill>
                  </a:tcPr>
                </a:tc>
              </a:tr>
              <a:tr h="685800">
                <a:tc>
                  <a:txBody>
                    <a:bodyPr wrap="square"/>
                    <a:lstStyle/>
                    <a:p>
                      <a:r>
                        <a:rPr sz="1300" b="0" i="0">
                          <a:solidFill>
                            <a:srgbClr val="1A1A1A"/>
                          </a:solidFill>
                          <a:latin typeface="Calibri"/>
                        </a:rPr>
                        <a:t>Reduced attention, rigid, automatic</a:t>
                      </a:r>
                    </a:p>
                  </a:txBody>
                  <a:tcPr marL="54864" marR="54864" marT="27432" marB="27432" anchor="ctr">
                    <a:solidFill>
                      <a:srgbClr val="FFFFFF"/>
                    </a:solidFill>
                  </a:tcPr>
                </a:tc>
                <a:tc>
                  <a:txBody>
                    <a:bodyPr wrap="square"/>
                    <a:lstStyle/>
                    <a:p>
                      <a:r>
                        <a:rPr sz="1300" b="0" i="0">
                          <a:solidFill>
                            <a:srgbClr val="1A1A1A"/>
                          </a:solidFill>
                          <a:latin typeface="Calibri"/>
                        </a:rPr>
                        <a:t>Awareness from paying attention </a:t>
                      </a:r>
                      <a:r>
                        <a:rPr sz="1300" b="1" i="0">
                          <a:solidFill>
                            <a:srgbClr val="1A1A1A"/>
                          </a:solidFill>
                          <a:latin typeface="Calibri"/>
                        </a:rPr>
                        <a:t>on purpose</a:t>
                      </a:r>
                    </a:p>
                  </a:txBody>
                  <a:tcPr marL="54864" marR="54864" marT="27432" marB="27432" anchor="ctr">
                    <a:solidFill>
                      <a:srgbClr val="FFFFFF"/>
                    </a:solidFill>
                  </a:tcPr>
                </a:tc>
              </a:tr>
              <a:tr h="685800">
                <a:tc>
                  <a:txBody>
                    <a:bodyPr wrap="square"/>
                    <a:lstStyle/>
                    <a:p>
                      <a:r>
                        <a:rPr sz="1300" b="0" i="0">
                          <a:solidFill>
                            <a:srgbClr val="1A1A1A"/>
                          </a:solidFill>
                          <a:latin typeface="Calibri"/>
                        </a:rPr>
                        <a:t>Poor emotional control</a:t>
                      </a:r>
                    </a:p>
                  </a:txBody>
                  <a:tcPr marL="54864" marR="54864" marT="27432" marB="27432" anchor="ctr">
                    <a:solidFill>
                      <a:srgbClr val="E5F2F3"/>
                    </a:solidFill>
                  </a:tcPr>
                </a:tc>
                <a:tc>
                  <a:txBody>
                    <a:bodyPr wrap="square"/>
                    <a:lstStyle/>
                    <a:p>
                      <a:r>
                        <a:rPr sz="1300" b="0" i="0">
                          <a:solidFill>
                            <a:srgbClr val="1A1A1A"/>
                          </a:solidFill>
                          <a:latin typeface="Calibri"/>
                        </a:rPr>
                        <a:t>In the </a:t>
                      </a:r>
                      <a:r>
                        <a:rPr sz="1300" b="1" i="0">
                          <a:solidFill>
                            <a:srgbClr val="1A1A1A"/>
                          </a:solidFill>
                          <a:latin typeface="Calibri"/>
                        </a:rPr>
                        <a:t>present</a:t>
                      </a:r>
                      <a:r>
                        <a:rPr sz="1300" b="0" i="0">
                          <a:solidFill>
                            <a:srgbClr val="1A1A1A"/>
                          </a:solidFill>
                          <a:latin typeface="Calibri"/>
                        </a:rPr>
                        <a:t>, </a:t>
                      </a:r>
                      <a:r>
                        <a:rPr sz="1300" b="1" i="0">
                          <a:solidFill>
                            <a:srgbClr val="1A1A1A"/>
                          </a:solidFill>
                          <a:latin typeface="Calibri"/>
                        </a:rPr>
                        <a:t>non-judgemental</a:t>
                      </a:r>
                    </a:p>
                  </a:txBody>
                  <a:tcPr marL="54864" marR="54864" marT="27432" marB="27432" anchor="ctr">
                    <a:solidFill>
                      <a:srgbClr val="E5F2F3"/>
                    </a:solidFill>
                  </a:tcPr>
                </a:tc>
              </a:tr>
              <a:tr h="685800">
                <a:tc>
                  <a:txBody>
                    <a:bodyPr wrap="square"/>
                    <a:lstStyle/>
                    <a:p>
                      <a:r>
                        <a:rPr sz="1300" b="0" i="0">
                          <a:solidFill>
                            <a:srgbClr val="1A1A1A"/>
                          </a:solidFill>
                          <a:latin typeface="Calibri"/>
                        </a:rPr>
                        <a:t>Poor mental/physical health</a:t>
                      </a:r>
                    </a:p>
                  </a:txBody>
                  <a:tcPr marL="54864" marR="54864" marT="27432" marB="27432" anchor="ctr">
                    <a:solidFill>
                      <a:srgbClr val="FFFFFF"/>
                    </a:solidFill>
                  </a:tcPr>
                </a:tc>
                <a:tc>
                  <a:txBody>
                    <a:bodyPr wrap="square"/>
                    <a:lstStyle/>
                    <a:p>
                      <a:r>
                        <a:rPr sz="1300" b="0" i="0">
                          <a:solidFill>
                            <a:srgbClr val="1A1A1A"/>
                          </a:solidFill>
                          <a:latin typeface="Calibri"/>
                        </a:rPr>
                        <a:t>Needs effort &amp; attentional balance</a:t>
                      </a:r>
                    </a:p>
                  </a:txBody>
                  <a:tcPr marL="54864" marR="54864" marT="27432" marB="27432" anchor="ctr">
                    <a:solidFill>
                      <a:srgbClr val="FFFFFF"/>
                    </a:solidFill>
                  </a:tcPr>
                </a:tc>
              </a:tr>
            </a:tbl>
          </a:graphicData>
        </a:graphic>
      </p:graphicFrame>
      <p:sp>
        <p:nvSpPr>
          <p:cNvPr id="28" name="Rounded Rectangle 27"/>
          <p:cNvSpPr/>
          <p:nvPr/>
        </p:nvSpPr>
        <p:spPr>
          <a:xfrm>
            <a:off x="8138160" y="3931920"/>
            <a:ext cx="3794760" cy="2606040"/>
          </a:xfrm>
          <a:prstGeom prst="roundRect">
            <a:avLst>
              <a:gd name="adj" fmla="val 6000"/>
            </a:avLst>
          </a:prstGeom>
          <a:solidFill>
            <a:srgbClr val="FFFFFF"/>
          </a:solidFill>
          <a:ln w="19050">
            <a:solidFill>
              <a:srgbClr val="8CC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138160" y="3931920"/>
            <a:ext cx="3794760" cy="457200"/>
          </a:xfrm>
          <a:prstGeom prst="roundRect">
            <a:avLst>
              <a:gd name="adj" fmla="val 6000"/>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138160" y="4251959"/>
            <a:ext cx="3794760" cy="137160"/>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0" y="3931920"/>
            <a:ext cx="3611880" cy="457200"/>
          </a:xfrm>
          <a:prstGeom prst="rect">
            <a:avLst/>
          </a:prstGeom>
          <a:noFill/>
        </p:spPr>
        <p:txBody>
          <a:bodyPr wrap="square" anchor="ctr" lIns="45720" rIns="45720" tIns="18288" bIns="18288"/>
          <a:lstStyle/>
          <a:p>
            <a:pPr algn="l"/>
            <a:r>
              <a:rPr sz="1900" b="1" i="0">
                <a:solidFill>
                  <a:srgbClr val="FFFFFF"/>
                </a:solidFill>
                <a:latin typeface="Calibri"/>
              </a:rPr>
              <a:t>Inhibitors &amp; benefits</a:t>
            </a:r>
          </a:p>
        </p:txBody>
      </p:sp>
      <p:sp>
        <p:nvSpPr>
          <p:cNvPr id="32" name="TextBox 31"/>
          <p:cNvSpPr txBox="1"/>
          <p:nvPr/>
        </p:nvSpPr>
        <p:spPr>
          <a:xfrm>
            <a:off x="8211312" y="4443983"/>
            <a:ext cx="3648456" cy="2057400"/>
          </a:xfrm>
          <a:prstGeom prst="rect">
            <a:avLst/>
          </a:prstGeom>
          <a:noFill/>
        </p:spPr>
        <p:txBody>
          <a:bodyPr wrap="square" anchor="t" lIns="54864" rIns="54864" tIns="27432" bIns="27432"/>
          <a:lstStyle/>
          <a:p>
            <a:pPr>
              <a:spcAft>
                <a:spcPts val="300"/>
              </a:spcAft>
            </a:pPr>
            <a:r>
              <a:rPr sz="1500" b="1" i="0">
                <a:solidFill>
                  <a:srgbClr val="1A1A1A"/>
                </a:solidFill>
                <a:latin typeface="Calibri"/>
              </a:rPr>
              <a:t>• </a:t>
            </a:r>
            <a:r>
              <a:rPr sz="1500" b="0" i="0">
                <a:solidFill>
                  <a:srgbClr val="1A1A1A"/>
                </a:solidFill>
                <a:latin typeface="Calibri"/>
              </a:rPr>
              <a:t>Inhibitors: </a:t>
            </a:r>
            <a:r>
              <a:rPr sz="1500" b="1" i="0">
                <a:solidFill>
                  <a:srgbClr val="1A1A1A"/>
                </a:solidFill>
                <a:latin typeface="Calibri"/>
              </a:rPr>
              <a:t>attentional deficit</a:t>
            </a:r>
            <a:r>
              <a:rPr sz="1500" b="0" i="0">
                <a:solidFill>
                  <a:srgbClr val="1A1A1A"/>
                </a:solidFill>
                <a:latin typeface="Calibri"/>
              </a:rPr>
              <a:t> (can't focus) · </a:t>
            </a:r>
            <a:r>
              <a:rPr sz="1500" b="1" i="0">
                <a:solidFill>
                  <a:srgbClr val="1A1A1A"/>
                </a:solidFill>
                <a:latin typeface="Calibri"/>
              </a:rPr>
              <a:t>attentional hyperactivity</a:t>
            </a:r>
            <a:r>
              <a:rPr sz="1500" b="0" i="0">
                <a:solidFill>
                  <a:srgbClr val="1A1A1A"/>
                </a:solidFill>
                <a:latin typeface="Calibri"/>
              </a:rPr>
              <a:t> (racing, daydreaming)</a:t>
            </a:r>
          </a:p>
          <a:p>
            <a:pPr>
              <a:spcAft>
                <a:spcPts val="300"/>
              </a:spcAft>
            </a:pPr>
            <a:r>
              <a:rPr sz="1500" b="1" i="0">
                <a:solidFill>
                  <a:srgbClr val="1A1A1A"/>
                </a:solidFill>
                <a:latin typeface="Calibri"/>
              </a:rPr>
              <a:t>• </a:t>
            </a:r>
            <a:r>
              <a:rPr sz="1500" b="0" i="0">
                <a:solidFill>
                  <a:srgbClr val="1A1A1A"/>
                </a:solidFill>
                <a:latin typeface="Calibri"/>
              </a:rPr>
              <a:t>Benefits: physical, mental, interpersonal effectiveness; better communication; balanced emotions</a:t>
            </a:r>
          </a:p>
          <a:p>
            <a:pPr>
              <a:spcAft>
                <a:spcPts val="300"/>
              </a:spcAft>
            </a:pPr>
            <a:r>
              <a:rPr sz="1500" b="1" i="0">
                <a:solidFill>
                  <a:srgbClr val="1A1A1A"/>
                </a:solidFill>
                <a:latin typeface="Calibri"/>
              </a:rPr>
              <a:t>• </a:t>
            </a:r>
            <a:r>
              <a:rPr sz="1500" b="0" i="0">
                <a:solidFill>
                  <a:srgbClr val="1A1A1A"/>
                </a:solidFill>
                <a:latin typeface="Calibri"/>
              </a:rPr>
              <a:t>Learned via simple meditative practice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3000" b="1" i="0">
                <a:solidFill>
                  <a:srgbClr val="FFFFFF"/>
                </a:solidFill>
                <a:latin typeface="Calibri"/>
              </a:rPr>
              <a:t>7.4 Psychological Capital (PsyCap) = HERO</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BFE0E3"/>
                </a:solidFill>
                <a:latin typeface="Calibri"/>
              </a:rPr>
              <a:t>MODULE 5 · POSITIVE OB</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Ch 7 pp. 280–285</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54</a:t>
            </a:r>
          </a:p>
        </p:txBody>
      </p:sp>
      <p:sp>
        <p:nvSpPr>
          <p:cNvPr id="7" name="Rounded Rectangle 6"/>
          <p:cNvSpPr/>
          <p:nvPr/>
        </p:nvSpPr>
        <p:spPr>
          <a:xfrm>
            <a:off x="274320" y="1051560"/>
            <a:ext cx="2788920" cy="1188720"/>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3000" b="1" i="0">
                <a:solidFill>
                  <a:srgbClr val="FFFFFF"/>
                </a:solidFill>
                <a:latin typeface="Calibri"/>
              </a:rPr>
              <a:t>H</a:t>
            </a:r>
          </a:p>
          <a:p>
            <a:pPr algn="ctr"/>
            <a:r>
              <a:rPr sz="2700" b="0" i="0">
                <a:solidFill>
                  <a:srgbClr val="FFFFFF"/>
                </a:solidFill>
                <a:latin typeface="Calibri"/>
              </a:rPr>
              <a:t>HOPE</a:t>
            </a:r>
          </a:p>
        </p:txBody>
      </p:sp>
      <p:sp>
        <p:nvSpPr>
          <p:cNvPr id="8" name="Rounded Rectangle 7"/>
          <p:cNvSpPr/>
          <p:nvPr/>
        </p:nvSpPr>
        <p:spPr>
          <a:xfrm>
            <a:off x="274320" y="2331720"/>
            <a:ext cx="2788920" cy="2514600"/>
          </a:xfrm>
          <a:prstGeom prst="roundRect">
            <a:avLst>
              <a:gd name="adj" fmla="val 6000"/>
            </a:avLst>
          </a:prstGeom>
          <a:solidFill>
            <a:srgbClr val="FFFFFF"/>
          </a:solidFill>
          <a:ln w="19050">
            <a:solidFill>
              <a:srgbClr val="8CC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472" y="2386584"/>
            <a:ext cx="2642615" cy="2423160"/>
          </a:xfrm>
          <a:prstGeom prst="rect">
            <a:avLst/>
          </a:prstGeom>
          <a:noFill/>
        </p:spPr>
        <p:txBody>
          <a:bodyPr wrap="square" anchor="t" lIns="54864" rIns="54864" tIns="27432" bIns="27432"/>
          <a:lstStyle/>
          <a:p>
            <a:pPr>
              <a:spcAft>
                <a:spcPts val="300"/>
              </a:spcAft>
            </a:pPr>
            <a:r>
              <a:rPr sz="1800" b="1" i="0">
                <a:solidFill>
                  <a:srgbClr val="1A1A1A"/>
                </a:solidFill>
                <a:latin typeface="Calibri"/>
              </a:rPr>
              <a:t>• </a:t>
            </a:r>
            <a:r>
              <a:rPr sz="1800" b="0" i="0">
                <a:solidFill>
                  <a:srgbClr val="1A1A1A"/>
                </a:solidFill>
                <a:latin typeface="Calibri"/>
              </a:rPr>
              <a:t>Goal + </a:t>
            </a:r>
            <a:r>
              <a:rPr sz="1800" b="1" i="0">
                <a:solidFill>
                  <a:srgbClr val="1A1A1A"/>
                </a:solidFill>
                <a:latin typeface="Calibri"/>
              </a:rPr>
              <a:t>Willpower</a:t>
            </a:r>
            <a:r>
              <a:rPr sz="1800" b="0" i="0">
                <a:solidFill>
                  <a:srgbClr val="1A1A1A"/>
                </a:solidFill>
                <a:latin typeface="Calibri"/>
              </a:rPr>
              <a:t> (determination) + </a:t>
            </a:r>
            <a:r>
              <a:rPr sz="1800" b="1" i="0">
                <a:solidFill>
                  <a:srgbClr val="1A1A1A"/>
                </a:solidFill>
                <a:latin typeface="Calibri"/>
              </a:rPr>
              <a:t>Waypower</a:t>
            </a:r>
            <a:r>
              <a:rPr sz="1800" b="0" i="0">
                <a:solidFill>
                  <a:srgbClr val="1A1A1A"/>
                </a:solidFill>
                <a:latin typeface="Calibri"/>
              </a:rPr>
              <a:t> (one or more paths to the goal; see alternatives)</a:t>
            </a:r>
          </a:p>
          <a:p>
            <a:pPr>
              <a:spcAft>
                <a:spcPts val="300"/>
              </a:spcAft>
            </a:pPr>
            <a:r>
              <a:rPr sz="1800" b="1" i="0">
                <a:solidFill>
                  <a:srgbClr val="1A1A1A"/>
                </a:solidFill>
                <a:latin typeface="Calibri"/>
              </a:rPr>
              <a:t>• </a:t>
            </a:r>
            <a:r>
              <a:rPr sz="1800" b="0" i="0">
                <a:solidFill>
                  <a:srgbClr val="1A1A1A"/>
                </a:solidFill>
                <a:latin typeface="Calibri"/>
              </a:rPr>
              <a:t>Hope needs a goal AND the means (class quiz)</a:t>
            </a:r>
          </a:p>
        </p:txBody>
      </p:sp>
      <p:sp>
        <p:nvSpPr>
          <p:cNvPr id="10" name="Rounded Rectangle 9"/>
          <p:cNvSpPr/>
          <p:nvPr/>
        </p:nvSpPr>
        <p:spPr>
          <a:xfrm>
            <a:off x="3200400" y="1051560"/>
            <a:ext cx="2788920" cy="1188720"/>
          </a:xfrm>
          <a:prstGeom prst="roundRect">
            <a:avLst>
              <a:gd name="adj" fmla="val 6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3000" b="1" i="0">
                <a:solidFill>
                  <a:srgbClr val="FFFFFF"/>
                </a:solidFill>
                <a:latin typeface="Calibri"/>
              </a:rPr>
              <a:t>E</a:t>
            </a:r>
          </a:p>
          <a:p>
            <a:pPr algn="ctr"/>
            <a:r>
              <a:rPr sz="2700" b="0" i="0">
                <a:solidFill>
                  <a:srgbClr val="FFFFFF"/>
                </a:solidFill>
                <a:latin typeface="Calibri"/>
              </a:rPr>
              <a:t>EFFICACY</a:t>
            </a:r>
          </a:p>
        </p:txBody>
      </p:sp>
      <p:sp>
        <p:nvSpPr>
          <p:cNvPr id="11" name="Rounded Rectangle 10"/>
          <p:cNvSpPr/>
          <p:nvPr/>
        </p:nvSpPr>
        <p:spPr>
          <a:xfrm>
            <a:off x="3200400" y="2331720"/>
            <a:ext cx="2788920" cy="2514600"/>
          </a:xfrm>
          <a:prstGeom prst="roundRect">
            <a:avLst>
              <a:gd name="adj" fmla="val 6000"/>
            </a:avLst>
          </a:prstGeom>
          <a:solidFill>
            <a:srgbClr val="FFFFFF"/>
          </a:solidFill>
          <a:ln w="19050">
            <a:solidFill>
              <a:srgbClr val="8CC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73552" y="2386584"/>
            <a:ext cx="2642615" cy="2423160"/>
          </a:xfrm>
          <a:prstGeom prst="rect">
            <a:avLst/>
          </a:prstGeom>
          <a:noFill/>
        </p:spPr>
        <p:txBody>
          <a:bodyPr wrap="square" anchor="t" lIns="54864" rIns="54864" tIns="27432" bIns="27432"/>
          <a:lstStyle/>
          <a:p>
            <a:pPr>
              <a:spcAft>
                <a:spcPts val="300"/>
              </a:spcAft>
            </a:pPr>
            <a:r>
              <a:rPr sz="1800" b="1" i="0">
                <a:solidFill>
                  <a:srgbClr val="1A1A1A"/>
                </a:solidFill>
                <a:latin typeface="Calibri"/>
              </a:rPr>
              <a:t>• </a:t>
            </a:r>
            <a:r>
              <a:rPr sz="1800" b="0" i="0">
                <a:solidFill>
                  <a:srgbClr val="1A1A1A"/>
                </a:solidFill>
                <a:latin typeface="Calibri"/>
              </a:rPr>
              <a:t>Confidence in your ability to do something; shapes how you deal with challenges</a:t>
            </a:r>
          </a:p>
          <a:p>
            <a:pPr>
              <a:spcAft>
                <a:spcPts val="300"/>
              </a:spcAft>
            </a:pPr>
            <a:r>
              <a:rPr sz="1800" b="1" i="0">
                <a:solidFill>
                  <a:srgbClr val="1A1A1A"/>
                </a:solidFill>
                <a:latin typeface="Calibri"/>
              </a:rPr>
              <a:t>• </a:t>
            </a:r>
            <a:r>
              <a:rPr sz="1800" b="0" i="0">
                <a:solidFill>
                  <a:srgbClr val="1A1A1A"/>
                </a:solidFill>
                <a:latin typeface="Calibri"/>
              </a:rPr>
              <a:t>High efficacy → confident, positive; link: expectancy (E)</a:t>
            </a:r>
          </a:p>
        </p:txBody>
      </p:sp>
      <p:sp>
        <p:nvSpPr>
          <p:cNvPr id="13" name="Rounded Rectangle 12"/>
          <p:cNvSpPr/>
          <p:nvPr/>
        </p:nvSpPr>
        <p:spPr>
          <a:xfrm>
            <a:off x="6126480" y="1051560"/>
            <a:ext cx="2788920" cy="1188720"/>
          </a:xfrm>
          <a:prstGeom prst="roundRect">
            <a:avLst>
              <a:gd name="adj" fmla="val 6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3000" b="1" i="0">
                <a:solidFill>
                  <a:srgbClr val="FFFFFF"/>
                </a:solidFill>
                <a:latin typeface="Calibri"/>
              </a:rPr>
              <a:t>R</a:t>
            </a:r>
          </a:p>
          <a:p>
            <a:pPr algn="ctr"/>
            <a:r>
              <a:rPr sz="2700" b="0" i="0">
                <a:solidFill>
                  <a:srgbClr val="FFFFFF"/>
                </a:solidFill>
                <a:latin typeface="Calibri"/>
              </a:rPr>
              <a:t>RESILIENCE</a:t>
            </a:r>
          </a:p>
        </p:txBody>
      </p:sp>
      <p:sp>
        <p:nvSpPr>
          <p:cNvPr id="14" name="Rounded Rectangle 13"/>
          <p:cNvSpPr/>
          <p:nvPr/>
        </p:nvSpPr>
        <p:spPr>
          <a:xfrm>
            <a:off x="6126480" y="2331720"/>
            <a:ext cx="2788920" cy="2514600"/>
          </a:xfrm>
          <a:prstGeom prst="roundRect">
            <a:avLst>
              <a:gd name="adj" fmla="val 6000"/>
            </a:avLst>
          </a:prstGeom>
          <a:solidFill>
            <a:srgbClr val="FFFFFF"/>
          </a:solidFill>
          <a:ln w="19050">
            <a:solidFill>
              <a:srgbClr val="8CC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99632" y="2386584"/>
            <a:ext cx="2642615" cy="2423160"/>
          </a:xfrm>
          <a:prstGeom prst="rect">
            <a:avLst/>
          </a:prstGeom>
          <a:noFill/>
        </p:spPr>
        <p:txBody>
          <a:bodyPr wrap="square" anchor="t" lIns="54864" rIns="54864" tIns="27432" bIns="27432"/>
          <a:lstStyle/>
          <a:p>
            <a:pPr>
              <a:spcAft>
                <a:spcPts val="300"/>
              </a:spcAft>
            </a:pPr>
            <a:r>
              <a:rPr sz="1800" b="1" i="0">
                <a:solidFill>
                  <a:srgbClr val="1A1A1A"/>
                </a:solidFill>
                <a:latin typeface="Calibri"/>
              </a:rPr>
              <a:t>• </a:t>
            </a:r>
            <a:r>
              <a:rPr sz="1800" b="0" i="0">
                <a:solidFill>
                  <a:srgbClr val="1A1A1A"/>
                </a:solidFill>
                <a:latin typeface="Calibri"/>
              </a:rPr>
              <a:t>Capacity to consistently </a:t>
            </a:r>
            <a:r>
              <a:rPr sz="1800" b="1" i="0">
                <a:solidFill>
                  <a:srgbClr val="1A1A1A"/>
                </a:solidFill>
                <a:latin typeface="Calibri"/>
              </a:rPr>
              <a:t>bounce back</a:t>
            </a:r>
            <a:r>
              <a:rPr sz="1800" b="0" i="0">
                <a:solidFill>
                  <a:srgbClr val="1A1A1A"/>
                </a:solidFill>
                <a:latin typeface="Calibri"/>
              </a:rPr>
              <a:t> from adversity &amp; sustain yourself</a:t>
            </a:r>
          </a:p>
          <a:p>
            <a:pPr>
              <a:spcAft>
                <a:spcPts val="300"/>
              </a:spcAft>
            </a:pPr>
            <a:r>
              <a:rPr sz="1800" b="1" i="0">
                <a:solidFill>
                  <a:srgbClr val="1A1A1A"/>
                </a:solidFill>
                <a:latin typeface="Calibri"/>
              </a:rPr>
              <a:t>• </a:t>
            </a:r>
            <a:r>
              <a:rPr sz="1800" b="0" i="0">
                <a:solidFill>
                  <a:srgbClr val="1A1A1A"/>
                </a:solidFill>
                <a:latin typeface="Calibri"/>
              </a:rPr>
              <a:t>Kaiser Permanente: resilience is organisational (p. 282)</a:t>
            </a:r>
          </a:p>
        </p:txBody>
      </p:sp>
      <p:sp>
        <p:nvSpPr>
          <p:cNvPr id="16" name="Rounded Rectangle 15"/>
          <p:cNvSpPr/>
          <p:nvPr/>
        </p:nvSpPr>
        <p:spPr>
          <a:xfrm>
            <a:off x="9052560" y="1051560"/>
            <a:ext cx="2788920" cy="118872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3000" b="1" i="0">
                <a:solidFill>
                  <a:srgbClr val="FFFFFF"/>
                </a:solidFill>
                <a:latin typeface="Calibri"/>
              </a:rPr>
              <a:t>O</a:t>
            </a:r>
          </a:p>
          <a:p>
            <a:pPr algn="ctr"/>
            <a:r>
              <a:rPr sz="2700" b="0" i="0">
                <a:solidFill>
                  <a:srgbClr val="FFFFFF"/>
                </a:solidFill>
                <a:latin typeface="Calibri"/>
              </a:rPr>
              <a:t>OPTIMISM</a:t>
            </a:r>
          </a:p>
        </p:txBody>
      </p:sp>
      <p:sp>
        <p:nvSpPr>
          <p:cNvPr id="17" name="Rounded Rectangle 16"/>
          <p:cNvSpPr/>
          <p:nvPr/>
        </p:nvSpPr>
        <p:spPr>
          <a:xfrm>
            <a:off x="9052560" y="2331720"/>
            <a:ext cx="2788920" cy="2514600"/>
          </a:xfrm>
          <a:prstGeom prst="roundRect">
            <a:avLst>
              <a:gd name="adj" fmla="val 6000"/>
            </a:avLst>
          </a:prstGeom>
          <a:solidFill>
            <a:srgbClr val="FFFFFF"/>
          </a:solidFill>
          <a:ln w="19050">
            <a:solidFill>
              <a:srgbClr val="8CC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25712" y="2386584"/>
            <a:ext cx="2642615" cy="2423160"/>
          </a:xfrm>
          <a:prstGeom prst="rect">
            <a:avLst/>
          </a:prstGeom>
          <a:noFill/>
        </p:spPr>
        <p:txBody>
          <a:bodyPr wrap="square" anchor="t" lIns="54864" rIns="54864" tIns="27432" bIns="27432"/>
          <a:lstStyle/>
          <a:p>
            <a:pPr>
              <a:spcAft>
                <a:spcPts val="300"/>
              </a:spcAft>
            </a:pPr>
            <a:r>
              <a:rPr sz="1700" b="1" i="0">
                <a:solidFill>
                  <a:srgbClr val="1A1A1A"/>
                </a:solidFill>
                <a:latin typeface="Calibri"/>
              </a:rPr>
              <a:t>• </a:t>
            </a:r>
            <a:r>
              <a:rPr sz="1700" b="0" i="0">
                <a:solidFill>
                  <a:srgbClr val="1A1A1A"/>
                </a:solidFill>
                <a:latin typeface="Calibri"/>
              </a:rPr>
              <a:t>Successes = personal, </a:t>
            </a:r>
            <a:r>
              <a:rPr sz="1700" b="1" i="0">
                <a:solidFill>
                  <a:srgbClr val="1A1A1A"/>
                </a:solidFill>
                <a:latin typeface="Calibri"/>
              </a:rPr>
              <a:t>permanent, pervasive</a:t>
            </a:r>
            <a:r>
              <a:rPr sz="1700" b="0" i="0">
                <a:solidFill>
                  <a:srgbClr val="1A1A1A"/>
                </a:solidFill>
                <a:latin typeface="Calibri"/>
              </a:rPr>
              <a:t> causes; failures = external, </a:t>
            </a:r>
            <a:r>
              <a:rPr sz="1700" b="1" i="0">
                <a:solidFill>
                  <a:srgbClr val="1A1A1A"/>
                </a:solidFill>
                <a:latin typeface="Calibri"/>
              </a:rPr>
              <a:t>temporary, specific</a:t>
            </a:r>
          </a:p>
          <a:p>
            <a:pPr>
              <a:spcAft>
                <a:spcPts val="300"/>
              </a:spcAft>
            </a:pPr>
            <a:r>
              <a:rPr sz="1700" b="1" i="0">
                <a:solidFill>
                  <a:srgbClr val="1A1A1A"/>
                </a:solidFill>
                <a:latin typeface="Calibri"/>
              </a:rPr>
              <a:t>• </a:t>
            </a:r>
            <a:r>
              <a:rPr sz="1700" b="0" i="0">
                <a:solidFill>
                  <a:srgbClr val="1A1A1A"/>
                </a:solidFill>
                <a:latin typeface="Calibri"/>
              </a:rPr>
              <a:t>Realistic &amp; flexible, self-inspirational; link: attribution theory</a:t>
            </a:r>
          </a:p>
        </p:txBody>
      </p:sp>
      <p:sp>
        <p:nvSpPr>
          <p:cNvPr id="19" name="Rounded Rectangle 18"/>
          <p:cNvSpPr/>
          <p:nvPr/>
        </p:nvSpPr>
        <p:spPr>
          <a:xfrm>
            <a:off x="274320" y="4983480"/>
            <a:ext cx="3840480" cy="1554480"/>
          </a:xfrm>
          <a:prstGeom prst="roundRect">
            <a:avLst>
              <a:gd name="adj" fmla="val 6000"/>
            </a:avLst>
          </a:prstGeom>
          <a:solidFill>
            <a:srgbClr val="FFFFFF"/>
          </a:solidFill>
          <a:ln w="19050">
            <a:solidFill>
              <a:srgbClr val="8CC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274320" y="4983480"/>
            <a:ext cx="3840480" cy="457200"/>
          </a:xfrm>
          <a:prstGeom prst="roundRect">
            <a:avLst>
              <a:gd name="adj" fmla="val 6000"/>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74320" y="5303520"/>
            <a:ext cx="3840480" cy="137160"/>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 y="4983480"/>
            <a:ext cx="3657600" cy="457200"/>
          </a:xfrm>
          <a:prstGeom prst="rect">
            <a:avLst/>
          </a:prstGeom>
          <a:noFill/>
        </p:spPr>
        <p:txBody>
          <a:bodyPr wrap="square" anchor="ctr" lIns="45720" rIns="45720" tIns="18288" bIns="18288"/>
          <a:lstStyle/>
          <a:p>
            <a:pPr algn="l"/>
            <a:r>
              <a:rPr sz="1900" b="1" i="0">
                <a:solidFill>
                  <a:srgbClr val="FFFFFF"/>
                </a:solidFill>
                <a:latin typeface="Calibri"/>
              </a:rPr>
              <a:t>Develop PsyCap (p. 283)</a:t>
            </a:r>
          </a:p>
        </p:txBody>
      </p:sp>
      <p:sp>
        <p:nvSpPr>
          <p:cNvPr id="23" name="TextBox 22"/>
          <p:cNvSpPr txBox="1"/>
          <p:nvPr/>
        </p:nvSpPr>
        <p:spPr>
          <a:xfrm>
            <a:off x="347472" y="5495544"/>
            <a:ext cx="3694176" cy="1005839"/>
          </a:xfrm>
          <a:prstGeom prst="rect">
            <a:avLst/>
          </a:prstGeom>
          <a:noFill/>
        </p:spPr>
        <p:txBody>
          <a:bodyPr wrap="square" anchor="t" lIns="54864" rIns="54864" tIns="27432" bIns="27432"/>
          <a:lstStyle/>
          <a:p>
            <a:pPr>
              <a:spcAft>
                <a:spcPts val="300"/>
              </a:spcAft>
            </a:pPr>
            <a:r>
              <a:rPr sz="1600" b="1" i="0">
                <a:solidFill>
                  <a:srgbClr val="1A1A1A"/>
                </a:solidFill>
                <a:latin typeface="Calibri"/>
              </a:rPr>
              <a:t>• </a:t>
            </a:r>
            <a:r>
              <a:rPr sz="1600" b="0" i="0">
                <a:solidFill>
                  <a:srgbClr val="1A1A1A"/>
                </a:solidFill>
                <a:latin typeface="Calibri"/>
              </a:rPr>
              <a:t>Short training interventions raise HERO; set goals with paths, mastery experiences, reframing setbacks</a:t>
            </a:r>
          </a:p>
        </p:txBody>
      </p:sp>
      <p:sp>
        <p:nvSpPr>
          <p:cNvPr id="24" name="Rounded Rectangle 23"/>
          <p:cNvSpPr/>
          <p:nvPr/>
        </p:nvSpPr>
        <p:spPr>
          <a:xfrm>
            <a:off x="4251960" y="4983480"/>
            <a:ext cx="3840480" cy="1554480"/>
          </a:xfrm>
          <a:prstGeom prst="roundRect">
            <a:avLst>
              <a:gd name="adj" fmla="val 6000"/>
            </a:avLst>
          </a:prstGeom>
          <a:solidFill>
            <a:srgbClr val="FFFFFF"/>
          </a:solidFill>
          <a:ln w="19050">
            <a:solidFill>
              <a:srgbClr val="8CC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4251960" y="4983480"/>
            <a:ext cx="3840480" cy="457200"/>
          </a:xfrm>
          <a:prstGeom prst="roundRect">
            <a:avLst>
              <a:gd name="adj" fmla="val 6000"/>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251960" y="5303520"/>
            <a:ext cx="3840480" cy="137160"/>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43400" y="4983480"/>
            <a:ext cx="3657600" cy="457200"/>
          </a:xfrm>
          <a:prstGeom prst="rect">
            <a:avLst/>
          </a:prstGeom>
          <a:noFill/>
        </p:spPr>
        <p:txBody>
          <a:bodyPr wrap="square" anchor="ctr" lIns="45720" rIns="45720" tIns="18288" bIns="18288"/>
          <a:lstStyle/>
          <a:p>
            <a:pPr algn="l"/>
            <a:r>
              <a:rPr sz="1900" b="1" i="0">
                <a:solidFill>
                  <a:srgbClr val="FFFFFF"/>
                </a:solidFill>
                <a:latin typeface="Calibri"/>
              </a:rPr>
              <a:t>Signature strengths (p. 284)</a:t>
            </a:r>
          </a:p>
        </p:txBody>
      </p:sp>
      <p:sp>
        <p:nvSpPr>
          <p:cNvPr id="28" name="TextBox 27"/>
          <p:cNvSpPr txBox="1"/>
          <p:nvPr/>
        </p:nvSpPr>
        <p:spPr>
          <a:xfrm>
            <a:off x="4325112" y="5495544"/>
            <a:ext cx="3694176" cy="1005839"/>
          </a:xfrm>
          <a:prstGeom prst="rect">
            <a:avLst/>
          </a:prstGeom>
          <a:noFill/>
        </p:spPr>
        <p:txBody>
          <a:bodyPr wrap="square" anchor="t" lIns="54864" rIns="54864" tIns="27432" bIns="27432"/>
          <a:lstStyle/>
          <a:p>
            <a:pPr>
              <a:spcAft>
                <a:spcPts val="300"/>
              </a:spcAft>
            </a:pPr>
            <a:r>
              <a:rPr sz="1700" b="1" i="0">
                <a:solidFill>
                  <a:srgbClr val="1A1A1A"/>
                </a:solidFill>
                <a:latin typeface="Calibri"/>
              </a:rPr>
              <a:t>• </a:t>
            </a:r>
            <a:r>
              <a:rPr sz="1700" b="0" i="0">
                <a:solidFill>
                  <a:srgbClr val="1A1A1A"/>
                </a:solidFill>
                <a:latin typeface="Calibri"/>
              </a:rPr>
              <a:t>Handful of personal strengths shaping thoughts, feelings, behaviour; use daily → engagement</a:t>
            </a:r>
          </a:p>
        </p:txBody>
      </p:sp>
      <p:sp>
        <p:nvSpPr>
          <p:cNvPr id="29" name="Rounded Rectangle 28"/>
          <p:cNvSpPr/>
          <p:nvPr/>
        </p:nvSpPr>
        <p:spPr>
          <a:xfrm>
            <a:off x="8229600" y="4983480"/>
            <a:ext cx="3703320" cy="1554480"/>
          </a:xfrm>
          <a:prstGeom prst="roundRect">
            <a:avLst>
              <a:gd name="adj" fmla="val 6000"/>
            </a:avLst>
          </a:prstGeom>
          <a:solidFill>
            <a:srgbClr val="FFF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40" y="5001768"/>
            <a:ext cx="3520439" cy="1517904"/>
          </a:xfrm>
          <a:prstGeom prst="rect">
            <a:avLst/>
          </a:prstGeom>
          <a:noFill/>
        </p:spPr>
        <p:txBody>
          <a:bodyPr wrap="square" anchor="ctr" lIns="45720" rIns="45720" tIns="18288" bIns="18288"/>
          <a:lstStyle/>
          <a:p>
            <a:pPr algn="l"/>
            <a:r>
              <a:rPr sz="1500" b="1" i="0">
                <a:solidFill>
                  <a:srgbClr val="1A1A1A"/>
                </a:solidFill>
                <a:latin typeface="Calibri"/>
              </a:rPr>
              <a:t>Answer line: 'PsyCap is a measurable, developable resource (HERO) that predicts performance &amp; well-being.'</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200" b="1" i="0">
                <a:solidFill>
                  <a:srgbClr val="FFFFFF"/>
                </a:solidFill>
                <a:latin typeface="Calibri"/>
              </a:rPr>
              <a:t>7.5–7.6 Positive climates, virtuous leadership &amp; flourishing (PERMA)</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BFE0E3"/>
                </a:solidFill>
                <a:latin typeface="Calibri"/>
              </a:rPr>
              <a:t>MODULE 5 · POSITIVE OB</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Ch 7 pp. 286–293</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55</a:t>
            </a:r>
          </a:p>
        </p:txBody>
      </p:sp>
      <p:sp>
        <p:nvSpPr>
          <p:cNvPr id="7" name="Rounded Rectangle 6"/>
          <p:cNvSpPr/>
          <p:nvPr/>
        </p:nvSpPr>
        <p:spPr>
          <a:xfrm>
            <a:off x="274320" y="1051560"/>
            <a:ext cx="3840480" cy="2651760"/>
          </a:xfrm>
          <a:prstGeom prst="roundRect">
            <a:avLst>
              <a:gd name="adj" fmla="val 6000"/>
            </a:avLst>
          </a:prstGeom>
          <a:solidFill>
            <a:srgbClr val="FFFFFF"/>
          </a:solidFill>
          <a:ln w="19050">
            <a:solidFill>
              <a:srgbClr val="8CC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74320" y="1051560"/>
            <a:ext cx="3840480" cy="457200"/>
          </a:xfrm>
          <a:prstGeom prst="roundRect">
            <a:avLst>
              <a:gd name="adj" fmla="val 6000"/>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371600"/>
            <a:ext cx="3840480" cy="137160"/>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051560"/>
            <a:ext cx="3657600" cy="457200"/>
          </a:xfrm>
          <a:prstGeom prst="rect">
            <a:avLst/>
          </a:prstGeom>
          <a:noFill/>
        </p:spPr>
        <p:txBody>
          <a:bodyPr wrap="square" anchor="ctr" lIns="45720" rIns="45720" tIns="18288" bIns="18288"/>
          <a:lstStyle/>
          <a:p>
            <a:pPr algn="l"/>
            <a:r>
              <a:rPr sz="1700" b="1" i="0">
                <a:solidFill>
                  <a:srgbClr val="FFFFFF"/>
                </a:solidFill>
                <a:latin typeface="Calibri"/>
              </a:rPr>
              <a:t>Positive organisational climate</a:t>
            </a:r>
          </a:p>
        </p:txBody>
      </p:sp>
      <p:sp>
        <p:nvSpPr>
          <p:cNvPr id="11" name="TextBox 10"/>
          <p:cNvSpPr txBox="1"/>
          <p:nvPr/>
        </p:nvSpPr>
        <p:spPr>
          <a:xfrm>
            <a:off x="347472" y="1563624"/>
            <a:ext cx="3694176" cy="2103120"/>
          </a:xfrm>
          <a:prstGeom prst="rect">
            <a:avLst/>
          </a:prstGeom>
          <a:noFill/>
        </p:spPr>
        <p:txBody>
          <a:bodyPr wrap="square" anchor="t" lIns="54864" rIns="54864" tIns="27432" bIns="27432"/>
          <a:lstStyle/>
          <a:p>
            <a:pPr>
              <a:spcAft>
                <a:spcPts val="300"/>
              </a:spcAft>
            </a:pPr>
            <a:r>
              <a:rPr sz="1700" b="1" i="0">
                <a:solidFill>
                  <a:srgbClr val="1A1A1A"/>
                </a:solidFill>
                <a:latin typeface="Calibri"/>
              </a:rPr>
              <a:t>• </a:t>
            </a:r>
            <a:r>
              <a:rPr sz="1700" b="0" i="0">
                <a:solidFill>
                  <a:srgbClr val="1A1A1A"/>
                </a:solidFill>
                <a:latin typeface="Calibri"/>
              </a:rPr>
              <a:t>Climate = employees' perceptions of policies, practices, procedures, routines</a:t>
            </a:r>
          </a:p>
          <a:p>
            <a:pPr>
              <a:spcAft>
                <a:spcPts val="300"/>
              </a:spcAft>
            </a:pPr>
            <a:r>
              <a:rPr sz="1700" b="1" i="0">
                <a:solidFill>
                  <a:srgbClr val="1A1A1A"/>
                </a:solidFill>
                <a:latin typeface="Calibri"/>
              </a:rPr>
              <a:t>• </a:t>
            </a:r>
            <a:r>
              <a:rPr sz="1700" b="0" i="0">
                <a:solidFill>
                  <a:srgbClr val="1A1A1A"/>
                </a:solidFill>
                <a:latin typeface="Calibri"/>
              </a:rPr>
              <a:t>Built by </a:t>
            </a:r>
            <a:r>
              <a:rPr sz="1700" b="1" i="0">
                <a:solidFill>
                  <a:srgbClr val="1A1A1A"/>
                </a:solidFill>
                <a:latin typeface="Calibri"/>
              </a:rPr>
              <a:t>organisational values + organisational practices + virtuous leadership</a:t>
            </a:r>
          </a:p>
          <a:p>
            <a:pPr>
              <a:spcAft>
                <a:spcPts val="300"/>
              </a:spcAft>
            </a:pPr>
            <a:r>
              <a:rPr sz="1700" b="1" i="0">
                <a:solidFill>
                  <a:srgbClr val="1A1A1A"/>
                </a:solidFill>
                <a:latin typeface="Calibri"/>
              </a:rPr>
              <a:t>• </a:t>
            </a:r>
            <a:r>
              <a:rPr sz="1700" b="0" i="0">
                <a:solidFill>
                  <a:srgbClr val="1A1A1A"/>
                </a:solidFill>
                <a:latin typeface="Calibri"/>
              </a:rPr>
              <a:t>Sweetgreen (p. 286)</a:t>
            </a:r>
          </a:p>
        </p:txBody>
      </p:sp>
      <p:sp>
        <p:nvSpPr>
          <p:cNvPr id="12" name="Rounded Rectangle 11"/>
          <p:cNvSpPr/>
          <p:nvPr/>
        </p:nvSpPr>
        <p:spPr>
          <a:xfrm>
            <a:off x="274320" y="3840480"/>
            <a:ext cx="3840480" cy="2697480"/>
          </a:xfrm>
          <a:prstGeom prst="roundRect">
            <a:avLst>
              <a:gd name="adj" fmla="val 6000"/>
            </a:avLst>
          </a:prstGeom>
          <a:solidFill>
            <a:srgbClr val="FFFFFF"/>
          </a:solidFill>
          <a:ln w="19050">
            <a:solidFill>
              <a:srgbClr val="8CC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74320" y="3840480"/>
            <a:ext cx="3840480" cy="457200"/>
          </a:xfrm>
          <a:prstGeom prst="roundRect">
            <a:avLst>
              <a:gd name="adj" fmla="val 6000"/>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4320" y="4160520"/>
            <a:ext cx="3840480" cy="137160"/>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3840480"/>
            <a:ext cx="3657600" cy="457200"/>
          </a:xfrm>
          <a:prstGeom prst="rect">
            <a:avLst/>
          </a:prstGeom>
          <a:noFill/>
        </p:spPr>
        <p:txBody>
          <a:bodyPr wrap="square" anchor="ctr" lIns="45720" rIns="45720" tIns="18288" bIns="18288"/>
          <a:lstStyle/>
          <a:p>
            <a:pPr algn="l"/>
            <a:r>
              <a:rPr sz="1900" b="1" i="0">
                <a:solidFill>
                  <a:srgbClr val="FFFFFF"/>
                </a:solidFill>
                <a:latin typeface="Calibri"/>
              </a:rPr>
              <a:t>Virtuous leadership (p. 289)</a:t>
            </a:r>
          </a:p>
        </p:txBody>
      </p:sp>
      <p:sp>
        <p:nvSpPr>
          <p:cNvPr id="16" name="TextBox 15"/>
          <p:cNvSpPr txBox="1"/>
          <p:nvPr/>
        </p:nvSpPr>
        <p:spPr>
          <a:xfrm>
            <a:off x="347472" y="4352544"/>
            <a:ext cx="3694176" cy="2148840"/>
          </a:xfrm>
          <a:prstGeom prst="rect">
            <a:avLst/>
          </a:prstGeom>
          <a:noFill/>
        </p:spPr>
        <p:txBody>
          <a:bodyPr wrap="square" anchor="t" lIns="54864" rIns="54864" tIns="27432" bIns="27432"/>
          <a:lstStyle/>
          <a:p>
            <a:pPr>
              <a:spcAft>
                <a:spcPts val="300"/>
              </a:spcAft>
            </a:pPr>
            <a:r>
              <a:rPr sz="1600" b="1" i="0">
                <a:solidFill>
                  <a:srgbClr val="1A1A1A"/>
                </a:solidFill>
                <a:latin typeface="Calibri"/>
              </a:rPr>
              <a:t>• </a:t>
            </a:r>
            <a:r>
              <a:rPr sz="1600" b="0" i="0">
                <a:solidFill>
                  <a:srgbClr val="1A1A1A"/>
                </a:solidFill>
                <a:latin typeface="Calibri"/>
              </a:rPr>
              <a:t>Focus on the </a:t>
            </a:r>
            <a:r>
              <a:rPr sz="1600" b="1" i="0">
                <a:solidFill>
                  <a:srgbClr val="1A1A1A"/>
                </a:solidFill>
                <a:latin typeface="Calibri"/>
              </a:rPr>
              <a:t>greater good</a:t>
            </a:r>
            <a:r>
              <a:rPr sz="1600" b="0" i="0">
                <a:solidFill>
                  <a:srgbClr val="1A1A1A"/>
                </a:solidFill>
                <a:latin typeface="Calibri"/>
              </a:rPr>
              <a:t>, </a:t>
            </a:r>
            <a:r>
              <a:rPr sz="1600" b="1" i="0">
                <a:solidFill>
                  <a:srgbClr val="1A1A1A"/>
                </a:solidFill>
                <a:latin typeface="Calibri"/>
              </a:rPr>
              <a:t>trust</a:t>
            </a:r>
            <a:r>
              <a:rPr sz="1600" b="0" i="0">
                <a:solidFill>
                  <a:srgbClr val="1A1A1A"/>
                </a:solidFill>
                <a:latin typeface="Calibri"/>
              </a:rPr>
              <a:t>, </a:t>
            </a:r>
            <a:r>
              <a:rPr sz="1600" b="1" i="0">
                <a:solidFill>
                  <a:srgbClr val="1A1A1A"/>
                </a:solidFill>
                <a:latin typeface="Calibri"/>
              </a:rPr>
              <a:t>integrity</a:t>
            </a:r>
            <a:r>
              <a:rPr sz="1600" b="0" i="0">
                <a:solidFill>
                  <a:srgbClr val="1A1A1A"/>
                </a:solidFill>
                <a:latin typeface="Calibri"/>
              </a:rPr>
              <a:t>, </a:t>
            </a:r>
            <a:r>
              <a:rPr sz="1600" b="1" i="0">
                <a:solidFill>
                  <a:srgbClr val="1A1A1A"/>
                </a:solidFill>
                <a:latin typeface="Calibri"/>
              </a:rPr>
              <a:t>forgiveness</a:t>
            </a:r>
          </a:p>
          <a:p>
            <a:pPr>
              <a:spcAft>
                <a:spcPts val="300"/>
              </a:spcAft>
            </a:pPr>
            <a:r>
              <a:rPr sz="1600" b="1" i="0">
                <a:solidFill>
                  <a:srgbClr val="1A1A1A"/>
                </a:solidFill>
                <a:latin typeface="Calibri"/>
              </a:rPr>
              <a:t>• </a:t>
            </a:r>
            <a:r>
              <a:rPr sz="1600" b="0" i="0">
                <a:solidFill>
                  <a:srgbClr val="1A1A1A"/>
                </a:solidFill>
                <a:latin typeface="Calibri"/>
              </a:rPr>
              <a:t>Benefits: financial performance, customer satisfaction, positive climate, org effectiveness</a:t>
            </a:r>
          </a:p>
          <a:p>
            <a:pPr>
              <a:spcAft>
                <a:spcPts val="300"/>
              </a:spcAft>
            </a:pPr>
            <a:r>
              <a:rPr sz="1600" b="1" i="0">
                <a:solidFill>
                  <a:srgbClr val="1A1A1A"/>
                </a:solidFill>
                <a:latin typeface="Calibri"/>
              </a:rPr>
              <a:t>• </a:t>
            </a:r>
            <a:r>
              <a:rPr sz="1600" b="0" i="0">
                <a:solidFill>
                  <a:srgbClr val="1A1A1A"/>
                </a:solidFill>
                <a:latin typeface="Calibri"/>
              </a:rPr>
              <a:t>Quiz: panel resolving conflicts = </a:t>
            </a:r>
            <a:r>
              <a:rPr sz="1600" b="1" i="0">
                <a:solidFill>
                  <a:srgbClr val="1A1A1A"/>
                </a:solidFill>
                <a:latin typeface="Calibri"/>
              </a:rPr>
              <a:t>restorative justice</a:t>
            </a:r>
            <a:r>
              <a:rPr sz="1600" b="0" i="0">
                <a:solidFill>
                  <a:srgbClr val="1A1A1A"/>
                </a:solidFill>
                <a:latin typeface="Calibri"/>
              </a:rPr>
              <a:t> value</a:t>
            </a:r>
          </a:p>
        </p:txBody>
      </p:sp>
      <p:sp>
        <p:nvSpPr>
          <p:cNvPr id="17" name="TextBox 16"/>
          <p:cNvSpPr txBox="1"/>
          <p:nvPr/>
        </p:nvSpPr>
        <p:spPr>
          <a:xfrm>
            <a:off x="4251960" y="1005840"/>
            <a:ext cx="7680960" cy="411480"/>
          </a:xfrm>
          <a:prstGeom prst="rect">
            <a:avLst/>
          </a:prstGeom>
          <a:noFill/>
        </p:spPr>
        <p:txBody>
          <a:bodyPr wrap="square" anchor="t" lIns="45720" rIns="45720" tIns="18288" bIns="18288"/>
          <a:lstStyle/>
          <a:p>
            <a:pPr algn="l"/>
            <a:r>
              <a:rPr sz="1700" b="1" i="0">
                <a:solidFill>
                  <a:srgbClr val="00838F"/>
                </a:solidFill>
                <a:latin typeface="Calibri"/>
              </a:rPr>
              <a:t>Flourishing = extent your life contains PERMA (Seligman)</a:t>
            </a:r>
          </a:p>
        </p:txBody>
      </p:sp>
      <p:sp>
        <p:nvSpPr>
          <p:cNvPr id="18" name="Rounded Rectangle 17"/>
          <p:cNvSpPr/>
          <p:nvPr/>
        </p:nvSpPr>
        <p:spPr>
          <a:xfrm>
            <a:off x="4251960" y="1463040"/>
            <a:ext cx="868680" cy="914400"/>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3400" b="1" i="0">
                <a:solidFill>
                  <a:srgbClr val="FFFFFF"/>
                </a:solidFill>
                <a:latin typeface="Calibri"/>
              </a:rPr>
              <a:t>P</a:t>
            </a:r>
          </a:p>
        </p:txBody>
      </p:sp>
      <p:sp>
        <p:nvSpPr>
          <p:cNvPr id="19" name="Rounded Rectangle 18"/>
          <p:cNvSpPr/>
          <p:nvPr/>
        </p:nvSpPr>
        <p:spPr>
          <a:xfrm>
            <a:off x="5166360" y="1463040"/>
            <a:ext cx="6766560" cy="914400"/>
          </a:xfrm>
          <a:prstGeom prst="roundRect">
            <a:avLst>
              <a:gd name="adj" fmla="val 6000"/>
            </a:avLst>
          </a:prstGeom>
          <a:solidFill>
            <a:srgbClr val="FFFFFF"/>
          </a:solidFill>
          <a:ln w="19050">
            <a:solidFill>
              <a:srgbClr val="8AA5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57800" y="1481328"/>
            <a:ext cx="6583680" cy="877824"/>
          </a:xfrm>
          <a:prstGeom prst="rect">
            <a:avLst/>
          </a:prstGeom>
          <a:noFill/>
        </p:spPr>
        <p:txBody>
          <a:bodyPr wrap="square" anchor="ctr" lIns="45720" rIns="45720" tIns="18288" bIns="18288"/>
          <a:lstStyle/>
          <a:p>
            <a:pPr algn="l"/>
            <a:r>
              <a:rPr sz="1700" b="1" i="0">
                <a:solidFill>
                  <a:srgbClr val="1A1A1A"/>
                </a:solidFill>
                <a:latin typeface="Calibri"/>
              </a:rPr>
              <a:t>Positive emotions</a:t>
            </a:r>
            <a:r>
              <a:rPr sz="1700" b="0" i="0">
                <a:solidFill>
                  <a:srgbClr val="1A1A1A"/>
                </a:solidFill>
                <a:latin typeface="Calibri"/>
              </a:rPr>
              <a:t>: broaden; spread; strengthen relationships</a:t>
            </a:r>
          </a:p>
        </p:txBody>
      </p:sp>
      <p:sp>
        <p:nvSpPr>
          <p:cNvPr id="21" name="Rounded Rectangle 20"/>
          <p:cNvSpPr/>
          <p:nvPr/>
        </p:nvSpPr>
        <p:spPr>
          <a:xfrm>
            <a:off x="4251960" y="2478024"/>
            <a:ext cx="868680" cy="914400"/>
          </a:xfrm>
          <a:prstGeom prst="roundRect">
            <a:avLst>
              <a:gd name="adj" fmla="val 6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3400" b="1" i="0">
                <a:solidFill>
                  <a:srgbClr val="FFFFFF"/>
                </a:solidFill>
                <a:latin typeface="Calibri"/>
              </a:rPr>
              <a:t>E</a:t>
            </a:r>
          </a:p>
        </p:txBody>
      </p:sp>
      <p:sp>
        <p:nvSpPr>
          <p:cNvPr id="22" name="Rounded Rectangle 21"/>
          <p:cNvSpPr/>
          <p:nvPr/>
        </p:nvSpPr>
        <p:spPr>
          <a:xfrm>
            <a:off x="5166360" y="2478024"/>
            <a:ext cx="6766560" cy="914400"/>
          </a:xfrm>
          <a:prstGeom prst="roundRect">
            <a:avLst>
              <a:gd name="adj" fmla="val 6000"/>
            </a:avLst>
          </a:prstGeom>
          <a:solidFill>
            <a:srgbClr val="FFFFFF"/>
          </a:solidFill>
          <a:ln w="19050">
            <a:solidFill>
              <a:srgbClr val="8EBD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57800" y="2496312"/>
            <a:ext cx="6583680" cy="877824"/>
          </a:xfrm>
          <a:prstGeom prst="rect">
            <a:avLst/>
          </a:prstGeom>
          <a:noFill/>
        </p:spPr>
        <p:txBody>
          <a:bodyPr wrap="square" anchor="ctr" lIns="45720" rIns="45720" tIns="18288" bIns="18288"/>
          <a:lstStyle/>
          <a:p>
            <a:pPr algn="l"/>
            <a:r>
              <a:rPr sz="1700" b="1" i="0">
                <a:solidFill>
                  <a:srgbClr val="1A1A1A"/>
                </a:solidFill>
                <a:latin typeface="Calibri"/>
              </a:rPr>
              <a:t>Engagement</a:t>
            </a:r>
            <a:r>
              <a:rPr sz="1700" b="0" i="0">
                <a:solidFill>
                  <a:srgbClr val="1A1A1A"/>
                </a:solidFill>
                <a:latin typeface="Calibri"/>
              </a:rPr>
              <a:t>: physically, cognitively, emotionally involved; FLOW = total absorption</a:t>
            </a:r>
          </a:p>
        </p:txBody>
      </p:sp>
      <p:sp>
        <p:nvSpPr>
          <p:cNvPr id="24" name="Rounded Rectangle 23"/>
          <p:cNvSpPr/>
          <p:nvPr/>
        </p:nvSpPr>
        <p:spPr>
          <a:xfrm>
            <a:off x="4251960" y="3493008"/>
            <a:ext cx="868680" cy="914400"/>
          </a:xfrm>
          <a:prstGeom prst="roundRect">
            <a:avLst>
              <a:gd name="adj" fmla="val 6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3400" b="1" i="0">
                <a:solidFill>
                  <a:srgbClr val="FFFFFF"/>
                </a:solidFill>
                <a:latin typeface="Calibri"/>
              </a:rPr>
              <a:t>R</a:t>
            </a:r>
          </a:p>
        </p:txBody>
      </p:sp>
      <p:sp>
        <p:nvSpPr>
          <p:cNvPr id="25" name="Rounded Rectangle 24"/>
          <p:cNvSpPr/>
          <p:nvPr/>
        </p:nvSpPr>
        <p:spPr>
          <a:xfrm>
            <a:off x="5166360" y="3493008"/>
            <a:ext cx="6766560" cy="914400"/>
          </a:xfrm>
          <a:prstGeom prst="roundRect">
            <a:avLst>
              <a:gd name="adj" fmla="val 6000"/>
            </a:avLst>
          </a:prstGeom>
          <a:solidFill>
            <a:srgbClr val="FFFFFF"/>
          </a:solidFill>
          <a:ln w="19050">
            <a:solidFill>
              <a:srgbClr val="BD8F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57800" y="3511296"/>
            <a:ext cx="6583680" cy="877824"/>
          </a:xfrm>
          <a:prstGeom prst="rect">
            <a:avLst/>
          </a:prstGeom>
          <a:noFill/>
        </p:spPr>
        <p:txBody>
          <a:bodyPr wrap="square" anchor="ctr" lIns="45720" rIns="45720" tIns="18288" bIns="18288"/>
          <a:lstStyle/>
          <a:p>
            <a:pPr algn="l"/>
            <a:r>
              <a:rPr sz="1700" b="1" i="0">
                <a:solidFill>
                  <a:srgbClr val="1A1A1A"/>
                </a:solidFill>
                <a:latin typeface="Calibri"/>
              </a:rPr>
              <a:t>Relationships</a:t>
            </a:r>
            <a:r>
              <a:rPr sz="1700" b="0" i="0">
                <a:solidFill>
                  <a:srgbClr val="1A1A1A"/>
                </a:solidFill>
                <a:latin typeface="Calibri"/>
              </a:rPr>
              <a:t>: social support: esteem · informational · companionship · instrumental</a:t>
            </a:r>
          </a:p>
        </p:txBody>
      </p:sp>
      <p:sp>
        <p:nvSpPr>
          <p:cNvPr id="27" name="Rounded Rectangle 26"/>
          <p:cNvSpPr/>
          <p:nvPr/>
        </p:nvSpPr>
        <p:spPr>
          <a:xfrm>
            <a:off x="4251960" y="4507992"/>
            <a:ext cx="868680" cy="91440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3400" b="1" i="0">
                <a:solidFill>
                  <a:srgbClr val="FFFFFF"/>
                </a:solidFill>
                <a:latin typeface="Calibri"/>
              </a:rPr>
              <a:t>M</a:t>
            </a:r>
          </a:p>
        </p:txBody>
      </p:sp>
      <p:sp>
        <p:nvSpPr>
          <p:cNvPr id="28" name="Rounded Rectangle 27"/>
          <p:cNvSpPr/>
          <p:nvPr/>
        </p:nvSpPr>
        <p:spPr>
          <a:xfrm>
            <a:off x="5166360" y="4507992"/>
            <a:ext cx="6766560" cy="914400"/>
          </a:xfrm>
          <a:prstGeom prst="roundRect">
            <a:avLst>
              <a:gd name="adj" fmla="val 6000"/>
            </a:avLst>
          </a:prstGeom>
          <a:solidFill>
            <a:srgbClr val="FFFFFF"/>
          </a:solidFill>
          <a:ln w="19050">
            <a:solidFill>
              <a:srgbClr val="EBA4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57800" y="4526279"/>
            <a:ext cx="6583680" cy="877824"/>
          </a:xfrm>
          <a:prstGeom prst="rect">
            <a:avLst/>
          </a:prstGeom>
          <a:noFill/>
        </p:spPr>
        <p:txBody>
          <a:bodyPr wrap="square" anchor="ctr" lIns="45720" rIns="45720" tIns="18288" bIns="18288"/>
          <a:lstStyle/>
          <a:p>
            <a:pPr algn="l"/>
            <a:r>
              <a:rPr sz="1700" b="1" i="0">
                <a:solidFill>
                  <a:srgbClr val="1A1A1A"/>
                </a:solidFill>
                <a:latin typeface="Calibri"/>
              </a:rPr>
              <a:t>Meaning</a:t>
            </a:r>
            <a:r>
              <a:rPr sz="1700" b="0" i="0">
                <a:solidFill>
                  <a:srgbClr val="1A1A1A"/>
                </a:solidFill>
                <a:latin typeface="Calibri"/>
              </a:rPr>
              <a:t>: belonging to &amp; serving something bigger than self</a:t>
            </a:r>
          </a:p>
        </p:txBody>
      </p:sp>
      <p:sp>
        <p:nvSpPr>
          <p:cNvPr id="30" name="Rounded Rectangle 29"/>
          <p:cNvSpPr/>
          <p:nvPr/>
        </p:nvSpPr>
        <p:spPr>
          <a:xfrm>
            <a:off x="4251960" y="5522976"/>
            <a:ext cx="868680" cy="914400"/>
          </a:xfrm>
          <a:prstGeom prst="roundRect">
            <a:avLst>
              <a:gd name="adj" fmla="val 6000"/>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3400" b="1" i="0">
                <a:solidFill>
                  <a:srgbClr val="FFFFFF"/>
                </a:solidFill>
                <a:latin typeface="Calibri"/>
              </a:rPr>
              <a:t>A</a:t>
            </a:r>
          </a:p>
        </p:txBody>
      </p:sp>
      <p:sp>
        <p:nvSpPr>
          <p:cNvPr id="31" name="Rounded Rectangle 30"/>
          <p:cNvSpPr/>
          <p:nvPr/>
        </p:nvSpPr>
        <p:spPr>
          <a:xfrm>
            <a:off x="5166360" y="5522976"/>
            <a:ext cx="6766560" cy="914400"/>
          </a:xfrm>
          <a:prstGeom prst="roundRect">
            <a:avLst>
              <a:gd name="adj" fmla="val 6000"/>
            </a:avLst>
          </a:prstGeom>
          <a:solidFill>
            <a:srgbClr val="FFFFFF"/>
          </a:solidFill>
          <a:ln w="19050">
            <a:solidFill>
              <a:srgbClr val="7FC1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257800" y="5541264"/>
            <a:ext cx="6583680" cy="877824"/>
          </a:xfrm>
          <a:prstGeom prst="rect">
            <a:avLst/>
          </a:prstGeom>
          <a:noFill/>
        </p:spPr>
        <p:txBody>
          <a:bodyPr wrap="square" anchor="ctr" lIns="45720" rIns="45720" tIns="18288" bIns="18288"/>
          <a:lstStyle/>
          <a:p>
            <a:pPr algn="l"/>
            <a:r>
              <a:rPr sz="1700" b="1" i="0">
                <a:solidFill>
                  <a:srgbClr val="1A1A1A"/>
                </a:solidFill>
                <a:latin typeface="Calibri"/>
              </a:rPr>
              <a:t>Achievement</a:t>
            </a:r>
            <a:r>
              <a:rPr sz="1700" b="0" i="0">
                <a:solidFill>
                  <a:srgbClr val="1A1A1A"/>
                </a:solidFill>
                <a:latin typeface="Calibri"/>
              </a:rPr>
              <a:t>: self-directed accomplishment pursued for its own sake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600" b="1" i="0">
                <a:solidFill>
                  <a:srgbClr val="FFFFFF"/>
                </a:solidFill>
                <a:latin typeface="Calibri"/>
              </a:rPr>
              <a:t>Case 6: Southwest Airlines' Nonstop Culture (WDI 2015)</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BFE0E3"/>
                </a:solidFill>
                <a:latin typeface="Calibri"/>
              </a:rPr>
              <a:t>MODULE 5 · POSITIVE OB</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Transparency &amp; empowerment · POB</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56</a:t>
            </a:r>
          </a:p>
        </p:txBody>
      </p:sp>
      <p:sp>
        <p:nvSpPr>
          <p:cNvPr id="7" name="Rounded Rectangle 6"/>
          <p:cNvSpPr/>
          <p:nvPr/>
        </p:nvSpPr>
        <p:spPr>
          <a:xfrm>
            <a:off x="274320" y="1051560"/>
            <a:ext cx="3840480" cy="2971800"/>
          </a:xfrm>
          <a:prstGeom prst="roundRect">
            <a:avLst>
              <a:gd name="adj" fmla="val 6000"/>
            </a:avLst>
          </a:prstGeom>
          <a:solidFill>
            <a:srgbClr val="FFFFFF"/>
          </a:solidFill>
          <a:ln w="19050">
            <a:solidFill>
              <a:srgbClr val="8CC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74320" y="1051560"/>
            <a:ext cx="3840480" cy="457200"/>
          </a:xfrm>
          <a:prstGeom prst="roundRect">
            <a:avLst>
              <a:gd name="adj" fmla="val 6000"/>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371600"/>
            <a:ext cx="3840480" cy="137160"/>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051560"/>
            <a:ext cx="3657600" cy="457200"/>
          </a:xfrm>
          <a:prstGeom prst="rect">
            <a:avLst/>
          </a:prstGeom>
          <a:noFill/>
        </p:spPr>
        <p:txBody>
          <a:bodyPr wrap="square" anchor="ctr" lIns="45720" rIns="45720" tIns="18288" bIns="18288"/>
          <a:lstStyle/>
          <a:p>
            <a:pPr algn="l"/>
            <a:r>
              <a:rPr sz="1900" b="1" i="0">
                <a:solidFill>
                  <a:srgbClr val="FFFFFF"/>
                </a:solidFill>
                <a:latin typeface="Calibri"/>
              </a:rPr>
              <a:t>Facts</a:t>
            </a:r>
          </a:p>
        </p:txBody>
      </p:sp>
      <p:sp>
        <p:nvSpPr>
          <p:cNvPr id="11" name="TextBox 10"/>
          <p:cNvSpPr txBox="1"/>
          <p:nvPr/>
        </p:nvSpPr>
        <p:spPr>
          <a:xfrm>
            <a:off x="347472" y="1563624"/>
            <a:ext cx="3694176" cy="2423160"/>
          </a:xfrm>
          <a:prstGeom prst="rect">
            <a:avLst/>
          </a:prstGeom>
          <a:noFill/>
        </p:spPr>
        <p:txBody>
          <a:bodyPr wrap="square" anchor="t" lIns="54864" rIns="54864" tIns="27432" bIns="27432"/>
          <a:lstStyle/>
          <a:p>
            <a:pPr>
              <a:spcAft>
                <a:spcPts val="300"/>
              </a:spcAft>
            </a:pPr>
            <a:r>
              <a:rPr sz="1600" b="1" i="0">
                <a:solidFill>
                  <a:srgbClr val="1A1A1A"/>
                </a:solidFill>
                <a:latin typeface="Calibri"/>
              </a:rPr>
              <a:t>• </a:t>
            </a:r>
            <a:r>
              <a:rPr sz="1600" b="0" i="0">
                <a:solidFill>
                  <a:srgbClr val="1A1A1A"/>
                </a:solidFill>
                <a:latin typeface="Calibri"/>
              </a:rPr>
              <a:t>Founded 1967 (King &amp; Kelleher); profitable </a:t>
            </a:r>
            <a:r>
              <a:rPr sz="1600" b="1" i="0">
                <a:solidFill>
                  <a:srgbClr val="1A1A1A"/>
                </a:solidFill>
                <a:latin typeface="Calibri"/>
              </a:rPr>
              <a:t>41 straight years</a:t>
            </a:r>
            <a:r>
              <a:rPr sz="1600" b="0" i="0">
                <a:solidFill>
                  <a:srgbClr val="1A1A1A"/>
                </a:solidFill>
                <a:latin typeface="Calibri"/>
              </a:rPr>
              <a:t> since 1973; largest US domestic carrier; NYSE: </a:t>
            </a:r>
            <a:r>
              <a:rPr sz="1600" b="1" i="0">
                <a:solidFill>
                  <a:srgbClr val="1A1A1A"/>
                </a:solidFill>
                <a:latin typeface="Calibri"/>
              </a:rPr>
              <a:t>LUV</a:t>
            </a:r>
          </a:p>
          <a:p>
            <a:pPr>
              <a:spcAft>
                <a:spcPts val="300"/>
              </a:spcAft>
            </a:pPr>
            <a:r>
              <a:rPr sz="1600" b="1" i="0">
                <a:solidFill>
                  <a:srgbClr val="1A1A1A"/>
                </a:solidFill>
                <a:latin typeface="Calibri"/>
              </a:rPr>
              <a:t>• </a:t>
            </a:r>
            <a:r>
              <a:rPr sz="1600" b="0" i="0">
                <a:solidFill>
                  <a:srgbClr val="1A1A1A"/>
                </a:solidFill>
                <a:latin typeface="Calibri"/>
              </a:rPr>
              <a:t>Low-cost, single aircraft (737), fast turnarounds</a:t>
            </a:r>
          </a:p>
          <a:p>
            <a:pPr>
              <a:spcAft>
                <a:spcPts val="300"/>
              </a:spcAft>
            </a:pPr>
            <a:r>
              <a:rPr sz="1600" b="1" i="0">
                <a:solidFill>
                  <a:srgbClr val="1A1A1A"/>
                </a:solidFill>
                <a:latin typeface="Calibri"/>
              </a:rPr>
              <a:t>• </a:t>
            </a:r>
            <a:r>
              <a:rPr sz="1600" b="0" i="0">
                <a:solidFill>
                  <a:srgbClr val="1A1A1A"/>
                </a:solidFill>
                <a:latin typeface="Calibri"/>
              </a:rPr>
              <a:t>44,831 employees; 100,682 résumés → 1,521 hired (2013); 83% unionised</a:t>
            </a:r>
          </a:p>
        </p:txBody>
      </p:sp>
      <p:sp>
        <p:nvSpPr>
          <p:cNvPr id="12" name="Rounded Rectangle 11"/>
          <p:cNvSpPr/>
          <p:nvPr/>
        </p:nvSpPr>
        <p:spPr>
          <a:xfrm>
            <a:off x="274320" y="4160520"/>
            <a:ext cx="3840480" cy="2377440"/>
          </a:xfrm>
          <a:prstGeom prst="roundRect">
            <a:avLst>
              <a:gd name="adj" fmla="val 6000"/>
            </a:avLst>
          </a:prstGeom>
          <a:solidFill>
            <a:srgbClr val="FFFFFF"/>
          </a:solidFill>
          <a:ln w="19050">
            <a:solidFill>
              <a:srgbClr val="8CC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74320" y="4160520"/>
            <a:ext cx="3840480" cy="457200"/>
          </a:xfrm>
          <a:prstGeom prst="roundRect">
            <a:avLst>
              <a:gd name="adj" fmla="val 6000"/>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4320" y="4480559"/>
            <a:ext cx="3840480" cy="137160"/>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4160520"/>
            <a:ext cx="3657600" cy="457200"/>
          </a:xfrm>
          <a:prstGeom prst="rect">
            <a:avLst/>
          </a:prstGeom>
          <a:noFill/>
        </p:spPr>
        <p:txBody>
          <a:bodyPr wrap="square" anchor="ctr" lIns="45720" rIns="45720" tIns="18288" bIns="18288"/>
          <a:lstStyle/>
          <a:p>
            <a:pPr algn="l"/>
            <a:r>
              <a:rPr sz="1900" b="1" i="0">
                <a:solidFill>
                  <a:srgbClr val="FFFFFF"/>
                </a:solidFill>
                <a:latin typeface="Calibri"/>
              </a:rPr>
              <a:t>Leaders</a:t>
            </a:r>
          </a:p>
        </p:txBody>
      </p:sp>
      <p:sp>
        <p:nvSpPr>
          <p:cNvPr id="16" name="TextBox 15"/>
          <p:cNvSpPr txBox="1"/>
          <p:nvPr/>
        </p:nvSpPr>
        <p:spPr>
          <a:xfrm>
            <a:off x="347472" y="4672583"/>
            <a:ext cx="3694176" cy="1828800"/>
          </a:xfrm>
          <a:prstGeom prst="rect">
            <a:avLst/>
          </a:prstGeom>
          <a:noFill/>
        </p:spPr>
        <p:txBody>
          <a:bodyPr wrap="square" anchor="t" lIns="54864" rIns="54864" tIns="27432" bIns="27432"/>
          <a:lstStyle/>
          <a:p>
            <a:pPr>
              <a:spcAft>
                <a:spcPts val="300"/>
              </a:spcAft>
            </a:pPr>
            <a:r>
              <a:rPr sz="1600" b="1" i="0">
                <a:solidFill>
                  <a:srgbClr val="1A1A1A"/>
                </a:solidFill>
                <a:latin typeface="Calibri"/>
              </a:rPr>
              <a:t>• </a:t>
            </a:r>
            <a:r>
              <a:rPr sz="1600" b="1" i="0">
                <a:solidFill>
                  <a:srgbClr val="1A1A1A"/>
                </a:solidFill>
                <a:latin typeface="Calibri"/>
              </a:rPr>
              <a:t>Herb Kelleher</a:t>
            </a:r>
            <a:r>
              <a:rPr sz="1600" b="0" i="0">
                <a:solidFill>
                  <a:srgbClr val="1A1A1A"/>
                </a:solidFill>
                <a:latin typeface="Calibri"/>
              </a:rPr>
              <a:t>: fun, informality, cards for births/deaths, 'value people as individuals', integrity; stay out of employees' way</a:t>
            </a:r>
          </a:p>
          <a:p>
            <a:pPr>
              <a:spcAft>
                <a:spcPts val="300"/>
              </a:spcAft>
            </a:pPr>
            <a:r>
              <a:rPr sz="1600" b="1" i="0">
                <a:solidFill>
                  <a:srgbClr val="1A1A1A"/>
                </a:solidFill>
                <a:latin typeface="Calibri"/>
              </a:rPr>
              <a:t>• </a:t>
            </a:r>
            <a:r>
              <a:rPr sz="1600" b="1" i="0">
                <a:solidFill>
                  <a:srgbClr val="1A1A1A"/>
                </a:solidFill>
                <a:latin typeface="Calibri"/>
              </a:rPr>
              <a:t>Gary Kelly</a:t>
            </a:r>
            <a:r>
              <a:rPr sz="1600" b="0" i="0">
                <a:solidFill>
                  <a:srgbClr val="1A1A1A"/>
                </a:solidFill>
                <a:latin typeface="Calibri"/>
              </a:rPr>
              <a:t> (2008): 'our people = greatest strength'; AirTran merger</a:t>
            </a:r>
          </a:p>
        </p:txBody>
      </p:sp>
      <p:sp>
        <p:nvSpPr>
          <p:cNvPr id="17" name="Rounded Rectangle 16"/>
          <p:cNvSpPr/>
          <p:nvPr/>
        </p:nvSpPr>
        <p:spPr>
          <a:xfrm>
            <a:off x="4251960" y="1051560"/>
            <a:ext cx="3840480" cy="5486400"/>
          </a:xfrm>
          <a:prstGeom prst="roundRect">
            <a:avLst>
              <a:gd name="adj" fmla="val 6000"/>
            </a:avLst>
          </a:prstGeom>
          <a:solidFill>
            <a:srgbClr val="FFFFFF"/>
          </a:solidFill>
          <a:ln w="19050">
            <a:solidFill>
              <a:srgbClr val="8CC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251960" y="1051560"/>
            <a:ext cx="3840480" cy="457200"/>
          </a:xfrm>
          <a:prstGeom prst="roundRect">
            <a:avLst>
              <a:gd name="adj" fmla="val 6000"/>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51960" y="1371600"/>
            <a:ext cx="3840480" cy="137160"/>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43400" y="1051560"/>
            <a:ext cx="3657600" cy="457200"/>
          </a:xfrm>
          <a:prstGeom prst="rect">
            <a:avLst/>
          </a:prstGeom>
          <a:noFill/>
        </p:spPr>
        <p:txBody>
          <a:bodyPr wrap="square" anchor="ctr" lIns="45720" rIns="45720" tIns="18288" bIns="18288"/>
          <a:lstStyle/>
          <a:p>
            <a:pPr algn="l"/>
            <a:r>
              <a:rPr sz="1900" b="1" i="0">
                <a:solidFill>
                  <a:srgbClr val="FFFFFF"/>
                </a:solidFill>
                <a:latin typeface="Calibri"/>
              </a:rPr>
              <a:t>People practices</a:t>
            </a:r>
          </a:p>
        </p:txBody>
      </p:sp>
      <p:sp>
        <p:nvSpPr>
          <p:cNvPr id="21" name="TextBox 20"/>
          <p:cNvSpPr txBox="1"/>
          <p:nvPr/>
        </p:nvSpPr>
        <p:spPr>
          <a:xfrm>
            <a:off x="4325112" y="1563624"/>
            <a:ext cx="3694176" cy="4937760"/>
          </a:xfrm>
          <a:prstGeom prst="rect">
            <a:avLst/>
          </a:prstGeom>
          <a:noFill/>
        </p:spPr>
        <p:txBody>
          <a:bodyPr wrap="square" anchor="t" lIns="54864" rIns="54864" tIns="27432" bIns="27432"/>
          <a:lstStyle/>
          <a:p>
            <a:pPr>
              <a:spcAft>
                <a:spcPts val="300"/>
              </a:spcAft>
            </a:pPr>
            <a:r>
              <a:rPr sz="1600" b="1" i="0">
                <a:solidFill>
                  <a:srgbClr val="1A1A1A"/>
                </a:solidFill>
                <a:latin typeface="Calibri"/>
              </a:rPr>
              <a:t>• </a:t>
            </a:r>
            <a:r>
              <a:rPr sz="1600" b="1" i="0">
                <a:solidFill>
                  <a:srgbClr val="1A1A1A"/>
                </a:solidFill>
                <a:latin typeface="Calibri"/>
              </a:rPr>
              <a:t>Hire for attitude, train for skill</a:t>
            </a:r>
            <a:r>
              <a:rPr sz="1600" b="0" i="0">
                <a:solidFill>
                  <a:srgbClr val="1A1A1A"/>
                </a:solidFill>
                <a:latin typeface="Calibri"/>
              </a:rPr>
              <a:t>; group interviews, situational questions; pilots: 3-phase interview</a:t>
            </a:r>
          </a:p>
          <a:p>
            <a:pPr>
              <a:spcAft>
                <a:spcPts val="300"/>
              </a:spcAft>
            </a:pPr>
            <a:r>
              <a:rPr sz="1600" b="1" i="0">
                <a:solidFill>
                  <a:srgbClr val="1A1A1A"/>
                </a:solidFill>
                <a:latin typeface="Calibri"/>
              </a:rPr>
              <a:t>• </a:t>
            </a:r>
            <a:r>
              <a:rPr sz="1600" b="1" i="0">
                <a:solidFill>
                  <a:srgbClr val="1A1A1A"/>
                </a:solidFill>
                <a:latin typeface="Calibri"/>
              </a:rPr>
              <a:t>Employees = first customers</a:t>
            </a:r>
            <a:r>
              <a:rPr sz="1600" b="0" i="0">
                <a:solidFill>
                  <a:srgbClr val="1A1A1A"/>
                </a:solidFill>
                <a:latin typeface="Calibri"/>
              </a:rPr>
              <a:t>; customers second</a:t>
            </a:r>
          </a:p>
          <a:p>
            <a:pPr>
              <a:spcAft>
                <a:spcPts val="300"/>
              </a:spcAft>
            </a:pPr>
            <a:r>
              <a:rPr sz="1600" b="1" i="0">
                <a:solidFill>
                  <a:srgbClr val="1A1A1A"/>
                </a:solidFill>
                <a:latin typeface="Calibri"/>
              </a:rPr>
              <a:t>• </a:t>
            </a:r>
            <a:r>
              <a:rPr sz="1600" b="1" i="0">
                <a:solidFill>
                  <a:srgbClr val="1A1A1A"/>
                </a:solidFill>
                <a:latin typeface="Calibri"/>
              </a:rPr>
              <a:t>University for People</a:t>
            </a:r>
            <a:r>
              <a:rPr sz="1600" b="0" i="0">
                <a:solidFill>
                  <a:srgbClr val="1A1A1A"/>
                </a:solidFill>
                <a:latin typeface="Calibri"/>
              </a:rPr>
              <a:t> (1986); MIT program $25K/person; leadership pipeline</a:t>
            </a:r>
          </a:p>
          <a:p>
            <a:pPr>
              <a:spcAft>
                <a:spcPts val="300"/>
              </a:spcAft>
            </a:pPr>
            <a:r>
              <a:rPr sz="1600" b="1" i="0">
                <a:solidFill>
                  <a:srgbClr val="1A1A1A"/>
                </a:solidFill>
                <a:latin typeface="Calibri"/>
              </a:rPr>
              <a:t>• </a:t>
            </a:r>
            <a:r>
              <a:rPr sz="1600" b="1" i="0">
                <a:solidFill>
                  <a:srgbClr val="1A1A1A"/>
                </a:solidFill>
                <a:latin typeface="Calibri"/>
              </a:rPr>
              <a:t>No layoffs ever</a:t>
            </a:r>
            <a:r>
              <a:rPr sz="1600" b="0" i="0">
                <a:solidFill>
                  <a:srgbClr val="1A1A1A"/>
                </a:solidFill>
                <a:latin typeface="Calibri"/>
              </a:rPr>
              <a:t> ('Nothing kills culture like layoffs')</a:t>
            </a:r>
          </a:p>
          <a:p>
            <a:pPr>
              <a:spcAft>
                <a:spcPts val="300"/>
              </a:spcAft>
            </a:pPr>
            <a:r>
              <a:rPr sz="1600" b="1" i="0">
                <a:solidFill>
                  <a:srgbClr val="1A1A1A"/>
                </a:solidFill>
                <a:latin typeface="Calibri"/>
              </a:rPr>
              <a:t>• </a:t>
            </a:r>
            <a:r>
              <a:rPr sz="1600" b="1" i="0">
                <a:solidFill>
                  <a:srgbClr val="1A1A1A"/>
                </a:solidFill>
                <a:latin typeface="Calibri"/>
              </a:rPr>
              <a:t>Open-book management</a:t>
            </a:r>
            <a:r>
              <a:rPr sz="1600" b="0" i="0">
                <a:solidFill>
                  <a:srgbClr val="1A1A1A"/>
                </a:solidFill>
                <a:latin typeface="Calibri"/>
              </a:rPr>
              <a:t> + 'Zodiak' finance board game → ownership</a:t>
            </a:r>
          </a:p>
          <a:p>
            <a:pPr>
              <a:spcAft>
                <a:spcPts val="300"/>
              </a:spcAft>
            </a:pPr>
            <a:r>
              <a:rPr sz="1600" b="1" i="0">
                <a:solidFill>
                  <a:srgbClr val="1A1A1A"/>
                </a:solidFill>
                <a:latin typeface="Calibri"/>
              </a:rPr>
              <a:t>• </a:t>
            </a:r>
            <a:r>
              <a:rPr sz="1600" b="0" i="0">
                <a:solidFill>
                  <a:srgbClr val="1A1A1A"/>
                </a:solidFill>
                <a:latin typeface="Calibri"/>
              </a:rPr>
              <a:t>Empowered customer-relations specialists; Listening Center</a:t>
            </a:r>
          </a:p>
          <a:p>
            <a:pPr>
              <a:spcAft>
                <a:spcPts val="300"/>
              </a:spcAft>
            </a:pPr>
            <a:r>
              <a:rPr sz="1600" b="1" i="0">
                <a:solidFill>
                  <a:srgbClr val="1A1A1A"/>
                </a:solidFill>
                <a:latin typeface="Calibri"/>
              </a:rPr>
              <a:t>• </a:t>
            </a:r>
            <a:r>
              <a:rPr sz="1600" b="0" i="0">
                <a:solidFill>
                  <a:srgbClr val="1A1A1A"/>
                </a:solidFill>
                <a:latin typeface="Calibri"/>
              </a:rPr>
              <a:t>Fun: midair wedding, paper-plane races; 144,000 volunteer hours</a:t>
            </a:r>
          </a:p>
        </p:txBody>
      </p:sp>
      <p:sp>
        <p:nvSpPr>
          <p:cNvPr id="22" name="Rounded Rectangle 21"/>
          <p:cNvSpPr/>
          <p:nvPr/>
        </p:nvSpPr>
        <p:spPr>
          <a:xfrm>
            <a:off x="8229600" y="1051560"/>
            <a:ext cx="3703320" cy="5486400"/>
          </a:xfrm>
          <a:prstGeom prst="roundRect">
            <a:avLst>
              <a:gd name="adj" fmla="val 6000"/>
            </a:avLst>
          </a:prstGeom>
          <a:solidFill>
            <a:srgbClr val="FFFFFF"/>
          </a:solidFill>
          <a:ln w="19050">
            <a:solidFill>
              <a:srgbClr val="8CC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229600" y="1051560"/>
            <a:ext cx="3703320" cy="457200"/>
          </a:xfrm>
          <a:prstGeom prst="roundRect">
            <a:avLst>
              <a:gd name="adj" fmla="val 6000"/>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229600" y="1371600"/>
            <a:ext cx="3703320" cy="137160"/>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21040" y="1051560"/>
            <a:ext cx="3520439" cy="457200"/>
          </a:xfrm>
          <a:prstGeom prst="rect">
            <a:avLst/>
          </a:prstGeom>
          <a:noFill/>
        </p:spPr>
        <p:txBody>
          <a:bodyPr wrap="square" anchor="ctr" lIns="45720" rIns="45720" tIns="18288" bIns="18288"/>
          <a:lstStyle/>
          <a:p>
            <a:pPr algn="l"/>
            <a:r>
              <a:rPr sz="1900" b="1" i="0">
                <a:solidFill>
                  <a:srgbClr val="FFFFFF"/>
                </a:solidFill>
                <a:latin typeface="Calibri"/>
              </a:rPr>
              <a:t>Tensions &amp; outcomes</a:t>
            </a:r>
          </a:p>
        </p:txBody>
      </p:sp>
      <p:sp>
        <p:nvSpPr>
          <p:cNvPr id="26" name="TextBox 25"/>
          <p:cNvSpPr txBox="1"/>
          <p:nvPr/>
        </p:nvSpPr>
        <p:spPr>
          <a:xfrm>
            <a:off x="8302752" y="1563624"/>
            <a:ext cx="3557015" cy="4937760"/>
          </a:xfrm>
          <a:prstGeom prst="rect">
            <a:avLst/>
          </a:prstGeom>
          <a:noFill/>
        </p:spPr>
        <p:txBody>
          <a:bodyPr wrap="square" anchor="t" lIns="54864" rIns="54864" tIns="27432" bIns="27432"/>
          <a:lstStyle/>
          <a:p>
            <a:pPr>
              <a:spcAft>
                <a:spcPts val="300"/>
              </a:spcAft>
            </a:pPr>
            <a:r>
              <a:rPr sz="2000" b="1" i="0">
                <a:solidFill>
                  <a:srgbClr val="1A1A1A"/>
                </a:solidFill>
                <a:latin typeface="Calibri"/>
              </a:rPr>
              <a:t>• </a:t>
            </a:r>
            <a:r>
              <a:rPr sz="2000" b="0" i="0">
                <a:solidFill>
                  <a:srgbClr val="1A1A1A"/>
                </a:solidFill>
                <a:latin typeface="Calibri"/>
              </a:rPr>
              <a:t>Industry-leading pay (FA $63,752 vs Delta $42,647) yet 2014 union talks stalled: 'exploiting loyalty'?</a:t>
            </a:r>
          </a:p>
          <a:p>
            <a:pPr>
              <a:spcAft>
                <a:spcPts val="300"/>
              </a:spcAft>
            </a:pPr>
            <a:r>
              <a:rPr sz="2000" b="1" i="0">
                <a:solidFill>
                  <a:srgbClr val="1A1A1A"/>
                </a:solidFill>
                <a:latin typeface="Calibri"/>
              </a:rPr>
              <a:t>• </a:t>
            </a:r>
            <a:r>
              <a:rPr sz="2000" b="0" i="0">
                <a:solidFill>
                  <a:srgbClr val="1A1A1A"/>
                </a:solidFill>
                <a:latin typeface="Calibri"/>
              </a:rPr>
              <a:t>Social media blunder: family deplaned over tweet; Facebook fare sale glitch</a:t>
            </a:r>
          </a:p>
          <a:p>
            <a:pPr>
              <a:spcAft>
                <a:spcPts val="300"/>
              </a:spcAft>
            </a:pPr>
            <a:r>
              <a:rPr sz="2000" b="1" i="0">
                <a:solidFill>
                  <a:srgbClr val="1A1A1A"/>
                </a:solidFill>
                <a:latin typeface="Calibri"/>
              </a:rPr>
              <a:t>• </a:t>
            </a:r>
            <a:r>
              <a:rPr sz="2000" b="0" i="0">
                <a:solidFill>
                  <a:srgbClr val="1A1A1A"/>
                </a:solidFill>
                <a:latin typeface="Calibri"/>
              </a:rPr>
              <a:t>Outcomes: ACSI 78 (2nd), lowest complaints since 1987, no fatal crash, Fortune best places to work</a:t>
            </a:r>
          </a:p>
          <a:p>
            <a:pPr>
              <a:spcAft>
                <a:spcPts val="300"/>
              </a:spcAft>
            </a:pPr>
            <a:r>
              <a:rPr sz="2000" b="1" i="0">
                <a:solidFill>
                  <a:srgbClr val="1A1A1A"/>
                </a:solidFill>
                <a:latin typeface="Calibri"/>
              </a:rPr>
              <a:t>• </a:t>
            </a:r>
            <a:r>
              <a:rPr sz="2000" b="0" i="0">
                <a:solidFill>
                  <a:srgbClr val="1A1A1A"/>
                </a:solidFill>
                <a:latin typeface="Calibri"/>
              </a:rPr>
              <a:t>Harper's question: are the traits she hires for right for the future?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600" b="1" i="0">
                <a:solidFill>
                  <a:srgbClr val="FFFFFF"/>
                </a:solidFill>
                <a:latin typeface="Calibri"/>
              </a:rPr>
              <a:t>Case 6 Southwest: Positive OB analysis &amp; recommendations</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BFE0E3"/>
                </a:solidFill>
                <a:latin typeface="Calibri"/>
              </a:rPr>
              <a:t>MODULE 5 · POSITIVE OB</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Model answer</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57</a:t>
            </a:r>
          </a:p>
        </p:txBody>
      </p:sp>
      <p:graphicFrame>
        <p:nvGraphicFramePr>
          <p:cNvPr id="7" name="Table 6"/>
          <p:cNvGraphicFramePr>
            <a:graphicFrameLocks noGrp="1"/>
          </p:cNvGraphicFramePr>
          <p:nvPr/>
        </p:nvGraphicFramePr>
        <p:xfrm>
          <a:off x="274320" y="1051560"/>
          <a:ext cx="7589520" cy="5486400"/>
        </p:xfrm>
        <a:graphic>
          <a:graphicData uri="http://schemas.openxmlformats.org/drawingml/2006/table">
            <a:tbl>
              <a:tblPr firstRow="1" bandRow="1">
                <a:tableStyleId>{5C22544A-7EE6-4342-B048-85BDC9FD1C3A}</a:tableStyleId>
              </a:tblPr>
              <a:tblGrid>
                <a:gridCol w="2194560"/>
                <a:gridCol w="5394960"/>
              </a:tblGrid>
              <a:tr h="685800">
                <a:tc>
                  <a:txBody>
                    <a:bodyPr wrap="square"/>
                    <a:lstStyle/>
                    <a:p>
                      <a:r>
                        <a:rPr sz="1400" b="1" i="0">
                          <a:solidFill>
                            <a:srgbClr val="FFFFFF"/>
                          </a:solidFill>
                          <a:latin typeface="Calibri"/>
                        </a:rPr>
                        <a:t>POB / OB concept</a:t>
                      </a:r>
                    </a:p>
                  </a:txBody>
                  <a:tcPr marL="54864" marR="54864" marT="27432" marB="27432" anchor="ctr">
                    <a:solidFill>
                      <a:srgbClr val="00838F"/>
                    </a:solidFill>
                  </a:tcPr>
                </a:tc>
                <a:tc>
                  <a:txBody>
                    <a:bodyPr wrap="square"/>
                    <a:lstStyle/>
                    <a:p>
                      <a:r>
                        <a:rPr sz="1400" b="1" i="0">
                          <a:solidFill>
                            <a:srgbClr val="FFFFFF"/>
                          </a:solidFill>
                          <a:latin typeface="Calibri"/>
                        </a:rPr>
                        <a:t>Evidence at Southwest</a:t>
                      </a:r>
                    </a:p>
                  </a:txBody>
                  <a:tcPr marL="54864" marR="54864" marT="27432" marB="27432" anchor="ctr">
                    <a:solidFill>
                      <a:srgbClr val="00838F"/>
                    </a:solidFill>
                  </a:tcPr>
                </a:tc>
              </a:tr>
              <a:tr h="685800">
                <a:tc>
                  <a:txBody>
                    <a:bodyPr wrap="square"/>
                    <a:lstStyle/>
                    <a:p>
                      <a:r>
                        <a:rPr sz="1400" b="1" i="0">
                          <a:solidFill>
                            <a:srgbClr val="1A1A1A"/>
                          </a:solidFill>
                          <a:latin typeface="Calibri"/>
                        </a:rPr>
                        <a:t>Positive emotions &amp; contagion</a:t>
                      </a:r>
                    </a:p>
                  </a:txBody>
                  <a:tcPr marL="54864" marR="54864" marT="27432" marB="27432" anchor="ctr">
                    <a:solidFill>
                      <a:srgbClr val="FFFFFF"/>
                    </a:solidFill>
                  </a:tcPr>
                </a:tc>
                <a:tc>
                  <a:txBody>
                    <a:bodyPr wrap="square"/>
                    <a:lstStyle/>
                    <a:p>
                      <a:r>
                        <a:rPr sz="1400" b="0" i="0">
                          <a:solidFill>
                            <a:srgbClr val="1A1A1A"/>
                          </a:solidFill>
                          <a:latin typeface="Calibri"/>
                        </a:rPr>
                        <a:t>Fun culture, humour, celebrations spread to customers (spillover → satisfaction)</a:t>
                      </a:r>
                    </a:p>
                  </a:txBody>
                  <a:tcPr marL="54864" marR="54864" marT="27432" marB="27432" anchor="ctr">
                    <a:solidFill>
                      <a:srgbClr val="FFFFFF"/>
                    </a:solidFill>
                  </a:tcPr>
                </a:tc>
              </a:tr>
              <a:tr h="685800">
                <a:tc>
                  <a:txBody>
                    <a:bodyPr wrap="square"/>
                    <a:lstStyle/>
                    <a:p>
                      <a:r>
                        <a:rPr sz="1400" b="1" i="0">
                          <a:solidFill>
                            <a:srgbClr val="1A1A1A"/>
                          </a:solidFill>
                          <a:latin typeface="Calibri"/>
                        </a:rPr>
                        <a:t>PsyCap (HERO)</a:t>
                      </a:r>
                    </a:p>
                  </a:txBody>
                  <a:tcPr marL="54864" marR="54864" marT="27432" marB="27432" anchor="ctr">
                    <a:solidFill>
                      <a:srgbClr val="E5F2F3"/>
                    </a:solidFill>
                  </a:tcPr>
                </a:tc>
                <a:tc>
                  <a:txBody>
                    <a:bodyPr wrap="square"/>
                    <a:lstStyle/>
                    <a:p>
                      <a:r>
                        <a:rPr sz="1400" b="0" i="0">
                          <a:solidFill>
                            <a:srgbClr val="1A1A1A"/>
                          </a:solidFill>
                          <a:latin typeface="Calibri"/>
                        </a:rPr>
                        <a:t>Efficacy via training; hope via clear purpose &amp; career paths; resilience post-9/11 without layoffs; optimism</a:t>
                      </a:r>
                    </a:p>
                  </a:txBody>
                  <a:tcPr marL="54864" marR="54864" marT="27432" marB="27432" anchor="ctr">
                    <a:solidFill>
                      <a:srgbClr val="E5F2F3"/>
                    </a:solidFill>
                  </a:tcPr>
                </a:tc>
              </a:tr>
              <a:tr h="685800">
                <a:tc>
                  <a:txBody>
                    <a:bodyPr wrap="square"/>
                    <a:lstStyle/>
                    <a:p>
                      <a:r>
                        <a:rPr sz="1400" b="1" i="0">
                          <a:solidFill>
                            <a:srgbClr val="1A1A1A"/>
                          </a:solidFill>
                          <a:latin typeface="Calibri"/>
                        </a:rPr>
                        <a:t>Virtuous leadership</a:t>
                      </a:r>
                    </a:p>
                  </a:txBody>
                  <a:tcPr marL="54864" marR="54864" marT="27432" marB="27432" anchor="ctr">
                    <a:solidFill>
                      <a:srgbClr val="FFFFFF"/>
                    </a:solidFill>
                  </a:tcPr>
                </a:tc>
                <a:tc>
                  <a:txBody>
                    <a:bodyPr wrap="square"/>
                    <a:lstStyle/>
                    <a:p>
                      <a:r>
                        <a:rPr sz="1400" b="0" i="0">
                          <a:solidFill>
                            <a:srgbClr val="1A1A1A"/>
                          </a:solidFill>
                          <a:latin typeface="Calibri"/>
                        </a:rPr>
                        <a:t>Kelleher's integrity, care, trust; leaders stay out of the way (forgiveness, greater good)</a:t>
                      </a:r>
                    </a:p>
                  </a:txBody>
                  <a:tcPr marL="54864" marR="54864" marT="27432" marB="27432" anchor="ctr">
                    <a:solidFill>
                      <a:srgbClr val="FFFFFF"/>
                    </a:solidFill>
                  </a:tcPr>
                </a:tc>
              </a:tr>
              <a:tr h="685800">
                <a:tc>
                  <a:txBody>
                    <a:bodyPr wrap="square"/>
                    <a:lstStyle/>
                    <a:p>
                      <a:r>
                        <a:rPr sz="1400" b="1" i="0">
                          <a:solidFill>
                            <a:srgbClr val="1A1A1A"/>
                          </a:solidFill>
                          <a:latin typeface="Calibri"/>
                        </a:rPr>
                        <a:t>Positive climate: values + practices</a:t>
                      </a:r>
                    </a:p>
                  </a:txBody>
                  <a:tcPr marL="54864" marR="54864" marT="27432" marB="27432" anchor="ctr">
                    <a:solidFill>
                      <a:srgbClr val="E5F2F3"/>
                    </a:solidFill>
                  </a:tcPr>
                </a:tc>
                <a:tc>
                  <a:txBody>
                    <a:bodyPr wrap="square"/>
                    <a:lstStyle/>
                    <a:p>
                      <a:r>
                        <a:rPr sz="1400" b="0" i="0">
                          <a:solidFill>
                            <a:srgbClr val="1A1A1A"/>
                          </a:solidFill>
                          <a:latin typeface="Calibri"/>
                        </a:rPr>
                        <a:t>Simple values, no layoffs, open books, empowerment, volunteering</a:t>
                      </a:r>
                    </a:p>
                  </a:txBody>
                  <a:tcPr marL="54864" marR="54864" marT="27432" marB="27432" anchor="ctr">
                    <a:solidFill>
                      <a:srgbClr val="E5F2F3"/>
                    </a:solidFill>
                  </a:tcPr>
                </a:tc>
              </a:tr>
              <a:tr h="685800">
                <a:tc>
                  <a:txBody>
                    <a:bodyPr wrap="square"/>
                    <a:lstStyle/>
                    <a:p>
                      <a:r>
                        <a:rPr sz="1400" b="1" i="0">
                          <a:solidFill>
                            <a:srgbClr val="1A1A1A"/>
                          </a:solidFill>
                          <a:latin typeface="Calibri"/>
                        </a:rPr>
                        <a:t>PERMA / flourishing</a:t>
                      </a:r>
                    </a:p>
                  </a:txBody>
                  <a:tcPr marL="54864" marR="54864" marT="27432" marB="27432" anchor="ctr">
                    <a:solidFill>
                      <a:srgbClr val="FFFFFF"/>
                    </a:solidFill>
                  </a:tcPr>
                </a:tc>
                <a:tc>
                  <a:txBody>
                    <a:bodyPr wrap="square"/>
                    <a:lstStyle/>
                    <a:p>
                      <a:r>
                        <a:rPr sz="1400" b="0" i="0">
                          <a:solidFill>
                            <a:srgbClr val="1A1A1A"/>
                          </a:solidFill>
                          <a:latin typeface="Calibri"/>
                        </a:rPr>
                        <a:t>Engagement, relationships ('family'), meaning (purpose 2013), achievement</a:t>
                      </a:r>
                    </a:p>
                  </a:txBody>
                  <a:tcPr marL="54864" marR="54864" marT="27432" marB="27432" anchor="ctr">
                    <a:solidFill>
                      <a:srgbClr val="FFFFFF"/>
                    </a:solidFill>
                  </a:tcPr>
                </a:tc>
              </a:tr>
              <a:tr h="685800">
                <a:tc>
                  <a:txBody>
                    <a:bodyPr wrap="square"/>
                    <a:lstStyle/>
                    <a:p>
                      <a:r>
                        <a:rPr sz="1400" b="1" i="0">
                          <a:solidFill>
                            <a:srgbClr val="1A1A1A"/>
                          </a:solidFill>
                          <a:latin typeface="Calibri"/>
                        </a:rPr>
                        <a:t>Motivation links</a:t>
                      </a:r>
                    </a:p>
                  </a:txBody>
                  <a:tcPr marL="54864" marR="54864" marT="27432" marB="27432" anchor="ctr">
                    <a:solidFill>
                      <a:srgbClr val="E5F2F3"/>
                    </a:solidFill>
                  </a:tcPr>
                </a:tc>
                <a:tc>
                  <a:txBody>
                    <a:bodyPr wrap="square"/>
                    <a:lstStyle/>
                    <a:p>
                      <a:r>
                        <a:rPr sz="1400" b="0" i="0">
                          <a:solidFill>
                            <a:srgbClr val="1A1A1A"/>
                          </a:solidFill>
                          <a:latin typeface="Calibri"/>
                        </a:rPr>
                        <a:t>Herzberg (security, pay = hygiene; recognition = motivator) · SDT (autonomy) · profit sharing (expectancy)</a:t>
                      </a:r>
                    </a:p>
                  </a:txBody>
                  <a:tcPr marL="54864" marR="54864" marT="27432" marB="27432" anchor="ctr">
                    <a:solidFill>
                      <a:srgbClr val="E5F2F3"/>
                    </a:solidFill>
                  </a:tcPr>
                </a:tc>
              </a:tr>
              <a:tr h="685800">
                <a:tc>
                  <a:txBody>
                    <a:bodyPr wrap="square"/>
                    <a:lstStyle/>
                    <a:p>
                      <a:r>
                        <a:rPr sz="1400" b="1" i="0">
                          <a:solidFill>
                            <a:srgbClr val="1A1A1A"/>
                          </a:solidFill>
                          <a:latin typeface="Calibri"/>
                        </a:rPr>
                        <a:t>Values &amp; attitudes</a:t>
                      </a:r>
                    </a:p>
                  </a:txBody>
                  <a:tcPr marL="54864" marR="54864" marT="27432" marB="27432" anchor="ctr">
                    <a:solidFill>
                      <a:srgbClr val="FFFFFF"/>
                    </a:solidFill>
                  </a:tcPr>
                </a:tc>
                <a:tc>
                  <a:txBody>
                    <a:bodyPr wrap="square"/>
                    <a:lstStyle/>
                    <a:p>
                      <a:r>
                        <a:rPr sz="1400" b="0" i="0">
                          <a:solidFill>
                            <a:srgbClr val="1A1A1A"/>
                          </a:solidFill>
                          <a:latin typeface="Calibri"/>
                        </a:rPr>
                        <a:t>Hire for attitude = person-org fit → commitment, OCB, low turnover</a:t>
                      </a:r>
                    </a:p>
                  </a:txBody>
                  <a:tcPr marL="54864" marR="54864" marT="27432" marB="27432" anchor="ctr">
                    <a:solidFill>
                      <a:srgbClr val="FFFFFF"/>
                    </a:solidFill>
                  </a:tcPr>
                </a:tc>
              </a:tr>
            </a:tbl>
          </a:graphicData>
        </a:graphic>
      </p:graphicFrame>
      <p:sp>
        <p:nvSpPr>
          <p:cNvPr id="8" name="Rounded Rectangle 7"/>
          <p:cNvSpPr/>
          <p:nvPr/>
        </p:nvSpPr>
        <p:spPr>
          <a:xfrm>
            <a:off x="8001000" y="1051560"/>
            <a:ext cx="3931920" cy="5486400"/>
          </a:xfrm>
          <a:prstGeom prst="roundRect">
            <a:avLst>
              <a:gd name="adj" fmla="val 6000"/>
            </a:avLst>
          </a:prstGeom>
          <a:solidFill>
            <a:srgbClr val="FFFFFF"/>
          </a:solidFill>
          <a:ln w="19050">
            <a:solidFill>
              <a:srgbClr val="8CC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01000" y="1051560"/>
            <a:ext cx="3931920" cy="457200"/>
          </a:xfrm>
          <a:prstGeom prst="roundRect">
            <a:avLst>
              <a:gd name="adj" fmla="val 6000"/>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001000" y="1371600"/>
            <a:ext cx="3931920" cy="137160"/>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92440" y="1051560"/>
            <a:ext cx="3749039" cy="457200"/>
          </a:xfrm>
          <a:prstGeom prst="rect">
            <a:avLst/>
          </a:prstGeom>
          <a:noFill/>
        </p:spPr>
        <p:txBody>
          <a:bodyPr wrap="square" anchor="ctr" lIns="45720" rIns="45720" tIns="18288" bIns="18288"/>
          <a:lstStyle/>
          <a:p>
            <a:pPr algn="l"/>
            <a:r>
              <a:rPr sz="1400" b="1" i="0">
                <a:solidFill>
                  <a:srgbClr val="FFFFFF"/>
                </a:solidFill>
                <a:latin typeface="Calibri"/>
              </a:rPr>
              <a:t>Recommendations for Harper / Southwest</a:t>
            </a:r>
          </a:p>
        </p:txBody>
      </p:sp>
      <p:sp>
        <p:nvSpPr>
          <p:cNvPr id="12" name="TextBox 11"/>
          <p:cNvSpPr txBox="1"/>
          <p:nvPr/>
        </p:nvSpPr>
        <p:spPr>
          <a:xfrm>
            <a:off x="8074152" y="1563624"/>
            <a:ext cx="3785615" cy="4937760"/>
          </a:xfrm>
          <a:prstGeom prst="rect">
            <a:avLst/>
          </a:prstGeom>
          <a:noFill/>
        </p:spPr>
        <p:txBody>
          <a:bodyPr wrap="square" anchor="t" lIns="54864" rIns="54864" tIns="27432" bIns="27432"/>
          <a:lstStyle/>
          <a:p>
            <a:pPr>
              <a:spcAft>
                <a:spcPts val="300"/>
              </a:spcAft>
            </a:pPr>
            <a:r>
              <a:rPr sz="2000" b="1" i="0">
                <a:solidFill>
                  <a:srgbClr val="1A1A1A"/>
                </a:solidFill>
                <a:latin typeface="Calibri"/>
              </a:rPr>
              <a:t>• </a:t>
            </a:r>
            <a:r>
              <a:rPr sz="2000" b="0" i="0">
                <a:solidFill>
                  <a:srgbClr val="1A1A1A"/>
                </a:solidFill>
                <a:latin typeface="Calibri"/>
              </a:rPr>
              <a:t>Use </a:t>
            </a:r>
            <a:r>
              <a:rPr sz="2000" b="1" i="0">
                <a:solidFill>
                  <a:srgbClr val="1A1A1A"/>
                </a:solidFill>
                <a:latin typeface="Calibri"/>
              </a:rPr>
              <a:t>structured, situational interviews</a:t>
            </a:r>
            <a:r>
              <a:rPr sz="2000" b="0" i="0">
                <a:solidFill>
                  <a:srgbClr val="1A1A1A"/>
                </a:solidFill>
                <a:latin typeface="Calibri"/>
              </a:rPr>
              <a:t> with behavioural anchors for 'Southwest Way' traits + technical panels → reduce perception bias</a:t>
            </a:r>
          </a:p>
          <a:p>
            <a:pPr>
              <a:spcAft>
                <a:spcPts val="300"/>
              </a:spcAft>
            </a:pPr>
            <a:r>
              <a:rPr sz="2000" b="1" i="0">
                <a:solidFill>
                  <a:srgbClr val="1A1A1A"/>
                </a:solidFill>
                <a:latin typeface="Calibri"/>
              </a:rPr>
              <a:t>• </a:t>
            </a:r>
            <a:r>
              <a:rPr sz="2000" b="0" i="0">
                <a:solidFill>
                  <a:srgbClr val="1A1A1A"/>
                </a:solidFill>
                <a:latin typeface="Calibri"/>
              </a:rPr>
              <a:t>Hire for </a:t>
            </a:r>
            <a:r>
              <a:rPr sz="2000" b="1" i="0">
                <a:solidFill>
                  <a:srgbClr val="1A1A1A"/>
                </a:solidFill>
                <a:latin typeface="Calibri"/>
              </a:rPr>
              <a:t>PsyCap &amp; EI</a:t>
            </a:r>
            <a:r>
              <a:rPr sz="2000" b="0" i="0">
                <a:solidFill>
                  <a:srgbClr val="1A1A1A"/>
                </a:solidFill>
                <a:latin typeface="Calibri"/>
              </a:rPr>
              <a:t> (resilience, empathy) not just 'fun'</a:t>
            </a:r>
          </a:p>
          <a:p>
            <a:pPr>
              <a:spcAft>
                <a:spcPts val="300"/>
              </a:spcAft>
            </a:pPr>
            <a:r>
              <a:rPr sz="2000" b="1" i="0">
                <a:solidFill>
                  <a:srgbClr val="1A1A1A"/>
                </a:solidFill>
                <a:latin typeface="Calibri"/>
              </a:rPr>
              <a:t>• </a:t>
            </a:r>
            <a:r>
              <a:rPr sz="2000" b="0" i="0">
                <a:solidFill>
                  <a:srgbClr val="1A1A1A"/>
                </a:solidFill>
                <a:latin typeface="Calibri"/>
              </a:rPr>
              <a:t>Protect culture during union talks: transparent, fair process (</a:t>
            </a:r>
            <a:r>
              <a:rPr sz="2000" b="1" i="0">
                <a:solidFill>
                  <a:srgbClr val="1A1A1A"/>
                </a:solidFill>
                <a:latin typeface="Calibri"/>
              </a:rPr>
              <a:t>procedural justice</a:t>
            </a:r>
            <a:r>
              <a:rPr sz="2000" b="0" i="0">
                <a:solidFill>
                  <a:srgbClr val="1A1A1A"/>
                </a:solidFill>
                <a:latin typeface="Calibri"/>
              </a:rPr>
              <a:t>), avoid perception of exploiting loyalty</a:t>
            </a:r>
          </a:p>
          <a:p>
            <a:pPr>
              <a:spcAft>
                <a:spcPts val="300"/>
              </a:spcAft>
            </a:pPr>
            <a:r>
              <a:rPr sz="2000" b="1" i="0">
                <a:solidFill>
                  <a:srgbClr val="1A1A1A"/>
                </a:solidFill>
                <a:latin typeface="Calibri"/>
              </a:rPr>
              <a:t>• </a:t>
            </a:r>
            <a:r>
              <a:rPr sz="2000" b="0" i="0">
                <a:solidFill>
                  <a:srgbClr val="1A1A1A"/>
                </a:solidFill>
                <a:latin typeface="Calibri"/>
              </a:rPr>
              <a:t>Social-media guidelines + empower staff with de-escalation training</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B7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3000" b="1" i="0">
                <a:solidFill>
                  <a:srgbClr val="FFFFFF"/>
                </a:solidFill>
                <a:latin typeface="Calibri"/>
              </a:rPr>
              <a:t>EXAM TOOLKIT 1: Which theory fits which case?</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EDC6C6"/>
                </a:solidFill>
                <a:latin typeface="Calibri"/>
              </a:rPr>
              <a:t>EXAM TOOLKIT</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 = core lens · ✔ = supporting</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58</a:t>
            </a:r>
          </a:p>
        </p:txBody>
      </p:sp>
      <p:graphicFrame>
        <p:nvGraphicFramePr>
          <p:cNvPr id="7" name="Table 6"/>
          <p:cNvGraphicFramePr>
            <a:graphicFrameLocks noGrp="1"/>
          </p:cNvGraphicFramePr>
          <p:nvPr/>
        </p:nvGraphicFramePr>
        <p:xfrm>
          <a:off x="274320" y="1051560"/>
          <a:ext cx="11658593" cy="5486390"/>
        </p:xfrm>
        <a:graphic>
          <a:graphicData uri="http://schemas.openxmlformats.org/drawingml/2006/table">
            <a:tbl>
              <a:tblPr firstRow="1" bandRow="1">
                <a:tableStyleId>{5C22544A-7EE6-4342-B048-85BDC9FD1C3A}</a:tableStyleId>
              </a:tblPr>
              <a:tblGrid>
                <a:gridCol w="3106523"/>
                <a:gridCol w="950230"/>
                <a:gridCol w="950230"/>
                <a:gridCol w="950230"/>
                <a:gridCol w="950230"/>
                <a:gridCol w="950230"/>
                <a:gridCol w="950230"/>
                <a:gridCol w="950230"/>
                <a:gridCol w="950230"/>
                <a:gridCol w="950230"/>
              </a:tblGrid>
              <a:tr h="391885">
                <a:tc>
                  <a:txBody>
                    <a:bodyPr wrap="square"/>
                    <a:lstStyle/>
                    <a:p>
                      <a:r>
                        <a:rPr sz="1200" b="1" i="0">
                          <a:solidFill>
                            <a:srgbClr val="FFFFFF"/>
                          </a:solidFill>
                          <a:latin typeface="Calibri"/>
                        </a:rPr>
                        <a:t>Theory / concept</a:t>
                      </a:r>
                    </a:p>
                  </a:txBody>
                  <a:tcPr marL="54864" marR="54864" marT="27432" marB="27432" anchor="ctr">
                    <a:solidFill>
                      <a:srgbClr val="B71C1C"/>
                    </a:solidFill>
                  </a:tcPr>
                </a:tc>
                <a:tc>
                  <a:txBody>
                    <a:bodyPr wrap="square"/>
                    <a:lstStyle/>
                    <a:p>
                      <a:r>
                        <a:rPr sz="1200" b="1" i="0">
                          <a:solidFill>
                            <a:srgbClr val="FFFFFF"/>
                          </a:solidFill>
                          <a:latin typeface="Calibri"/>
                        </a:rPr>
                        <a:t>R1 DOR</a:t>
                      </a:r>
                    </a:p>
                  </a:txBody>
                  <a:tcPr marL="54864" marR="54864" marT="27432" marB="27432" anchor="ctr">
                    <a:solidFill>
                      <a:srgbClr val="B71C1C"/>
                    </a:solidFill>
                  </a:tcPr>
                </a:tc>
                <a:tc>
                  <a:txBody>
                    <a:bodyPr wrap="square"/>
                    <a:lstStyle/>
                    <a:p>
                      <a:r>
                        <a:rPr sz="1200" b="1" i="0">
                          <a:solidFill>
                            <a:srgbClr val="FFFFFF"/>
                          </a:solidFill>
                          <a:latin typeface="Calibri"/>
                        </a:rPr>
                        <a:t>R2 Andy</a:t>
                      </a:r>
                    </a:p>
                  </a:txBody>
                  <a:tcPr marL="54864" marR="54864" marT="27432" marB="27432" anchor="ctr">
                    <a:solidFill>
                      <a:srgbClr val="B71C1C"/>
                    </a:solidFill>
                  </a:tcPr>
                </a:tc>
                <a:tc>
                  <a:txBody>
                    <a:bodyPr wrap="square"/>
                    <a:lstStyle/>
                    <a:p>
                      <a:r>
                        <a:rPr sz="1200" b="1" i="0">
                          <a:solidFill>
                            <a:srgbClr val="FFFFFF"/>
                          </a:solidFill>
                          <a:latin typeface="Calibri"/>
                        </a:rPr>
                        <a:t>R3 Resist.</a:t>
                      </a:r>
                    </a:p>
                  </a:txBody>
                  <a:tcPr marL="54864" marR="54864" marT="27432" marB="27432" anchor="ctr">
                    <a:solidFill>
                      <a:srgbClr val="B71C1C"/>
                    </a:solidFill>
                  </a:tcPr>
                </a:tc>
                <a:tc>
                  <a:txBody>
                    <a:bodyPr wrap="square"/>
                    <a:lstStyle/>
                    <a:p>
                      <a:r>
                        <a:rPr sz="1200" b="1" i="0">
                          <a:solidFill>
                            <a:srgbClr val="FFFFFF"/>
                          </a:solidFill>
                          <a:latin typeface="Calibri"/>
                        </a:rPr>
                        <a:t>C5 Orix</a:t>
                      </a:r>
                    </a:p>
                  </a:txBody>
                  <a:tcPr marL="54864" marR="54864" marT="27432" marB="27432" anchor="ctr">
                    <a:solidFill>
                      <a:srgbClr val="B71C1C"/>
                    </a:solidFill>
                  </a:tcPr>
                </a:tc>
                <a:tc>
                  <a:txBody>
                    <a:bodyPr wrap="square"/>
                    <a:lstStyle/>
                    <a:p>
                      <a:r>
                        <a:rPr sz="1200" b="1" i="0">
                          <a:solidFill>
                            <a:srgbClr val="FFFFFF"/>
                          </a:solidFill>
                          <a:latin typeface="Calibri"/>
                        </a:rPr>
                        <a:t>C6 SWA</a:t>
                      </a:r>
                    </a:p>
                  </a:txBody>
                  <a:tcPr marL="54864" marR="54864" marT="27432" marB="27432" anchor="ctr">
                    <a:solidFill>
                      <a:srgbClr val="B71C1C"/>
                    </a:solidFill>
                  </a:tcPr>
                </a:tc>
                <a:tc>
                  <a:txBody>
                    <a:bodyPr wrap="square"/>
                    <a:lstStyle/>
                    <a:p>
                      <a:r>
                        <a:rPr sz="1200" b="1" i="0">
                          <a:solidFill>
                            <a:srgbClr val="FFFFFF"/>
                          </a:solidFill>
                          <a:latin typeface="Calibri"/>
                        </a:rPr>
                        <a:t>C7 Prudence</a:t>
                      </a:r>
                    </a:p>
                  </a:txBody>
                  <a:tcPr marL="54864" marR="54864" marT="27432" marB="27432" anchor="ctr">
                    <a:solidFill>
                      <a:srgbClr val="B71C1C"/>
                    </a:solidFill>
                  </a:tcPr>
                </a:tc>
                <a:tc>
                  <a:txBody>
                    <a:bodyPr wrap="square"/>
                    <a:lstStyle/>
                    <a:p>
                      <a:r>
                        <a:rPr sz="1200" b="1" i="0">
                          <a:solidFill>
                            <a:srgbClr val="FFFFFF"/>
                          </a:solidFill>
                          <a:latin typeface="Calibri"/>
                        </a:rPr>
                        <a:t>C8 Yelp</a:t>
                      </a:r>
                    </a:p>
                  </a:txBody>
                  <a:tcPr marL="54864" marR="54864" marT="27432" marB="27432" anchor="ctr">
                    <a:solidFill>
                      <a:srgbClr val="B71C1C"/>
                    </a:solidFill>
                  </a:tcPr>
                </a:tc>
                <a:tc>
                  <a:txBody>
                    <a:bodyPr wrap="square"/>
                    <a:lstStyle/>
                    <a:p>
                      <a:r>
                        <a:rPr sz="1200" b="1" i="0">
                          <a:solidFill>
                            <a:srgbClr val="FFFFFF"/>
                          </a:solidFill>
                          <a:latin typeface="Calibri"/>
                        </a:rPr>
                        <a:t>Starbucks</a:t>
                      </a:r>
                    </a:p>
                  </a:txBody>
                  <a:tcPr marL="54864" marR="54864" marT="27432" marB="27432" anchor="ctr">
                    <a:solidFill>
                      <a:srgbClr val="B71C1C"/>
                    </a:solidFill>
                  </a:tcPr>
                </a:tc>
                <a:tc>
                  <a:txBody>
                    <a:bodyPr wrap="square"/>
                    <a:lstStyle/>
                    <a:p>
                      <a:r>
                        <a:rPr sz="1200" b="1" i="0">
                          <a:solidFill>
                            <a:srgbClr val="FFFFFF"/>
                          </a:solidFill>
                          <a:latin typeface="Calibri"/>
                        </a:rPr>
                        <a:t>Infosys/Jet</a:t>
                      </a:r>
                    </a:p>
                  </a:txBody>
                  <a:tcPr marL="54864" marR="54864" marT="27432" marB="27432" anchor="ctr">
                    <a:solidFill>
                      <a:srgbClr val="B71C1C"/>
                    </a:solidFill>
                  </a:tcPr>
                </a:tc>
              </a:tr>
              <a:tr h="391885">
                <a:tc>
                  <a:txBody>
                    <a:bodyPr wrap="square"/>
                    <a:lstStyle/>
                    <a:p>
                      <a:r>
                        <a:rPr sz="1300" b="1" i="0">
                          <a:solidFill>
                            <a:srgbClr val="1A1A1A"/>
                          </a:solidFill>
                          <a:latin typeface="Calibri"/>
                        </a:rPr>
                        <a:t>3-step + Organizing Framework</a:t>
                      </a:r>
                    </a:p>
                  </a:txBody>
                  <a:tcPr marL="54864" marR="54864" marT="27432" marB="27432" anchor="ctr">
                    <a:solidFill>
                      <a:srgbClr val="FFFFFF"/>
                    </a:solidFill>
                  </a:tcPr>
                </a:tc>
                <a:tc>
                  <a:txBody>
                    <a:bodyPr wrap="square"/>
                    <a:lstStyle/>
                    <a:p>
                      <a:r>
                        <a:rPr sz="1300" b="0" i="0">
                          <a:solidFill>
                            <a:srgbClr val="1A1A1A"/>
                          </a:solidFill>
                          <a:latin typeface="Calibri"/>
                        </a:rPr>
                        <a:t>✔✔</a:t>
                      </a:r>
                    </a:p>
                  </a:txBody>
                  <a:tcPr marL="54864" marR="54864" marT="27432" marB="27432" anchor="ctr">
                    <a:solidFill>
                      <a:srgbClr val="FFFFFF"/>
                    </a:solidFill>
                  </a:tcPr>
                </a:tc>
                <a:tc>
                  <a:txBody>
                    <a:bodyPr wrap="square"/>
                    <a:lstStyle/>
                    <a:p>
                      <a:r>
                        <a:rPr sz="1300" b="0" i="0">
                          <a:solidFill>
                            <a:srgbClr val="1A1A1A"/>
                          </a:solidFill>
                          <a:latin typeface="Calibri"/>
                        </a:rPr>
                        <a:t>✔</a:t>
                      </a:r>
                    </a:p>
                  </a:txBody>
                  <a:tcPr marL="54864" marR="54864" marT="27432" marB="27432" anchor="ctr">
                    <a:solidFill>
                      <a:srgbClr val="FFFFFF"/>
                    </a:solidFill>
                  </a:tcPr>
                </a:tc>
                <a:tc>
                  <a:txBody>
                    <a:bodyPr wrap="square"/>
                    <a:lstStyle/>
                    <a:p>
                      <a:r>
                        <a:rPr sz="1300" b="0" i="0">
                          <a:solidFill>
                            <a:srgbClr val="1A1A1A"/>
                          </a:solidFill>
                          <a:latin typeface="Calibri"/>
                        </a:rPr>
                        <a:t>✔</a:t>
                      </a:r>
                    </a:p>
                  </a:txBody>
                  <a:tcPr marL="54864" marR="54864" marT="27432" marB="27432" anchor="ctr">
                    <a:solidFill>
                      <a:srgbClr val="FFFFFF"/>
                    </a:solidFill>
                  </a:tcPr>
                </a:tc>
                <a:tc>
                  <a:txBody>
                    <a:bodyPr wrap="square"/>
                    <a:lstStyle/>
                    <a:p>
                      <a:r>
                        <a:rPr sz="1300" b="0" i="0">
                          <a:solidFill>
                            <a:srgbClr val="1A1A1A"/>
                          </a:solidFill>
                          <a:latin typeface="Calibri"/>
                        </a:rPr>
                        <a:t>✔✔</a:t>
                      </a:r>
                    </a:p>
                  </a:txBody>
                  <a:tcPr marL="54864" marR="54864" marT="27432" marB="27432" anchor="ctr">
                    <a:solidFill>
                      <a:srgbClr val="FFFFFF"/>
                    </a:solidFill>
                  </a:tcPr>
                </a:tc>
                <a:tc>
                  <a:txBody>
                    <a:bodyPr wrap="square"/>
                    <a:lstStyle/>
                    <a:p>
                      <a:r>
                        <a:rPr sz="1300" b="0" i="0">
                          <a:solidFill>
                            <a:srgbClr val="1A1A1A"/>
                          </a:solidFill>
                          <a:latin typeface="Calibri"/>
                        </a:rPr>
                        <a:t>✔</a:t>
                      </a:r>
                    </a:p>
                  </a:txBody>
                  <a:tcPr marL="54864" marR="54864" marT="27432" marB="27432" anchor="ctr">
                    <a:solidFill>
                      <a:srgbClr val="FFFFFF"/>
                    </a:solidFill>
                  </a:tcPr>
                </a:tc>
                <a:tc>
                  <a:txBody>
                    <a:bodyPr wrap="square"/>
                    <a:lstStyle/>
                    <a:p>
                      <a:r>
                        <a:rPr sz="1300" b="0" i="0">
                          <a:solidFill>
                            <a:srgbClr val="1A1A1A"/>
                          </a:solidFill>
                          <a:latin typeface="Calibri"/>
                        </a:rPr>
                        <a:t>✔</a:t>
                      </a:r>
                    </a:p>
                  </a:txBody>
                  <a:tcPr marL="54864" marR="54864" marT="27432" marB="27432" anchor="ctr">
                    <a:solidFill>
                      <a:srgbClr val="FFFFFF"/>
                    </a:solidFill>
                  </a:tcPr>
                </a:tc>
                <a:tc>
                  <a:txBody>
                    <a:bodyPr wrap="square"/>
                    <a:lstStyle/>
                    <a:p>
                      <a:r>
                        <a:rPr sz="1300" b="0" i="0">
                          <a:solidFill>
                            <a:srgbClr val="1A1A1A"/>
                          </a:solidFill>
                          <a:latin typeface="Calibri"/>
                        </a:rPr>
                        <a:t>✔✔</a:t>
                      </a:r>
                    </a:p>
                  </a:txBody>
                  <a:tcPr marL="54864" marR="54864" marT="27432" marB="27432" anchor="ctr">
                    <a:solidFill>
                      <a:srgbClr val="FFFFFF"/>
                    </a:solidFill>
                  </a:tcPr>
                </a:tc>
                <a:tc>
                  <a:txBody>
                    <a:bodyPr wrap="square"/>
                    <a:lstStyle/>
                    <a:p>
                      <a:r>
                        <a:rPr sz="1300" b="0" i="0">
                          <a:solidFill>
                            <a:srgbClr val="1A1A1A"/>
                          </a:solidFill>
                          <a:latin typeface="Calibri"/>
                        </a:rPr>
                        <a:t>✔✔</a:t>
                      </a:r>
                    </a:p>
                  </a:txBody>
                  <a:tcPr marL="54864" marR="54864" marT="27432" marB="27432" anchor="ctr">
                    <a:solidFill>
                      <a:srgbClr val="FFFFFF"/>
                    </a:solidFill>
                  </a:tcPr>
                </a:tc>
                <a:tc>
                  <a:txBody>
                    <a:bodyPr wrap="square"/>
                    <a:lstStyle/>
                    <a:p>
                      <a:r>
                        <a:rPr sz="1300" b="0" i="0">
                          <a:solidFill>
                            <a:srgbClr val="1A1A1A"/>
                          </a:solidFill>
                          <a:latin typeface="Calibri"/>
                        </a:rPr>
                        <a:t>✔</a:t>
                      </a:r>
                    </a:p>
                  </a:txBody>
                  <a:tcPr marL="54864" marR="54864" marT="27432" marB="27432" anchor="ctr">
                    <a:solidFill>
                      <a:srgbClr val="FFFFFF"/>
                    </a:solidFill>
                  </a:tcPr>
                </a:tc>
              </a:tr>
              <a:tr h="391885">
                <a:tc>
                  <a:txBody>
                    <a:bodyPr wrap="square"/>
                    <a:lstStyle/>
                    <a:p>
                      <a:r>
                        <a:rPr sz="1300" b="1" i="0">
                          <a:solidFill>
                            <a:srgbClr val="1A1A1A"/>
                          </a:solidFill>
                          <a:latin typeface="Calibri"/>
                        </a:rPr>
                        <a:t>Ethics (Table 1.2 causes)</a:t>
                      </a:r>
                    </a:p>
                  </a:txBody>
                  <a:tcPr marL="54864" marR="54864" marT="27432" marB="27432" anchor="ctr">
                    <a:solidFill>
                      <a:srgbClr val="F7E8E8"/>
                    </a:solidFill>
                  </a:tcPr>
                </a:tc>
                <a:tc>
                  <a:txBody>
                    <a:bodyPr wrap="square"/>
                    <a:lstStyle/>
                    <a:p>
                      <a:r>
                        <a:rPr sz="1300" b="0" i="0">
                          <a:solidFill>
                            <a:srgbClr val="1A1A1A"/>
                          </a:solidFill>
                          <a:latin typeface="Calibri"/>
                        </a:rPr>
                        <a:t>✔</a:t>
                      </a:r>
                    </a:p>
                  </a:txBody>
                  <a:tcPr marL="54864" marR="54864" marT="27432" marB="27432" anchor="ctr">
                    <a:solidFill>
                      <a:srgbClr val="F7E8E8"/>
                    </a:solidFill>
                  </a:tcPr>
                </a:tc>
                <a:tc>
                  <a:txBody>
                    <a:bodyPr wrap="square"/>
                    <a:lstStyle/>
                    <a:p/>
                  </a:txBody>
                  <a:tcPr marL="54864" marR="54864" marT="27432" marB="27432" anchor="ctr">
                    <a:solidFill>
                      <a:srgbClr val="F7E8E8"/>
                    </a:solidFill>
                  </a:tcPr>
                </a:tc>
                <a:tc>
                  <a:txBody>
                    <a:bodyPr wrap="square"/>
                    <a:lstStyle/>
                    <a:p/>
                  </a:txBody>
                  <a:tcPr marL="54864" marR="54864" marT="27432" marB="27432" anchor="ctr">
                    <a:solidFill>
                      <a:srgbClr val="F7E8E8"/>
                    </a:solidFill>
                  </a:tcPr>
                </a:tc>
                <a:tc>
                  <a:txBody>
                    <a:bodyPr wrap="square"/>
                    <a:lstStyle/>
                    <a:p/>
                  </a:txBody>
                  <a:tcPr marL="54864" marR="54864" marT="27432" marB="27432" anchor="ctr">
                    <a:solidFill>
                      <a:srgbClr val="F7E8E8"/>
                    </a:solidFill>
                  </a:tcPr>
                </a:tc>
                <a:tc>
                  <a:txBody>
                    <a:bodyPr wrap="square"/>
                    <a:lstStyle/>
                    <a:p/>
                  </a:txBody>
                  <a:tcPr marL="54864" marR="54864" marT="27432" marB="27432" anchor="ctr">
                    <a:solidFill>
                      <a:srgbClr val="F7E8E8"/>
                    </a:solidFill>
                  </a:tcPr>
                </a:tc>
                <a:tc>
                  <a:txBody>
                    <a:bodyPr wrap="square"/>
                    <a:lstStyle/>
                    <a:p/>
                  </a:txBody>
                  <a:tcPr marL="54864" marR="54864" marT="27432" marB="27432" anchor="ctr">
                    <a:solidFill>
                      <a:srgbClr val="F7E8E8"/>
                    </a:solidFill>
                  </a:tcPr>
                </a:tc>
                <a:tc>
                  <a:txBody>
                    <a:bodyPr wrap="square"/>
                    <a:lstStyle/>
                    <a:p>
                      <a:r>
                        <a:rPr sz="1300" b="0" i="0">
                          <a:solidFill>
                            <a:srgbClr val="1A1A1A"/>
                          </a:solidFill>
                          <a:latin typeface="Calibri"/>
                        </a:rPr>
                        <a:t>✔</a:t>
                      </a:r>
                    </a:p>
                  </a:txBody>
                  <a:tcPr marL="54864" marR="54864" marT="27432" marB="27432" anchor="ctr">
                    <a:solidFill>
                      <a:srgbClr val="F7E8E8"/>
                    </a:solidFill>
                  </a:tcPr>
                </a:tc>
                <a:tc>
                  <a:txBody>
                    <a:bodyPr wrap="square"/>
                    <a:lstStyle/>
                    <a:p/>
                  </a:txBody>
                  <a:tcPr marL="54864" marR="54864" marT="27432" marB="27432" anchor="ctr">
                    <a:solidFill>
                      <a:srgbClr val="F7E8E8"/>
                    </a:solidFill>
                  </a:tcPr>
                </a:tc>
                <a:tc>
                  <a:txBody>
                    <a:bodyPr wrap="square"/>
                    <a:lstStyle/>
                    <a:p>
                      <a:r>
                        <a:rPr sz="1300" b="0" i="0">
                          <a:solidFill>
                            <a:srgbClr val="1A1A1A"/>
                          </a:solidFill>
                          <a:latin typeface="Calibri"/>
                        </a:rPr>
                        <a:t>✔</a:t>
                      </a:r>
                    </a:p>
                  </a:txBody>
                  <a:tcPr marL="54864" marR="54864" marT="27432" marB="27432" anchor="ctr">
                    <a:solidFill>
                      <a:srgbClr val="F7E8E8"/>
                    </a:solidFill>
                  </a:tcPr>
                </a:tc>
              </a:tr>
              <a:tr h="391885">
                <a:tc>
                  <a:txBody>
                    <a:bodyPr wrap="square"/>
                    <a:lstStyle/>
                    <a:p>
                      <a:r>
                        <a:rPr sz="1300" b="1" i="0">
                          <a:solidFill>
                            <a:srgbClr val="1A1A1A"/>
                          </a:solidFill>
                          <a:latin typeface="Calibri"/>
                        </a:rPr>
                        <a:t>Values / P-O fit / culture</a:t>
                      </a:r>
                    </a:p>
                  </a:txBody>
                  <a:tcPr marL="54864" marR="54864" marT="27432" marB="27432" anchor="ctr">
                    <a:solidFill>
                      <a:srgbClr val="FFFFFF"/>
                    </a:solidFill>
                  </a:tcPr>
                </a:tc>
                <a:tc>
                  <a:txBody>
                    <a:bodyPr wrap="square"/>
                    <a:lstStyle/>
                    <a:p>
                      <a:r>
                        <a:rPr sz="1300" b="0" i="0">
                          <a:solidFill>
                            <a:srgbClr val="1A1A1A"/>
                          </a:solidFill>
                          <a:latin typeface="Calibri"/>
                        </a:rPr>
                        <a:t>✔✔</a:t>
                      </a:r>
                    </a:p>
                  </a:txBody>
                  <a:tcPr marL="54864" marR="54864" marT="27432" marB="27432" anchor="ctr">
                    <a:solidFill>
                      <a:srgbClr val="FFFFFF"/>
                    </a:solidFill>
                  </a:tcPr>
                </a:tc>
                <a:tc>
                  <a:txBody>
                    <a:bodyPr wrap="square"/>
                    <a:lstStyle/>
                    <a:p/>
                  </a:txBody>
                  <a:tcPr marL="54864" marR="54864" marT="27432" marB="27432" anchor="ctr">
                    <a:solidFill>
                      <a:srgbClr val="FFFFFF"/>
                    </a:solidFill>
                  </a:tcPr>
                </a:tc>
                <a:tc>
                  <a:txBody>
                    <a:bodyPr wrap="square"/>
                    <a:lstStyle/>
                    <a:p/>
                  </a:txBody>
                  <a:tcPr marL="54864" marR="54864" marT="27432" marB="27432" anchor="ctr">
                    <a:solidFill>
                      <a:srgbClr val="FFFFFF"/>
                    </a:solidFill>
                  </a:tcPr>
                </a:tc>
                <a:tc>
                  <a:txBody>
                    <a:bodyPr wrap="square"/>
                    <a:lstStyle/>
                    <a:p>
                      <a:r>
                        <a:rPr sz="1300" b="0" i="0">
                          <a:solidFill>
                            <a:srgbClr val="1A1A1A"/>
                          </a:solidFill>
                          <a:latin typeface="Calibri"/>
                        </a:rPr>
                        <a:t>✔✔</a:t>
                      </a:r>
                    </a:p>
                  </a:txBody>
                  <a:tcPr marL="54864" marR="54864" marT="27432" marB="27432" anchor="ctr">
                    <a:solidFill>
                      <a:srgbClr val="FFFFFF"/>
                    </a:solidFill>
                  </a:tcPr>
                </a:tc>
                <a:tc>
                  <a:txBody>
                    <a:bodyPr wrap="square"/>
                    <a:lstStyle/>
                    <a:p>
                      <a:r>
                        <a:rPr sz="1300" b="0" i="0">
                          <a:solidFill>
                            <a:srgbClr val="1A1A1A"/>
                          </a:solidFill>
                          <a:latin typeface="Calibri"/>
                        </a:rPr>
                        <a:t>✔✔</a:t>
                      </a:r>
                    </a:p>
                  </a:txBody>
                  <a:tcPr marL="54864" marR="54864" marT="27432" marB="27432" anchor="ctr">
                    <a:solidFill>
                      <a:srgbClr val="FFFFFF"/>
                    </a:solidFill>
                  </a:tcPr>
                </a:tc>
                <a:tc>
                  <a:txBody>
                    <a:bodyPr wrap="square"/>
                    <a:lstStyle/>
                    <a:p>
                      <a:r>
                        <a:rPr sz="1300" b="0" i="0">
                          <a:solidFill>
                            <a:srgbClr val="1A1A1A"/>
                          </a:solidFill>
                          <a:latin typeface="Calibri"/>
                        </a:rPr>
                        <a:t>✔</a:t>
                      </a:r>
                    </a:p>
                  </a:txBody>
                  <a:tcPr marL="54864" marR="54864" marT="27432" marB="27432" anchor="ctr">
                    <a:solidFill>
                      <a:srgbClr val="FFFFFF"/>
                    </a:solidFill>
                  </a:tcPr>
                </a:tc>
                <a:tc>
                  <a:txBody>
                    <a:bodyPr wrap="square"/>
                    <a:lstStyle/>
                    <a:p>
                      <a:r>
                        <a:rPr sz="1300" b="0" i="0">
                          <a:solidFill>
                            <a:srgbClr val="1A1A1A"/>
                          </a:solidFill>
                          <a:latin typeface="Calibri"/>
                        </a:rPr>
                        <a:t>✔</a:t>
                      </a:r>
                    </a:p>
                  </a:txBody>
                  <a:tcPr marL="54864" marR="54864" marT="27432" marB="27432" anchor="ctr">
                    <a:solidFill>
                      <a:srgbClr val="FFFFFF"/>
                    </a:solidFill>
                  </a:tcPr>
                </a:tc>
                <a:tc>
                  <a:txBody>
                    <a:bodyPr wrap="square"/>
                    <a:lstStyle/>
                    <a:p/>
                  </a:txBody>
                  <a:tcPr marL="54864" marR="54864" marT="27432" marB="27432" anchor="ctr">
                    <a:solidFill>
                      <a:srgbClr val="FFFFFF"/>
                    </a:solidFill>
                  </a:tcPr>
                </a:tc>
                <a:tc>
                  <a:txBody>
                    <a:bodyPr wrap="square"/>
                    <a:lstStyle/>
                    <a:p>
                      <a:r>
                        <a:rPr sz="1300" b="0" i="0">
                          <a:solidFill>
                            <a:srgbClr val="1A1A1A"/>
                          </a:solidFill>
                          <a:latin typeface="Calibri"/>
                        </a:rPr>
                        <a:t>✔✔</a:t>
                      </a:r>
                    </a:p>
                  </a:txBody>
                  <a:tcPr marL="54864" marR="54864" marT="27432" marB="27432" anchor="ctr">
                    <a:solidFill>
                      <a:srgbClr val="FFFFFF"/>
                    </a:solidFill>
                  </a:tcPr>
                </a:tc>
              </a:tr>
              <a:tr h="391885">
                <a:tc>
                  <a:txBody>
                    <a:bodyPr wrap="square"/>
                    <a:lstStyle/>
                    <a:p>
                      <a:r>
                        <a:rPr sz="1300" b="1" i="0">
                          <a:solidFill>
                            <a:srgbClr val="1A1A1A"/>
                          </a:solidFill>
                          <a:latin typeface="Calibri"/>
                        </a:rPr>
                        <a:t>Attitudes: commitment, engagement, POS</a:t>
                      </a:r>
                    </a:p>
                  </a:txBody>
                  <a:tcPr marL="54864" marR="54864" marT="27432" marB="27432" anchor="ctr">
                    <a:solidFill>
                      <a:srgbClr val="F7E8E8"/>
                    </a:solidFill>
                  </a:tcPr>
                </a:tc>
                <a:tc>
                  <a:txBody>
                    <a:bodyPr wrap="square"/>
                    <a:lstStyle/>
                    <a:p>
                      <a:r>
                        <a:rPr sz="1300" b="0" i="0">
                          <a:solidFill>
                            <a:srgbClr val="1A1A1A"/>
                          </a:solidFill>
                          <a:latin typeface="Calibri"/>
                        </a:rPr>
                        <a:t>✔✔</a:t>
                      </a:r>
                    </a:p>
                  </a:txBody>
                  <a:tcPr marL="54864" marR="54864" marT="27432" marB="27432" anchor="ctr">
                    <a:solidFill>
                      <a:srgbClr val="F7E8E8"/>
                    </a:solidFill>
                  </a:tcPr>
                </a:tc>
                <a:tc>
                  <a:txBody>
                    <a:bodyPr wrap="square"/>
                    <a:lstStyle/>
                    <a:p/>
                  </a:txBody>
                  <a:tcPr marL="54864" marR="54864" marT="27432" marB="27432" anchor="ctr">
                    <a:solidFill>
                      <a:srgbClr val="F7E8E8"/>
                    </a:solidFill>
                  </a:tcPr>
                </a:tc>
                <a:tc>
                  <a:txBody>
                    <a:bodyPr wrap="square"/>
                    <a:lstStyle/>
                    <a:p>
                      <a:r>
                        <a:rPr sz="1300" b="0" i="0">
                          <a:solidFill>
                            <a:srgbClr val="1A1A1A"/>
                          </a:solidFill>
                          <a:latin typeface="Calibri"/>
                        </a:rPr>
                        <a:t>✔</a:t>
                      </a:r>
                    </a:p>
                  </a:txBody>
                  <a:tcPr marL="54864" marR="54864" marT="27432" marB="27432" anchor="ctr">
                    <a:solidFill>
                      <a:srgbClr val="F7E8E8"/>
                    </a:solidFill>
                  </a:tcPr>
                </a:tc>
                <a:tc>
                  <a:txBody>
                    <a:bodyPr wrap="square"/>
                    <a:lstStyle/>
                    <a:p>
                      <a:r>
                        <a:rPr sz="1300" b="0" i="0">
                          <a:solidFill>
                            <a:srgbClr val="1A1A1A"/>
                          </a:solidFill>
                          <a:latin typeface="Calibri"/>
                        </a:rPr>
                        <a:t>✔✔</a:t>
                      </a:r>
                    </a:p>
                  </a:txBody>
                  <a:tcPr marL="54864" marR="54864" marT="27432" marB="27432" anchor="ctr">
                    <a:solidFill>
                      <a:srgbClr val="F7E8E8"/>
                    </a:solidFill>
                  </a:tcPr>
                </a:tc>
                <a:tc>
                  <a:txBody>
                    <a:bodyPr wrap="square"/>
                    <a:lstStyle/>
                    <a:p>
                      <a:r>
                        <a:rPr sz="1300" b="0" i="0">
                          <a:solidFill>
                            <a:srgbClr val="1A1A1A"/>
                          </a:solidFill>
                          <a:latin typeface="Calibri"/>
                        </a:rPr>
                        <a:t>✔✔</a:t>
                      </a:r>
                    </a:p>
                  </a:txBody>
                  <a:tcPr marL="54864" marR="54864" marT="27432" marB="27432" anchor="ctr">
                    <a:solidFill>
                      <a:srgbClr val="F7E8E8"/>
                    </a:solidFill>
                  </a:tcPr>
                </a:tc>
                <a:tc>
                  <a:txBody>
                    <a:bodyPr wrap="square"/>
                    <a:lstStyle/>
                    <a:p>
                      <a:r>
                        <a:rPr sz="1300" b="0" i="0">
                          <a:solidFill>
                            <a:srgbClr val="1A1A1A"/>
                          </a:solidFill>
                          <a:latin typeface="Calibri"/>
                        </a:rPr>
                        <a:t>✔</a:t>
                      </a:r>
                    </a:p>
                  </a:txBody>
                  <a:tcPr marL="54864" marR="54864" marT="27432" marB="27432" anchor="ctr">
                    <a:solidFill>
                      <a:srgbClr val="F7E8E8"/>
                    </a:solidFill>
                  </a:tcPr>
                </a:tc>
                <a:tc>
                  <a:txBody>
                    <a:bodyPr wrap="square"/>
                    <a:lstStyle/>
                    <a:p>
                      <a:r>
                        <a:rPr sz="1300" b="0" i="0">
                          <a:solidFill>
                            <a:srgbClr val="1A1A1A"/>
                          </a:solidFill>
                          <a:latin typeface="Calibri"/>
                        </a:rPr>
                        <a:t>✔</a:t>
                      </a:r>
                    </a:p>
                  </a:txBody>
                  <a:tcPr marL="54864" marR="54864" marT="27432" marB="27432" anchor="ctr">
                    <a:solidFill>
                      <a:srgbClr val="F7E8E8"/>
                    </a:solidFill>
                  </a:tcPr>
                </a:tc>
                <a:tc>
                  <a:txBody>
                    <a:bodyPr wrap="square"/>
                    <a:lstStyle/>
                    <a:p>
                      <a:r>
                        <a:rPr sz="1300" b="0" i="0">
                          <a:solidFill>
                            <a:srgbClr val="1A1A1A"/>
                          </a:solidFill>
                          <a:latin typeface="Calibri"/>
                        </a:rPr>
                        <a:t>✔✔</a:t>
                      </a:r>
                    </a:p>
                  </a:txBody>
                  <a:tcPr marL="54864" marR="54864" marT="27432" marB="27432" anchor="ctr">
                    <a:solidFill>
                      <a:srgbClr val="F7E8E8"/>
                    </a:solidFill>
                  </a:tcPr>
                </a:tc>
                <a:tc>
                  <a:txBody>
                    <a:bodyPr wrap="square"/>
                    <a:lstStyle/>
                    <a:p>
                      <a:r>
                        <a:rPr sz="1300" b="0" i="0">
                          <a:solidFill>
                            <a:srgbClr val="1A1A1A"/>
                          </a:solidFill>
                          <a:latin typeface="Calibri"/>
                        </a:rPr>
                        <a:t>✔✔</a:t>
                      </a:r>
                    </a:p>
                  </a:txBody>
                  <a:tcPr marL="54864" marR="54864" marT="27432" marB="27432" anchor="ctr">
                    <a:solidFill>
                      <a:srgbClr val="F7E8E8"/>
                    </a:solidFill>
                  </a:tcPr>
                </a:tc>
              </a:tr>
              <a:tr h="391885">
                <a:tc>
                  <a:txBody>
                    <a:bodyPr wrap="square"/>
                    <a:lstStyle/>
                    <a:p>
                      <a:r>
                        <a:rPr sz="1300" b="1" i="0">
                          <a:solidFill>
                            <a:srgbClr val="1A1A1A"/>
                          </a:solidFill>
                          <a:latin typeface="Calibri"/>
                        </a:rPr>
                        <a:t>Job satisfaction causes &amp; outcomes</a:t>
                      </a:r>
                    </a:p>
                  </a:txBody>
                  <a:tcPr marL="54864" marR="54864" marT="27432" marB="27432" anchor="ctr">
                    <a:solidFill>
                      <a:srgbClr val="FFFFFF"/>
                    </a:solidFill>
                  </a:tcPr>
                </a:tc>
                <a:tc>
                  <a:txBody>
                    <a:bodyPr wrap="square"/>
                    <a:lstStyle/>
                    <a:p>
                      <a:r>
                        <a:rPr sz="1300" b="0" i="0">
                          <a:solidFill>
                            <a:srgbClr val="1A1A1A"/>
                          </a:solidFill>
                          <a:latin typeface="Calibri"/>
                        </a:rPr>
                        <a:t>✔</a:t>
                      </a:r>
                    </a:p>
                  </a:txBody>
                  <a:tcPr marL="54864" marR="54864" marT="27432" marB="27432" anchor="ctr">
                    <a:solidFill>
                      <a:srgbClr val="FFFFFF"/>
                    </a:solidFill>
                  </a:tcPr>
                </a:tc>
                <a:tc>
                  <a:txBody>
                    <a:bodyPr wrap="square"/>
                    <a:lstStyle/>
                    <a:p/>
                  </a:txBody>
                  <a:tcPr marL="54864" marR="54864" marT="27432" marB="27432" anchor="ctr">
                    <a:solidFill>
                      <a:srgbClr val="FFFFFF"/>
                    </a:solidFill>
                  </a:tcPr>
                </a:tc>
                <a:tc>
                  <a:txBody>
                    <a:bodyPr wrap="square"/>
                    <a:lstStyle/>
                    <a:p/>
                  </a:txBody>
                  <a:tcPr marL="54864" marR="54864" marT="27432" marB="27432" anchor="ctr">
                    <a:solidFill>
                      <a:srgbClr val="FFFFFF"/>
                    </a:solidFill>
                  </a:tcPr>
                </a:tc>
                <a:tc>
                  <a:txBody>
                    <a:bodyPr wrap="square"/>
                    <a:lstStyle/>
                    <a:p>
                      <a:r>
                        <a:rPr sz="1300" b="0" i="0">
                          <a:solidFill>
                            <a:srgbClr val="1A1A1A"/>
                          </a:solidFill>
                          <a:latin typeface="Calibri"/>
                        </a:rPr>
                        <a:t>✔✔</a:t>
                      </a:r>
                    </a:p>
                  </a:txBody>
                  <a:tcPr marL="54864" marR="54864" marT="27432" marB="27432" anchor="ctr">
                    <a:solidFill>
                      <a:srgbClr val="FFFFFF"/>
                    </a:solidFill>
                  </a:tcPr>
                </a:tc>
                <a:tc>
                  <a:txBody>
                    <a:bodyPr wrap="square"/>
                    <a:lstStyle/>
                    <a:p>
                      <a:r>
                        <a:rPr sz="1300" b="0" i="0">
                          <a:solidFill>
                            <a:srgbClr val="1A1A1A"/>
                          </a:solidFill>
                          <a:latin typeface="Calibri"/>
                        </a:rPr>
                        <a:t>✔</a:t>
                      </a:r>
                    </a:p>
                  </a:txBody>
                  <a:tcPr marL="54864" marR="54864" marT="27432" marB="27432" anchor="ctr">
                    <a:solidFill>
                      <a:srgbClr val="FFFFFF"/>
                    </a:solidFill>
                  </a:tcPr>
                </a:tc>
                <a:tc>
                  <a:txBody>
                    <a:bodyPr wrap="square"/>
                    <a:lstStyle/>
                    <a:p>
                      <a:r>
                        <a:rPr sz="1300" b="0" i="0">
                          <a:solidFill>
                            <a:srgbClr val="1A1A1A"/>
                          </a:solidFill>
                          <a:latin typeface="Calibri"/>
                        </a:rPr>
                        <a:t>✔</a:t>
                      </a:r>
                    </a:p>
                  </a:txBody>
                  <a:tcPr marL="54864" marR="54864" marT="27432" marB="27432" anchor="ctr">
                    <a:solidFill>
                      <a:srgbClr val="FFFFFF"/>
                    </a:solidFill>
                  </a:tcPr>
                </a:tc>
                <a:tc>
                  <a:txBody>
                    <a:bodyPr wrap="square"/>
                    <a:lstStyle/>
                    <a:p/>
                  </a:txBody>
                  <a:tcPr marL="54864" marR="54864" marT="27432" marB="27432" anchor="ctr">
                    <a:solidFill>
                      <a:srgbClr val="FFFFFF"/>
                    </a:solidFill>
                  </a:tcPr>
                </a:tc>
                <a:tc>
                  <a:txBody>
                    <a:bodyPr wrap="square"/>
                    <a:lstStyle/>
                    <a:p>
                      <a:r>
                        <a:rPr sz="1300" b="0" i="0">
                          <a:solidFill>
                            <a:srgbClr val="1A1A1A"/>
                          </a:solidFill>
                          <a:latin typeface="Calibri"/>
                        </a:rPr>
                        <a:t>✔</a:t>
                      </a:r>
                    </a:p>
                  </a:txBody>
                  <a:tcPr marL="54864" marR="54864" marT="27432" marB="27432" anchor="ctr">
                    <a:solidFill>
                      <a:srgbClr val="FFFFFF"/>
                    </a:solidFill>
                  </a:tcPr>
                </a:tc>
                <a:tc>
                  <a:txBody>
                    <a:bodyPr wrap="square"/>
                    <a:lstStyle/>
                    <a:p>
                      <a:r>
                        <a:rPr sz="1300" b="0" i="0">
                          <a:solidFill>
                            <a:srgbClr val="1A1A1A"/>
                          </a:solidFill>
                          <a:latin typeface="Calibri"/>
                        </a:rPr>
                        <a:t>✔✔</a:t>
                      </a:r>
                    </a:p>
                  </a:txBody>
                  <a:tcPr marL="54864" marR="54864" marT="27432" marB="27432" anchor="ctr">
                    <a:solidFill>
                      <a:srgbClr val="FFFFFF"/>
                    </a:solidFill>
                  </a:tcPr>
                </a:tc>
              </a:tr>
              <a:tr h="391885">
                <a:tc>
                  <a:txBody>
                    <a:bodyPr wrap="square"/>
                    <a:lstStyle/>
                    <a:p>
                      <a:r>
                        <a:rPr sz="1300" b="1" i="0">
                          <a:solidFill>
                            <a:srgbClr val="1A1A1A"/>
                          </a:solidFill>
                          <a:latin typeface="Calibri"/>
                        </a:rPr>
                        <a:t>EI &amp; emotions</a:t>
                      </a:r>
                    </a:p>
                  </a:txBody>
                  <a:tcPr marL="54864" marR="54864" marT="27432" marB="27432" anchor="ctr">
                    <a:solidFill>
                      <a:srgbClr val="F7E8E8"/>
                    </a:solidFill>
                  </a:tcPr>
                </a:tc>
                <a:tc>
                  <a:txBody>
                    <a:bodyPr wrap="square"/>
                    <a:lstStyle/>
                    <a:p>
                      <a:r>
                        <a:rPr sz="1300" b="0" i="0">
                          <a:solidFill>
                            <a:srgbClr val="1A1A1A"/>
                          </a:solidFill>
                          <a:latin typeface="Calibri"/>
                        </a:rPr>
                        <a:t>✔</a:t>
                      </a:r>
                    </a:p>
                  </a:txBody>
                  <a:tcPr marL="54864" marR="54864" marT="27432" marB="27432" anchor="ctr">
                    <a:solidFill>
                      <a:srgbClr val="F7E8E8"/>
                    </a:solidFill>
                  </a:tcPr>
                </a:tc>
                <a:tc>
                  <a:txBody>
                    <a:bodyPr wrap="square"/>
                    <a:lstStyle/>
                    <a:p>
                      <a:r>
                        <a:rPr sz="1300" b="0" i="0">
                          <a:solidFill>
                            <a:srgbClr val="1A1A1A"/>
                          </a:solidFill>
                          <a:latin typeface="Calibri"/>
                        </a:rPr>
                        <a:t>✔✔</a:t>
                      </a:r>
                    </a:p>
                  </a:txBody>
                  <a:tcPr marL="54864" marR="54864" marT="27432" marB="27432" anchor="ctr">
                    <a:solidFill>
                      <a:srgbClr val="F7E8E8"/>
                    </a:solidFill>
                  </a:tcPr>
                </a:tc>
                <a:tc>
                  <a:txBody>
                    <a:bodyPr wrap="square"/>
                    <a:lstStyle/>
                    <a:p>
                      <a:r>
                        <a:rPr sz="1300" b="0" i="0">
                          <a:solidFill>
                            <a:srgbClr val="1A1A1A"/>
                          </a:solidFill>
                          <a:latin typeface="Calibri"/>
                        </a:rPr>
                        <a:t>✔✔</a:t>
                      </a:r>
                    </a:p>
                  </a:txBody>
                  <a:tcPr marL="54864" marR="54864" marT="27432" marB="27432" anchor="ctr">
                    <a:solidFill>
                      <a:srgbClr val="F7E8E8"/>
                    </a:solidFill>
                  </a:tcPr>
                </a:tc>
                <a:tc>
                  <a:txBody>
                    <a:bodyPr wrap="square"/>
                    <a:lstStyle/>
                    <a:p/>
                  </a:txBody>
                  <a:tcPr marL="54864" marR="54864" marT="27432" marB="27432" anchor="ctr">
                    <a:solidFill>
                      <a:srgbClr val="F7E8E8"/>
                    </a:solidFill>
                  </a:tcPr>
                </a:tc>
                <a:tc>
                  <a:txBody>
                    <a:bodyPr wrap="square"/>
                    <a:lstStyle/>
                    <a:p>
                      <a:r>
                        <a:rPr sz="1300" b="0" i="0">
                          <a:solidFill>
                            <a:srgbClr val="1A1A1A"/>
                          </a:solidFill>
                          <a:latin typeface="Calibri"/>
                        </a:rPr>
                        <a:t>✔</a:t>
                      </a:r>
                    </a:p>
                  </a:txBody>
                  <a:tcPr marL="54864" marR="54864" marT="27432" marB="27432" anchor="ctr">
                    <a:solidFill>
                      <a:srgbClr val="F7E8E8"/>
                    </a:solidFill>
                  </a:tcPr>
                </a:tc>
                <a:tc>
                  <a:txBody>
                    <a:bodyPr wrap="square"/>
                    <a:lstStyle/>
                    <a:p>
                      <a:r>
                        <a:rPr sz="1300" b="0" i="0">
                          <a:solidFill>
                            <a:srgbClr val="1A1A1A"/>
                          </a:solidFill>
                          <a:latin typeface="Calibri"/>
                        </a:rPr>
                        <a:t>✔✔</a:t>
                      </a:r>
                    </a:p>
                  </a:txBody>
                  <a:tcPr marL="54864" marR="54864" marT="27432" marB="27432" anchor="ctr">
                    <a:solidFill>
                      <a:srgbClr val="F7E8E8"/>
                    </a:solidFill>
                  </a:tcPr>
                </a:tc>
                <a:tc>
                  <a:txBody>
                    <a:bodyPr wrap="square"/>
                    <a:lstStyle/>
                    <a:p/>
                  </a:txBody>
                  <a:tcPr marL="54864" marR="54864" marT="27432" marB="27432" anchor="ctr">
                    <a:solidFill>
                      <a:srgbClr val="F7E8E8"/>
                    </a:solidFill>
                  </a:tcPr>
                </a:tc>
                <a:tc>
                  <a:txBody>
                    <a:bodyPr wrap="square"/>
                    <a:lstStyle/>
                    <a:p>
                      <a:r>
                        <a:rPr sz="1300" b="0" i="0">
                          <a:solidFill>
                            <a:srgbClr val="1A1A1A"/>
                          </a:solidFill>
                          <a:latin typeface="Calibri"/>
                        </a:rPr>
                        <a:t>✔✔</a:t>
                      </a:r>
                    </a:p>
                  </a:txBody>
                  <a:tcPr marL="54864" marR="54864" marT="27432" marB="27432" anchor="ctr">
                    <a:solidFill>
                      <a:srgbClr val="F7E8E8"/>
                    </a:solidFill>
                  </a:tcPr>
                </a:tc>
                <a:tc>
                  <a:txBody>
                    <a:bodyPr wrap="square"/>
                    <a:lstStyle/>
                    <a:p/>
                  </a:txBody>
                  <a:tcPr marL="54864" marR="54864" marT="27432" marB="27432" anchor="ctr">
                    <a:solidFill>
                      <a:srgbClr val="F7E8E8"/>
                    </a:solidFill>
                  </a:tcPr>
                </a:tc>
              </a:tr>
              <a:tr h="391885">
                <a:tc>
                  <a:txBody>
                    <a:bodyPr wrap="square"/>
                    <a:lstStyle/>
                    <a:p>
                      <a:r>
                        <a:rPr sz="1300" b="1" i="0">
                          <a:solidFill>
                            <a:srgbClr val="1A1A1A"/>
                          </a:solidFill>
                          <a:latin typeface="Calibri"/>
                        </a:rPr>
                        <a:t>Perception / stereotypes</a:t>
                      </a:r>
                    </a:p>
                  </a:txBody>
                  <a:tcPr marL="54864" marR="54864" marT="27432" marB="27432" anchor="ctr">
                    <a:solidFill>
                      <a:srgbClr val="FFFFFF"/>
                    </a:solidFill>
                  </a:tcPr>
                </a:tc>
                <a:tc>
                  <a:txBody>
                    <a:bodyPr wrap="square"/>
                    <a:lstStyle/>
                    <a:p>
                      <a:r>
                        <a:rPr sz="1300" b="0" i="0">
                          <a:solidFill>
                            <a:srgbClr val="1A1A1A"/>
                          </a:solidFill>
                          <a:latin typeface="Calibri"/>
                        </a:rPr>
                        <a:t>✔</a:t>
                      </a:r>
                    </a:p>
                  </a:txBody>
                  <a:tcPr marL="54864" marR="54864" marT="27432" marB="27432" anchor="ctr">
                    <a:solidFill>
                      <a:srgbClr val="FFFFFF"/>
                    </a:solidFill>
                  </a:tcPr>
                </a:tc>
                <a:tc>
                  <a:txBody>
                    <a:bodyPr wrap="square"/>
                    <a:lstStyle/>
                    <a:p>
                      <a:r>
                        <a:rPr sz="1300" b="0" i="0">
                          <a:solidFill>
                            <a:srgbClr val="1A1A1A"/>
                          </a:solidFill>
                          <a:latin typeface="Calibri"/>
                        </a:rPr>
                        <a:t>✔</a:t>
                      </a:r>
                    </a:p>
                  </a:txBody>
                  <a:tcPr marL="54864" marR="54864" marT="27432" marB="27432" anchor="ctr">
                    <a:solidFill>
                      <a:srgbClr val="FFFFFF"/>
                    </a:solidFill>
                  </a:tcPr>
                </a:tc>
                <a:tc>
                  <a:txBody>
                    <a:bodyPr wrap="square"/>
                    <a:lstStyle/>
                    <a:p>
                      <a:r>
                        <a:rPr sz="1300" b="0" i="0">
                          <a:solidFill>
                            <a:srgbClr val="1A1A1A"/>
                          </a:solidFill>
                          <a:latin typeface="Calibri"/>
                        </a:rPr>
                        <a:t>✔</a:t>
                      </a:r>
                    </a:p>
                  </a:txBody>
                  <a:tcPr marL="54864" marR="54864" marT="27432" marB="27432" anchor="ctr">
                    <a:solidFill>
                      <a:srgbClr val="FFFFFF"/>
                    </a:solidFill>
                  </a:tcPr>
                </a:tc>
                <a:tc>
                  <a:txBody>
                    <a:bodyPr wrap="square"/>
                    <a:lstStyle/>
                    <a:p/>
                  </a:txBody>
                  <a:tcPr marL="54864" marR="54864" marT="27432" marB="27432" anchor="ctr">
                    <a:solidFill>
                      <a:srgbClr val="FFFFFF"/>
                    </a:solidFill>
                  </a:tcPr>
                </a:tc>
                <a:tc>
                  <a:txBody>
                    <a:bodyPr wrap="square"/>
                    <a:lstStyle/>
                    <a:p>
                      <a:r>
                        <a:rPr sz="1300" b="0" i="0">
                          <a:solidFill>
                            <a:srgbClr val="1A1A1A"/>
                          </a:solidFill>
                          <a:latin typeface="Calibri"/>
                        </a:rPr>
                        <a:t>✔</a:t>
                      </a:r>
                    </a:p>
                  </a:txBody>
                  <a:tcPr marL="54864" marR="54864" marT="27432" marB="27432" anchor="ctr">
                    <a:solidFill>
                      <a:srgbClr val="FFFFFF"/>
                    </a:solidFill>
                  </a:tcPr>
                </a:tc>
                <a:tc>
                  <a:txBody>
                    <a:bodyPr wrap="square"/>
                    <a:lstStyle/>
                    <a:p>
                      <a:r>
                        <a:rPr sz="1300" b="0" i="0">
                          <a:solidFill>
                            <a:srgbClr val="1A1A1A"/>
                          </a:solidFill>
                          <a:latin typeface="Calibri"/>
                        </a:rPr>
                        <a:t>✔✔</a:t>
                      </a:r>
                    </a:p>
                  </a:txBody>
                  <a:tcPr marL="54864" marR="54864" marT="27432" marB="27432" anchor="ctr">
                    <a:solidFill>
                      <a:srgbClr val="FFFFFF"/>
                    </a:solidFill>
                  </a:tcPr>
                </a:tc>
                <a:tc>
                  <a:txBody>
                    <a:bodyPr wrap="square"/>
                    <a:lstStyle/>
                    <a:p>
                      <a:r>
                        <a:rPr sz="1300" b="0" i="0">
                          <a:solidFill>
                            <a:srgbClr val="1A1A1A"/>
                          </a:solidFill>
                          <a:latin typeface="Calibri"/>
                        </a:rPr>
                        <a:t>✔✔</a:t>
                      </a:r>
                    </a:p>
                  </a:txBody>
                  <a:tcPr marL="54864" marR="54864" marT="27432" marB="27432" anchor="ctr">
                    <a:solidFill>
                      <a:srgbClr val="FFFFFF"/>
                    </a:solidFill>
                  </a:tcPr>
                </a:tc>
                <a:tc>
                  <a:txBody>
                    <a:bodyPr wrap="square"/>
                    <a:lstStyle/>
                    <a:p>
                      <a:r>
                        <a:rPr sz="1300" b="0" i="0">
                          <a:solidFill>
                            <a:srgbClr val="1A1A1A"/>
                          </a:solidFill>
                          <a:latin typeface="Calibri"/>
                        </a:rPr>
                        <a:t>✔</a:t>
                      </a:r>
                    </a:p>
                  </a:txBody>
                  <a:tcPr marL="54864" marR="54864" marT="27432" marB="27432" anchor="ctr">
                    <a:solidFill>
                      <a:srgbClr val="FFFFFF"/>
                    </a:solidFill>
                  </a:tcPr>
                </a:tc>
                <a:tc>
                  <a:txBody>
                    <a:bodyPr wrap="square"/>
                    <a:lstStyle/>
                    <a:p/>
                  </a:txBody>
                  <a:tcPr marL="54864" marR="54864" marT="27432" marB="27432" anchor="ctr">
                    <a:solidFill>
                      <a:srgbClr val="FFFFFF"/>
                    </a:solidFill>
                  </a:tcPr>
                </a:tc>
              </a:tr>
              <a:tr h="391885">
                <a:tc>
                  <a:txBody>
                    <a:bodyPr wrap="square"/>
                    <a:lstStyle/>
                    <a:p>
                      <a:r>
                        <a:rPr sz="1300" b="1" i="0">
                          <a:solidFill>
                            <a:srgbClr val="1A1A1A"/>
                          </a:solidFill>
                          <a:latin typeface="Calibri"/>
                        </a:rPr>
                        <a:t>Attribution (Kelley, FAE)</a:t>
                      </a:r>
                    </a:p>
                  </a:txBody>
                  <a:tcPr marL="54864" marR="54864" marT="27432" marB="27432" anchor="ctr">
                    <a:solidFill>
                      <a:srgbClr val="F7E8E8"/>
                    </a:solidFill>
                  </a:tcPr>
                </a:tc>
                <a:tc>
                  <a:txBody>
                    <a:bodyPr wrap="square"/>
                    <a:lstStyle/>
                    <a:p/>
                  </a:txBody>
                  <a:tcPr marL="54864" marR="54864" marT="27432" marB="27432" anchor="ctr">
                    <a:solidFill>
                      <a:srgbClr val="F7E8E8"/>
                    </a:solidFill>
                  </a:tcPr>
                </a:tc>
                <a:tc>
                  <a:txBody>
                    <a:bodyPr wrap="square"/>
                    <a:lstStyle/>
                    <a:p>
                      <a:r>
                        <a:rPr sz="1300" b="0" i="0">
                          <a:solidFill>
                            <a:srgbClr val="1A1A1A"/>
                          </a:solidFill>
                          <a:latin typeface="Calibri"/>
                        </a:rPr>
                        <a:t>✔</a:t>
                      </a:r>
                    </a:p>
                  </a:txBody>
                  <a:tcPr marL="54864" marR="54864" marT="27432" marB="27432" anchor="ctr">
                    <a:solidFill>
                      <a:srgbClr val="F7E8E8"/>
                    </a:solidFill>
                  </a:tcPr>
                </a:tc>
                <a:tc>
                  <a:txBody>
                    <a:bodyPr wrap="square"/>
                    <a:lstStyle/>
                    <a:p>
                      <a:r>
                        <a:rPr sz="1300" b="0" i="0">
                          <a:solidFill>
                            <a:srgbClr val="1A1A1A"/>
                          </a:solidFill>
                          <a:latin typeface="Calibri"/>
                        </a:rPr>
                        <a:t>✔✔</a:t>
                      </a:r>
                    </a:p>
                  </a:txBody>
                  <a:tcPr marL="54864" marR="54864" marT="27432" marB="27432" anchor="ctr">
                    <a:solidFill>
                      <a:srgbClr val="F7E8E8"/>
                    </a:solidFill>
                  </a:tcPr>
                </a:tc>
                <a:tc>
                  <a:txBody>
                    <a:bodyPr wrap="square"/>
                    <a:lstStyle/>
                    <a:p/>
                  </a:txBody>
                  <a:tcPr marL="54864" marR="54864" marT="27432" marB="27432" anchor="ctr">
                    <a:solidFill>
                      <a:srgbClr val="F7E8E8"/>
                    </a:solidFill>
                  </a:tcPr>
                </a:tc>
                <a:tc>
                  <a:txBody>
                    <a:bodyPr wrap="square"/>
                    <a:lstStyle/>
                    <a:p/>
                  </a:txBody>
                  <a:tcPr marL="54864" marR="54864" marT="27432" marB="27432" anchor="ctr">
                    <a:solidFill>
                      <a:srgbClr val="F7E8E8"/>
                    </a:solidFill>
                  </a:tcPr>
                </a:tc>
                <a:tc>
                  <a:txBody>
                    <a:bodyPr wrap="square"/>
                    <a:lstStyle/>
                    <a:p>
                      <a:r>
                        <a:rPr sz="1300" b="0" i="0">
                          <a:solidFill>
                            <a:srgbClr val="1A1A1A"/>
                          </a:solidFill>
                          <a:latin typeface="Calibri"/>
                        </a:rPr>
                        <a:t>✔✔</a:t>
                      </a:r>
                    </a:p>
                  </a:txBody>
                  <a:tcPr marL="54864" marR="54864" marT="27432" marB="27432" anchor="ctr">
                    <a:solidFill>
                      <a:srgbClr val="F7E8E8"/>
                    </a:solidFill>
                  </a:tcPr>
                </a:tc>
                <a:tc>
                  <a:txBody>
                    <a:bodyPr wrap="square"/>
                    <a:lstStyle/>
                    <a:p>
                      <a:r>
                        <a:rPr sz="1300" b="0" i="0">
                          <a:solidFill>
                            <a:srgbClr val="1A1A1A"/>
                          </a:solidFill>
                          <a:latin typeface="Calibri"/>
                        </a:rPr>
                        <a:t>✔</a:t>
                      </a:r>
                    </a:p>
                  </a:txBody>
                  <a:tcPr marL="54864" marR="54864" marT="27432" marB="27432" anchor="ctr">
                    <a:solidFill>
                      <a:srgbClr val="F7E8E8"/>
                    </a:solidFill>
                  </a:tcPr>
                </a:tc>
                <a:tc>
                  <a:txBody>
                    <a:bodyPr wrap="square"/>
                    <a:lstStyle/>
                    <a:p>
                      <a:r>
                        <a:rPr sz="1300" b="0" i="0">
                          <a:solidFill>
                            <a:srgbClr val="1A1A1A"/>
                          </a:solidFill>
                          <a:latin typeface="Calibri"/>
                        </a:rPr>
                        <a:t>✔</a:t>
                      </a:r>
                    </a:p>
                  </a:txBody>
                  <a:tcPr marL="54864" marR="54864" marT="27432" marB="27432" anchor="ctr">
                    <a:solidFill>
                      <a:srgbClr val="F7E8E8"/>
                    </a:solidFill>
                  </a:tcPr>
                </a:tc>
                <a:tc>
                  <a:txBody>
                    <a:bodyPr wrap="square"/>
                    <a:lstStyle/>
                    <a:p/>
                  </a:txBody>
                  <a:tcPr marL="54864" marR="54864" marT="27432" marB="27432" anchor="ctr">
                    <a:solidFill>
                      <a:srgbClr val="F7E8E8"/>
                    </a:solidFill>
                  </a:tcPr>
                </a:tc>
              </a:tr>
              <a:tr h="391885">
                <a:tc>
                  <a:txBody>
                    <a:bodyPr wrap="square"/>
                    <a:lstStyle/>
                    <a:p>
                      <a:r>
                        <a:rPr sz="1300" b="1" i="0">
                          <a:solidFill>
                            <a:srgbClr val="1A1A1A"/>
                          </a:solidFill>
                          <a:latin typeface="Calibri"/>
                        </a:rPr>
                        <a:t>Content theories (Maslow, Herzberg, McClelland, SDT)</a:t>
                      </a:r>
                    </a:p>
                  </a:txBody>
                  <a:tcPr marL="54864" marR="54864" marT="27432" marB="27432" anchor="ctr">
                    <a:solidFill>
                      <a:srgbClr val="FFFFFF"/>
                    </a:solidFill>
                  </a:tcPr>
                </a:tc>
                <a:tc>
                  <a:txBody>
                    <a:bodyPr wrap="square"/>
                    <a:lstStyle/>
                    <a:p>
                      <a:r>
                        <a:rPr sz="1300" b="0" i="0">
                          <a:solidFill>
                            <a:srgbClr val="1A1A1A"/>
                          </a:solidFill>
                          <a:latin typeface="Calibri"/>
                        </a:rPr>
                        <a:t>✔✔</a:t>
                      </a:r>
                    </a:p>
                  </a:txBody>
                  <a:tcPr marL="54864" marR="54864" marT="27432" marB="27432" anchor="ctr">
                    <a:solidFill>
                      <a:srgbClr val="FFFFFF"/>
                    </a:solidFill>
                  </a:tcPr>
                </a:tc>
                <a:tc>
                  <a:txBody>
                    <a:bodyPr wrap="square"/>
                    <a:lstStyle/>
                    <a:p/>
                  </a:txBody>
                  <a:tcPr marL="54864" marR="54864" marT="27432" marB="27432" anchor="ctr">
                    <a:solidFill>
                      <a:srgbClr val="FFFFFF"/>
                    </a:solidFill>
                  </a:tcPr>
                </a:tc>
                <a:tc>
                  <a:txBody>
                    <a:bodyPr wrap="square"/>
                    <a:lstStyle/>
                    <a:p/>
                  </a:txBody>
                  <a:tcPr marL="54864" marR="54864" marT="27432" marB="27432" anchor="ctr">
                    <a:solidFill>
                      <a:srgbClr val="FFFFFF"/>
                    </a:solidFill>
                  </a:tcPr>
                </a:tc>
                <a:tc>
                  <a:txBody>
                    <a:bodyPr wrap="square"/>
                    <a:lstStyle/>
                    <a:p>
                      <a:r>
                        <a:rPr sz="1300" b="0" i="0">
                          <a:solidFill>
                            <a:srgbClr val="1A1A1A"/>
                          </a:solidFill>
                          <a:latin typeface="Calibri"/>
                        </a:rPr>
                        <a:t>✔✔</a:t>
                      </a:r>
                    </a:p>
                  </a:txBody>
                  <a:tcPr marL="54864" marR="54864" marT="27432" marB="27432" anchor="ctr">
                    <a:solidFill>
                      <a:srgbClr val="FFFFFF"/>
                    </a:solidFill>
                  </a:tcPr>
                </a:tc>
                <a:tc>
                  <a:txBody>
                    <a:bodyPr wrap="square"/>
                    <a:lstStyle/>
                    <a:p>
                      <a:r>
                        <a:rPr sz="1300" b="0" i="0">
                          <a:solidFill>
                            <a:srgbClr val="1A1A1A"/>
                          </a:solidFill>
                          <a:latin typeface="Calibri"/>
                        </a:rPr>
                        <a:t>✔✔</a:t>
                      </a:r>
                    </a:p>
                  </a:txBody>
                  <a:tcPr marL="54864" marR="54864" marT="27432" marB="27432" anchor="ctr">
                    <a:solidFill>
                      <a:srgbClr val="FFFFFF"/>
                    </a:solidFill>
                  </a:tcPr>
                </a:tc>
                <a:tc>
                  <a:txBody>
                    <a:bodyPr wrap="square"/>
                    <a:lstStyle/>
                    <a:p/>
                  </a:txBody>
                  <a:tcPr marL="54864" marR="54864" marT="27432" marB="27432" anchor="ctr">
                    <a:solidFill>
                      <a:srgbClr val="FFFFFF"/>
                    </a:solidFill>
                  </a:tcPr>
                </a:tc>
                <a:tc>
                  <a:txBody>
                    <a:bodyPr wrap="square"/>
                    <a:lstStyle/>
                    <a:p/>
                  </a:txBody>
                  <a:tcPr marL="54864" marR="54864" marT="27432" marB="27432" anchor="ctr">
                    <a:solidFill>
                      <a:srgbClr val="FFFFFF"/>
                    </a:solidFill>
                  </a:tcPr>
                </a:tc>
                <a:tc>
                  <a:txBody>
                    <a:bodyPr wrap="square"/>
                    <a:lstStyle/>
                    <a:p>
                      <a:r>
                        <a:rPr sz="1300" b="0" i="0">
                          <a:solidFill>
                            <a:srgbClr val="1A1A1A"/>
                          </a:solidFill>
                          <a:latin typeface="Calibri"/>
                        </a:rPr>
                        <a:t>✔</a:t>
                      </a:r>
                    </a:p>
                  </a:txBody>
                  <a:tcPr marL="54864" marR="54864" marT="27432" marB="27432" anchor="ctr">
                    <a:solidFill>
                      <a:srgbClr val="FFFFFF"/>
                    </a:solidFill>
                  </a:tcPr>
                </a:tc>
                <a:tc>
                  <a:txBody>
                    <a:bodyPr wrap="square"/>
                    <a:lstStyle/>
                    <a:p>
                      <a:r>
                        <a:rPr sz="1300" b="0" i="0">
                          <a:solidFill>
                            <a:srgbClr val="1A1A1A"/>
                          </a:solidFill>
                          <a:latin typeface="Calibri"/>
                        </a:rPr>
                        <a:t>✔</a:t>
                      </a:r>
                    </a:p>
                  </a:txBody>
                  <a:tcPr marL="54864" marR="54864" marT="27432" marB="27432" anchor="ctr">
                    <a:solidFill>
                      <a:srgbClr val="FFFFFF"/>
                    </a:solidFill>
                  </a:tcPr>
                </a:tc>
              </a:tr>
              <a:tr h="391885">
                <a:tc>
                  <a:txBody>
                    <a:bodyPr wrap="square"/>
                    <a:lstStyle/>
                    <a:p>
                      <a:r>
                        <a:rPr sz="1300" b="1" i="0">
                          <a:solidFill>
                            <a:srgbClr val="1A1A1A"/>
                          </a:solidFill>
                          <a:latin typeface="Calibri"/>
                        </a:rPr>
                        <a:t>Equity / justice</a:t>
                      </a:r>
                    </a:p>
                  </a:txBody>
                  <a:tcPr marL="54864" marR="54864" marT="27432" marB="27432" anchor="ctr">
                    <a:solidFill>
                      <a:srgbClr val="F7E8E8"/>
                    </a:solidFill>
                  </a:tcPr>
                </a:tc>
                <a:tc>
                  <a:txBody>
                    <a:bodyPr wrap="square"/>
                    <a:lstStyle/>
                    <a:p/>
                  </a:txBody>
                  <a:tcPr marL="54864" marR="54864" marT="27432" marB="27432" anchor="ctr">
                    <a:solidFill>
                      <a:srgbClr val="F7E8E8"/>
                    </a:solidFill>
                  </a:tcPr>
                </a:tc>
                <a:tc>
                  <a:txBody>
                    <a:bodyPr wrap="square"/>
                    <a:lstStyle/>
                    <a:p/>
                  </a:txBody>
                  <a:tcPr marL="54864" marR="54864" marT="27432" marB="27432" anchor="ctr">
                    <a:solidFill>
                      <a:srgbClr val="F7E8E8"/>
                    </a:solidFill>
                  </a:tcPr>
                </a:tc>
                <a:tc>
                  <a:txBody>
                    <a:bodyPr wrap="square"/>
                    <a:lstStyle/>
                    <a:p>
                      <a:r>
                        <a:rPr sz="1300" b="0" i="0">
                          <a:solidFill>
                            <a:srgbClr val="1A1A1A"/>
                          </a:solidFill>
                          <a:latin typeface="Calibri"/>
                        </a:rPr>
                        <a:t>✔✔</a:t>
                      </a:r>
                    </a:p>
                  </a:txBody>
                  <a:tcPr marL="54864" marR="54864" marT="27432" marB="27432" anchor="ctr">
                    <a:solidFill>
                      <a:srgbClr val="F7E8E8"/>
                    </a:solidFill>
                  </a:tcPr>
                </a:tc>
                <a:tc>
                  <a:txBody>
                    <a:bodyPr wrap="square"/>
                    <a:lstStyle/>
                    <a:p>
                      <a:r>
                        <a:rPr sz="1300" b="0" i="0">
                          <a:solidFill>
                            <a:srgbClr val="1A1A1A"/>
                          </a:solidFill>
                          <a:latin typeface="Calibri"/>
                        </a:rPr>
                        <a:t>✔✔</a:t>
                      </a:r>
                    </a:p>
                  </a:txBody>
                  <a:tcPr marL="54864" marR="54864" marT="27432" marB="27432" anchor="ctr">
                    <a:solidFill>
                      <a:srgbClr val="F7E8E8"/>
                    </a:solidFill>
                  </a:tcPr>
                </a:tc>
                <a:tc>
                  <a:txBody>
                    <a:bodyPr wrap="square"/>
                    <a:lstStyle/>
                    <a:p>
                      <a:r>
                        <a:rPr sz="1300" b="0" i="0">
                          <a:solidFill>
                            <a:srgbClr val="1A1A1A"/>
                          </a:solidFill>
                          <a:latin typeface="Calibri"/>
                        </a:rPr>
                        <a:t>✔</a:t>
                      </a:r>
                    </a:p>
                  </a:txBody>
                  <a:tcPr marL="54864" marR="54864" marT="27432" marB="27432" anchor="ctr">
                    <a:solidFill>
                      <a:srgbClr val="F7E8E8"/>
                    </a:solidFill>
                  </a:tcPr>
                </a:tc>
                <a:tc>
                  <a:txBody>
                    <a:bodyPr wrap="square"/>
                    <a:lstStyle/>
                    <a:p>
                      <a:r>
                        <a:rPr sz="1300" b="0" i="0">
                          <a:solidFill>
                            <a:srgbClr val="1A1A1A"/>
                          </a:solidFill>
                          <a:latin typeface="Calibri"/>
                        </a:rPr>
                        <a:t>✔</a:t>
                      </a:r>
                    </a:p>
                  </a:txBody>
                  <a:tcPr marL="54864" marR="54864" marT="27432" marB="27432" anchor="ctr">
                    <a:solidFill>
                      <a:srgbClr val="F7E8E8"/>
                    </a:solidFill>
                  </a:tcPr>
                </a:tc>
                <a:tc>
                  <a:txBody>
                    <a:bodyPr wrap="square"/>
                    <a:lstStyle/>
                    <a:p>
                      <a:r>
                        <a:rPr sz="1300" b="0" i="0">
                          <a:solidFill>
                            <a:srgbClr val="1A1A1A"/>
                          </a:solidFill>
                          <a:latin typeface="Calibri"/>
                        </a:rPr>
                        <a:t>✔✔</a:t>
                      </a:r>
                    </a:p>
                  </a:txBody>
                  <a:tcPr marL="54864" marR="54864" marT="27432" marB="27432" anchor="ctr">
                    <a:solidFill>
                      <a:srgbClr val="F7E8E8"/>
                    </a:solidFill>
                  </a:tcPr>
                </a:tc>
                <a:tc>
                  <a:txBody>
                    <a:bodyPr wrap="square"/>
                    <a:lstStyle/>
                    <a:p>
                      <a:r>
                        <a:rPr sz="1300" b="0" i="0">
                          <a:solidFill>
                            <a:srgbClr val="1A1A1A"/>
                          </a:solidFill>
                          <a:latin typeface="Calibri"/>
                        </a:rPr>
                        <a:t>✔</a:t>
                      </a:r>
                    </a:p>
                  </a:txBody>
                  <a:tcPr marL="54864" marR="54864" marT="27432" marB="27432" anchor="ctr">
                    <a:solidFill>
                      <a:srgbClr val="F7E8E8"/>
                    </a:solidFill>
                  </a:tcPr>
                </a:tc>
                <a:tc>
                  <a:txBody>
                    <a:bodyPr wrap="square"/>
                    <a:lstStyle/>
                    <a:p>
                      <a:r>
                        <a:rPr sz="1300" b="0" i="0">
                          <a:solidFill>
                            <a:srgbClr val="1A1A1A"/>
                          </a:solidFill>
                          <a:latin typeface="Calibri"/>
                        </a:rPr>
                        <a:t>✔✔</a:t>
                      </a:r>
                    </a:p>
                  </a:txBody>
                  <a:tcPr marL="54864" marR="54864" marT="27432" marB="27432" anchor="ctr">
                    <a:solidFill>
                      <a:srgbClr val="F7E8E8"/>
                    </a:solidFill>
                  </a:tcPr>
                </a:tc>
              </a:tr>
              <a:tr h="391885">
                <a:tc>
                  <a:txBody>
                    <a:bodyPr wrap="square"/>
                    <a:lstStyle/>
                    <a:p>
                      <a:r>
                        <a:rPr sz="1300" b="1" i="0">
                          <a:solidFill>
                            <a:srgbClr val="1A1A1A"/>
                          </a:solidFill>
                          <a:latin typeface="Calibri"/>
                        </a:rPr>
                        <a:t>Expectancy / goal setting</a:t>
                      </a:r>
                    </a:p>
                  </a:txBody>
                  <a:tcPr marL="54864" marR="54864" marT="27432" marB="27432" anchor="ctr">
                    <a:solidFill>
                      <a:srgbClr val="FFFFFF"/>
                    </a:solidFill>
                  </a:tcPr>
                </a:tc>
                <a:tc>
                  <a:txBody>
                    <a:bodyPr wrap="square"/>
                    <a:lstStyle/>
                    <a:p>
                      <a:r>
                        <a:rPr sz="1300" b="0" i="0">
                          <a:solidFill>
                            <a:srgbClr val="1A1A1A"/>
                          </a:solidFill>
                          <a:latin typeface="Calibri"/>
                        </a:rPr>
                        <a:t>✔</a:t>
                      </a:r>
                    </a:p>
                  </a:txBody>
                  <a:tcPr marL="54864" marR="54864" marT="27432" marB="27432" anchor="ctr">
                    <a:solidFill>
                      <a:srgbClr val="FFFFFF"/>
                    </a:solidFill>
                  </a:tcPr>
                </a:tc>
                <a:tc>
                  <a:txBody>
                    <a:bodyPr wrap="square"/>
                    <a:lstStyle/>
                    <a:p/>
                  </a:txBody>
                  <a:tcPr marL="54864" marR="54864" marT="27432" marB="27432" anchor="ctr">
                    <a:solidFill>
                      <a:srgbClr val="FFFFFF"/>
                    </a:solidFill>
                  </a:tcPr>
                </a:tc>
                <a:tc>
                  <a:txBody>
                    <a:bodyPr wrap="square"/>
                    <a:lstStyle/>
                    <a:p/>
                  </a:txBody>
                  <a:tcPr marL="54864" marR="54864" marT="27432" marB="27432" anchor="ctr">
                    <a:solidFill>
                      <a:srgbClr val="FFFFFF"/>
                    </a:solidFill>
                  </a:tcPr>
                </a:tc>
                <a:tc>
                  <a:txBody>
                    <a:bodyPr wrap="square"/>
                    <a:lstStyle/>
                    <a:p>
                      <a:r>
                        <a:rPr sz="1300" b="0" i="0">
                          <a:solidFill>
                            <a:srgbClr val="1A1A1A"/>
                          </a:solidFill>
                          <a:latin typeface="Calibri"/>
                        </a:rPr>
                        <a:t>✔</a:t>
                      </a:r>
                    </a:p>
                  </a:txBody>
                  <a:tcPr marL="54864" marR="54864" marT="27432" marB="27432" anchor="ctr">
                    <a:solidFill>
                      <a:srgbClr val="FFFFFF"/>
                    </a:solidFill>
                  </a:tcPr>
                </a:tc>
                <a:tc>
                  <a:txBody>
                    <a:bodyPr wrap="square"/>
                    <a:lstStyle/>
                    <a:p>
                      <a:r>
                        <a:rPr sz="1300" b="0" i="0">
                          <a:solidFill>
                            <a:srgbClr val="1A1A1A"/>
                          </a:solidFill>
                          <a:latin typeface="Calibri"/>
                        </a:rPr>
                        <a:t>✔</a:t>
                      </a:r>
                    </a:p>
                  </a:txBody>
                  <a:tcPr marL="54864" marR="54864" marT="27432" marB="27432" anchor="ctr">
                    <a:solidFill>
                      <a:srgbClr val="FFFFFF"/>
                    </a:solidFill>
                  </a:tcPr>
                </a:tc>
                <a:tc>
                  <a:txBody>
                    <a:bodyPr wrap="square"/>
                    <a:lstStyle/>
                    <a:p/>
                  </a:txBody>
                  <a:tcPr marL="54864" marR="54864" marT="27432" marB="27432" anchor="ctr">
                    <a:solidFill>
                      <a:srgbClr val="FFFFFF"/>
                    </a:solidFill>
                  </a:tcPr>
                </a:tc>
                <a:tc>
                  <a:txBody>
                    <a:bodyPr wrap="square"/>
                    <a:lstStyle/>
                    <a:p/>
                  </a:txBody>
                  <a:tcPr marL="54864" marR="54864" marT="27432" marB="27432" anchor="ctr">
                    <a:solidFill>
                      <a:srgbClr val="FFFFFF"/>
                    </a:solidFill>
                  </a:tcPr>
                </a:tc>
                <a:tc>
                  <a:txBody>
                    <a:bodyPr wrap="square"/>
                    <a:lstStyle/>
                    <a:p>
                      <a:r>
                        <a:rPr sz="1300" b="0" i="0">
                          <a:solidFill>
                            <a:srgbClr val="1A1A1A"/>
                          </a:solidFill>
                          <a:latin typeface="Calibri"/>
                        </a:rPr>
                        <a:t>✔</a:t>
                      </a:r>
                    </a:p>
                  </a:txBody>
                  <a:tcPr marL="54864" marR="54864" marT="27432" marB="27432" anchor="ctr">
                    <a:solidFill>
                      <a:srgbClr val="FFFFFF"/>
                    </a:solidFill>
                  </a:tcPr>
                </a:tc>
                <a:tc>
                  <a:txBody>
                    <a:bodyPr wrap="square"/>
                    <a:lstStyle/>
                    <a:p/>
                  </a:txBody>
                  <a:tcPr marL="54864" marR="54864" marT="27432" marB="27432" anchor="ctr">
                    <a:solidFill>
                      <a:srgbClr val="FFFFFF"/>
                    </a:solidFill>
                  </a:tcPr>
                </a:tc>
              </a:tr>
              <a:tr h="391885">
                <a:tc>
                  <a:txBody>
                    <a:bodyPr wrap="square"/>
                    <a:lstStyle/>
                    <a:p>
                      <a:r>
                        <a:rPr sz="1300" b="1" i="0">
                          <a:solidFill>
                            <a:srgbClr val="1A1A1A"/>
                          </a:solidFill>
                          <a:latin typeface="Calibri"/>
                        </a:rPr>
                        <a:t>Job design / crafting / i-deals</a:t>
                      </a:r>
                    </a:p>
                  </a:txBody>
                  <a:tcPr marL="54864" marR="54864" marT="27432" marB="27432" anchor="ctr">
                    <a:solidFill>
                      <a:srgbClr val="F7E8E8"/>
                    </a:solidFill>
                  </a:tcPr>
                </a:tc>
                <a:tc>
                  <a:txBody>
                    <a:bodyPr wrap="square"/>
                    <a:lstStyle/>
                    <a:p>
                      <a:r>
                        <a:rPr sz="1300" b="0" i="0">
                          <a:solidFill>
                            <a:srgbClr val="1A1A1A"/>
                          </a:solidFill>
                          <a:latin typeface="Calibri"/>
                        </a:rPr>
                        <a:t>✔</a:t>
                      </a:r>
                    </a:p>
                  </a:txBody>
                  <a:tcPr marL="54864" marR="54864" marT="27432" marB="27432" anchor="ctr">
                    <a:solidFill>
                      <a:srgbClr val="F7E8E8"/>
                    </a:solidFill>
                  </a:tcPr>
                </a:tc>
                <a:tc>
                  <a:txBody>
                    <a:bodyPr wrap="square"/>
                    <a:lstStyle/>
                    <a:p/>
                  </a:txBody>
                  <a:tcPr marL="54864" marR="54864" marT="27432" marB="27432" anchor="ctr">
                    <a:solidFill>
                      <a:srgbClr val="F7E8E8"/>
                    </a:solidFill>
                  </a:tcPr>
                </a:tc>
                <a:tc>
                  <a:txBody>
                    <a:bodyPr wrap="square"/>
                    <a:lstStyle/>
                    <a:p/>
                  </a:txBody>
                  <a:tcPr marL="54864" marR="54864" marT="27432" marB="27432" anchor="ctr">
                    <a:solidFill>
                      <a:srgbClr val="F7E8E8"/>
                    </a:solidFill>
                  </a:tcPr>
                </a:tc>
                <a:tc>
                  <a:txBody>
                    <a:bodyPr wrap="square"/>
                    <a:lstStyle/>
                    <a:p>
                      <a:r>
                        <a:rPr sz="1300" b="0" i="0">
                          <a:solidFill>
                            <a:srgbClr val="1A1A1A"/>
                          </a:solidFill>
                          <a:latin typeface="Calibri"/>
                        </a:rPr>
                        <a:t>✔✔</a:t>
                      </a:r>
                    </a:p>
                  </a:txBody>
                  <a:tcPr marL="54864" marR="54864" marT="27432" marB="27432" anchor="ctr">
                    <a:solidFill>
                      <a:srgbClr val="F7E8E8"/>
                    </a:solidFill>
                  </a:tcPr>
                </a:tc>
                <a:tc>
                  <a:txBody>
                    <a:bodyPr wrap="square"/>
                    <a:lstStyle/>
                    <a:p>
                      <a:r>
                        <a:rPr sz="1300" b="0" i="0">
                          <a:solidFill>
                            <a:srgbClr val="1A1A1A"/>
                          </a:solidFill>
                          <a:latin typeface="Calibri"/>
                        </a:rPr>
                        <a:t>✔</a:t>
                      </a:r>
                    </a:p>
                  </a:txBody>
                  <a:tcPr marL="54864" marR="54864" marT="27432" marB="27432" anchor="ctr">
                    <a:solidFill>
                      <a:srgbClr val="F7E8E8"/>
                    </a:solidFill>
                  </a:tcPr>
                </a:tc>
                <a:tc>
                  <a:txBody>
                    <a:bodyPr wrap="square"/>
                    <a:lstStyle/>
                    <a:p>
                      <a:r>
                        <a:rPr sz="1300" b="0" i="0">
                          <a:solidFill>
                            <a:srgbClr val="1A1A1A"/>
                          </a:solidFill>
                          <a:latin typeface="Calibri"/>
                        </a:rPr>
                        <a:t>✔</a:t>
                      </a:r>
                    </a:p>
                  </a:txBody>
                  <a:tcPr marL="54864" marR="54864" marT="27432" marB="27432" anchor="ctr">
                    <a:solidFill>
                      <a:srgbClr val="F7E8E8"/>
                    </a:solidFill>
                  </a:tcPr>
                </a:tc>
                <a:tc>
                  <a:txBody>
                    <a:bodyPr wrap="square"/>
                    <a:lstStyle/>
                    <a:p/>
                  </a:txBody>
                  <a:tcPr marL="54864" marR="54864" marT="27432" marB="27432" anchor="ctr">
                    <a:solidFill>
                      <a:srgbClr val="F7E8E8"/>
                    </a:solidFill>
                  </a:tcPr>
                </a:tc>
                <a:tc>
                  <a:txBody>
                    <a:bodyPr wrap="square"/>
                    <a:lstStyle/>
                    <a:p/>
                  </a:txBody>
                  <a:tcPr marL="54864" marR="54864" marT="27432" marB="27432" anchor="ctr">
                    <a:solidFill>
                      <a:srgbClr val="F7E8E8"/>
                    </a:solidFill>
                  </a:tcPr>
                </a:tc>
                <a:tc>
                  <a:txBody>
                    <a:bodyPr wrap="square"/>
                    <a:lstStyle/>
                    <a:p/>
                  </a:txBody>
                  <a:tcPr marL="54864" marR="54864" marT="27432" marB="27432" anchor="ctr">
                    <a:solidFill>
                      <a:srgbClr val="F7E8E8"/>
                    </a:solidFill>
                  </a:tcPr>
                </a:tc>
              </a:tr>
              <a:tr h="391885">
                <a:tc>
                  <a:txBody>
                    <a:bodyPr wrap="square"/>
                    <a:lstStyle/>
                    <a:p>
                      <a:r>
                        <a:rPr sz="1300" b="1" i="0">
                          <a:solidFill>
                            <a:srgbClr val="1A1A1A"/>
                          </a:solidFill>
                          <a:latin typeface="Calibri"/>
                        </a:rPr>
                        <a:t>POB: PsyCap, PERMA, virtuous leadership</a:t>
                      </a:r>
                    </a:p>
                  </a:txBody>
                  <a:tcPr marL="54864" marR="54864" marT="27432" marB="27432" anchor="ctr">
                    <a:solidFill>
                      <a:srgbClr val="FFFFFF"/>
                    </a:solidFill>
                  </a:tcPr>
                </a:tc>
                <a:tc>
                  <a:txBody>
                    <a:bodyPr wrap="square"/>
                    <a:lstStyle/>
                    <a:p>
                      <a:r>
                        <a:rPr sz="1300" b="0" i="0">
                          <a:solidFill>
                            <a:srgbClr val="1A1A1A"/>
                          </a:solidFill>
                          <a:latin typeface="Calibri"/>
                        </a:rPr>
                        <a:t>✔✔</a:t>
                      </a:r>
                    </a:p>
                  </a:txBody>
                  <a:tcPr marL="54864" marR="54864" marT="27432" marB="27432" anchor="ctr">
                    <a:solidFill>
                      <a:srgbClr val="FFFFFF"/>
                    </a:solidFill>
                  </a:tcPr>
                </a:tc>
                <a:tc>
                  <a:txBody>
                    <a:bodyPr wrap="square"/>
                    <a:lstStyle/>
                    <a:p>
                      <a:r>
                        <a:rPr sz="1300" b="0" i="0">
                          <a:solidFill>
                            <a:srgbClr val="1A1A1A"/>
                          </a:solidFill>
                          <a:latin typeface="Calibri"/>
                        </a:rPr>
                        <a:t>✔</a:t>
                      </a:r>
                    </a:p>
                  </a:txBody>
                  <a:tcPr marL="54864" marR="54864" marT="27432" marB="27432" anchor="ctr">
                    <a:solidFill>
                      <a:srgbClr val="FFFFFF"/>
                    </a:solidFill>
                  </a:tcPr>
                </a:tc>
                <a:tc>
                  <a:txBody>
                    <a:bodyPr wrap="square"/>
                    <a:lstStyle/>
                    <a:p/>
                  </a:txBody>
                  <a:tcPr marL="54864" marR="54864" marT="27432" marB="27432" anchor="ctr">
                    <a:solidFill>
                      <a:srgbClr val="FFFFFF"/>
                    </a:solidFill>
                  </a:tcPr>
                </a:tc>
                <a:tc>
                  <a:txBody>
                    <a:bodyPr wrap="square"/>
                    <a:lstStyle/>
                    <a:p>
                      <a:r>
                        <a:rPr sz="1300" b="0" i="0">
                          <a:solidFill>
                            <a:srgbClr val="1A1A1A"/>
                          </a:solidFill>
                          <a:latin typeface="Calibri"/>
                        </a:rPr>
                        <a:t>✔</a:t>
                      </a:r>
                    </a:p>
                  </a:txBody>
                  <a:tcPr marL="54864" marR="54864" marT="27432" marB="27432" anchor="ctr">
                    <a:solidFill>
                      <a:srgbClr val="FFFFFF"/>
                    </a:solidFill>
                  </a:tcPr>
                </a:tc>
                <a:tc>
                  <a:txBody>
                    <a:bodyPr wrap="square"/>
                    <a:lstStyle/>
                    <a:p>
                      <a:r>
                        <a:rPr sz="1300" b="0" i="0">
                          <a:solidFill>
                            <a:srgbClr val="1A1A1A"/>
                          </a:solidFill>
                          <a:latin typeface="Calibri"/>
                        </a:rPr>
                        <a:t>✔✔</a:t>
                      </a:r>
                    </a:p>
                  </a:txBody>
                  <a:tcPr marL="54864" marR="54864" marT="27432" marB="27432" anchor="ctr">
                    <a:solidFill>
                      <a:srgbClr val="FFFFFF"/>
                    </a:solidFill>
                  </a:tcPr>
                </a:tc>
                <a:tc>
                  <a:txBody>
                    <a:bodyPr wrap="square"/>
                    <a:lstStyle/>
                    <a:p>
                      <a:r>
                        <a:rPr sz="1300" b="0" i="0">
                          <a:solidFill>
                            <a:srgbClr val="1A1A1A"/>
                          </a:solidFill>
                          <a:latin typeface="Calibri"/>
                        </a:rPr>
                        <a:t>✔</a:t>
                      </a:r>
                    </a:p>
                  </a:txBody>
                  <a:tcPr marL="54864" marR="54864" marT="27432" marB="27432" anchor="ctr">
                    <a:solidFill>
                      <a:srgbClr val="FFFFFF"/>
                    </a:solidFill>
                  </a:tcPr>
                </a:tc>
                <a:tc>
                  <a:txBody>
                    <a:bodyPr wrap="square"/>
                    <a:lstStyle/>
                    <a:p/>
                  </a:txBody>
                  <a:tcPr marL="54864" marR="54864" marT="27432" marB="27432" anchor="ctr">
                    <a:solidFill>
                      <a:srgbClr val="FFFFFF"/>
                    </a:solidFill>
                  </a:tcPr>
                </a:tc>
                <a:tc>
                  <a:txBody>
                    <a:bodyPr wrap="square"/>
                    <a:lstStyle/>
                    <a:p/>
                  </a:txBody>
                  <a:tcPr marL="54864" marR="54864" marT="27432" marB="27432" anchor="ctr">
                    <a:solidFill>
                      <a:srgbClr val="FFFFFF"/>
                    </a:solidFill>
                  </a:tcPr>
                </a:tc>
                <a:tc>
                  <a:txBody>
                    <a:bodyPr wrap="square"/>
                    <a:lstStyle/>
                    <a:p>
                      <a:r>
                        <a:rPr sz="1300" b="0" i="0">
                          <a:solidFill>
                            <a:srgbClr val="1A1A1A"/>
                          </a:solidFill>
                          <a:latin typeface="Calibri"/>
                        </a:rPr>
                        <a:t>✔</a:t>
                      </a:r>
                    </a:p>
                  </a:txBody>
                  <a:tcPr marL="54864" marR="54864" marT="27432" marB="27432" anchor="ctr">
                    <a:solidFill>
                      <a:srgbClr val="FFFFFF"/>
                    </a:solidFill>
                  </a:tcPr>
                </a:tc>
              </a:tr>
            </a:tbl>
          </a:graphicData>
        </a:graphic>
      </p:graphicFrame>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B7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600" b="1" i="0">
                <a:solidFill>
                  <a:srgbClr val="FFFFFF"/>
                </a:solidFill>
                <a:latin typeface="Calibri"/>
              </a:rPr>
              <a:t>EXAM TOOLKIT 2: Compare &amp; contrast in one line each</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EDC6C6"/>
                </a:solidFill>
                <a:latin typeface="Calibri"/>
              </a:rPr>
              <a:t>EXAM TOOLKIT</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Classic 'distinguish between' questions</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59</a:t>
            </a:r>
          </a:p>
        </p:txBody>
      </p:sp>
      <p:graphicFrame>
        <p:nvGraphicFramePr>
          <p:cNvPr id="7" name="Table 6"/>
          <p:cNvGraphicFramePr>
            <a:graphicFrameLocks noGrp="1"/>
          </p:cNvGraphicFramePr>
          <p:nvPr/>
        </p:nvGraphicFramePr>
        <p:xfrm>
          <a:off x="274320" y="1051560"/>
          <a:ext cx="11658600" cy="5486400"/>
        </p:xfrm>
        <a:graphic>
          <a:graphicData uri="http://schemas.openxmlformats.org/drawingml/2006/table">
            <a:tbl>
              <a:tblPr firstRow="1" bandRow="1">
                <a:tableStyleId>{5C22544A-7EE6-4342-B048-85BDC9FD1C3A}</a:tableStyleId>
              </a:tblPr>
              <a:tblGrid>
                <a:gridCol w="3291840"/>
                <a:gridCol w="8366760"/>
              </a:tblGrid>
              <a:tr h="365760">
                <a:tc>
                  <a:txBody>
                    <a:bodyPr wrap="square"/>
                    <a:lstStyle/>
                    <a:p>
                      <a:r>
                        <a:rPr sz="1400" b="1" i="0">
                          <a:solidFill>
                            <a:srgbClr val="FFFFFF"/>
                          </a:solidFill>
                          <a:latin typeface="Calibri"/>
                        </a:rPr>
                        <a:t>Pair</a:t>
                      </a:r>
                    </a:p>
                  </a:txBody>
                  <a:tcPr marL="54864" marR="54864" marT="27432" marB="27432" anchor="ctr">
                    <a:solidFill>
                      <a:srgbClr val="B71C1C"/>
                    </a:solidFill>
                  </a:tcPr>
                </a:tc>
                <a:tc>
                  <a:txBody>
                    <a:bodyPr wrap="square"/>
                    <a:lstStyle/>
                    <a:p>
                      <a:r>
                        <a:rPr sz="1400" b="1" i="0">
                          <a:solidFill>
                            <a:srgbClr val="FFFFFF"/>
                          </a:solidFill>
                          <a:latin typeface="Calibri"/>
                        </a:rPr>
                        <a:t>Difference (one line)</a:t>
                      </a:r>
                    </a:p>
                  </a:txBody>
                  <a:tcPr marL="54864" marR="54864" marT="27432" marB="27432" anchor="ctr">
                    <a:solidFill>
                      <a:srgbClr val="B71C1C"/>
                    </a:solidFill>
                  </a:tcPr>
                </a:tc>
              </a:tr>
              <a:tr h="365760">
                <a:tc>
                  <a:txBody>
                    <a:bodyPr wrap="square"/>
                    <a:lstStyle/>
                    <a:p>
                      <a:r>
                        <a:rPr sz="1400" b="1" i="0">
                          <a:solidFill>
                            <a:srgbClr val="1A1A1A"/>
                          </a:solidFill>
                          <a:latin typeface="Calibri"/>
                        </a:rPr>
                        <a:t>Values vs attitudes</a:t>
                      </a:r>
                    </a:p>
                  </a:txBody>
                  <a:tcPr marL="54864" marR="54864" marT="27432" marB="27432" anchor="ctr">
                    <a:solidFill>
                      <a:srgbClr val="FFFFFF"/>
                    </a:solidFill>
                  </a:tcPr>
                </a:tc>
                <a:tc>
                  <a:txBody>
                    <a:bodyPr wrap="square"/>
                    <a:lstStyle/>
                    <a:p>
                      <a:r>
                        <a:rPr sz="1400" b="0" i="0">
                          <a:solidFill>
                            <a:srgbClr val="1A1A1A"/>
                          </a:solidFill>
                          <a:latin typeface="Calibri"/>
                        </a:rPr>
                        <a:t>Values = global, all situations; attitudes = specific objects, act via intentions</a:t>
                      </a:r>
                    </a:p>
                  </a:txBody>
                  <a:tcPr marL="54864" marR="54864" marT="27432" marB="27432" anchor="ctr">
                    <a:solidFill>
                      <a:srgbClr val="FFFFFF"/>
                    </a:solidFill>
                  </a:tcPr>
                </a:tc>
              </a:tr>
              <a:tr h="365760">
                <a:tc>
                  <a:txBody>
                    <a:bodyPr wrap="square"/>
                    <a:lstStyle/>
                    <a:p>
                      <a:r>
                        <a:rPr sz="1400" b="1" i="0">
                          <a:solidFill>
                            <a:srgbClr val="1A1A1A"/>
                          </a:solidFill>
                          <a:latin typeface="Calibri"/>
                        </a:rPr>
                        <a:t>Content vs process theories</a:t>
                      </a:r>
                    </a:p>
                  </a:txBody>
                  <a:tcPr marL="54864" marR="54864" marT="27432" marB="27432" anchor="ctr">
                    <a:solidFill>
                      <a:srgbClr val="F7E8E8"/>
                    </a:solidFill>
                  </a:tcPr>
                </a:tc>
                <a:tc>
                  <a:txBody>
                    <a:bodyPr wrap="square"/>
                    <a:lstStyle/>
                    <a:p>
                      <a:r>
                        <a:rPr sz="1400" b="0" i="0">
                          <a:solidFill>
                            <a:srgbClr val="1A1A1A"/>
                          </a:solidFill>
                          <a:latin typeface="Calibri"/>
                        </a:rPr>
                        <a:t>Content = WHAT needs motivate; process = HOW people choose effort</a:t>
                      </a:r>
                    </a:p>
                  </a:txBody>
                  <a:tcPr marL="54864" marR="54864" marT="27432" marB="27432" anchor="ctr">
                    <a:solidFill>
                      <a:srgbClr val="F7E8E8"/>
                    </a:solidFill>
                  </a:tcPr>
                </a:tc>
              </a:tr>
              <a:tr h="365760">
                <a:tc>
                  <a:txBody>
                    <a:bodyPr wrap="square"/>
                    <a:lstStyle/>
                    <a:p>
                      <a:r>
                        <a:rPr sz="1400" b="1" i="0">
                          <a:solidFill>
                            <a:srgbClr val="1A1A1A"/>
                          </a:solidFill>
                          <a:latin typeface="Calibri"/>
                        </a:rPr>
                        <a:t>Maslow vs Herzberg</a:t>
                      </a:r>
                    </a:p>
                  </a:txBody>
                  <a:tcPr marL="54864" marR="54864" marT="27432" marB="27432" anchor="ctr">
                    <a:solidFill>
                      <a:srgbClr val="FFFFFF"/>
                    </a:solidFill>
                  </a:tcPr>
                </a:tc>
                <a:tc>
                  <a:txBody>
                    <a:bodyPr wrap="square"/>
                    <a:lstStyle/>
                    <a:p>
                      <a:r>
                        <a:rPr sz="1400" b="0" i="0">
                          <a:solidFill>
                            <a:srgbClr val="1A1A1A"/>
                          </a:solidFill>
                          <a:latin typeface="Calibri"/>
                        </a:rPr>
                        <a:t>Maslow = 5 sequential needs; Herzberg = 2 independent factor sets (hygiene vs motivators)</a:t>
                      </a:r>
                    </a:p>
                  </a:txBody>
                  <a:tcPr marL="54864" marR="54864" marT="27432" marB="27432" anchor="ctr">
                    <a:solidFill>
                      <a:srgbClr val="FFFFFF"/>
                    </a:solidFill>
                  </a:tcPr>
                </a:tc>
              </a:tr>
              <a:tr h="365760">
                <a:tc>
                  <a:txBody>
                    <a:bodyPr wrap="square"/>
                    <a:lstStyle/>
                    <a:p>
                      <a:r>
                        <a:rPr sz="1400" b="1" i="0">
                          <a:solidFill>
                            <a:srgbClr val="1A1A1A"/>
                          </a:solidFill>
                          <a:latin typeface="Calibri"/>
                        </a:rPr>
                        <a:t>McClelland vs SDT</a:t>
                      </a:r>
                    </a:p>
                  </a:txBody>
                  <a:tcPr marL="54864" marR="54864" marT="27432" marB="27432" anchor="ctr">
                    <a:solidFill>
                      <a:srgbClr val="F7E8E8"/>
                    </a:solidFill>
                  </a:tcPr>
                </a:tc>
                <a:tc>
                  <a:txBody>
                    <a:bodyPr wrap="square"/>
                    <a:lstStyle/>
                    <a:p>
                      <a:r>
                        <a:rPr sz="1400" b="0" i="0">
                          <a:solidFill>
                            <a:srgbClr val="1A1A1A"/>
                          </a:solidFill>
                          <a:latin typeface="Calibri"/>
                        </a:rPr>
                        <a:t>Needs are learned (nAch, nAff, nPow) vs innate (competence, autonomy, relatedness)</a:t>
                      </a:r>
                    </a:p>
                  </a:txBody>
                  <a:tcPr marL="54864" marR="54864" marT="27432" marB="27432" anchor="ctr">
                    <a:solidFill>
                      <a:srgbClr val="F7E8E8"/>
                    </a:solidFill>
                  </a:tcPr>
                </a:tc>
              </a:tr>
              <a:tr h="365760">
                <a:tc>
                  <a:txBody>
                    <a:bodyPr wrap="square"/>
                    <a:lstStyle/>
                    <a:p>
                      <a:r>
                        <a:rPr sz="1400" b="1" i="0">
                          <a:solidFill>
                            <a:srgbClr val="1A1A1A"/>
                          </a:solidFill>
                          <a:latin typeface="Calibri"/>
                        </a:rPr>
                        <a:t>Equity vs expectancy</a:t>
                      </a:r>
                    </a:p>
                  </a:txBody>
                  <a:tcPr marL="54864" marR="54864" marT="27432" marB="27432" anchor="ctr">
                    <a:solidFill>
                      <a:srgbClr val="FFFFFF"/>
                    </a:solidFill>
                  </a:tcPr>
                </a:tc>
                <a:tc>
                  <a:txBody>
                    <a:bodyPr wrap="square"/>
                    <a:lstStyle/>
                    <a:p>
                      <a:r>
                        <a:rPr sz="1400" b="0" i="0">
                          <a:solidFill>
                            <a:srgbClr val="1A1A1A"/>
                          </a:solidFill>
                          <a:latin typeface="Calibri"/>
                        </a:rPr>
                        <a:t>Equity = fairness of ratio vs others; expectancy = E × I × V effort calculus</a:t>
                      </a:r>
                    </a:p>
                  </a:txBody>
                  <a:tcPr marL="54864" marR="54864" marT="27432" marB="27432" anchor="ctr">
                    <a:solidFill>
                      <a:srgbClr val="FFFFFF"/>
                    </a:solidFill>
                  </a:tcPr>
                </a:tc>
              </a:tr>
              <a:tr h="365760">
                <a:tc>
                  <a:txBody>
                    <a:bodyPr wrap="square"/>
                    <a:lstStyle/>
                    <a:p>
                      <a:r>
                        <a:rPr sz="1400" b="1" i="0">
                          <a:solidFill>
                            <a:srgbClr val="1A1A1A"/>
                          </a:solidFill>
                          <a:latin typeface="Calibri"/>
                        </a:rPr>
                        <a:t>Distributive / procedural / interactional</a:t>
                      </a:r>
                    </a:p>
                  </a:txBody>
                  <a:tcPr marL="54864" marR="54864" marT="27432" marB="27432" anchor="ctr">
                    <a:solidFill>
                      <a:srgbClr val="F7E8E8"/>
                    </a:solidFill>
                  </a:tcPr>
                </a:tc>
                <a:tc>
                  <a:txBody>
                    <a:bodyPr wrap="square"/>
                    <a:lstStyle/>
                    <a:p>
                      <a:r>
                        <a:rPr sz="1400" b="0" i="0">
                          <a:solidFill>
                            <a:srgbClr val="1A1A1A"/>
                          </a:solidFill>
                          <a:latin typeface="Calibri"/>
                        </a:rPr>
                        <a:t>Fair outcomes / fair process / fair interpersonal treatment</a:t>
                      </a:r>
                    </a:p>
                  </a:txBody>
                  <a:tcPr marL="54864" marR="54864" marT="27432" marB="27432" anchor="ctr">
                    <a:solidFill>
                      <a:srgbClr val="F7E8E8"/>
                    </a:solidFill>
                  </a:tcPr>
                </a:tc>
              </a:tr>
              <a:tr h="365760">
                <a:tc>
                  <a:txBody>
                    <a:bodyPr wrap="square"/>
                    <a:lstStyle/>
                    <a:p>
                      <a:r>
                        <a:rPr sz="1400" b="1" i="0">
                          <a:solidFill>
                            <a:srgbClr val="1A1A1A"/>
                          </a:solidFill>
                          <a:latin typeface="Calibri"/>
                        </a:rPr>
                        <a:t>Job enlargement vs enrichment</a:t>
                      </a:r>
                    </a:p>
                  </a:txBody>
                  <a:tcPr marL="54864" marR="54864" marT="27432" marB="27432" anchor="ctr">
                    <a:solidFill>
                      <a:srgbClr val="FFFFFF"/>
                    </a:solidFill>
                  </a:tcPr>
                </a:tc>
                <a:tc>
                  <a:txBody>
                    <a:bodyPr wrap="square"/>
                    <a:lstStyle/>
                    <a:p>
                      <a:r>
                        <a:rPr sz="1400" b="0" i="0">
                          <a:solidFill>
                            <a:srgbClr val="1A1A1A"/>
                          </a:solidFill>
                          <a:latin typeface="Calibri"/>
                        </a:rPr>
                        <a:t>Horizontal (more similar tasks) vs vertical (more responsibility &amp; autonomy)</a:t>
                      </a:r>
                    </a:p>
                  </a:txBody>
                  <a:tcPr marL="54864" marR="54864" marT="27432" marB="27432" anchor="ctr">
                    <a:solidFill>
                      <a:srgbClr val="FFFFFF"/>
                    </a:solidFill>
                  </a:tcPr>
                </a:tc>
              </a:tr>
              <a:tr h="365760">
                <a:tc>
                  <a:txBody>
                    <a:bodyPr wrap="square"/>
                    <a:lstStyle/>
                    <a:p>
                      <a:r>
                        <a:rPr sz="1400" b="1" i="0">
                          <a:solidFill>
                            <a:srgbClr val="1A1A1A"/>
                          </a:solidFill>
                          <a:latin typeface="Calibri"/>
                        </a:rPr>
                        <a:t>Job crafting vs i-deals</a:t>
                      </a:r>
                    </a:p>
                  </a:txBody>
                  <a:tcPr marL="54864" marR="54864" marT="27432" marB="27432" anchor="ctr">
                    <a:solidFill>
                      <a:srgbClr val="F7E8E8"/>
                    </a:solidFill>
                  </a:tcPr>
                </a:tc>
                <a:tc>
                  <a:txBody>
                    <a:bodyPr wrap="square"/>
                    <a:lstStyle/>
                    <a:p>
                      <a:r>
                        <a:rPr sz="1400" b="0" i="0">
                          <a:solidFill>
                            <a:srgbClr val="1A1A1A"/>
                          </a:solidFill>
                          <a:latin typeface="Calibri"/>
                        </a:rPr>
                        <a:t>Employee reshapes job alone vs negotiates terms with employer</a:t>
                      </a:r>
                    </a:p>
                  </a:txBody>
                  <a:tcPr marL="54864" marR="54864" marT="27432" marB="27432" anchor="ctr">
                    <a:solidFill>
                      <a:srgbClr val="F7E8E8"/>
                    </a:solidFill>
                  </a:tcPr>
                </a:tc>
              </a:tr>
              <a:tr h="365760">
                <a:tc>
                  <a:txBody>
                    <a:bodyPr wrap="square"/>
                    <a:lstStyle/>
                    <a:p>
                      <a:r>
                        <a:rPr sz="1400" b="1" i="0">
                          <a:solidFill>
                            <a:srgbClr val="1A1A1A"/>
                          </a:solidFill>
                          <a:latin typeface="Calibri"/>
                        </a:rPr>
                        <a:t>OCB vs CWB</a:t>
                      </a:r>
                    </a:p>
                  </a:txBody>
                  <a:tcPr marL="54864" marR="54864" marT="27432" marB="27432" anchor="ctr">
                    <a:solidFill>
                      <a:srgbClr val="FFFFFF"/>
                    </a:solidFill>
                  </a:tcPr>
                </a:tc>
                <a:tc>
                  <a:txBody>
                    <a:bodyPr wrap="square"/>
                    <a:lstStyle/>
                    <a:p>
                      <a:r>
                        <a:rPr sz="1400" b="0" i="0">
                          <a:solidFill>
                            <a:srgbClr val="1A1A1A"/>
                          </a:solidFill>
                          <a:latin typeface="Calibri"/>
                        </a:rPr>
                        <a:t>Voluntary helping behaviour vs behaviour harming org/people</a:t>
                      </a:r>
                    </a:p>
                  </a:txBody>
                  <a:tcPr marL="54864" marR="54864" marT="27432" marB="27432" anchor="ctr">
                    <a:solidFill>
                      <a:srgbClr val="FFFFFF"/>
                    </a:solidFill>
                  </a:tcPr>
                </a:tc>
              </a:tr>
              <a:tr h="365760">
                <a:tc>
                  <a:txBody>
                    <a:bodyPr wrap="square"/>
                    <a:lstStyle/>
                    <a:p>
                      <a:r>
                        <a:rPr sz="1400" b="1" i="0">
                          <a:solidFill>
                            <a:srgbClr val="1A1A1A"/>
                          </a:solidFill>
                          <a:latin typeface="Calibri"/>
                        </a:rPr>
                        <a:t>Felt vs displayed emotion</a:t>
                      </a:r>
                    </a:p>
                  </a:txBody>
                  <a:tcPr marL="54864" marR="54864" marT="27432" marB="27432" anchor="ctr">
                    <a:solidFill>
                      <a:srgbClr val="F7E8E8"/>
                    </a:solidFill>
                  </a:tcPr>
                </a:tc>
                <a:tc>
                  <a:txBody>
                    <a:bodyPr wrap="square"/>
                    <a:lstStyle/>
                    <a:p>
                      <a:r>
                        <a:rPr sz="1400" b="0" i="0">
                          <a:solidFill>
                            <a:srgbClr val="1A1A1A"/>
                          </a:solidFill>
                          <a:latin typeface="Calibri"/>
                        </a:rPr>
                        <a:t>What you experience vs what you show (display norms)</a:t>
                      </a:r>
                    </a:p>
                  </a:txBody>
                  <a:tcPr marL="54864" marR="54864" marT="27432" marB="27432" anchor="ctr">
                    <a:solidFill>
                      <a:srgbClr val="F7E8E8"/>
                    </a:solidFill>
                  </a:tcPr>
                </a:tc>
              </a:tr>
              <a:tr h="365760">
                <a:tc>
                  <a:txBody>
                    <a:bodyPr wrap="square"/>
                    <a:lstStyle/>
                    <a:p>
                      <a:r>
                        <a:rPr sz="1400" b="1" i="0">
                          <a:solidFill>
                            <a:srgbClr val="1A1A1A"/>
                          </a:solidFill>
                          <a:latin typeface="Calibri"/>
                        </a:rPr>
                        <a:t>FAE vs self-serving bias</a:t>
                      </a:r>
                    </a:p>
                  </a:txBody>
                  <a:tcPr marL="54864" marR="54864" marT="27432" marB="27432" anchor="ctr">
                    <a:solidFill>
                      <a:srgbClr val="FFFFFF"/>
                    </a:solidFill>
                  </a:tcPr>
                </a:tc>
                <a:tc>
                  <a:txBody>
                    <a:bodyPr wrap="square"/>
                    <a:lstStyle/>
                    <a:p>
                      <a:r>
                        <a:rPr sz="1400" b="0" i="0">
                          <a:solidFill>
                            <a:srgbClr val="1A1A1A"/>
                          </a:solidFill>
                          <a:latin typeface="Calibri"/>
                        </a:rPr>
                        <a:t>Blame others' traits vs credit self for success, blame situation for failure</a:t>
                      </a:r>
                    </a:p>
                  </a:txBody>
                  <a:tcPr marL="54864" marR="54864" marT="27432" marB="27432" anchor="ctr">
                    <a:solidFill>
                      <a:srgbClr val="FFFFFF"/>
                    </a:solidFill>
                  </a:tcPr>
                </a:tc>
              </a:tr>
              <a:tr h="365760">
                <a:tc>
                  <a:txBody>
                    <a:bodyPr wrap="square"/>
                    <a:lstStyle/>
                    <a:p>
                      <a:r>
                        <a:rPr sz="1400" b="1" i="0">
                          <a:solidFill>
                            <a:srgbClr val="1A1A1A"/>
                          </a:solidFill>
                          <a:latin typeface="Calibri"/>
                        </a:rPr>
                        <a:t>Schwartz vs Hofstede vs GLOBE</a:t>
                      </a:r>
                    </a:p>
                  </a:txBody>
                  <a:tcPr marL="54864" marR="54864" marT="27432" marB="27432" anchor="ctr">
                    <a:solidFill>
                      <a:srgbClr val="F7E8E8"/>
                    </a:solidFill>
                  </a:tcPr>
                </a:tc>
                <a:tc>
                  <a:txBody>
                    <a:bodyPr wrap="square"/>
                    <a:lstStyle/>
                    <a:p>
                      <a:r>
                        <a:rPr sz="1400" b="0" i="0">
                          <a:solidFill>
                            <a:srgbClr val="1A1A1A"/>
                          </a:solidFill>
                          <a:latin typeface="Calibri"/>
                        </a:rPr>
                        <a:t>Individual value priorities vs national culture vs culture-leadership link</a:t>
                      </a:r>
                    </a:p>
                  </a:txBody>
                  <a:tcPr marL="54864" marR="54864" marT="27432" marB="27432" anchor="ctr">
                    <a:solidFill>
                      <a:srgbClr val="F7E8E8"/>
                    </a:solidFill>
                  </a:tcPr>
                </a:tc>
              </a:tr>
              <a:tr h="365760">
                <a:tc>
                  <a:txBody>
                    <a:bodyPr wrap="square"/>
                    <a:lstStyle/>
                    <a:p>
                      <a:r>
                        <a:rPr sz="1400" b="1" i="0">
                          <a:solidFill>
                            <a:srgbClr val="1A1A1A"/>
                          </a:solidFill>
                          <a:latin typeface="Calibri"/>
                        </a:rPr>
                        <a:t>Technical vs adaptive challenge</a:t>
                      </a:r>
                    </a:p>
                  </a:txBody>
                  <a:tcPr marL="54864" marR="54864" marT="27432" marB="27432" anchor="ctr">
                    <a:solidFill>
                      <a:srgbClr val="FFFFFF"/>
                    </a:solidFill>
                  </a:tcPr>
                </a:tc>
                <a:tc>
                  <a:txBody>
                    <a:bodyPr wrap="square"/>
                    <a:lstStyle/>
                    <a:p>
                      <a:r>
                        <a:rPr sz="1400" b="0" i="0">
                          <a:solidFill>
                            <a:srgbClr val="1A1A1A"/>
                          </a:solidFill>
                          <a:latin typeface="Calibri"/>
                        </a:rPr>
                        <a:t>Solvable with expertise vs needs new learning in mindsets (Heifetz, R1)</a:t>
                      </a:r>
                    </a:p>
                  </a:txBody>
                  <a:tcPr marL="54864" marR="54864" marT="27432" marB="27432" anchor="ctr">
                    <a:solidFill>
                      <a:srgbClr val="FFFFFF"/>
                    </a:solidFill>
                  </a:tcPr>
                </a:tc>
              </a:tr>
              <a:tr h="365760">
                <a:tc>
                  <a:txBody>
                    <a:bodyPr wrap="square"/>
                    <a:lstStyle/>
                    <a:p>
                      <a:r>
                        <a:rPr sz="1400" b="1" i="0">
                          <a:solidFill>
                            <a:srgbClr val="1A1A1A"/>
                          </a:solidFill>
                          <a:latin typeface="Calibri"/>
                        </a:rPr>
                        <a:t>Traditional OB vs POB</a:t>
                      </a:r>
                    </a:p>
                  </a:txBody>
                  <a:tcPr marL="54864" marR="54864" marT="27432" marB="27432" anchor="ctr">
                    <a:solidFill>
                      <a:srgbClr val="F7E8E8"/>
                    </a:solidFill>
                  </a:tcPr>
                </a:tc>
                <a:tc>
                  <a:txBody>
                    <a:bodyPr wrap="square"/>
                    <a:lstStyle/>
                    <a:p>
                      <a:r>
                        <a:rPr sz="1400" b="0" i="0">
                          <a:solidFill>
                            <a:srgbClr val="1A1A1A"/>
                          </a:solidFill>
                          <a:latin typeface="Calibri"/>
                        </a:rPr>
                        <a:t>Fix weaknesses vs build measurable, developable strengths (HERO)</a:t>
                      </a:r>
                    </a:p>
                  </a:txBody>
                  <a:tcPr marL="54864" marR="54864" marT="27432" marB="27432" anchor="ctr">
                    <a:solidFill>
                      <a:srgbClr val="F7E8E8"/>
                    </a:solidFill>
                  </a:tcPr>
                </a:tc>
              </a:tr>
            </a:tbl>
          </a:graphicData>
        </a:graphic>
      </p:graphicFrame>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B7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600" b="1" i="0">
                <a:solidFill>
                  <a:srgbClr val="FFFFFF"/>
                </a:solidFill>
                <a:latin typeface="Calibri"/>
              </a:rPr>
              <a:t>EXAM TOOLKIT 3: Likely questions &amp; answer skeletons (1/2)</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EDC6C6"/>
                </a:solidFill>
                <a:latin typeface="Calibri"/>
              </a:rPr>
              <a:t>EXAM TOOLKIT</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Write 1 theory + 1 case fact + 1 action per para</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60</a:t>
            </a:r>
          </a:p>
        </p:txBody>
      </p:sp>
      <p:sp>
        <p:nvSpPr>
          <p:cNvPr id="7" name="Rounded Rectangle 6"/>
          <p:cNvSpPr/>
          <p:nvPr/>
        </p:nvSpPr>
        <p:spPr>
          <a:xfrm>
            <a:off x="274320" y="1051560"/>
            <a:ext cx="4206240" cy="1261872"/>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500" b="1" i="0">
                <a:solidFill>
                  <a:srgbClr val="FFFFFF"/>
                </a:solidFill>
                <a:latin typeface="Calibri"/>
              </a:rPr>
              <a:t>Q1 Orix: Should Ramnath continue prioritising culture over pay?</a:t>
            </a:r>
          </a:p>
        </p:txBody>
      </p:sp>
      <p:sp>
        <p:nvSpPr>
          <p:cNvPr id="8" name="Rounded Rectangle 7"/>
          <p:cNvSpPr/>
          <p:nvPr/>
        </p:nvSpPr>
        <p:spPr>
          <a:xfrm>
            <a:off x="4572000" y="1051560"/>
            <a:ext cx="7360920" cy="1261872"/>
          </a:xfrm>
          <a:prstGeom prst="roundRect">
            <a:avLst>
              <a:gd name="adj" fmla="val 6000"/>
            </a:avLst>
          </a:prstGeom>
          <a:solidFill>
            <a:srgbClr val="FFFFFF"/>
          </a:solidFill>
          <a:ln w="19050">
            <a:solidFill>
              <a:srgbClr val="8AA5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40" y="1069848"/>
            <a:ext cx="7178040" cy="1225296"/>
          </a:xfrm>
          <a:prstGeom prst="rect">
            <a:avLst/>
          </a:prstGeom>
          <a:noFill/>
        </p:spPr>
        <p:txBody>
          <a:bodyPr wrap="square" anchor="ctr" lIns="45720" rIns="45720" tIns="18288" bIns="18288"/>
          <a:lstStyle/>
          <a:p>
            <a:pPr algn="l"/>
            <a:r>
              <a:rPr sz="1700" b="0" i="0">
                <a:solidFill>
                  <a:srgbClr val="1A1A1A"/>
                </a:solidFill>
                <a:latin typeface="Calibri"/>
              </a:rPr>
              <a:t>Herzberg (pay = hygiene, retreats = motivators) + survey shows pay valence ↑ → equity risk of customised comp → recommend: market-benchmark pay + transparent i-deal rules + keep O-Code/retreats.</a:t>
            </a:r>
          </a:p>
        </p:txBody>
      </p:sp>
      <p:sp>
        <p:nvSpPr>
          <p:cNvPr id="10" name="Rounded Rectangle 9"/>
          <p:cNvSpPr/>
          <p:nvPr/>
        </p:nvSpPr>
        <p:spPr>
          <a:xfrm>
            <a:off x="274320" y="2423160"/>
            <a:ext cx="4206240" cy="1261872"/>
          </a:xfrm>
          <a:prstGeom prst="roundRect">
            <a:avLst>
              <a:gd name="adj" fmla="val 6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500" b="1" i="0">
                <a:solidFill>
                  <a:srgbClr val="FFFFFF"/>
                </a:solidFill>
                <a:latin typeface="Calibri"/>
              </a:rPr>
              <a:t>Q2 Do motivation theories explain real behaviour? (session question)</a:t>
            </a:r>
          </a:p>
        </p:txBody>
      </p:sp>
      <p:sp>
        <p:nvSpPr>
          <p:cNvPr id="11" name="Rounded Rectangle 10"/>
          <p:cNvSpPr/>
          <p:nvPr/>
        </p:nvSpPr>
        <p:spPr>
          <a:xfrm>
            <a:off x="4572000" y="2423160"/>
            <a:ext cx="7360920" cy="1261872"/>
          </a:xfrm>
          <a:prstGeom prst="roundRect">
            <a:avLst>
              <a:gd name="adj" fmla="val 6000"/>
            </a:avLst>
          </a:prstGeom>
          <a:solidFill>
            <a:srgbClr val="FFFFFF"/>
          </a:solidFill>
          <a:ln w="19050">
            <a:solidFill>
              <a:srgbClr val="8EBD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63440" y="2441448"/>
            <a:ext cx="7178040" cy="1225296"/>
          </a:xfrm>
          <a:prstGeom prst="rect">
            <a:avLst/>
          </a:prstGeom>
          <a:noFill/>
        </p:spPr>
        <p:txBody>
          <a:bodyPr wrap="square" anchor="ctr" lIns="45720" rIns="45720" tIns="18288" bIns="18288"/>
          <a:lstStyle/>
          <a:p>
            <a:pPr algn="l"/>
            <a:r>
              <a:rPr sz="1700" b="0" i="0">
                <a:solidFill>
                  <a:srgbClr val="1A1A1A"/>
                </a:solidFill>
                <a:latin typeface="Calibri"/>
              </a:rPr>
              <a:t>Partly: Maslow's ladder weakly supported, Herzberg critiqued (REI), expectancy &amp; goal-setting strongly supported. Use Orix/DOR/Southwest to show combined theories work best → 'motivation is a system'.</a:t>
            </a:r>
          </a:p>
        </p:txBody>
      </p:sp>
      <p:sp>
        <p:nvSpPr>
          <p:cNvPr id="13" name="Rounded Rectangle 12"/>
          <p:cNvSpPr/>
          <p:nvPr/>
        </p:nvSpPr>
        <p:spPr>
          <a:xfrm>
            <a:off x="274320" y="3794760"/>
            <a:ext cx="4206240" cy="1261872"/>
          </a:xfrm>
          <a:prstGeom prst="roundRect">
            <a:avLst>
              <a:gd name="adj" fmla="val 6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500" b="1" i="0">
                <a:solidFill>
                  <a:srgbClr val="FFFFFF"/>
                </a:solidFill>
                <a:latin typeface="Calibri"/>
              </a:rPr>
              <a:t>Q3 Diagnose Yelp's diversity problem &amp; recommend</a:t>
            </a:r>
          </a:p>
        </p:txBody>
      </p:sp>
      <p:sp>
        <p:nvSpPr>
          <p:cNvPr id="14" name="Rounded Rectangle 13"/>
          <p:cNvSpPr/>
          <p:nvPr/>
        </p:nvSpPr>
        <p:spPr>
          <a:xfrm>
            <a:off x="4572000" y="3794760"/>
            <a:ext cx="7360920" cy="1261872"/>
          </a:xfrm>
          <a:prstGeom prst="roundRect">
            <a:avLst>
              <a:gd name="adj" fmla="val 6000"/>
            </a:avLst>
          </a:prstGeom>
          <a:solidFill>
            <a:srgbClr val="FFFFFF"/>
          </a:solidFill>
          <a:ln w="19050">
            <a:solidFill>
              <a:srgbClr val="BD8F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40" y="3813048"/>
            <a:ext cx="7178040" cy="1225296"/>
          </a:xfrm>
          <a:prstGeom prst="rect">
            <a:avLst/>
          </a:prstGeom>
          <a:noFill/>
        </p:spPr>
        <p:txBody>
          <a:bodyPr wrap="square" anchor="ctr" lIns="45720" rIns="45720" tIns="18288" bIns="18288"/>
          <a:lstStyle/>
          <a:p>
            <a:pPr algn="l"/>
            <a:r>
              <a:rPr sz="1700" b="0" i="0">
                <a:solidFill>
                  <a:srgbClr val="1A1A1A"/>
                </a:solidFill>
                <a:latin typeface="Calibri"/>
              </a:rPr>
              <a:t>Perception stages + implicit cognition + stereotypes at screening/'culture fit' stages; homogeneous deciders → structured interviews, blind screens, diverse panels, inclusion/ERGs, measure funnel.</a:t>
            </a:r>
          </a:p>
        </p:txBody>
      </p:sp>
      <p:sp>
        <p:nvSpPr>
          <p:cNvPr id="16" name="Rounded Rectangle 15"/>
          <p:cNvSpPr/>
          <p:nvPr/>
        </p:nvSpPr>
        <p:spPr>
          <a:xfrm>
            <a:off x="274320" y="5166360"/>
            <a:ext cx="4206240" cy="1261872"/>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500" b="1" i="0">
                <a:solidFill>
                  <a:srgbClr val="FFFFFF"/>
                </a:solidFill>
                <a:latin typeface="Calibri"/>
              </a:rPr>
              <a:t>Q4 Explain Prudence's barriers using OB</a:t>
            </a:r>
          </a:p>
        </p:txBody>
      </p:sp>
      <p:sp>
        <p:nvSpPr>
          <p:cNvPr id="17" name="Rounded Rectangle 16"/>
          <p:cNvSpPr/>
          <p:nvPr/>
        </p:nvSpPr>
        <p:spPr>
          <a:xfrm>
            <a:off x="4572000" y="5166360"/>
            <a:ext cx="7360920" cy="1261872"/>
          </a:xfrm>
          <a:prstGeom prst="roundRect">
            <a:avLst>
              <a:gd name="adj" fmla="val 6000"/>
            </a:avLst>
          </a:prstGeom>
          <a:solidFill>
            <a:srgbClr val="FFFFFF"/>
          </a:solidFill>
          <a:ln w="19050">
            <a:solidFill>
              <a:srgbClr val="EBA4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63440" y="5184648"/>
            <a:ext cx="7178040" cy="1225296"/>
          </a:xfrm>
          <a:prstGeom prst="rect">
            <a:avLst/>
          </a:prstGeom>
          <a:noFill/>
        </p:spPr>
        <p:txBody>
          <a:bodyPr wrap="square" anchor="ctr" lIns="45720" rIns="45720" tIns="18288" bIns="18288"/>
          <a:lstStyle/>
          <a:p>
            <a:pPr algn="l"/>
            <a:r>
              <a:rPr sz="1700" b="0" i="0">
                <a:solidFill>
                  <a:srgbClr val="1A1A1A"/>
                </a:solidFill>
                <a:latin typeface="Calibri"/>
              </a:rPr>
              <a:t>Gender stereotypes &amp; double bind (4.2) · FAE about motherhood (4.3) · emotions &amp; imposter syndrome (3.6) · values conflict → org fixes: flexible work, sponsorship, fair appraisal.</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B7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600" b="1" i="0">
                <a:solidFill>
                  <a:srgbClr val="FFFFFF"/>
                </a:solidFill>
                <a:latin typeface="Calibri"/>
              </a:rPr>
              <a:t>EXAM TOOLKIT 3: Likely questions &amp; answer skeletons (2/2)</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EDC6C6"/>
                </a:solidFill>
                <a:latin typeface="Calibri"/>
              </a:rPr>
              <a:t>EXAM TOOLKIT</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61</a:t>
            </a:r>
          </a:p>
        </p:txBody>
      </p:sp>
      <p:sp>
        <p:nvSpPr>
          <p:cNvPr id="7" name="Rounded Rectangle 6"/>
          <p:cNvSpPr/>
          <p:nvPr/>
        </p:nvSpPr>
        <p:spPr>
          <a:xfrm>
            <a:off x="274320" y="1051560"/>
            <a:ext cx="4206240" cy="1005840"/>
          </a:xfrm>
          <a:prstGeom prst="roundRect">
            <a:avLst>
              <a:gd name="adj" fmla="val 6000"/>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500" b="1" i="0">
                <a:solidFill>
                  <a:srgbClr val="FFFFFF"/>
                </a:solidFill>
                <a:latin typeface="Calibri"/>
              </a:rPr>
              <a:t>Q5 Is job satisfaction a reality or a workplace myth?</a:t>
            </a:r>
          </a:p>
        </p:txBody>
      </p:sp>
      <p:sp>
        <p:nvSpPr>
          <p:cNvPr id="8" name="Rounded Rectangle 7"/>
          <p:cNvSpPr/>
          <p:nvPr/>
        </p:nvSpPr>
        <p:spPr>
          <a:xfrm>
            <a:off x="4572000" y="1051560"/>
            <a:ext cx="7360920" cy="1005840"/>
          </a:xfrm>
          <a:prstGeom prst="roundRect">
            <a:avLst>
              <a:gd name="adj" fmla="val 6000"/>
            </a:avLst>
          </a:prstGeom>
          <a:solidFill>
            <a:srgbClr val="FFFFFF"/>
          </a:solidFill>
          <a:ln w="19050">
            <a:solidFill>
              <a:srgbClr val="7FC1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40" y="1069848"/>
            <a:ext cx="7178040" cy="969264"/>
          </a:xfrm>
          <a:prstGeom prst="rect">
            <a:avLst/>
          </a:prstGeom>
          <a:noFill/>
        </p:spPr>
        <p:txBody>
          <a:bodyPr wrap="square" anchor="ctr" lIns="45720" rIns="45720" tIns="18288" bIns="18288"/>
          <a:lstStyle/>
          <a:p>
            <a:pPr algn="l"/>
            <a:r>
              <a:rPr sz="1500" b="0" i="0">
                <a:solidFill>
                  <a:srgbClr val="1A1A1A"/>
                </a:solidFill>
                <a:latin typeface="Calibri"/>
              </a:rPr>
              <a:t>Reality: measurable (JDI), 5 causes, correlates with OCB, turnover, customers (spillover). Nuance: moderate link to performance; McKinsey: relational &gt; transactional. DOR proves it without high pay.</a:t>
            </a:r>
          </a:p>
        </p:txBody>
      </p:sp>
      <p:sp>
        <p:nvSpPr>
          <p:cNvPr id="10" name="Rounded Rectangle 9"/>
          <p:cNvSpPr/>
          <p:nvPr/>
        </p:nvSpPr>
        <p:spPr>
          <a:xfrm>
            <a:off x="274320" y="2148839"/>
            <a:ext cx="4206240" cy="1005840"/>
          </a:xfrm>
          <a:prstGeom prst="roundRect">
            <a:avLst>
              <a:gd name="adj" fmla="val 6000"/>
            </a:avLst>
          </a:prstGeom>
          <a:solidFill>
            <a:srgbClr val="B7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500" b="1" i="0">
                <a:solidFill>
                  <a:srgbClr val="FFFFFF"/>
                </a:solidFill>
                <a:latin typeface="Calibri"/>
              </a:rPr>
              <a:t>Q6 How did Indiana DOR transform its culture? Lessons?</a:t>
            </a:r>
          </a:p>
        </p:txBody>
      </p:sp>
      <p:sp>
        <p:nvSpPr>
          <p:cNvPr id="11" name="Rounded Rectangle 10"/>
          <p:cNvSpPr/>
          <p:nvPr/>
        </p:nvSpPr>
        <p:spPr>
          <a:xfrm>
            <a:off x="4572000" y="2148839"/>
            <a:ext cx="7360920" cy="1005840"/>
          </a:xfrm>
          <a:prstGeom prst="roundRect">
            <a:avLst>
              <a:gd name="adj" fmla="val 6000"/>
            </a:avLst>
          </a:prstGeom>
          <a:solidFill>
            <a:srgbClr val="FFFFFF"/>
          </a:solidFill>
          <a:ln w="19050">
            <a:solidFill>
              <a:srgbClr val="DB8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63440" y="2167127"/>
            <a:ext cx="7178040" cy="969264"/>
          </a:xfrm>
          <a:prstGeom prst="rect">
            <a:avLst/>
          </a:prstGeom>
          <a:noFill/>
        </p:spPr>
        <p:txBody>
          <a:bodyPr wrap="square" anchor="ctr" lIns="45720" rIns="45720" tIns="18288" bIns="18288"/>
          <a:lstStyle/>
          <a:p>
            <a:pPr algn="l"/>
            <a:r>
              <a:rPr sz="1500" b="0" i="0">
                <a:solidFill>
                  <a:srgbClr val="1A1A1A"/>
                </a:solidFill>
                <a:latin typeface="Calibri"/>
              </a:rPr>
              <a:t>Schein's 3 levels (artifacts, espoused values, assumptions) + Pfeffer's 7 practices + Heifetz adaptive change + virtuous leadership → engagement &amp; Top-100 workplace.</a:t>
            </a:r>
          </a:p>
        </p:txBody>
      </p:sp>
      <p:sp>
        <p:nvSpPr>
          <p:cNvPr id="13" name="Rounded Rectangle 12"/>
          <p:cNvSpPr/>
          <p:nvPr/>
        </p:nvSpPr>
        <p:spPr>
          <a:xfrm>
            <a:off x="274320" y="3246120"/>
            <a:ext cx="4206240" cy="1005840"/>
          </a:xfrm>
          <a:prstGeom prst="roundRect">
            <a:avLst>
              <a:gd name="adj" fmla="val 6000"/>
            </a:avLst>
          </a:prstGeom>
          <a:solidFill>
            <a:srgbClr val="5D40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500" b="1" i="0">
                <a:solidFill>
                  <a:srgbClr val="FFFFFF"/>
                </a:solidFill>
                <a:latin typeface="Calibri"/>
              </a:rPr>
              <a:t>Q7 Southwest: role of positive OB in performance</a:t>
            </a:r>
          </a:p>
        </p:txBody>
      </p:sp>
      <p:sp>
        <p:nvSpPr>
          <p:cNvPr id="14" name="Rounded Rectangle 13"/>
          <p:cNvSpPr/>
          <p:nvPr/>
        </p:nvSpPr>
        <p:spPr>
          <a:xfrm>
            <a:off x="4572000" y="3246120"/>
            <a:ext cx="7360920" cy="1005840"/>
          </a:xfrm>
          <a:prstGeom prst="roundRect">
            <a:avLst>
              <a:gd name="adj" fmla="val 6000"/>
            </a:avLst>
          </a:prstGeom>
          <a:solidFill>
            <a:srgbClr val="FFFFFF"/>
          </a:solidFill>
          <a:ln w="19050">
            <a:solidFill>
              <a:srgbClr val="AE9F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40" y="3264408"/>
            <a:ext cx="7178040" cy="969264"/>
          </a:xfrm>
          <a:prstGeom prst="rect">
            <a:avLst/>
          </a:prstGeom>
          <a:noFill/>
        </p:spPr>
        <p:txBody>
          <a:bodyPr wrap="square" anchor="ctr" lIns="45720" rIns="45720" tIns="18288" bIns="18288"/>
          <a:lstStyle/>
          <a:p>
            <a:pPr algn="l"/>
            <a:r>
              <a:rPr sz="1500" b="0" i="0">
                <a:solidFill>
                  <a:srgbClr val="1A1A1A"/>
                </a:solidFill>
                <a:latin typeface="Calibri"/>
              </a:rPr>
              <a:t>Positive emotions &amp; contagion → customer satisfaction; PsyCap; virtuous leadership (Kelleher); no layoffs, open books → POS; risks: union tensions, social media.</a:t>
            </a:r>
          </a:p>
        </p:txBody>
      </p:sp>
      <p:sp>
        <p:nvSpPr>
          <p:cNvPr id="16" name="Rounded Rectangle 15"/>
          <p:cNvSpPr/>
          <p:nvPr/>
        </p:nvSpPr>
        <p:spPr>
          <a:xfrm>
            <a:off x="274320" y="4343400"/>
            <a:ext cx="4206240" cy="1005840"/>
          </a:xfrm>
          <a:prstGeom prst="roundRect">
            <a:avLst>
              <a:gd name="adj" fmla="val 6000"/>
            </a:avLst>
          </a:prstGeom>
          <a:solidFill>
            <a:srgbClr val="3747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500" b="1" i="0">
                <a:solidFill>
                  <a:srgbClr val="FFFFFF"/>
                </a:solidFill>
                <a:latin typeface="Calibri"/>
              </a:rPr>
              <a:t>Q8 A manager labels resistant staff 'difficult'. Advise.</a:t>
            </a:r>
          </a:p>
        </p:txBody>
      </p:sp>
      <p:sp>
        <p:nvSpPr>
          <p:cNvPr id="17" name="Rounded Rectangle 16"/>
          <p:cNvSpPr/>
          <p:nvPr/>
        </p:nvSpPr>
        <p:spPr>
          <a:xfrm>
            <a:off x="4572000" y="4343400"/>
            <a:ext cx="7360920" cy="1005840"/>
          </a:xfrm>
          <a:prstGeom prst="roundRect">
            <a:avLst>
              <a:gd name="adj" fmla="val 6000"/>
            </a:avLst>
          </a:prstGeom>
          <a:solidFill>
            <a:srgbClr val="FFFFFF"/>
          </a:solidFill>
          <a:ln w="19050">
            <a:solidFill>
              <a:srgbClr val="9BA3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63440" y="4361688"/>
            <a:ext cx="7178040" cy="969264"/>
          </a:xfrm>
          <a:prstGeom prst="rect">
            <a:avLst/>
          </a:prstGeom>
          <a:noFill/>
        </p:spPr>
        <p:txBody>
          <a:bodyPr wrap="square" anchor="ctr" lIns="45720" rIns="45720" tIns="18288" bIns="18288"/>
          <a:lstStyle/>
          <a:p>
            <a:pPr algn="l"/>
            <a:r>
              <a:rPr sz="1500" b="0" i="0">
                <a:solidFill>
                  <a:srgbClr val="1A1A1A"/>
                </a:solidFill>
                <a:latin typeface="Calibri"/>
              </a:rPr>
              <a:t>R3: resistance = data (loss, anxiety, control, flaws) · avoid FAE/personalising · procedural justice &amp; voice · EI (empathy) · then 'hold the line' on behaviour.</a:t>
            </a:r>
          </a:p>
        </p:txBody>
      </p:sp>
      <p:sp>
        <p:nvSpPr>
          <p:cNvPr id="19" name="Rounded Rectangle 18"/>
          <p:cNvSpPr/>
          <p:nvPr/>
        </p:nvSpPr>
        <p:spPr>
          <a:xfrm>
            <a:off x="274320" y="5440679"/>
            <a:ext cx="4206240" cy="1005840"/>
          </a:xfrm>
          <a:prstGeom prst="roundRect">
            <a:avLst>
              <a:gd name="adj" fmla="val 6000"/>
            </a:avLst>
          </a:prstGeom>
          <a:solidFill>
            <a:srgbClr val="C218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500" b="1" i="0">
                <a:solidFill>
                  <a:srgbClr val="FFFFFF"/>
                </a:solidFill>
                <a:latin typeface="Calibri"/>
              </a:rPr>
              <a:t>Q9 Ethics: why do good people act unethically? (BoB app, Satyam)</a:t>
            </a:r>
          </a:p>
        </p:txBody>
      </p:sp>
      <p:sp>
        <p:nvSpPr>
          <p:cNvPr id="20" name="Rounded Rectangle 19"/>
          <p:cNvSpPr/>
          <p:nvPr/>
        </p:nvSpPr>
        <p:spPr>
          <a:xfrm>
            <a:off x="4572000" y="5440679"/>
            <a:ext cx="7360920" cy="1005840"/>
          </a:xfrm>
          <a:prstGeom prst="roundRect">
            <a:avLst>
              <a:gd name="adj" fmla="val 6000"/>
            </a:avLst>
          </a:prstGeom>
          <a:solidFill>
            <a:srgbClr val="FFFFFF"/>
          </a:solidFill>
          <a:ln w="19050">
            <a:solidFill>
              <a:srgbClr val="E08B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63440" y="5458967"/>
            <a:ext cx="7178040" cy="969264"/>
          </a:xfrm>
          <a:prstGeom prst="rect">
            <a:avLst/>
          </a:prstGeom>
          <a:noFill/>
        </p:spPr>
        <p:txBody>
          <a:bodyPr wrap="square" anchor="ctr" lIns="45720" rIns="45720" tIns="18288" bIns="18288"/>
          <a:lstStyle/>
          <a:p>
            <a:pPr algn="l"/>
            <a:r>
              <a:rPr sz="1500" b="0" i="0">
                <a:solidFill>
                  <a:srgbClr val="1A1A1A"/>
                </a:solidFill>
                <a:latin typeface="Calibri"/>
              </a:rPr>
              <a:t>Table 1.2: ill-conceived goals, motivated/indirect blindness, slippery slope, overvaluing outcomes + pressure &amp; rewards → fix goals, reward process, whistle-blowing.</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B7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200" b="1" i="0">
                <a:solidFill>
                  <a:srgbClr val="FFFFFF"/>
                </a:solidFill>
                <a:latin typeface="Calibri"/>
              </a:rPr>
              <a:t>EXAM TOOLKIT 4: Turning your textbook into a cheat-sheet (open book)</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EDC6C6"/>
                </a:solidFill>
                <a:latin typeface="Calibri"/>
              </a:rPr>
              <a:t>EXAM TOOLKIT</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Details: OB_Book_Margin_Guide.pdf</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62</a:t>
            </a:r>
          </a:p>
        </p:txBody>
      </p:sp>
      <p:sp>
        <p:nvSpPr>
          <p:cNvPr id="7" name="Rounded Rectangle 6"/>
          <p:cNvSpPr/>
          <p:nvPr/>
        </p:nvSpPr>
        <p:spPr>
          <a:xfrm>
            <a:off x="274320" y="1051560"/>
            <a:ext cx="3840480" cy="5486400"/>
          </a:xfrm>
          <a:prstGeom prst="roundRect">
            <a:avLst>
              <a:gd name="adj" fmla="val 6000"/>
            </a:avLst>
          </a:prstGeom>
          <a:solidFill>
            <a:srgbClr val="FFFFFF"/>
          </a:solidFill>
          <a:ln w="19050">
            <a:solidFill>
              <a:srgbClr val="DE989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74320" y="1051560"/>
            <a:ext cx="3840480" cy="457200"/>
          </a:xfrm>
          <a:prstGeom prst="roundRect">
            <a:avLst>
              <a:gd name="adj" fmla="val 6000"/>
            </a:avLst>
          </a:prstGeom>
          <a:solidFill>
            <a:srgbClr val="B7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371600"/>
            <a:ext cx="3840480" cy="137160"/>
          </a:xfrm>
          <a:prstGeom prst="rect">
            <a:avLst/>
          </a:prstGeom>
          <a:solidFill>
            <a:srgbClr val="B7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051560"/>
            <a:ext cx="3657600" cy="457200"/>
          </a:xfrm>
          <a:prstGeom prst="rect">
            <a:avLst/>
          </a:prstGeom>
          <a:noFill/>
        </p:spPr>
        <p:txBody>
          <a:bodyPr wrap="square" anchor="ctr" lIns="45720" rIns="45720" tIns="18288" bIns="18288"/>
          <a:lstStyle/>
          <a:p>
            <a:pPr algn="l"/>
            <a:r>
              <a:rPr sz="1900" b="1" i="0">
                <a:solidFill>
                  <a:srgbClr val="FFFFFF"/>
                </a:solidFill>
                <a:latin typeface="Calibri"/>
              </a:rPr>
              <a:t>Before the exam (tonight)</a:t>
            </a:r>
          </a:p>
        </p:txBody>
      </p:sp>
      <p:sp>
        <p:nvSpPr>
          <p:cNvPr id="11" name="TextBox 10"/>
          <p:cNvSpPr txBox="1"/>
          <p:nvPr/>
        </p:nvSpPr>
        <p:spPr>
          <a:xfrm>
            <a:off x="347472" y="1563624"/>
            <a:ext cx="3694176" cy="4937760"/>
          </a:xfrm>
          <a:prstGeom prst="rect">
            <a:avLst/>
          </a:prstGeom>
          <a:noFill/>
        </p:spPr>
        <p:txBody>
          <a:bodyPr wrap="square" anchor="t" lIns="54864" rIns="54864" tIns="27432" bIns="27432"/>
          <a:lstStyle/>
          <a:p>
            <a:pPr>
              <a:spcAft>
                <a:spcPts val="300"/>
              </a:spcAft>
            </a:pPr>
            <a:r>
              <a:rPr sz="1700" b="1" i="0">
                <a:solidFill>
                  <a:srgbClr val="1A1A1A"/>
                </a:solidFill>
                <a:latin typeface="Calibri"/>
              </a:rPr>
              <a:t>• </a:t>
            </a:r>
            <a:r>
              <a:rPr sz="1700" b="1" i="0">
                <a:solidFill>
                  <a:srgbClr val="1A1A1A"/>
                </a:solidFill>
                <a:latin typeface="Calibri"/>
              </a:rPr>
              <a:t>Sticky tabs</a:t>
            </a:r>
            <a:r>
              <a:rPr sz="1700" b="0" i="0">
                <a:solidFill>
                  <a:srgbClr val="1A1A1A"/>
                </a:solidFill>
                <a:latin typeface="Calibri"/>
              </a:rPr>
              <a:t> on: p. 21 (3-step), 27 (framework), 18 (unethical causes), 43 (Schwartz), 49–50 (ABC, dissonance), 53 (4 attitudes), 60 (5 causes), 63 (correlates), 105 (EI), 111 (emotions), 126 (perception), 129 (Fig 4.3), 133 (stereotypes), 135 (Kelley), 169 (content), 174 (Herzberg), 178 (equity), 184 (expectancy), 187 (goals), 193 (JCM), 194 (crafting), 280 (HERO), 290 (PERMA)</a:t>
            </a:r>
          </a:p>
          <a:p>
            <a:pPr>
              <a:spcAft>
                <a:spcPts val="300"/>
              </a:spcAft>
            </a:pPr>
            <a:r>
              <a:rPr sz="1700" b="1" i="0">
                <a:solidFill>
                  <a:srgbClr val="1A1A1A"/>
                </a:solidFill>
                <a:latin typeface="Calibri"/>
              </a:rPr>
              <a:t>• </a:t>
            </a:r>
            <a:r>
              <a:rPr sz="1700" b="1" i="0">
                <a:solidFill>
                  <a:srgbClr val="1A1A1A"/>
                </a:solidFill>
                <a:latin typeface="Calibri"/>
              </a:rPr>
              <a:t>Highlighter code</a:t>
            </a:r>
            <a:r>
              <a:rPr sz="1700" b="0" i="0">
                <a:solidFill>
                  <a:srgbClr val="1A1A1A"/>
                </a:solidFill>
                <a:latin typeface="Calibri"/>
              </a:rPr>
              <a:t>: Yellow = definitions · Green = lists/frameworks · Pink = Indian &amp; company examples · Blue = research numbers</a:t>
            </a:r>
          </a:p>
        </p:txBody>
      </p:sp>
      <p:sp>
        <p:nvSpPr>
          <p:cNvPr id="12" name="Rounded Rectangle 11"/>
          <p:cNvSpPr/>
          <p:nvPr/>
        </p:nvSpPr>
        <p:spPr>
          <a:xfrm>
            <a:off x="4251960" y="1051560"/>
            <a:ext cx="3840480" cy="5486400"/>
          </a:xfrm>
          <a:prstGeom prst="roundRect">
            <a:avLst>
              <a:gd name="adj" fmla="val 6000"/>
            </a:avLst>
          </a:prstGeom>
          <a:solidFill>
            <a:srgbClr val="FFFFFF"/>
          </a:solidFill>
          <a:ln w="19050">
            <a:solidFill>
              <a:srgbClr val="DE989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251960" y="1051560"/>
            <a:ext cx="3840480" cy="457200"/>
          </a:xfrm>
          <a:prstGeom prst="roundRect">
            <a:avLst>
              <a:gd name="adj" fmla="val 6000"/>
            </a:avLst>
          </a:prstGeom>
          <a:solidFill>
            <a:srgbClr val="B7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51960" y="1371600"/>
            <a:ext cx="3840480" cy="137160"/>
          </a:xfrm>
          <a:prstGeom prst="rect">
            <a:avLst/>
          </a:prstGeom>
          <a:solidFill>
            <a:srgbClr val="B7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43400" y="1051560"/>
            <a:ext cx="3657600" cy="457200"/>
          </a:xfrm>
          <a:prstGeom prst="rect">
            <a:avLst/>
          </a:prstGeom>
          <a:noFill/>
        </p:spPr>
        <p:txBody>
          <a:bodyPr wrap="square" anchor="ctr" lIns="45720" rIns="45720" tIns="18288" bIns="18288"/>
          <a:lstStyle/>
          <a:p>
            <a:pPr algn="l"/>
            <a:r>
              <a:rPr sz="1900" b="1" i="0">
                <a:solidFill>
                  <a:srgbClr val="FFFFFF"/>
                </a:solidFill>
                <a:latin typeface="Calibri"/>
              </a:rPr>
              <a:t>Use the blank spaces</a:t>
            </a:r>
          </a:p>
        </p:txBody>
      </p:sp>
      <p:sp>
        <p:nvSpPr>
          <p:cNvPr id="16" name="TextBox 15"/>
          <p:cNvSpPr txBox="1"/>
          <p:nvPr/>
        </p:nvSpPr>
        <p:spPr>
          <a:xfrm>
            <a:off x="4325112" y="1563624"/>
            <a:ext cx="3694176" cy="4937760"/>
          </a:xfrm>
          <a:prstGeom prst="rect">
            <a:avLst/>
          </a:prstGeom>
          <a:noFill/>
        </p:spPr>
        <p:txBody>
          <a:bodyPr wrap="square" anchor="t" lIns="54864" rIns="54864" tIns="27432" bIns="27432"/>
          <a:lstStyle/>
          <a:p>
            <a:pPr>
              <a:spcAft>
                <a:spcPts val="300"/>
              </a:spcAft>
            </a:pPr>
            <a:r>
              <a:rPr sz="1900" b="1" i="0">
                <a:solidFill>
                  <a:srgbClr val="1A1A1A"/>
                </a:solidFill>
                <a:latin typeface="Calibri"/>
              </a:rPr>
              <a:t>• </a:t>
            </a:r>
            <a:r>
              <a:rPr sz="1900" b="1" i="0">
                <a:solidFill>
                  <a:srgbClr val="1A1A1A"/>
                </a:solidFill>
                <a:latin typeface="Calibri"/>
              </a:rPr>
              <a:t>Inside front cover</a:t>
            </a:r>
            <a:r>
              <a:rPr sz="1900" b="0" i="0">
                <a:solidFill>
                  <a:srgbClr val="1A1A1A"/>
                </a:solidFill>
                <a:latin typeface="Calibri"/>
              </a:rPr>
              <a:t>: page index (topic → page) + the CASE ANSWER MACHINE</a:t>
            </a:r>
          </a:p>
          <a:p>
            <a:pPr>
              <a:spcAft>
                <a:spcPts val="300"/>
              </a:spcAft>
            </a:pPr>
            <a:r>
              <a:rPr sz="1900" b="1" i="0">
                <a:solidFill>
                  <a:srgbClr val="1A1A1A"/>
                </a:solidFill>
                <a:latin typeface="Calibri"/>
              </a:rPr>
              <a:t>• </a:t>
            </a:r>
            <a:r>
              <a:rPr sz="1900" b="1" i="0">
                <a:solidFill>
                  <a:srgbClr val="1A1A1A"/>
                </a:solidFill>
                <a:latin typeface="Calibri"/>
              </a:rPr>
              <a:t>Chapter-opener pages</a:t>
            </a:r>
            <a:r>
              <a:rPr sz="1900" b="0" i="0">
                <a:solidFill>
                  <a:srgbClr val="1A1A1A"/>
                </a:solidFill>
                <a:latin typeface="Calibri"/>
              </a:rPr>
              <a:t> (pp. 41, 77, 123, 165, 257): write the cases for that module (facts + 3-step answer outline)</a:t>
            </a:r>
          </a:p>
          <a:p>
            <a:pPr>
              <a:spcAft>
                <a:spcPts val="300"/>
              </a:spcAft>
            </a:pPr>
            <a:r>
              <a:rPr sz="1900" b="1" i="0">
                <a:solidFill>
                  <a:srgbClr val="1A1A1A"/>
                </a:solidFill>
                <a:latin typeface="Calibri"/>
              </a:rPr>
              <a:t>• </a:t>
            </a:r>
            <a:r>
              <a:rPr sz="1900" b="1" i="0">
                <a:solidFill>
                  <a:srgbClr val="1A1A1A"/>
                </a:solidFill>
                <a:latin typeface="Calibri"/>
              </a:rPr>
              <a:t>Margins</a:t>
            </a:r>
            <a:r>
              <a:rPr sz="1900" b="0" i="0">
                <a:solidFill>
                  <a:srgbClr val="1A1A1A"/>
                </a:solidFill>
                <a:latin typeface="Calibri"/>
              </a:rPr>
              <a:t>: case links, e.g. next to Herzberg write 'Orix: pay = hygiene; retreats = motivator'</a:t>
            </a:r>
          </a:p>
          <a:p>
            <a:pPr>
              <a:spcAft>
                <a:spcPts val="300"/>
              </a:spcAft>
            </a:pPr>
            <a:r>
              <a:rPr sz="1900" b="1" i="0">
                <a:solidFill>
                  <a:srgbClr val="1A1A1A"/>
                </a:solidFill>
                <a:latin typeface="Calibri"/>
              </a:rPr>
              <a:t>• </a:t>
            </a:r>
            <a:r>
              <a:rPr sz="1900" b="1" i="0">
                <a:solidFill>
                  <a:srgbClr val="1A1A1A"/>
                </a:solidFill>
                <a:latin typeface="Calibri"/>
              </a:rPr>
              <a:t>Inside back cover</a:t>
            </a:r>
            <a:r>
              <a:rPr sz="1900" b="0" i="0">
                <a:solidFill>
                  <a:srgbClr val="1A1A1A"/>
                </a:solidFill>
                <a:latin typeface="Calibri"/>
              </a:rPr>
              <a:t>: R1, R2, R3 summaries &amp; handout frameworks not in the book (Hofstede, GLOBE, R3's 4 categories)</a:t>
            </a:r>
          </a:p>
        </p:txBody>
      </p:sp>
      <p:sp>
        <p:nvSpPr>
          <p:cNvPr id="17" name="Rounded Rectangle 16"/>
          <p:cNvSpPr/>
          <p:nvPr/>
        </p:nvSpPr>
        <p:spPr>
          <a:xfrm>
            <a:off x="8229600" y="1051560"/>
            <a:ext cx="3703320" cy="5486400"/>
          </a:xfrm>
          <a:prstGeom prst="roundRect">
            <a:avLst>
              <a:gd name="adj" fmla="val 6000"/>
            </a:avLst>
          </a:prstGeom>
          <a:solidFill>
            <a:srgbClr val="FFFFFF"/>
          </a:solidFill>
          <a:ln w="19050">
            <a:solidFill>
              <a:srgbClr val="DE989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29600" y="1051560"/>
            <a:ext cx="3703320" cy="457200"/>
          </a:xfrm>
          <a:prstGeom prst="roundRect">
            <a:avLst>
              <a:gd name="adj" fmla="val 6000"/>
            </a:avLst>
          </a:prstGeom>
          <a:solidFill>
            <a:srgbClr val="B7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29600" y="1371600"/>
            <a:ext cx="3703320" cy="137160"/>
          </a:xfrm>
          <a:prstGeom prst="rect">
            <a:avLst/>
          </a:prstGeom>
          <a:solidFill>
            <a:srgbClr val="B7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0" y="1051560"/>
            <a:ext cx="3520439" cy="457200"/>
          </a:xfrm>
          <a:prstGeom prst="rect">
            <a:avLst/>
          </a:prstGeom>
          <a:noFill/>
        </p:spPr>
        <p:txBody>
          <a:bodyPr wrap="square" anchor="ctr" lIns="45720" rIns="45720" tIns="18288" bIns="18288"/>
          <a:lstStyle/>
          <a:p>
            <a:pPr algn="l"/>
            <a:r>
              <a:rPr sz="1900" b="1" i="0">
                <a:solidFill>
                  <a:srgbClr val="FFFFFF"/>
                </a:solidFill>
                <a:latin typeface="Calibri"/>
              </a:rPr>
              <a:t>In the exam hall</a:t>
            </a:r>
          </a:p>
        </p:txBody>
      </p:sp>
      <p:sp>
        <p:nvSpPr>
          <p:cNvPr id="21" name="TextBox 20"/>
          <p:cNvSpPr txBox="1"/>
          <p:nvPr/>
        </p:nvSpPr>
        <p:spPr>
          <a:xfrm>
            <a:off x="8302752" y="1563624"/>
            <a:ext cx="3557015" cy="4937760"/>
          </a:xfrm>
          <a:prstGeom prst="rect">
            <a:avLst/>
          </a:prstGeom>
          <a:noFill/>
        </p:spPr>
        <p:txBody>
          <a:bodyPr wrap="square" anchor="t" lIns="54864" rIns="54864" tIns="27432" bIns="27432"/>
          <a:lstStyle/>
          <a:p>
            <a:pPr>
              <a:spcAft>
                <a:spcPts val="300"/>
              </a:spcAft>
            </a:pPr>
            <a:r>
              <a:rPr sz="1900" b="1" i="0">
                <a:solidFill>
                  <a:srgbClr val="1A1A1A"/>
                </a:solidFill>
                <a:latin typeface="Calibri"/>
              </a:rPr>
              <a:t>• </a:t>
            </a:r>
            <a:r>
              <a:rPr sz="1900" b="0" i="0">
                <a:solidFill>
                  <a:srgbClr val="1A1A1A"/>
                </a:solidFill>
                <a:latin typeface="Calibri"/>
              </a:rPr>
              <a:t>Read the case first; circle the </a:t>
            </a:r>
            <a:r>
              <a:rPr sz="1900" b="1" i="0">
                <a:solidFill>
                  <a:srgbClr val="1A1A1A"/>
                </a:solidFill>
                <a:latin typeface="Calibri"/>
              </a:rPr>
              <a:t>outcome gap</a:t>
            </a:r>
          </a:p>
          <a:p>
            <a:pPr>
              <a:spcAft>
                <a:spcPts val="300"/>
              </a:spcAft>
            </a:pPr>
            <a:r>
              <a:rPr sz="1900" b="1" i="0">
                <a:solidFill>
                  <a:srgbClr val="1A1A1A"/>
                </a:solidFill>
                <a:latin typeface="Calibri"/>
              </a:rPr>
              <a:t>• </a:t>
            </a:r>
            <a:r>
              <a:rPr sz="1900" b="0" i="0">
                <a:solidFill>
                  <a:srgbClr val="1A1A1A"/>
                </a:solidFill>
                <a:latin typeface="Calibri"/>
              </a:rPr>
              <a:t>Pick 2–4 theories from the matrix (Toolkit 1)</a:t>
            </a:r>
          </a:p>
          <a:p>
            <a:pPr>
              <a:spcAft>
                <a:spcPts val="300"/>
              </a:spcAft>
            </a:pPr>
            <a:r>
              <a:rPr sz="1900" b="1" i="0">
                <a:solidFill>
                  <a:srgbClr val="1A1A1A"/>
                </a:solidFill>
                <a:latin typeface="Calibri"/>
              </a:rPr>
              <a:t>• </a:t>
            </a:r>
            <a:r>
              <a:rPr sz="1900" b="0" i="0">
                <a:solidFill>
                  <a:srgbClr val="1A1A1A"/>
                </a:solidFill>
                <a:latin typeface="Calibri"/>
              </a:rPr>
              <a:t>Flip to tabs only to grab the </a:t>
            </a:r>
            <a:r>
              <a:rPr sz="1900" b="1" i="0">
                <a:solidFill>
                  <a:srgbClr val="1A1A1A"/>
                </a:solidFill>
                <a:latin typeface="Calibri"/>
              </a:rPr>
              <a:t>exact definition, list &amp; page number</a:t>
            </a:r>
          </a:p>
          <a:p>
            <a:pPr>
              <a:spcAft>
                <a:spcPts val="300"/>
              </a:spcAft>
            </a:pPr>
            <a:r>
              <a:rPr sz="1900" b="1" i="0">
                <a:solidFill>
                  <a:srgbClr val="1A1A1A"/>
                </a:solidFill>
                <a:latin typeface="Calibri"/>
              </a:rPr>
              <a:t>• </a:t>
            </a:r>
            <a:r>
              <a:rPr sz="1900" b="0" i="0">
                <a:solidFill>
                  <a:srgbClr val="1A1A1A"/>
                </a:solidFill>
                <a:latin typeface="Calibri"/>
              </a:rPr>
              <a:t>Cite like '(Kinicki, p. 184)'; lists of 3–5 points earn marks</a:t>
            </a:r>
          </a:p>
          <a:p>
            <a:pPr>
              <a:spcAft>
                <a:spcPts val="300"/>
              </a:spcAft>
            </a:pPr>
            <a:r>
              <a:rPr sz="1900" b="1" i="0">
                <a:solidFill>
                  <a:srgbClr val="1A1A1A"/>
                </a:solidFill>
                <a:latin typeface="Calibri"/>
              </a:rPr>
              <a:t>• </a:t>
            </a:r>
            <a:r>
              <a:rPr sz="1900" b="0" i="0">
                <a:solidFill>
                  <a:srgbClr val="1A1A1A"/>
                </a:solidFill>
                <a:latin typeface="Calibri"/>
              </a:rPr>
              <a:t>Always end with </a:t>
            </a:r>
            <a:r>
              <a:rPr sz="1900" b="1" i="0">
                <a:solidFill>
                  <a:srgbClr val="1A1A1A"/>
                </a:solidFill>
                <a:latin typeface="Calibri"/>
              </a:rPr>
              <a:t>recommendations mapped to causes + ethics check</a:t>
            </a:r>
          </a:p>
          <a:p>
            <a:pPr>
              <a:spcAft>
                <a:spcPts val="300"/>
              </a:spcAft>
            </a:pPr>
            <a:r>
              <a:rPr sz="1900" b="1" i="0">
                <a:solidFill>
                  <a:srgbClr val="1A1A1A"/>
                </a:solidFill>
                <a:latin typeface="Calibri"/>
              </a:rPr>
              <a:t>• </a:t>
            </a:r>
            <a:r>
              <a:rPr sz="1900" b="0" i="0">
                <a:solidFill>
                  <a:srgbClr val="1A1A1A"/>
                </a:solidFill>
                <a:latin typeface="Calibri"/>
              </a:rPr>
              <a:t>Budget time: don't read the book in the exam!</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896112"/>
          </a:xfrm>
          <a:prstGeom prst="rect">
            <a:avLst/>
          </a:prstGeom>
          <a:solidFill>
            <a:srgbClr val="B7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8899855" cy="804672"/>
          </a:xfrm>
          <a:prstGeom prst="rect">
            <a:avLst/>
          </a:prstGeom>
          <a:noFill/>
        </p:spPr>
        <p:txBody>
          <a:bodyPr wrap="square" anchor="ctr" lIns="45720" rIns="45720" tIns="18288" bIns="18288"/>
          <a:lstStyle/>
          <a:p>
            <a:pPr algn="l"/>
            <a:r>
              <a:rPr sz="2600" b="1" i="0">
                <a:solidFill>
                  <a:srgbClr val="FFFFFF"/>
                </a:solidFill>
                <a:latin typeface="Calibri"/>
              </a:rPr>
              <a:t>Last-minute recall: numbers, lists &amp; names worth remembering</a:t>
            </a:r>
          </a:p>
        </p:txBody>
      </p:sp>
      <p:sp>
        <p:nvSpPr>
          <p:cNvPr id="4" name="TextBox 3"/>
          <p:cNvSpPr txBox="1"/>
          <p:nvPr/>
        </p:nvSpPr>
        <p:spPr>
          <a:xfrm>
            <a:off x="9082735" y="73152"/>
            <a:ext cx="2971800" cy="365760"/>
          </a:xfrm>
          <a:prstGeom prst="rect">
            <a:avLst/>
          </a:prstGeom>
          <a:noFill/>
        </p:spPr>
        <p:txBody>
          <a:bodyPr wrap="square" anchor="t" lIns="45720" rIns="45720" tIns="18288" bIns="18288"/>
          <a:lstStyle/>
          <a:p>
            <a:pPr algn="r"/>
            <a:r>
              <a:rPr sz="1100" b="1" i="0">
                <a:solidFill>
                  <a:srgbClr val="EDC6C6"/>
                </a:solidFill>
                <a:latin typeface="Calibri"/>
              </a:rPr>
              <a:t>EXAM TOOLKIT</a:t>
            </a:r>
          </a:p>
        </p:txBody>
      </p:sp>
      <p:sp>
        <p:nvSpPr>
          <p:cNvPr id="5" name="TextBox 4"/>
          <p:cNvSpPr txBox="1"/>
          <p:nvPr/>
        </p:nvSpPr>
        <p:spPr>
          <a:xfrm>
            <a:off x="9082735" y="457200"/>
            <a:ext cx="2971800" cy="365760"/>
          </a:xfrm>
          <a:prstGeom prst="rect">
            <a:avLst/>
          </a:prstGeom>
          <a:noFill/>
        </p:spPr>
        <p:txBody>
          <a:bodyPr wrap="square" anchor="t" lIns="45720" rIns="45720" tIns="18288" bIns="18288"/>
          <a:lstStyle/>
          <a:p>
            <a:pPr algn="r"/>
            <a:r>
              <a:rPr sz="1200" b="0" i="1">
                <a:solidFill>
                  <a:srgbClr val="FFFFFF"/>
                </a:solidFill>
                <a:latin typeface="Calibri"/>
              </a:rPr>
              <a:t>Read this slide just before the exam</a:t>
            </a:r>
          </a:p>
        </p:txBody>
      </p:sp>
      <p:sp>
        <p:nvSpPr>
          <p:cNvPr id="6" name="TextBox 5"/>
          <p:cNvSpPr txBox="1"/>
          <p:nvPr/>
        </p:nvSpPr>
        <p:spPr>
          <a:xfrm>
            <a:off x="11460175" y="6565392"/>
            <a:ext cx="640080" cy="274320"/>
          </a:xfrm>
          <a:prstGeom prst="rect">
            <a:avLst/>
          </a:prstGeom>
          <a:noFill/>
        </p:spPr>
        <p:txBody>
          <a:bodyPr wrap="square" anchor="t" lIns="45720" rIns="45720" tIns="18288" bIns="18288"/>
          <a:lstStyle/>
          <a:p>
            <a:pPr algn="r"/>
            <a:r>
              <a:rPr sz="1100" b="0" i="0">
                <a:solidFill>
                  <a:srgbClr val="555555"/>
                </a:solidFill>
                <a:latin typeface="Calibri"/>
              </a:rPr>
              <a:t>63</a:t>
            </a:r>
          </a:p>
        </p:txBody>
      </p:sp>
      <p:sp>
        <p:nvSpPr>
          <p:cNvPr id="7" name="Rounded Rectangle 6"/>
          <p:cNvSpPr/>
          <p:nvPr/>
        </p:nvSpPr>
        <p:spPr>
          <a:xfrm>
            <a:off x="274320" y="1051560"/>
            <a:ext cx="2103120" cy="822960"/>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i="0">
                <a:solidFill>
                  <a:srgbClr val="FFFFFF"/>
                </a:solidFill>
                <a:latin typeface="Calibri"/>
              </a:rPr>
              <a:t>Ethics causes (5)</a:t>
            </a:r>
          </a:p>
        </p:txBody>
      </p:sp>
      <p:sp>
        <p:nvSpPr>
          <p:cNvPr id="8" name="Rounded Rectangle 7"/>
          <p:cNvSpPr/>
          <p:nvPr/>
        </p:nvSpPr>
        <p:spPr>
          <a:xfrm>
            <a:off x="2423160" y="1051560"/>
            <a:ext cx="3611880" cy="822960"/>
          </a:xfrm>
          <a:prstGeom prst="roundRect">
            <a:avLst>
              <a:gd name="adj" fmla="val 6000"/>
            </a:avLst>
          </a:prstGeom>
          <a:solidFill>
            <a:srgbClr val="FFFFFF"/>
          </a:solidFill>
          <a:ln w="19050">
            <a:solidFill>
              <a:srgbClr val="8AA5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87168" y="1069848"/>
            <a:ext cx="3493008" cy="786384"/>
          </a:xfrm>
          <a:prstGeom prst="rect">
            <a:avLst/>
          </a:prstGeom>
          <a:noFill/>
        </p:spPr>
        <p:txBody>
          <a:bodyPr wrap="square" anchor="ctr" lIns="45720" rIns="45720" tIns="18288" bIns="18288"/>
          <a:lstStyle/>
          <a:p>
            <a:pPr algn="l"/>
            <a:r>
              <a:rPr sz="1400" b="0" i="0">
                <a:solidFill>
                  <a:srgbClr val="1A1A1A"/>
                </a:solidFill>
                <a:latin typeface="Calibri"/>
              </a:rPr>
              <a:t>Ill-conceived goals · motivated blindness · indirect blindness · slippery slope · overvaluing outcomes</a:t>
            </a:r>
          </a:p>
        </p:txBody>
      </p:sp>
      <p:sp>
        <p:nvSpPr>
          <p:cNvPr id="10" name="Rounded Rectangle 9"/>
          <p:cNvSpPr/>
          <p:nvPr/>
        </p:nvSpPr>
        <p:spPr>
          <a:xfrm>
            <a:off x="6126480" y="1051560"/>
            <a:ext cx="2103120" cy="822960"/>
          </a:xfrm>
          <a:prstGeom prst="roundRect">
            <a:avLst>
              <a:gd name="adj" fmla="val 6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i="0">
                <a:solidFill>
                  <a:srgbClr val="FFFFFF"/>
                </a:solidFill>
                <a:latin typeface="Calibri"/>
              </a:rPr>
              <a:t>Job satisfaction causes (5)</a:t>
            </a:r>
          </a:p>
        </p:txBody>
      </p:sp>
      <p:sp>
        <p:nvSpPr>
          <p:cNvPr id="11" name="Rounded Rectangle 10"/>
          <p:cNvSpPr/>
          <p:nvPr/>
        </p:nvSpPr>
        <p:spPr>
          <a:xfrm>
            <a:off x="8275320" y="1051560"/>
            <a:ext cx="3611880" cy="822960"/>
          </a:xfrm>
          <a:prstGeom prst="roundRect">
            <a:avLst>
              <a:gd name="adj" fmla="val 6000"/>
            </a:avLst>
          </a:prstGeom>
          <a:solidFill>
            <a:srgbClr val="FFFFFF"/>
          </a:solidFill>
          <a:ln w="19050">
            <a:solidFill>
              <a:srgbClr val="8EBD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39328" y="1069848"/>
            <a:ext cx="3493008" cy="786384"/>
          </a:xfrm>
          <a:prstGeom prst="rect">
            <a:avLst/>
          </a:prstGeom>
          <a:noFill/>
        </p:spPr>
        <p:txBody>
          <a:bodyPr wrap="square" anchor="ctr" lIns="45720" rIns="45720" tIns="18288" bIns="18288"/>
          <a:lstStyle/>
          <a:p>
            <a:pPr algn="l"/>
            <a:r>
              <a:rPr sz="1400" b="0" i="0">
                <a:solidFill>
                  <a:srgbClr val="1A1A1A"/>
                </a:solidFill>
                <a:latin typeface="Calibri"/>
              </a:rPr>
              <a:t>Need fulfilment · met expectations · value attainment · equity · dispositional (30%)</a:t>
            </a:r>
          </a:p>
        </p:txBody>
      </p:sp>
      <p:sp>
        <p:nvSpPr>
          <p:cNvPr id="13" name="Rounded Rectangle 12"/>
          <p:cNvSpPr/>
          <p:nvPr/>
        </p:nvSpPr>
        <p:spPr>
          <a:xfrm>
            <a:off x="274320" y="1965960"/>
            <a:ext cx="2103120" cy="822960"/>
          </a:xfrm>
          <a:prstGeom prst="roundRect">
            <a:avLst>
              <a:gd name="adj" fmla="val 6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i="0">
                <a:solidFill>
                  <a:srgbClr val="FFFFFF"/>
                </a:solidFill>
                <a:latin typeface="Calibri"/>
              </a:rPr>
              <a:t>JS correlates (10)</a:t>
            </a:r>
          </a:p>
        </p:txBody>
      </p:sp>
      <p:sp>
        <p:nvSpPr>
          <p:cNvPr id="14" name="Rounded Rectangle 13"/>
          <p:cNvSpPr/>
          <p:nvPr/>
        </p:nvSpPr>
        <p:spPr>
          <a:xfrm>
            <a:off x="2423160" y="1965960"/>
            <a:ext cx="3611880" cy="822960"/>
          </a:xfrm>
          <a:prstGeom prst="roundRect">
            <a:avLst>
              <a:gd name="adj" fmla="val 6000"/>
            </a:avLst>
          </a:prstGeom>
          <a:solidFill>
            <a:srgbClr val="FFFFFF"/>
          </a:solidFill>
          <a:ln w="19050">
            <a:solidFill>
              <a:srgbClr val="BD8F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487168" y="1984248"/>
            <a:ext cx="3493008" cy="786384"/>
          </a:xfrm>
          <a:prstGeom prst="rect">
            <a:avLst/>
          </a:prstGeom>
          <a:noFill/>
        </p:spPr>
        <p:txBody>
          <a:bodyPr wrap="square" anchor="ctr" lIns="45720" rIns="45720" tIns="18288" bIns="18288"/>
          <a:lstStyle/>
          <a:p>
            <a:pPr algn="l"/>
            <a:r>
              <a:rPr sz="1400" b="0" i="0">
                <a:solidFill>
                  <a:srgbClr val="1A1A1A"/>
                </a:solidFill>
                <a:latin typeface="Calibri"/>
              </a:rPr>
              <a:t>4 attitudinal · 4 behavioural (performance, OCB, CWB, turnover) · 2 org (financial, customer)</a:t>
            </a:r>
          </a:p>
        </p:txBody>
      </p:sp>
      <p:sp>
        <p:nvSpPr>
          <p:cNvPr id="16" name="Rounded Rectangle 15"/>
          <p:cNvSpPr/>
          <p:nvPr/>
        </p:nvSpPr>
        <p:spPr>
          <a:xfrm>
            <a:off x="6126480" y="1965960"/>
            <a:ext cx="2103120" cy="822960"/>
          </a:xfrm>
          <a:prstGeom prst="roundRect">
            <a:avLst>
              <a:gd name="adj" fmla="val 6000"/>
            </a:avLst>
          </a:prstGeom>
          <a:solidFill>
            <a:srgbClr val="D84A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i="0">
                <a:solidFill>
                  <a:srgbClr val="FFFFFF"/>
                </a:solidFill>
                <a:latin typeface="Calibri"/>
              </a:rPr>
              <a:t>Engagement (Kahn)</a:t>
            </a:r>
          </a:p>
        </p:txBody>
      </p:sp>
      <p:sp>
        <p:nvSpPr>
          <p:cNvPr id="17" name="Rounded Rectangle 16"/>
          <p:cNvSpPr/>
          <p:nvPr/>
        </p:nvSpPr>
        <p:spPr>
          <a:xfrm>
            <a:off x="8275320" y="1965960"/>
            <a:ext cx="3611880" cy="822960"/>
          </a:xfrm>
          <a:prstGeom prst="roundRect">
            <a:avLst>
              <a:gd name="adj" fmla="val 6000"/>
            </a:avLst>
          </a:prstGeom>
          <a:solidFill>
            <a:srgbClr val="FFFFFF"/>
          </a:solidFill>
          <a:ln w="19050">
            <a:solidFill>
              <a:srgbClr val="EBA4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39328" y="1984248"/>
            <a:ext cx="3493008" cy="786384"/>
          </a:xfrm>
          <a:prstGeom prst="rect">
            <a:avLst/>
          </a:prstGeom>
          <a:noFill/>
        </p:spPr>
        <p:txBody>
          <a:bodyPr wrap="square" anchor="ctr" lIns="45720" rIns="45720" tIns="18288" bIns="18288"/>
          <a:lstStyle/>
          <a:p>
            <a:pPr algn="l"/>
            <a:r>
              <a:rPr sz="1400" b="0" i="0">
                <a:solidFill>
                  <a:srgbClr val="1A1A1A"/>
                </a:solidFill>
                <a:latin typeface="Calibri"/>
              </a:rPr>
              <a:t>Urgency · focus · intensity · enthusiasm</a:t>
            </a:r>
          </a:p>
        </p:txBody>
      </p:sp>
      <p:sp>
        <p:nvSpPr>
          <p:cNvPr id="19" name="Rounded Rectangle 18"/>
          <p:cNvSpPr/>
          <p:nvPr/>
        </p:nvSpPr>
        <p:spPr>
          <a:xfrm>
            <a:off x="274320" y="2880360"/>
            <a:ext cx="2103120" cy="822960"/>
          </a:xfrm>
          <a:prstGeom prst="roundRect">
            <a:avLst>
              <a:gd name="adj" fmla="val 6000"/>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i="0">
                <a:solidFill>
                  <a:srgbClr val="FFFFFF"/>
                </a:solidFill>
                <a:latin typeface="Calibri"/>
              </a:rPr>
              <a:t>EI (Goleman)</a:t>
            </a:r>
          </a:p>
        </p:txBody>
      </p:sp>
      <p:sp>
        <p:nvSpPr>
          <p:cNvPr id="20" name="Rounded Rectangle 19"/>
          <p:cNvSpPr/>
          <p:nvPr/>
        </p:nvSpPr>
        <p:spPr>
          <a:xfrm>
            <a:off x="2423160" y="2880360"/>
            <a:ext cx="3611880" cy="822960"/>
          </a:xfrm>
          <a:prstGeom prst="roundRect">
            <a:avLst>
              <a:gd name="adj" fmla="val 6000"/>
            </a:avLst>
          </a:prstGeom>
          <a:solidFill>
            <a:srgbClr val="FFFFFF"/>
          </a:solidFill>
          <a:ln w="19050">
            <a:solidFill>
              <a:srgbClr val="7FC1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487168" y="2898648"/>
            <a:ext cx="3493008" cy="786384"/>
          </a:xfrm>
          <a:prstGeom prst="rect">
            <a:avLst/>
          </a:prstGeom>
          <a:noFill/>
        </p:spPr>
        <p:txBody>
          <a:bodyPr wrap="square" anchor="ctr" lIns="45720" rIns="45720" tIns="18288" bIns="18288"/>
          <a:lstStyle/>
          <a:p>
            <a:pPr algn="l"/>
            <a:r>
              <a:rPr sz="1400" b="0" i="0">
                <a:solidFill>
                  <a:srgbClr val="1A1A1A"/>
                </a:solidFill>
                <a:latin typeface="Calibri"/>
              </a:rPr>
              <a:t>Self-awareness · self-management · social awareness · relationship management</a:t>
            </a:r>
          </a:p>
        </p:txBody>
      </p:sp>
      <p:sp>
        <p:nvSpPr>
          <p:cNvPr id="22" name="Rounded Rectangle 21"/>
          <p:cNvSpPr/>
          <p:nvPr/>
        </p:nvSpPr>
        <p:spPr>
          <a:xfrm>
            <a:off x="6126480" y="2880360"/>
            <a:ext cx="2103120" cy="822960"/>
          </a:xfrm>
          <a:prstGeom prst="roundRect">
            <a:avLst>
              <a:gd name="adj" fmla="val 6000"/>
            </a:avLst>
          </a:prstGeom>
          <a:solidFill>
            <a:srgbClr val="B7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i="0">
                <a:solidFill>
                  <a:srgbClr val="FFFFFF"/>
                </a:solidFill>
                <a:latin typeface="Calibri"/>
              </a:rPr>
              <a:t>Perception stages (4)</a:t>
            </a:r>
          </a:p>
        </p:txBody>
      </p:sp>
      <p:sp>
        <p:nvSpPr>
          <p:cNvPr id="23" name="Rounded Rectangle 22"/>
          <p:cNvSpPr/>
          <p:nvPr/>
        </p:nvSpPr>
        <p:spPr>
          <a:xfrm>
            <a:off x="8275320" y="2880360"/>
            <a:ext cx="3611880" cy="822960"/>
          </a:xfrm>
          <a:prstGeom prst="roundRect">
            <a:avLst>
              <a:gd name="adj" fmla="val 6000"/>
            </a:avLst>
          </a:prstGeom>
          <a:solidFill>
            <a:srgbClr val="FFFFFF"/>
          </a:solidFill>
          <a:ln w="19050">
            <a:solidFill>
              <a:srgbClr val="DB8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39328" y="2898648"/>
            <a:ext cx="3493008" cy="786384"/>
          </a:xfrm>
          <a:prstGeom prst="rect">
            <a:avLst/>
          </a:prstGeom>
          <a:noFill/>
        </p:spPr>
        <p:txBody>
          <a:bodyPr wrap="square" anchor="ctr" lIns="45720" rIns="45720" tIns="18288" bIns="18288"/>
          <a:lstStyle/>
          <a:p>
            <a:pPr algn="l"/>
            <a:r>
              <a:rPr sz="1400" b="0" i="0">
                <a:solidFill>
                  <a:srgbClr val="1A1A1A"/>
                </a:solidFill>
                <a:latin typeface="Calibri"/>
              </a:rPr>
              <a:t>Attention · encoding · storage · retrieval</a:t>
            </a:r>
          </a:p>
        </p:txBody>
      </p:sp>
      <p:sp>
        <p:nvSpPr>
          <p:cNvPr id="25" name="Rounded Rectangle 24"/>
          <p:cNvSpPr/>
          <p:nvPr/>
        </p:nvSpPr>
        <p:spPr>
          <a:xfrm>
            <a:off x="274320" y="3794760"/>
            <a:ext cx="2103120" cy="822960"/>
          </a:xfrm>
          <a:prstGeom prst="roundRect">
            <a:avLst>
              <a:gd name="adj" fmla="val 6000"/>
            </a:avLst>
          </a:prstGeom>
          <a:solidFill>
            <a:srgbClr val="5D40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i="0">
                <a:solidFill>
                  <a:srgbClr val="FFFFFF"/>
                </a:solidFill>
                <a:latin typeface="Calibri"/>
              </a:rPr>
              <a:t>Person perception</a:t>
            </a:r>
          </a:p>
        </p:txBody>
      </p:sp>
      <p:sp>
        <p:nvSpPr>
          <p:cNvPr id="26" name="Rounded Rectangle 25"/>
          <p:cNvSpPr/>
          <p:nvPr/>
        </p:nvSpPr>
        <p:spPr>
          <a:xfrm>
            <a:off x="2423160" y="3794760"/>
            <a:ext cx="3611880" cy="822960"/>
          </a:xfrm>
          <a:prstGeom prst="roundRect">
            <a:avLst>
              <a:gd name="adj" fmla="val 6000"/>
            </a:avLst>
          </a:prstGeom>
          <a:solidFill>
            <a:srgbClr val="FFFFFF"/>
          </a:solidFill>
          <a:ln w="19050">
            <a:solidFill>
              <a:srgbClr val="AE9F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487168" y="3813048"/>
            <a:ext cx="3493008" cy="786384"/>
          </a:xfrm>
          <a:prstGeom prst="rect">
            <a:avLst/>
          </a:prstGeom>
          <a:noFill/>
        </p:spPr>
        <p:txBody>
          <a:bodyPr wrap="square" anchor="ctr" lIns="45720" rIns="45720" tIns="18288" bIns="18288"/>
          <a:lstStyle/>
          <a:p>
            <a:pPr algn="l"/>
            <a:r>
              <a:rPr sz="1400" b="0" i="0">
                <a:solidFill>
                  <a:srgbClr val="1A1A1A"/>
                </a:solidFill>
                <a:latin typeface="Calibri"/>
              </a:rPr>
              <a:t>Perceiver (6) · target (5) · situation (2)</a:t>
            </a:r>
          </a:p>
        </p:txBody>
      </p:sp>
      <p:sp>
        <p:nvSpPr>
          <p:cNvPr id="28" name="Rounded Rectangle 27"/>
          <p:cNvSpPr/>
          <p:nvPr/>
        </p:nvSpPr>
        <p:spPr>
          <a:xfrm>
            <a:off x="6126480" y="3794760"/>
            <a:ext cx="2103120" cy="822960"/>
          </a:xfrm>
          <a:prstGeom prst="roundRect">
            <a:avLst>
              <a:gd name="adj" fmla="val 6000"/>
            </a:avLst>
          </a:prstGeom>
          <a:solidFill>
            <a:srgbClr val="3747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i="0">
                <a:solidFill>
                  <a:srgbClr val="FFFFFF"/>
                </a:solidFill>
                <a:latin typeface="Calibri"/>
              </a:rPr>
              <a:t>Kelley</a:t>
            </a:r>
          </a:p>
        </p:txBody>
      </p:sp>
      <p:sp>
        <p:nvSpPr>
          <p:cNvPr id="29" name="Rounded Rectangle 28"/>
          <p:cNvSpPr/>
          <p:nvPr/>
        </p:nvSpPr>
        <p:spPr>
          <a:xfrm>
            <a:off x="8275320" y="3794760"/>
            <a:ext cx="3611880" cy="822960"/>
          </a:xfrm>
          <a:prstGeom prst="roundRect">
            <a:avLst>
              <a:gd name="adj" fmla="val 6000"/>
            </a:avLst>
          </a:prstGeom>
          <a:solidFill>
            <a:srgbClr val="FFFFFF"/>
          </a:solidFill>
          <a:ln w="19050">
            <a:solidFill>
              <a:srgbClr val="9BA3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39328" y="3813048"/>
            <a:ext cx="3493008" cy="786384"/>
          </a:xfrm>
          <a:prstGeom prst="rect">
            <a:avLst/>
          </a:prstGeom>
          <a:noFill/>
        </p:spPr>
        <p:txBody>
          <a:bodyPr wrap="square" anchor="ctr" lIns="45720" rIns="45720" tIns="18288" bIns="18288"/>
          <a:lstStyle/>
          <a:p>
            <a:pPr algn="l"/>
            <a:r>
              <a:rPr sz="1400" b="0" i="0">
                <a:solidFill>
                  <a:srgbClr val="1A1A1A"/>
                </a:solidFill>
                <a:latin typeface="Calibri"/>
              </a:rPr>
              <a:t>Internal = low consensus, low distinctiveness, high consistency</a:t>
            </a:r>
          </a:p>
        </p:txBody>
      </p:sp>
      <p:sp>
        <p:nvSpPr>
          <p:cNvPr id="31" name="Rounded Rectangle 30"/>
          <p:cNvSpPr/>
          <p:nvPr/>
        </p:nvSpPr>
        <p:spPr>
          <a:xfrm>
            <a:off x="274320" y="4709160"/>
            <a:ext cx="2103120" cy="822960"/>
          </a:xfrm>
          <a:prstGeom prst="roundRect">
            <a:avLst>
              <a:gd name="adj" fmla="val 6000"/>
            </a:avLst>
          </a:prstGeom>
          <a:solidFill>
            <a:srgbClr val="C218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i="0">
                <a:solidFill>
                  <a:srgbClr val="FFFFFF"/>
                </a:solidFill>
                <a:latin typeface="Calibri"/>
              </a:rPr>
              <a:t>SDT</a:t>
            </a:r>
          </a:p>
        </p:txBody>
      </p:sp>
      <p:sp>
        <p:nvSpPr>
          <p:cNvPr id="32" name="Rounded Rectangle 31"/>
          <p:cNvSpPr/>
          <p:nvPr/>
        </p:nvSpPr>
        <p:spPr>
          <a:xfrm>
            <a:off x="2423160" y="4709160"/>
            <a:ext cx="3611880" cy="822960"/>
          </a:xfrm>
          <a:prstGeom prst="roundRect">
            <a:avLst>
              <a:gd name="adj" fmla="val 6000"/>
            </a:avLst>
          </a:prstGeom>
          <a:solidFill>
            <a:srgbClr val="FFFFFF"/>
          </a:solidFill>
          <a:ln w="19050">
            <a:solidFill>
              <a:srgbClr val="E08B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487168" y="4727448"/>
            <a:ext cx="3493008" cy="786384"/>
          </a:xfrm>
          <a:prstGeom prst="rect">
            <a:avLst/>
          </a:prstGeom>
          <a:noFill/>
        </p:spPr>
        <p:txBody>
          <a:bodyPr wrap="square" anchor="ctr" lIns="45720" rIns="45720" tIns="18288" bIns="18288"/>
          <a:lstStyle/>
          <a:p>
            <a:pPr algn="l"/>
            <a:r>
              <a:rPr sz="1400" b="0" i="0">
                <a:solidFill>
                  <a:srgbClr val="1A1A1A"/>
                </a:solidFill>
                <a:latin typeface="Calibri"/>
              </a:rPr>
              <a:t>Competence · autonomy · relatedness</a:t>
            </a:r>
          </a:p>
        </p:txBody>
      </p:sp>
      <p:sp>
        <p:nvSpPr>
          <p:cNvPr id="34" name="Rounded Rectangle 33"/>
          <p:cNvSpPr/>
          <p:nvPr/>
        </p:nvSpPr>
        <p:spPr>
          <a:xfrm>
            <a:off x="6126480" y="4709160"/>
            <a:ext cx="2103120" cy="822960"/>
          </a:xfrm>
          <a:prstGeom prst="roundRect">
            <a:avLst>
              <a:gd name="adj" fmla="val 6000"/>
            </a:avLst>
          </a:prstGeom>
          <a:solidFill>
            <a:srgbClr val="3369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i="0">
                <a:solidFill>
                  <a:srgbClr val="FFFFFF"/>
                </a:solidFill>
                <a:latin typeface="Calibri"/>
              </a:rPr>
              <a:t>JCM core (5)</a:t>
            </a:r>
          </a:p>
        </p:txBody>
      </p:sp>
      <p:sp>
        <p:nvSpPr>
          <p:cNvPr id="35" name="Rounded Rectangle 34"/>
          <p:cNvSpPr/>
          <p:nvPr/>
        </p:nvSpPr>
        <p:spPr>
          <a:xfrm>
            <a:off x="8275320" y="4709160"/>
            <a:ext cx="3611880" cy="822960"/>
          </a:xfrm>
          <a:prstGeom prst="roundRect">
            <a:avLst>
              <a:gd name="adj" fmla="val 6000"/>
            </a:avLst>
          </a:prstGeom>
          <a:solidFill>
            <a:srgbClr val="FFFFFF"/>
          </a:solidFill>
          <a:ln w="19050">
            <a:solidFill>
              <a:srgbClr val="99B4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39328" y="4727448"/>
            <a:ext cx="3493008" cy="786384"/>
          </a:xfrm>
          <a:prstGeom prst="rect">
            <a:avLst/>
          </a:prstGeom>
          <a:noFill/>
        </p:spPr>
        <p:txBody>
          <a:bodyPr wrap="square" anchor="ctr" lIns="45720" rIns="45720" tIns="18288" bIns="18288"/>
          <a:lstStyle/>
          <a:p>
            <a:pPr algn="l"/>
            <a:r>
              <a:rPr sz="1400" b="0" i="0">
                <a:solidFill>
                  <a:srgbClr val="1A1A1A"/>
                </a:solidFill>
                <a:latin typeface="Calibri"/>
              </a:rPr>
              <a:t>Skill variety · task identity · task significance · autonomy · feedback</a:t>
            </a:r>
          </a:p>
        </p:txBody>
      </p:sp>
      <p:sp>
        <p:nvSpPr>
          <p:cNvPr id="37" name="Rounded Rectangle 36"/>
          <p:cNvSpPr/>
          <p:nvPr/>
        </p:nvSpPr>
        <p:spPr>
          <a:xfrm>
            <a:off x="274320" y="5623560"/>
            <a:ext cx="2103120" cy="822960"/>
          </a:xfrm>
          <a:prstGeom prst="roundRect">
            <a:avLst>
              <a:gd name="adj" fmla="val 6000"/>
            </a:avLst>
          </a:prstGeom>
          <a:solidFill>
            <a:srgbClr val="154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i="0">
                <a:solidFill>
                  <a:srgbClr val="FFFFFF"/>
                </a:solidFill>
                <a:latin typeface="Calibri"/>
              </a:rPr>
              <a:t>Goal mechanisms (4)</a:t>
            </a:r>
          </a:p>
        </p:txBody>
      </p:sp>
      <p:sp>
        <p:nvSpPr>
          <p:cNvPr id="38" name="Rounded Rectangle 37"/>
          <p:cNvSpPr/>
          <p:nvPr/>
        </p:nvSpPr>
        <p:spPr>
          <a:xfrm>
            <a:off x="2423160" y="5623560"/>
            <a:ext cx="3611880" cy="822960"/>
          </a:xfrm>
          <a:prstGeom prst="roundRect">
            <a:avLst>
              <a:gd name="adj" fmla="val 6000"/>
            </a:avLst>
          </a:prstGeom>
          <a:solidFill>
            <a:srgbClr val="FFFFFF"/>
          </a:solidFill>
          <a:ln w="19050">
            <a:solidFill>
              <a:srgbClr val="8AA5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487168" y="5641848"/>
            <a:ext cx="3493008" cy="786384"/>
          </a:xfrm>
          <a:prstGeom prst="rect">
            <a:avLst/>
          </a:prstGeom>
          <a:noFill/>
        </p:spPr>
        <p:txBody>
          <a:bodyPr wrap="square" anchor="ctr" lIns="45720" rIns="45720" tIns="18288" bIns="18288"/>
          <a:lstStyle/>
          <a:p>
            <a:pPr algn="l"/>
            <a:r>
              <a:rPr sz="1400" b="0" i="0">
                <a:solidFill>
                  <a:srgbClr val="1A1A1A"/>
                </a:solidFill>
                <a:latin typeface="Calibri"/>
              </a:rPr>
              <a:t>Direct attention · regulate effort · persistence · strategies</a:t>
            </a:r>
          </a:p>
        </p:txBody>
      </p:sp>
      <p:sp>
        <p:nvSpPr>
          <p:cNvPr id="40" name="Rounded Rectangle 39"/>
          <p:cNvSpPr/>
          <p:nvPr/>
        </p:nvSpPr>
        <p:spPr>
          <a:xfrm>
            <a:off x="6126480" y="5623560"/>
            <a:ext cx="2103120" cy="822960"/>
          </a:xfrm>
          <a:prstGeom prst="roundRect">
            <a:avLst>
              <a:gd name="adj" fmla="val 6000"/>
            </a:avLst>
          </a:prstGeom>
          <a:solidFill>
            <a:srgbClr val="1E7B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i="0">
                <a:solidFill>
                  <a:srgbClr val="FFFFFF"/>
                </a:solidFill>
                <a:latin typeface="Calibri"/>
              </a:rPr>
              <a:t>HERO / PERMA</a:t>
            </a:r>
          </a:p>
        </p:txBody>
      </p:sp>
      <p:sp>
        <p:nvSpPr>
          <p:cNvPr id="41" name="Rounded Rectangle 40"/>
          <p:cNvSpPr/>
          <p:nvPr/>
        </p:nvSpPr>
        <p:spPr>
          <a:xfrm>
            <a:off x="8275320" y="5623560"/>
            <a:ext cx="3611880" cy="822960"/>
          </a:xfrm>
          <a:prstGeom prst="roundRect">
            <a:avLst>
              <a:gd name="adj" fmla="val 6000"/>
            </a:avLst>
          </a:prstGeom>
          <a:solidFill>
            <a:srgbClr val="FFFFFF"/>
          </a:solidFill>
          <a:ln w="19050">
            <a:solidFill>
              <a:srgbClr val="8EBD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339328" y="5641848"/>
            <a:ext cx="3493008" cy="786384"/>
          </a:xfrm>
          <a:prstGeom prst="rect">
            <a:avLst/>
          </a:prstGeom>
          <a:noFill/>
        </p:spPr>
        <p:txBody>
          <a:bodyPr wrap="square" anchor="ctr" lIns="45720" rIns="45720" tIns="18288" bIns="18288"/>
          <a:lstStyle/>
          <a:p>
            <a:pPr algn="l"/>
            <a:r>
              <a:rPr sz="1400" b="0" i="0">
                <a:solidFill>
                  <a:srgbClr val="1A1A1A"/>
                </a:solidFill>
                <a:latin typeface="Calibri"/>
              </a:rPr>
              <a:t>Hope · efficacy · resilience · optimism / Positive emotions · engagement · relationships · meaning · achievement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